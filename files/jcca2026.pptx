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357" r:id="rId3"/>
    <p:sldId id="358" r:id="rId4"/>
    <p:sldId id="359" r:id="rId5"/>
    <p:sldId id="257" r:id="rId6"/>
    <p:sldId id="263" r:id="rId7"/>
    <p:sldId id="519" r:id="rId8"/>
    <p:sldId id="360" r:id="rId9"/>
    <p:sldId id="362" r:id="rId10"/>
    <p:sldId id="364" r:id="rId11"/>
    <p:sldId id="369" r:id="rId12"/>
    <p:sldId id="432" r:id="rId13"/>
    <p:sldId id="436" r:id="rId14"/>
    <p:sldId id="438" r:id="rId15"/>
    <p:sldId id="439" r:id="rId16"/>
    <p:sldId id="440" r:id="rId17"/>
    <p:sldId id="441" r:id="rId18"/>
    <p:sldId id="379" r:id="rId19"/>
    <p:sldId id="410" r:id="rId20"/>
    <p:sldId id="442" r:id="rId21"/>
    <p:sldId id="417" r:id="rId22"/>
    <p:sldId id="443" r:id="rId23"/>
    <p:sldId id="444" r:id="rId24"/>
    <p:sldId id="514" r:id="rId25"/>
    <p:sldId id="496" r:id="rId26"/>
    <p:sldId id="455" r:id="rId27"/>
    <p:sldId id="498" r:id="rId28"/>
    <p:sldId id="499" r:id="rId29"/>
    <p:sldId id="516" r:id="rId30"/>
    <p:sldId id="517" r:id="rId31"/>
    <p:sldId id="518" r:id="rId32"/>
    <p:sldId id="370" r:id="rId33"/>
    <p:sldId id="371" r:id="rId34"/>
    <p:sldId id="372" r:id="rId35"/>
    <p:sldId id="374" r:id="rId36"/>
    <p:sldId id="376" r:id="rId37"/>
    <p:sldId id="402" r:id="rId38"/>
    <p:sldId id="403" r:id="rId39"/>
    <p:sldId id="404" r:id="rId40"/>
    <p:sldId id="405" r:id="rId41"/>
    <p:sldId id="406" r:id="rId42"/>
    <p:sldId id="407" r:id="rId43"/>
    <p:sldId id="408" r:id="rId44"/>
    <p:sldId id="520" r:id="rId45"/>
    <p:sldId id="382" r:id="rId46"/>
    <p:sldId id="384" r:id="rId47"/>
    <p:sldId id="381" r:id="rId48"/>
    <p:sldId id="380" r:id="rId49"/>
    <p:sldId id="385" r:id="rId50"/>
    <p:sldId id="386" r:id="rId51"/>
    <p:sldId id="388" r:id="rId52"/>
    <p:sldId id="393" r:id="rId53"/>
    <p:sldId id="395" r:id="rId54"/>
    <p:sldId id="396" r:id="rId55"/>
    <p:sldId id="392" r:id="rId56"/>
    <p:sldId id="387" r:id="rId57"/>
    <p:sldId id="390" r:id="rId58"/>
    <p:sldId id="391" r:id="rId59"/>
    <p:sldId id="409" r:id="rId60"/>
    <p:sldId id="445" r:id="rId61"/>
    <p:sldId id="446" r:id="rId62"/>
    <p:sldId id="415" r:id="rId63"/>
    <p:sldId id="416" r:id="rId64"/>
    <p:sldId id="419" r:id="rId65"/>
    <p:sldId id="411" r:id="rId66"/>
    <p:sldId id="413" r:id="rId67"/>
    <p:sldId id="420" r:id="rId68"/>
    <p:sldId id="421" r:id="rId69"/>
    <p:sldId id="424" r:id="rId70"/>
    <p:sldId id="423" r:id="rId71"/>
    <p:sldId id="426" r:id="rId72"/>
    <p:sldId id="427" r:id="rId73"/>
    <p:sldId id="425" r:id="rId74"/>
    <p:sldId id="429" r:id="rId75"/>
    <p:sldId id="414" r:id="rId76"/>
    <p:sldId id="428" r:id="rId77"/>
    <p:sldId id="430" r:id="rId7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3E03B0-85F6-4219-AC87-9BC0A5B83B85}" type="datetimeFigureOut">
              <a:rPr kumimoji="1" lang="ja-JP" altLang="en-US" smtClean="0"/>
              <a:t>2026/8/15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C7686A-AC07-4981-87B1-BF9EF2FE21CA}" type="slidenum">
              <a:rPr kumimoji="1" lang="ja-JP" altLang="en-US" smtClean="0"/>
              <a:t>‹#›</a:t>
            </a:fld>
            <a:endParaRPr kumimoji="1" lang="ja-JP" altLang="en-US"/>
          </a:p>
        </p:txBody>
      </p:sp>
    </p:spTree>
    <p:extLst>
      <p:ext uri="{BB962C8B-B14F-4D97-AF65-F5344CB8AC3E}">
        <p14:creationId xmlns:p14="http://schemas.microsoft.com/office/powerpoint/2010/main" val="10297069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There are k hospitals and each of them has L beds.</a:t>
            </a:r>
          </a:p>
          <a:p>
            <a:r>
              <a:rPr kumimoji="1" lang="en-US" altLang="ja-JP" dirty="0"/>
              <a:t>We must transport a patient right way to a hospital with available beds.</a:t>
            </a:r>
          </a:p>
          <a:p>
            <a:r>
              <a:rPr kumimoji="1" lang="en-US" altLang="ja-JP" dirty="0"/>
              <a:t>Once </a:t>
            </a:r>
            <a:r>
              <a:rPr lang="en-US" altLang="ja-JP" sz="1200" dirty="0"/>
              <a:t>we assigned a patient to a hospital</a:t>
            </a:r>
            <a:r>
              <a:rPr kumimoji="1" lang="en-US" altLang="ja-JP" dirty="0"/>
              <a:t>, we cannot change it later.</a:t>
            </a:r>
          </a:p>
          <a:p>
            <a:endParaRPr kumimoji="1" lang="en-US" altLang="ja-JP" dirty="0"/>
          </a:p>
          <a:p>
            <a:r>
              <a:rPr kumimoji="1" lang="en-US" altLang="ja-JP" dirty="0"/>
              <a:t>The objective of this problem is to minimize the total distance between the patients and the corresponding assigned hospitals, or the total length of these blue arrows.</a:t>
            </a:r>
            <a:endParaRPr kumimoji="1" lang="ja-JP" altLang="en-US" dirty="0"/>
          </a:p>
        </p:txBody>
      </p:sp>
      <p:sp>
        <p:nvSpPr>
          <p:cNvPr id="4" name="スライド番号プレースホルダー 3"/>
          <p:cNvSpPr>
            <a:spLocks noGrp="1"/>
          </p:cNvSpPr>
          <p:nvPr>
            <p:ph type="sldNum" sz="quarter" idx="5"/>
          </p:nvPr>
        </p:nvSpPr>
        <p:spPr/>
        <p:txBody>
          <a:bodyPr/>
          <a:lstStyle/>
          <a:p>
            <a:fld id="{809A5668-C9E1-418E-B0C8-BC491D208023}" type="slidenum">
              <a:rPr kumimoji="1" lang="ja-JP" altLang="en-US" smtClean="0"/>
              <a:t>2</a:t>
            </a:fld>
            <a:endParaRPr kumimoji="1" lang="ja-JP" altLang="en-US"/>
          </a:p>
        </p:txBody>
      </p:sp>
    </p:spTree>
    <p:extLst>
      <p:ext uri="{BB962C8B-B14F-4D97-AF65-F5344CB8AC3E}">
        <p14:creationId xmlns:p14="http://schemas.microsoft.com/office/powerpoint/2010/main" val="1303212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The performance of an online algorithm is evaluated by the competitive ratio.</a:t>
            </a:r>
          </a:p>
          <a:p>
            <a:endParaRPr kumimoji="1" lang="en-US" altLang="ja-JP" dirty="0"/>
          </a:p>
          <a:p>
            <a:r>
              <a:rPr kumimoji="1" lang="en-US" altLang="ja-JP" dirty="0"/>
              <a:t>Let ALG be an online algorithm for OFA.</a:t>
            </a:r>
          </a:p>
          <a:p>
            <a:r>
              <a:rPr kumimoji="1" lang="en-US" altLang="ja-JP" dirty="0"/>
              <a:t>We say that ALG is \alpha-competitive if for any request sequence,</a:t>
            </a:r>
          </a:p>
          <a:p>
            <a:r>
              <a:rPr kumimoji="1" lang="en-US" altLang="ja-JP" dirty="0"/>
              <a:t>the cost of ALG is at most \alpha times that of the optimal offline algorithm.</a:t>
            </a:r>
          </a:p>
          <a:p>
            <a:endParaRPr kumimoji="1" lang="en-US" altLang="ja-JP" dirty="0"/>
          </a:p>
          <a:p>
            <a:r>
              <a:rPr kumimoji="1" lang="en-US" altLang="ja-JP" dirty="0"/>
              <a:t>The competitive ratio is defined like this, 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informally, that is the worst case ratio of the online cost to the optimal offline cost.</a:t>
            </a:r>
          </a:p>
        </p:txBody>
      </p:sp>
      <p:sp>
        <p:nvSpPr>
          <p:cNvPr id="4" name="スライド番号プレースホルダー 3"/>
          <p:cNvSpPr>
            <a:spLocks noGrp="1"/>
          </p:cNvSpPr>
          <p:nvPr>
            <p:ph type="sldNum" sz="quarter" idx="5"/>
          </p:nvPr>
        </p:nvSpPr>
        <p:spPr/>
        <p:txBody>
          <a:bodyPr/>
          <a:lstStyle/>
          <a:p>
            <a:fld id="{809A5668-C9E1-418E-B0C8-BC491D208023}" type="slidenum">
              <a:rPr kumimoji="1" lang="ja-JP" altLang="en-US" smtClean="0"/>
              <a:t>6</a:t>
            </a:fld>
            <a:endParaRPr kumimoji="1" lang="ja-JP" altLang="en-US"/>
          </a:p>
        </p:txBody>
      </p:sp>
    </p:spTree>
    <p:extLst>
      <p:ext uri="{BB962C8B-B14F-4D97-AF65-F5344CB8AC3E}">
        <p14:creationId xmlns:p14="http://schemas.microsoft.com/office/powerpoint/2010/main" val="432811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774FF1-4A8E-75A5-67A7-D487290AD81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3A04D70-7F2D-F379-CBA2-0A53462DAC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9CF9666-4B34-B8F4-0847-A2A42A39F1AA}"/>
              </a:ext>
            </a:extLst>
          </p:cNvPr>
          <p:cNvSpPr>
            <a:spLocks noGrp="1"/>
          </p:cNvSpPr>
          <p:nvPr>
            <p:ph type="dt" sz="half" idx="10"/>
          </p:nvPr>
        </p:nvSpPr>
        <p:spPr/>
        <p:txBody>
          <a:bodyPr/>
          <a:lstStyle/>
          <a:p>
            <a:fld id="{BCD818BD-FF53-4D0F-A6F7-B7F829601B83}" type="datetime1">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3A64AA5D-71CA-6970-F997-8C0E246CC7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395FE66-B36F-875A-A73A-F802B751200E}"/>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3982192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D892E-FF04-C13A-8FF7-F2C8CC16FF5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CC59AE7-2470-E4CF-B7F6-D0F67C0C6C6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120353B-FECE-5CC9-5FA2-A0692426B044}"/>
              </a:ext>
            </a:extLst>
          </p:cNvPr>
          <p:cNvSpPr>
            <a:spLocks noGrp="1"/>
          </p:cNvSpPr>
          <p:nvPr>
            <p:ph type="dt" sz="half" idx="10"/>
          </p:nvPr>
        </p:nvSpPr>
        <p:spPr/>
        <p:txBody>
          <a:bodyPr/>
          <a:lstStyle/>
          <a:p>
            <a:fld id="{609174A7-2FCD-460D-AB60-EBC83B28E6A0}" type="datetime1">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7284B8C8-BC16-3467-A9EC-3561B874ED6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E93614-7D09-84AC-0C2F-9A23C2AD3C10}"/>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3158081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07428B-B08F-BB44-8CF0-32D1B1B5A50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B2B63C0-65DC-0AEE-DEBE-4913B7D07B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3E13D87-2AA3-BA49-8D67-5AAE24A3A065}"/>
              </a:ext>
            </a:extLst>
          </p:cNvPr>
          <p:cNvSpPr>
            <a:spLocks noGrp="1"/>
          </p:cNvSpPr>
          <p:nvPr>
            <p:ph type="dt" sz="half" idx="10"/>
          </p:nvPr>
        </p:nvSpPr>
        <p:spPr/>
        <p:txBody>
          <a:bodyPr/>
          <a:lstStyle/>
          <a:p>
            <a:fld id="{5C04B7A8-D018-4606-8DAA-4F857779ADCB}" type="datetime1">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3081028D-AC5C-1E3A-0B91-1BE6E415E6D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D1218EA-85A8-934A-1F60-1575FF26ADD9}"/>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2611770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54ED25-4602-0528-741D-A3923AE70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DFA1364-5D7C-167F-D0CC-6534F73C534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266956F-8222-8532-A148-EE41495C884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92CFB0C-A046-5C37-FD7D-2291C7D3AF60}"/>
              </a:ext>
            </a:extLst>
          </p:cNvPr>
          <p:cNvSpPr>
            <a:spLocks noGrp="1"/>
          </p:cNvSpPr>
          <p:nvPr>
            <p:ph type="dt" sz="half" idx="10"/>
          </p:nvPr>
        </p:nvSpPr>
        <p:spPr/>
        <p:txBody>
          <a:bodyPr/>
          <a:lstStyle/>
          <a:p>
            <a:fld id="{4718D64D-BDA0-4EF0-8A0B-EF1194F21BD6}" type="datetime1">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806C8CCC-59FA-66DD-91AF-61B51E47A0F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473D380-0B36-AF4B-2FBD-39409C3CDC20}"/>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3175943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FF8608-DC77-CBD1-5CFA-6996C5E3A73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C9B9549-516B-245A-5E5E-FA763D0FEC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C4A6BC5-0E85-77AE-BC77-F0D45FB05BF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33D9E70-929D-9B6B-20D7-AE21CB7C15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F19DF26-E9EE-AFB6-945B-946C83F5014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9551F56-47FB-5E34-BCEC-C4B61F604CEC}"/>
              </a:ext>
            </a:extLst>
          </p:cNvPr>
          <p:cNvSpPr>
            <a:spLocks noGrp="1"/>
          </p:cNvSpPr>
          <p:nvPr>
            <p:ph type="dt" sz="half" idx="10"/>
          </p:nvPr>
        </p:nvSpPr>
        <p:spPr/>
        <p:txBody>
          <a:bodyPr/>
          <a:lstStyle/>
          <a:p>
            <a:fld id="{DE056F09-55A3-4D17-8A6E-9090C2497493}" type="datetime1">
              <a:rPr kumimoji="1" lang="ja-JP" altLang="en-US" smtClean="0"/>
              <a:t>2026/8/15</a:t>
            </a:fld>
            <a:endParaRPr kumimoji="1" lang="ja-JP" altLang="en-US"/>
          </a:p>
        </p:txBody>
      </p:sp>
      <p:sp>
        <p:nvSpPr>
          <p:cNvPr id="8" name="フッター プレースホルダー 7">
            <a:extLst>
              <a:ext uri="{FF2B5EF4-FFF2-40B4-BE49-F238E27FC236}">
                <a16:creationId xmlns:a16="http://schemas.microsoft.com/office/drawing/2014/main" id="{005104B1-A4AF-8EAA-0E5F-78169B57C49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8BD19A0-CFC0-F828-9F6B-00234FD5A808}"/>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2961936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DCFE0-A176-5235-A3A4-5D2B7D35150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B39F6B4-6520-5610-E45D-8B0455154D4E}"/>
              </a:ext>
            </a:extLst>
          </p:cNvPr>
          <p:cNvSpPr>
            <a:spLocks noGrp="1"/>
          </p:cNvSpPr>
          <p:nvPr>
            <p:ph type="dt" sz="half" idx="10"/>
          </p:nvPr>
        </p:nvSpPr>
        <p:spPr/>
        <p:txBody>
          <a:bodyPr/>
          <a:lstStyle/>
          <a:p>
            <a:fld id="{25FA439E-ED77-4EE6-B306-B6F697F61B73}" type="datetime1">
              <a:rPr kumimoji="1" lang="ja-JP" altLang="en-US" smtClean="0"/>
              <a:t>2026/8/15</a:t>
            </a:fld>
            <a:endParaRPr kumimoji="1" lang="ja-JP" altLang="en-US"/>
          </a:p>
        </p:txBody>
      </p:sp>
      <p:sp>
        <p:nvSpPr>
          <p:cNvPr id="4" name="フッター プレースホルダー 3">
            <a:extLst>
              <a:ext uri="{FF2B5EF4-FFF2-40B4-BE49-F238E27FC236}">
                <a16:creationId xmlns:a16="http://schemas.microsoft.com/office/drawing/2014/main" id="{C0A52977-BA3A-20D1-CD9B-2FBA29582D4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0B65F4F-1D88-8636-2239-36F065C4E5CD}"/>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2942365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578ACAF-5E74-BC53-AC48-C37D3D6C5EB3}"/>
              </a:ext>
            </a:extLst>
          </p:cNvPr>
          <p:cNvSpPr>
            <a:spLocks noGrp="1"/>
          </p:cNvSpPr>
          <p:nvPr>
            <p:ph type="dt" sz="half" idx="10"/>
          </p:nvPr>
        </p:nvSpPr>
        <p:spPr/>
        <p:txBody>
          <a:bodyPr/>
          <a:lstStyle/>
          <a:p>
            <a:fld id="{A50C09C6-E881-43D8-B100-0F7F8B0A4E1B}" type="datetime1">
              <a:rPr kumimoji="1" lang="ja-JP" altLang="en-US" smtClean="0"/>
              <a:t>2026/8/15</a:t>
            </a:fld>
            <a:endParaRPr kumimoji="1" lang="ja-JP" altLang="en-US"/>
          </a:p>
        </p:txBody>
      </p:sp>
      <p:sp>
        <p:nvSpPr>
          <p:cNvPr id="3" name="フッター プレースホルダー 2">
            <a:extLst>
              <a:ext uri="{FF2B5EF4-FFF2-40B4-BE49-F238E27FC236}">
                <a16:creationId xmlns:a16="http://schemas.microsoft.com/office/drawing/2014/main" id="{180D364B-3BF7-B70F-9F32-C6AA04F95E1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1178B4C-2105-E210-49C0-CFC2B4541B49}"/>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3473086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1F8CBE-53DD-773B-E070-DE4F925B190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FA98C89-BB4C-2B90-E283-6BA4AAFE7E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422A2ED-517B-7C0B-F322-C5C27F4E9B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C794D33-0854-D5DB-E755-4047EA43DDB4}"/>
              </a:ext>
            </a:extLst>
          </p:cNvPr>
          <p:cNvSpPr>
            <a:spLocks noGrp="1"/>
          </p:cNvSpPr>
          <p:nvPr>
            <p:ph type="dt" sz="half" idx="10"/>
          </p:nvPr>
        </p:nvSpPr>
        <p:spPr/>
        <p:txBody>
          <a:bodyPr/>
          <a:lstStyle/>
          <a:p>
            <a:fld id="{828E4ED7-DBE8-402C-9AED-93F79B4B2FB6}" type="datetime1">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5315B135-D97A-1B31-1C87-5E1C2D7F2F5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4FCD31F-E37A-E63D-4DDD-B9DE6D705ECE}"/>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100261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0B0872-6F29-BECA-1AD1-5D76E5EC8FF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4D90C59-63AC-9278-0952-2AB8A99A81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4FB99F6-BB85-79A9-F29E-B25D3338A2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2535480-4C00-6E66-C12A-F8724E172961}"/>
              </a:ext>
            </a:extLst>
          </p:cNvPr>
          <p:cNvSpPr>
            <a:spLocks noGrp="1"/>
          </p:cNvSpPr>
          <p:nvPr>
            <p:ph type="dt" sz="half" idx="10"/>
          </p:nvPr>
        </p:nvSpPr>
        <p:spPr/>
        <p:txBody>
          <a:bodyPr/>
          <a:lstStyle/>
          <a:p>
            <a:fld id="{EBC06F58-C512-4546-B634-84D93E83F676}" type="datetime1">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419D31CA-309B-A204-9E97-DFB4AECBC38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B9E26A1-1E9F-A3F6-E669-A34AA4F1BB29}"/>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460129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44870D-00A0-8E1B-B17A-0F91604D18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9F9B7F7-1A01-8261-A53D-B47ED0A0905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DA59571-6D1F-C3A2-92DA-14420A24C7F3}"/>
              </a:ext>
            </a:extLst>
          </p:cNvPr>
          <p:cNvSpPr>
            <a:spLocks noGrp="1"/>
          </p:cNvSpPr>
          <p:nvPr>
            <p:ph type="dt" sz="half" idx="10"/>
          </p:nvPr>
        </p:nvSpPr>
        <p:spPr/>
        <p:txBody>
          <a:bodyPr/>
          <a:lstStyle/>
          <a:p>
            <a:fld id="{9C1A45B6-F968-4585-939D-423DCEAC45F2}" type="datetime1">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3A65964A-2E7A-3FBD-BE5F-19C7924104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0611728-C539-86C5-7855-FF719DB396CC}"/>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475384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66DB647-FCB5-85B9-60DC-697ABEEE27F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DD30043-5874-492F-30CE-AEA1A2528B7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7EF3D9C-CD06-7EC2-4EE4-383BBD23D42E}"/>
              </a:ext>
            </a:extLst>
          </p:cNvPr>
          <p:cNvSpPr>
            <a:spLocks noGrp="1"/>
          </p:cNvSpPr>
          <p:nvPr>
            <p:ph type="dt" sz="half" idx="10"/>
          </p:nvPr>
        </p:nvSpPr>
        <p:spPr/>
        <p:txBody>
          <a:bodyPr/>
          <a:lstStyle/>
          <a:p>
            <a:fld id="{E02B5EB4-C3C0-4804-AE23-FDFE5BD66D41}" type="datetime1">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213CBFD8-826D-0960-10D3-871FB1B0040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5EC3D0C-2365-63F9-77CD-75982B15074E}"/>
              </a:ext>
            </a:extLst>
          </p:cNvPr>
          <p:cNvSpPr>
            <a:spLocks noGrp="1"/>
          </p:cNvSpPr>
          <p:nvPr>
            <p:ph type="sldNum" sz="quarter" idx="12"/>
          </p:nvPr>
        </p:nvSpPr>
        <p:spPr/>
        <p:txBody>
          <a:body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2745042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7460F04-AA2E-D2FA-6FEE-79D7AA08A7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CE7D96C-D32D-1559-8468-C1526309EB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5F16010-0E78-B908-B93F-E284495D64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5F38C-6E66-489E-B292-B237F036B2AD}" type="datetime1">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BF553782-9514-32E6-7B97-8374763DEC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90992D6-B8DD-2D76-A669-8A5F32EEC5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077F3A-4098-4199-8925-77865D1E3500}" type="slidenum">
              <a:rPr kumimoji="1" lang="ja-JP" altLang="en-US" smtClean="0"/>
              <a:t>‹#›</a:t>
            </a:fld>
            <a:endParaRPr kumimoji="1" lang="ja-JP" altLang="en-US"/>
          </a:p>
        </p:txBody>
      </p:sp>
    </p:spTree>
    <p:extLst>
      <p:ext uri="{BB962C8B-B14F-4D97-AF65-F5344CB8AC3E}">
        <p14:creationId xmlns:p14="http://schemas.microsoft.com/office/powerpoint/2010/main" val="745980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58.png"/><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6.png"/><Relationship Id="rId7"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4.png"/><Relationship Id="rId4" Type="http://schemas.openxmlformats.org/officeDocument/2006/relationships/image" Target="../media/image30.png"/><Relationship Id="rId9"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3.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4.png"/><Relationship Id="rId4" Type="http://schemas.openxmlformats.org/officeDocument/2006/relationships/image" Target="../media/image30.png"/><Relationship Id="rId9" Type="http://schemas.openxmlformats.org/officeDocument/2006/relationships/image" Target="../media/image37.png"/></Relationships>
</file>

<file path=ppt/slides/_rels/slide1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30.png"/><Relationship Id="rId7" Type="http://schemas.openxmlformats.org/officeDocument/2006/relationships/image" Target="../media/image83.png"/><Relationship Id="rId2" Type="http://schemas.openxmlformats.org/officeDocument/2006/relationships/image" Target="../media/image720.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9" Type="http://schemas.openxmlformats.org/officeDocument/2006/relationships/image" Target="../media/image85.png"/></Relationships>
</file>

<file path=ppt/slides/_rels/slide1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3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2.png"/><Relationship Id="rId2" Type="http://schemas.openxmlformats.org/officeDocument/2006/relationships/image" Target="../media/image3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31.png"/><Relationship Id="rId3" Type="http://schemas.openxmlformats.org/officeDocument/2006/relationships/image" Target="../media/image382.png"/><Relationship Id="rId7" Type="http://schemas.openxmlformats.org/officeDocument/2006/relationships/image" Target="../media/image421.png"/><Relationship Id="rId2" Type="http://schemas.openxmlformats.org/officeDocument/2006/relationships/image" Target="../media/image362.png"/><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401.png"/><Relationship Id="rId4" Type="http://schemas.openxmlformats.org/officeDocument/2006/relationships/image" Target="../media/image391.png"/></Relationships>
</file>

<file path=ppt/slides/_rels/slide29.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2.xml"/><Relationship Id="rId4" Type="http://schemas.openxmlformats.org/officeDocument/2006/relationships/image" Target="../media/image250.png"/></Relationships>
</file>

<file path=ppt/slides/_rels/slide3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30.png"/><Relationship Id="rId2" Type="http://schemas.openxmlformats.org/officeDocument/2006/relationships/image" Target="../media/image590.png"/><Relationship Id="rId1" Type="http://schemas.openxmlformats.org/officeDocument/2006/relationships/slideLayout" Target="../slideLayouts/slideLayout2.xml"/><Relationship Id="rId6" Type="http://schemas.openxmlformats.org/officeDocument/2006/relationships/image" Target="../media/image620.png"/><Relationship Id="rId5" Type="http://schemas.openxmlformats.org/officeDocument/2006/relationships/image" Target="../media/image610.png"/><Relationship Id="rId4" Type="http://schemas.openxmlformats.org/officeDocument/2006/relationships/image" Target="../media/image600.png"/></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40.png"/><Relationship Id="rId1" Type="http://schemas.openxmlformats.org/officeDocument/2006/relationships/slideLayout" Target="../slideLayouts/slideLayout2.xml"/><Relationship Id="rId6" Type="http://schemas.openxmlformats.org/officeDocument/2006/relationships/image" Target="../media/image650.png"/><Relationship Id="rId5" Type="http://schemas.openxmlformats.org/officeDocument/2006/relationships/image" Target="../media/image610.png"/><Relationship Id="rId4" Type="http://schemas.openxmlformats.org/officeDocument/2006/relationships/image" Target="../media/image600.png"/></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40.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10.png"/></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2.png"/></Relationships>
</file>

<file path=ppt/slides/_rels/slide4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69.png"/><Relationship Id="rId4" Type="http://schemas.openxmlformats.org/officeDocument/2006/relationships/image" Target="../media/image72.png"/></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67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0.png"/><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png"/></Relationships>
</file>

<file path=ppt/slides/_rels/slide52.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 Id="rId9" Type="http://schemas.openxmlformats.org/officeDocument/2006/relationships/image" Target="../media/image103.png"/></Relationships>
</file>

<file path=ppt/slides/_rels/slide53.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5.png"/><Relationship Id="rId10" Type="http://schemas.openxmlformats.org/officeDocument/2006/relationships/image" Target="../media/image108.png"/><Relationship Id="rId4" Type="http://schemas.openxmlformats.org/officeDocument/2006/relationships/image" Target="../media/image99.png"/><Relationship Id="rId9" Type="http://schemas.openxmlformats.org/officeDocument/2006/relationships/image" Target="../media/image107.png"/></Relationships>
</file>

<file path=ppt/slides/_rels/slide54.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1.png"/><Relationship Id="rId7"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6.png"/><Relationship Id="rId10" Type="http://schemas.openxmlformats.org/officeDocument/2006/relationships/image" Target="../media/image113.png"/><Relationship Id="rId4" Type="http://schemas.openxmlformats.org/officeDocument/2006/relationships/image" Target="../media/image102.png"/><Relationship Id="rId9" Type="http://schemas.openxmlformats.org/officeDocument/2006/relationships/image" Target="../media/image112.png"/></Relationships>
</file>

<file path=ppt/slides/_rels/slide55.xml.rels><?xml version="1.0" encoding="UTF-8" standalone="yes"?>
<Relationships xmlns="http://schemas.openxmlformats.org/package/2006/relationships"><Relationship Id="rId3" Type="http://schemas.openxmlformats.org/officeDocument/2006/relationships/image" Target="../media/image1040.png"/><Relationship Id="rId2" Type="http://schemas.openxmlformats.org/officeDocument/2006/relationships/image" Target="../media/image1030.png"/><Relationship Id="rId1" Type="http://schemas.openxmlformats.org/officeDocument/2006/relationships/slideLayout" Target="../slideLayouts/slideLayout2.xml"/><Relationship Id="rId4" Type="http://schemas.openxmlformats.org/officeDocument/2006/relationships/image" Target="../media/image1050.png"/></Relationships>
</file>

<file path=ppt/slides/_rels/slide56.xml.rels><?xml version="1.0" encoding="UTF-8" standalone="yes"?>
<Relationships xmlns="http://schemas.openxmlformats.org/package/2006/relationships"><Relationship Id="rId3" Type="http://schemas.openxmlformats.org/officeDocument/2006/relationships/image" Target="../media/image970.png"/><Relationship Id="rId2" Type="http://schemas.openxmlformats.org/officeDocument/2006/relationships/image" Target="../media/image960.png"/><Relationship Id="rId1" Type="http://schemas.openxmlformats.org/officeDocument/2006/relationships/slideLayout" Target="../slideLayouts/slideLayout2.xml"/><Relationship Id="rId6" Type="http://schemas.openxmlformats.org/officeDocument/2006/relationships/image" Target="../media/image1080.png"/><Relationship Id="rId5" Type="http://schemas.openxmlformats.org/officeDocument/2006/relationships/image" Target="../media/image1070.png"/><Relationship Id="rId4" Type="http://schemas.openxmlformats.org/officeDocument/2006/relationships/image" Target="../media/image1060.png"/></Relationships>
</file>

<file path=ppt/slides/_rels/slide57.xml.rels><?xml version="1.0" encoding="UTF-8" standalone="yes"?>
<Relationships xmlns="http://schemas.openxmlformats.org/package/2006/relationships"><Relationship Id="rId3" Type="http://schemas.openxmlformats.org/officeDocument/2006/relationships/image" Target="../media/image990.png"/><Relationship Id="rId2" Type="http://schemas.openxmlformats.org/officeDocument/2006/relationships/image" Target="../media/image98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10.png"/><Relationship Id="rId2" Type="http://schemas.openxmlformats.org/officeDocument/2006/relationships/image" Target="../media/image1000.png"/><Relationship Id="rId1" Type="http://schemas.openxmlformats.org/officeDocument/2006/relationships/slideLayout" Target="../slideLayouts/slideLayout2.xml"/><Relationship Id="rId5" Type="http://schemas.openxmlformats.org/officeDocument/2006/relationships/image" Target="../media/image1090.png"/><Relationship Id="rId4" Type="http://schemas.openxmlformats.org/officeDocument/2006/relationships/image" Target="../media/image1020.png"/></Relationships>
</file>

<file path=ppt/slides/_rels/slide5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7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6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170.png"/><Relationship Id="rId2" Type="http://schemas.openxmlformats.org/officeDocument/2006/relationships/image" Target="../media/image1160.png"/><Relationship Id="rId1" Type="http://schemas.openxmlformats.org/officeDocument/2006/relationships/slideLayout" Target="../slideLayouts/slideLayout2.xml"/><Relationship Id="rId6" Type="http://schemas.openxmlformats.org/officeDocument/2006/relationships/image" Target="../media/image1200.png"/><Relationship Id="rId5" Type="http://schemas.openxmlformats.org/officeDocument/2006/relationships/image" Target="../media/image1190.png"/><Relationship Id="rId4" Type="http://schemas.openxmlformats.org/officeDocument/2006/relationships/image" Target="../media/image1180.png"/></Relationships>
</file>

<file path=ppt/slides/_rels/slide66.xml.rels><?xml version="1.0" encoding="UTF-8" standalone="yes"?>
<Relationships xmlns="http://schemas.openxmlformats.org/package/2006/relationships"><Relationship Id="rId3" Type="http://schemas.openxmlformats.org/officeDocument/2006/relationships/image" Target="../media/image1220.png"/><Relationship Id="rId2" Type="http://schemas.openxmlformats.org/officeDocument/2006/relationships/image" Target="../media/image12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75.png"/></Relationships>
</file>

<file path=ppt/slides/_rels/slide6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s>
</file>

<file path=ppt/slides/_rels/slide69.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 Id="rId5" Type="http://schemas.openxmlformats.org/officeDocument/2006/relationships/image" Target="../media/image142.png"/><Relationship Id="rId4" Type="http://schemas.openxmlformats.org/officeDocument/2006/relationships/image" Target="../media/image141.png"/></Relationships>
</file>

<file path=ppt/slides/_rels/slide73.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A3D326-F61A-ABA4-3BE8-1FC5567BAFA3}"/>
              </a:ext>
            </a:extLst>
          </p:cNvPr>
          <p:cNvSpPr>
            <a:spLocks noGrp="1"/>
          </p:cNvSpPr>
          <p:nvPr>
            <p:ph type="ctrTitle"/>
          </p:nvPr>
        </p:nvSpPr>
        <p:spPr/>
        <p:txBody>
          <a:bodyPr>
            <a:normAutofit/>
          </a:bodyPr>
          <a:lstStyle/>
          <a:p>
            <a:r>
              <a:rPr lang="ja-JP" altLang="en-US" sz="4400" dirty="0"/>
              <a:t>オンラインメトリックマッチング</a:t>
            </a:r>
            <a:br>
              <a:rPr lang="en-US" altLang="ja-JP" sz="4400" dirty="0"/>
            </a:br>
            <a:r>
              <a:rPr lang="ja-JP" altLang="en-US" sz="4400" dirty="0"/>
              <a:t>とその拡張</a:t>
            </a:r>
            <a:endParaRPr kumimoji="1" lang="ja-JP" altLang="en-US" sz="4400" dirty="0"/>
          </a:p>
        </p:txBody>
      </p:sp>
      <p:sp>
        <p:nvSpPr>
          <p:cNvPr id="3" name="字幕 2">
            <a:extLst>
              <a:ext uri="{FF2B5EF4-FFF2-40B4-BE49-F238E27FC236}">
                <a16:creationId xmlns:a16="http://schemas.microsoft.com/office/drawing/2014/main" id="{CD1801B1-84FB-4F4F-F996-97138518E2B3}"/>
              </a:ext>
            </a:extLst>
          </p:cNvPr>
          <p:cNvSpPr>
            <a:spLocks noGrp="1"/>
          </p:cNvSpPr>
          <p:nvPr>
            <p:ph type="subTitle" idx="1"/>
          </p:nvPr>
        </p:nvSpPr>
        <p:spPr/>
        <p:txBody>
          <a:bodyPr/>
          <a:lstStyle/>
          <a:p>
            <a:r>
              <a:rPr lang="en-US" altLang="ja-JP" dirty="0"/>
              <a:t>2026/08/17 JCCA-DMIA 2026 @</a:t>
            </a:r>
            <a:r>
              <a:rPr lang="ja-JP" altLang="en-US" dirty="0"/>
              <a:t>金沢</a:t>
            </a:r>
            <a:endParaRPr lang="en-US" altLang="ja-JP" dirty="0"/>
          </a:p>
          <a:p>
            <a:r>
              <a:rPr kumimoji="1" lang="ja-JP" altLang="en-US" dirty="0"/>
              <a:t>東京科学大学　澄田研究室　</a:t>
            </a:r>
            <a:r>
              <a:rPr kumimoji="1" lang="en-US" altLang="ja-JP" dirty="0"/>
              <a:t>D3</a:t>
            </a:r>
          </a:p>
          <a:p>
            <a:r>
              <a:rPr kumimoji="1" lang="ja-JP" altLang="en-US" dirty="0"/>
              <a:t>原田　翼</a:t>
            </a:r>
          </a:p>
        </p:txBody>
      </p:sp>
      <p:sp>
        <p:nvSpPr>
          <p:cNvPr id="4" name="スライド番号プレースホルダー 3">
            <a:extLst>
              <a:ext uri="{FF2B5EF4-FFF2-40B4-BE49-F238E27FC236}">
                <a16:creationId xmlns:a16="http://schemas.microsoft.com/office/drawing/2014/main" id="{9747EEF3-CA76-2434-7362-A5EF2FFC8FD9}"/>
              </a:ext>
            </a:extLst>
          </p:cNvPr>
          <p:cNvSpPr>
            <a:spLocks noGrp="1"/>
          </p:cNvSpPr>
          <p:nvPr>
            <p:ph type="sldNum" sz="quarter" idx="12"/>
          </p:nvPr>
        </p:nvSpPr>
        <p:spPr/>
        <p:txBody>
          <a:bodyPr/>
          <a:lstStyle/>
          <a:p>
            <a:fld id="{4B077F3A-4098-4199-8925-77865D1E3500}" type="slidenum">
              <a:rPr kumimoji="1" lang="ja-JP" altLang="en-US" smtClean="0"/>
              <a:t>1</a:t>
            </a:fld>
            <a:endParaRPr kumimoji="1" lang="ja-JP" altLang="en-US"/>
          </a:p>
        </p:txBody>
      </p:sp>
    </p:spTree>
    <p:extLst>
      <p:ext uri="{BB962C8B-B14F-4D97-AF65-F5344CB8AC3E}">
        <p14:creationId xmlns:p14="http://schemas.microsoft.com/office/powerpoint/2010/main" val="2887548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図 31">
            <a:extLst>
              <a:ext uri="{FF2B5EF4-FFF2-40B4-BE49-F238E27FC236}">
                <a16:creationId xmlns:a16="http://schemas.microsoft.com/office/drawing/2014/main" id="{AA4462FF-16B7-26F3-9568-EDF3A73FBE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6323" y="1658416"/>
            <a:ext cx="782574" cy="782574"/>
          </a:xfrm>
          <a:prstGeom prst="rect">
            <a:avLst/>
          </a:prstGeom>
        </p:spPr>
      </p:pic>
      <p:pic>
        <p:nvPicPr>
          <p:cNvPr id="30" name="図 29">
            <a:extLst>
              <a:ext uri="{FF2B5EF4-FFF2-40B4-BE49-F238E27FC236}">
                <a16:creationId xmlns:a16="http://schemas.microsoft.com/office/drawing/2014/main" id="{0061DC41-D0AC-5D13-AB34-A281936DE4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0044" y="2741795"/>
            <a:ext cx="782574" cy="782574"/>
          </a:xfrm>
          <a:prstGeom prst="rect">
            <a:avLst/>
          </a:prstGeom>
        </p:spPr>
      </p:pic>
      <p:pic>
        <p:nvPicPr>
          <p:cNvPr id="29" name="図 28">
            <a:extLst>
              <a:ext uri="{FF2B5EF4-FFF2-40B4-BE49-F238E27FC236}">
                <a16:creationId xmlns:a16="http://schemas.microsoft.com/office/drawing/2014/main" id="{88658837-9DFA-8E94-17CC-F0C0715D6A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3282" y="1839118"/>
            <a:ext cx="782574" cy="782574"/>
          </a:xfrm>
          <a:prstGeom prst="rect">
            <a:avLst/>
          </a:prstGeom>
        </p:spPr>
      </p:pic>
      <p:pic>
        <p:nvPicPr>
          <p:cNvPr id="27" name="図 26">
            <a:extLst>
              <a:ext uri="{FF2B5EF4-FFF2-40B4-BE49-F238E27FC236}">
                <a16:creationId xmlns:a16="http://schemas.microsoft.com/office/drawing/2014/main" id="{2495AC65-8F2B-7D18-4AB3-36A4DCBE07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746" y="2250606"/>
            <a:ext cx="782574" cy="782574"/>
          </a:xfrm>
          <a:prstGeom prst="rect">
            <a:avLst/>
          </a:prstGeom>
        </p:spPr>
      </p:pic>
      <p:sp>
        <p:nvSpPr>
          <p:cNvPr id="2" name="タイトル 1">
            <a:extLst>
              <a:ext uri="{FF2B5EF4-FFF2-40B4-BE49-F238E27FC236}">
                <a16:creationId xmlns:a16="http://schemas.microsoft.com/office/drawing/2014/main" id="{DF4A4CDE-BB51-4A3F-A42C-C489BADBF4A4}"/>
              </a:ext>
            </a:extLst>
          </p:cNvPr>
          <p:cNvSpPr>
            <a:spLocks noGrp="1"/>
          </p:cNvSpPr>
          <p:nvPr>
            <p:ph type="title"/>
          </p:nvPr>
        </p:nvSpPr>
        <p:spPr/>
        <p:txBody>
          <a:bodyPr/>
          <a:lstStyle/>
          <a:p>
            <a:r>
              <a:rPr kumimoji="1" lang="ja-JP" altLang="en-US" dirty="0"/>
              <a:t>オンラインメトリックマッチング</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0DBB7D47-8E19-4434-9942-F17E364EB207}"/>
                  </a:ext>
                </a:extLst>
              </p:cNvPr>
              <p:cNvSpPr txBox="1"/>
              <p:nvPr/>
            </p:nvSpPr>
            <p:spPr>
              <a:xfrm>
                <a:off x="838200" y="3698514"/>
                <a:ext cx="10515599" cy="2523768"/>
              </a:xfrm>
              <a:prstGeom prst="rect">
                <a:avLst/>
              </a:prstGeom>
              <a:noFill/>
            </p:spPr>
            <p:txBody>
              <a:bodyPr wrap="square" rtlCol="0">
                <a:spAutoFit/>
              </a:bodyPr>
              <a:lstStyle/>
              <a:p>
                <a:pPr marL="457200" indent="-457200">
                  <a:buFont typeface="Arial" panose="020B0604020202020204" pitchFamily="34" charset="0"/>
                  <a:buChar char="•"/>
                </a:pPr>
                <a14:m>
                  <m:oMath xmlns:m="http://schemas.openxmlformats.org/officeDocument/2006/math">
                    <m:r>
                      <a:rPr kumimoji="1" lang="en-US" altLang="ja-JP" sz="2600" b="0" i="1" smtClean="0">
                        <a:latin typeface="Cambria Math" panose="02040503050406030204" pitchFamily="18" charset="0"/>
                      </a:rPr>
                      <m:t>𝑛</m:t>
                    </m:r>
                  </m:oMath>
                </a14:m>
                <a:r>
                  <a:rPr kumimoji="1" lang="ja-JP" altLang="en-US" sz="2600" dirty="0"/>
                  <a:t> 棟の病院</a:t>
                </a:r>
                <a:r>
                  <a:rPr lang="ja-JP" altLang="en-US" sz="2600" dirty="0"/>
                  <a:t>がある</a:t>
                </a:r>
                <a:endParaRPr kumimoji="1" lang="en-US" altLang="ja-JP" sz="2600" dirty="0"/>
              </a:p>
              <a:p>
                <a:pPr marL="457200" indent="-457200">
                  <a:buFont typeface="Arial" panose="020B0604020202020204" pitchFamily="34" charset="0"/>
                  <a:buChar char="•"/>
                </a:pPr>
                <a:r>
                  <a:rPr lang="ja-JP" altLang="en-US" sz="2600" dirty="0"/>
                  <a:t>急患の患者を直ちに診察中の患者がいない病院に搬送する</a:t>
                </a:r>
                <a:endParaRPr lang="en-US" altLang="ja-JP" sz="2600" dirty="0"/>
              </a:p>
              <a:p>
                <a:pPr marL="457200" indent="-457200">
                  <a:buFont typeface="Arial" panose="020B0604020202020204" pitchFamily="34" charset="0"/>
                  <a:buChar char="•"/>
                </a:pPr>
                <a:r>
                  <a:rPr lang="ja-JP" altLang="en-US" sz="2600" dirty="0"/>
                  <a:t>一度決めた搬送先を後から変更することは出来ない</a:t>
                </a:r>
                <a:endParaRPr lang="en-US" altLang="ja-JP" sz="2600" dirty="0"/>
              </a:p>
              <a:p>
                <a:endParaRPr lang="en-US" altLang="ja-JP" sz="2000" dirty="0"/>
              </a:p>
              <a:p>
                <a:r>
                  <a:rPr lang="ja-JP" altLang="en-US" sz="2800" b="1" dirty="0"/>
                  <a:t>目的</a:t>
                </a:r>
                <a:r>
                  <a:rPr lang="en-US" altLang="ja-JP" sz="2800" b="1" dirty="0"/>
                  <a:t>:</a:t>
                </a:r>
                <a:r>
                  <a:rPr lang="en-US" altLang="ja-JP" sz="2800" dirty="0"/>
                  <a:t>  </a:t>
                </a:r>
                <a:r>
                  <a:rPr lang="ja-JP" altLang="en-US" sz="2800" dirty="0"/>
                  <a:t>患者と割当先の病院間の距離の総和</a:t>
                </a:r>
                <a:r>
                  <a:rPr lang="ja-JP" altLang="en-US" sz="3200" dirty="0"/>
                  <a:t>（</a:t>
                </a:r>
                <a:r>
                  <a:rPr lang="en-US" altLang="ja-JP" sz="2800" b="1" dirty="0">
                    <a:solidFill>
                      <a:schemeClr val="accent1"/>
                    </a:solidFill>
                  </a:rPr>
                  <a:t>“</a:t>
                </a:r>
                <a:r>
                  <a:rPr lang="ja-JP" altLang="en-US" sz="2800" b="1" dirty="0">
                    <a:solidFill>
                      <a:schemeClr val="accent1"/>
                    </a:solidFill>
                  </a:rPr>
                  <a:t>→</a:t>
                </a:r>
                <a:r>
                  <a:rPr lang="en-US" altLang="ja-JP" sz="2800" b="1" dirty="0">
                    <a:solidFill>
                      <a:schemeClr val="accent1"/>
                    </a:solidFill>
                  </a:rPr>
                  <a:t>”</a:t>
                </a:r>
                <a:r>
                  <a:rPr lang="ja-JP" altLang="en-US" sz="2800" b="1" dirty="0">
                    <a:solidFill>
                      <a:schemeClr val="accent1"/>
                    </a:solidFill>
                  </a:rPr>
                  <a:t>の長さの合計</a:t>
                </a:r>
                <a:r>
                  <a:rPr lang="ja-JP" altLang="en-US" sz="3200" dirty="0"/>
                  <a:t>）</a:t>
                </a:r>
                <a:endParaRPr lang="en-US" altLang="ja-JP" sz="3200" dirty="0"/>
              </a:p>
              <a:p>
                <a:pPr indent="990600"/>
                <a:r>
                  <a:rPr lang="ja-JP" altLang="en-US" sz="2800" dirty="0"/>
                  <a:t>を最小化</a:t>
                </a:r>
                <a:endParaRPr kumimoji="1" lang="en-US" altLang="ja-JP" sz="2800" dirty="0"/>
              </a:p>
            </p:txBody>
          </p:sp>
        </mc:Choice>
        <mc:Fallback xmlns="">
          <p:sp>
            <p:nvSpPr>
              <p:cNvPr id="5" name="テキスト ボックス 4">
                <a:extLst>
                  <a:ext uri="{FF2B5EF4-FFF2-40B4-BE49-F238E27FC236}">
                    <a16:creationId xmlns:a16="http://schemas.microsoft.com/office/drawing/2014/main" id="{0DBB7D47-8E19-4434-9942-F17E364EB207}"/>
                  </a:ext>
                </a:extLst>
              </p:cNvPr>
              <p:cNvSpPr txBox="1">
                <a:spLocks noRot="1" noChangeAspect="1" noMove="1" noResize="1" noEditPoints="1" noAdjustHandles="1" noChangeArrowheads="1" noChangeShapeType="1" noTextEdit="1"/>
              </p:cNvSpPr>
              <p:nvPr/>
            </p:nvSpPr>
            <p:spPr>
              <a:xfrm>
                <a:off x="838200" y="3698514"/>
                <a:ext cx="10515599" cy="2523768"/>
              </a:xfrm>
              <a:prstGeom prst="rect">
                <a:avLst/>
              </a:prstGeom>
              <a:blipFill>
                <a:blip r:embed="rId4"/>
                <a:stretch>
                  <a:fillRect l="-1218" t="-2415" r="-348" b="-6280"/>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B9E0E594-7700-7A30-82C3-3749ED6341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58637" y="1627495"/>
            <a:ext cx="830692" cy="971569"/>
          </a:xfrm>
          <a:prstGeom prst="rect">
            <a:avLst/>
          </a:prstGeom>
        </p:spPr>
      </p:pic>
      <p:pic>
        <p:nvPicPr>
          <p:cNvPr id="7" name="図 6">
            <a:extLst>
              <a:ext uri="{FF2B5EF4-FFF2-40B4-BE49-F238E27FC236}">
                <a16:creationId xmlns:a16="http://schemas.microsoft.com/office/drawing/2014/main" id="{E6A89712-E21E-01B6-10CE-439E21DB43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01457" y="1825480"/>
            <a:ext cx="830692" cy="971569"/>
          </a:xfrm>
          <a:prstGeom prst="rect">
            <a:avLst/>
          </a:prstGeom>
        </p:spPr>
      </p:pic>
      <p:pic>
        <p:nvPicPr>
          <p:cNvPr id="8" name="図 7">
            <a:extLst>
              <a:ext uri="{FF2B5EF4-FFF2-40B4-BE49-F238E27FC236}">
                <a16:creationId xmlns:a16="http://schemas.microsoft.com/office/drawing/2014/main" id="{72C3BF9F-6F84-9B61-5B6D-C203A2E910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66711" y="2369922"/>
            <a:ext cx="830692" cy="971569"/>
          </a:xfrm>
          <a:prstGeom prst="rect">
            <a:avLst/>
          </a:prstGeom>
        </p:spPr>
      </p:pic>
      <p:pic>
        <p:nvPicPr>
          <p:cNvPr id="9" name="図 8">
            <a:extLst>
              <a:ext uri="{FF2B5EF4-FFF2-40B4-BE49-F238E27FC236}">
                <a16:creationId xmlns:a16="http://schemas.microsoft.com/office/drawing/2014/main" id="{7B2B1345-B6EB-9031-BF99-9711D68F30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98748" y="1762637"/>
            <a:ext cx="830692" cy="971569"/>
          </a:xfrm>
          <a:prstGeom prst="rect">
            <a:avLst/>
          </a:prstGeom>
        </p:spPr>
      </p:pic>
      <p:cxnSp>
        <p:nvCxnSpPr>
          <p:cNvPr id="13" name="直線矢印コネクタ 12">
            <a:extLst>
              <a:ext uri="{FF2B5EF4-FFF2-40B4-BE49-F238E27FC236}">
                <a16:creationId xmlns:a16="http://schemas.microsoft.com/office/drawing/2014/main" id="{1F4D7635-CAE0-124A-72C6-2BD1B780232D}"/>
              </a:ext>
            </a:extLst>
          </p:cNvPr>
          <p:cNvCxnSpPr>
            <a:cxnSpLocks/>
          </p:cNvCxnSpPr>
          <p:nvPr/>
        </p:nvCxnSpPr>
        <p:spPr>
          <a:xfrm flipV="1">
            <a:off x="1782690" y="2248421"/>
            <a:ext cx="1074849" cy="34446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BF5EE636-06B9-8D77-5BB4-3CE54340F030}"/>
              </a:ext>
            </a:extLst>
          </p:cNvPr>
          <p:cNvCxnSpPr>
            <a:cxnSpLocks/>
          </p:cNvCxnSpPr>
          <p:nvPr/>
        </p:nvCxnSpPr>
        <p:spPr>
          <a:xfrm>
            <a:off x="4719574" y="2416691"/>
            <a:ext cx="1072577" cy="17619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30667EA9-3995-96AE-E674-D181F3BA2158}"/>
              </a:ext>
            </a:extLst>
          </p:cNvPr>
          <p:cNvCxnSpPr>
            <a:cxnSpLocks/>
          </p:cNvCxnSpPr>
          <p:nvPr/>
        </p:nvCxnSpPr>
        <p:spPr>
          <a:xfrm flipV="1">
            <a:off x="5404240" y="2992991"/>
            <a:ext cx="2662471" cy="284017"/>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71B80E7F-CB23-F678-9F83-7ADE2595E153}"/>
              </a:ext>
            </a:extLst>
          </p:cNvPr>
          <p:cNvCxnSpPr>
            <a:cxnSpLocks/>
          </p:cNvCxnSpPr>
          <p:nvPr/>
        </p:nvCxnSpPr>
        <p:spPr>
          <a:xfrm>
            <a:off x="7900929" y="2051854"/>
            <a:ext cx="2211775" cy="213409"/>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3C8A703B-A104-1220-BC1C-090E5E16027C}"/>
              </a:ext>
            </a:extLst>
          </p:cNvPr>
          <p:cNvSpPr>
            <a:spLocks noGrp="1"/>
          </p:cNvSpPr>
          <p:nvPr>
            <p:ph type="sldNum" sz="quarter" idx="12"/>
          </p:nvPr>
        </p:nvSpPr>
        <p:spPr/>
        <p:txBody>
          <a:bodyPr/>
          <a:lstStyle/>
          <a:p>
            <a:fld id="{4B077F3A-4098-4199-8925-77865D1E3500}" type="slidenum">
              <a:rPr kumimoji="1" lang="ja-JP" altLang="en-US" smtClean="0"/>
              <a:t>2</a:t>
            </a:fld>
            <a:endParaRPr kumimoji="1" lang="ja-JP" altLang="en-US"/>
          </a:p>
        </p:txBody>
      </p:sp>
    </p:spTree>
    <p:extLst>
      <p:ext uri="{BB962C8B-B14F-4D97-AF65-F5344CB8AC3E}">
        <p14:creationId xmlns:p14="http://schemas.microsoft.com/office/powerpoint/2010/main" val="225405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fade">
                                      <p:cBhvr>
                                        <p:cTn id="25"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3B6C16-DA17-7EFF-AA3A-A2BD71A186DF}"/>
              </a:ext>
            </a:extLst>
          </p:cNvPr>
          <p:cNvSpPr>
            <a:spLocks noGrp="1"/>
          </p:cNvSpPr>
          <p:nvPr>
            <p:ph type="title"/>
          </p:nvPr>
        </p:nvSpPr>
        <p:spPr/>
        <p:txBody>
          <a:bodyPr/>
          <a:lstStyle/>
          <a:p>
            <a:r>
              <a:rPr kumimoji="1" lang="ja-JP" altLang="en-US" dirty="0"/>
              <a:t>例１：逐次的な割り当て</a:t>
            </a:r>
          </a:p>
        </p:txBody>
      </p:sp>
      <p:grpSp>
        <p:nvGrpSpPr>
          <p:cNvPr id="4" name="グループ化 3">
            <a:extLst>
              <a:ext uri="{FF2B5EF4-FFF2-40B4-BE49-F238E27FC236}">
                <a16:creationId xmlns:a16="http://schemas.microsoft.com/office/drawing/2014/main" id="{9A73B917-ED05-7DA6-FEF8-88B04AC86870}"/>
              </a:ext>
            </a:extLst>
          </p:cNvPr>
          <p:cNvGrpSpPr/>
          <p:nvPr/>
        </p:nvGrpSpPr>
        <p:grpSpPr>
          <a:xfrm>
            <a:off x="1083058" y="3985145"/>
            <a:ext cx="1471448" cy="2166610"/>
            <a:chOff x="1835014" y="1915510"/>
            <a:chExt cx="1471448" cy="2166610"/>
          </a:xfrm>
        </p:grpSpPr>
        <p:pic>
          <p:nvPicPr>
            <p:cNvPr id="5" name="図 4">
              <a:extLst>
                <a:ext uri="{FF2B5EF4-FFF2-40B4-BE49-F238E27FC236}">
                  <a16:creationId xmlns:a16="http://schemas.microsoft.com/office/drawing/2014/main" id="{6306AD0F-E033-BDB2-509E-E0C870A0D3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3721" y="1915510"/>
              <a:ext cx="1294034" cy="1513490"/>
            </a:xfrm>
            <a:prstGeom prst="rect">
              <a:avLst/>
            </a:prstGeom>
          </p:spPr>
        </p:pic>
        <p:sp>
          <p:nvSpPr>
            <p:cNvPr id="6" name="テキスト ボックス 5">
              <a:extLst>
                <a:ext uri="{FF2B5EF4-FFF2-40B4-BE49-F238E27FC236}">
                  <a16:creationId xmlns:a16="http://schemas.microsoft.com/office/drawing/2014/main" id="{CFDFC86C-983E-9BFD-05EC-A858522A14C7}"/>
                </a:ext>
              </a:extLst>
            </p:cNvPr>
            <p:cNvSpPr txBox="1"/>
            <p:nvPr/>
          </p:nvSpPr>
          <p:spPr>
            <a:xfrm>
              <a:off x="1835014" y="3558900"/>
              <a:ext cx="1471448" cy="523220"/>
            </a:xfrm>
            <a:prstGeom prst="rect">
              <a:avLst/>
            </a:prstGeom>
            <a:noFill/>
          </p:spPr>
          <p:txBody>
            <a:bodyPr wrap="square" rtlCol="0">
              <a:spAutoFit/>
            </a:bodyPr>
            <a:lstStyle/>
            <a:p>
              <a:pPr algn="ctr"/>
              <a:r>
                <a:rPr kumimoji="1" lang="ja-JP" altLang="en-US" sz="2800" dirty="0"/>
                <a:t>病院</a:t>
              </a:r>
              <a:r>
                <a:rPr lang="ja-JP" altLang="en-US" sz="2800" dirty="0"/>
                <a:t>１</a:t>
              </a:r>
              <a:endParaRPr kumimoji="1" lang="ja-JP" altLang="en-US" sz="2800" dirty="0"/>
            </a:p>
          </p:txBody>
        </p:sp>
      </p:grpSp>
      <p:grpSp>
        <p:nvGrpSpPr>
          <p:cNvPr id="7" name="グループ化 6">
            <a:extLst>
              <a:ext uri="{FF2B5EF4-FFF2-40B4-BE49-F238E27FC236}">
                <a16:creationId xmlns:a16="http://schemas.microsoft.com/office/drawing/2014/main" id="{3800F64A-1692-20D2-CEC4-6C3245AEB9B1}"/>
              </a:ext>
            </a:extLst>
          </p:cNvPr>
          <p:cNvGrpSpPr/>
          <p:nvPr/>
        </p:nvGrpSpPr>
        <p:grpSpPr>
          <a:xfrm>
            <a:off x="5869864" y="1849186"/>
            <a:ext cx="1471448" cy="2166610"/>
            <a:chOff x="4504642" y="4326265"/>
            <a:chExt cx="1471448" cy="2166610"/>
          </a:xfrm>
        </p:grpSpPr>
        <p:pic>
          <p:nvPicPr>
            <p:cNvPr id="8" name="図 7">
              <a:extLst>
                <a:ext uri="{FF2B5EF4-FFF2-40B4-BE49-F238E27FC236}">
                  <a16:creationId xmlns:a16="http://schemas.microsoft.com/office/drawing/2014/main" id="{2F469100-842B-8C74-7136-7D76C4965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3349" y="4326265"/>
              <a:ext cx="1294034" cy="1513490"/>
            </a:xfrm>
            <a:prstGeom prst="rect">
              <a:avLst/>
            </a:prstGeom>
          </p:spPr>
        </p:pic>
        <p:sp>
          <p:nvSpPr>
            <p:cNvPr id="9" name="テキスト ボックス 8">
              <a:extLst>
                <a:ext uri="{FF2B5EF4-FFF2-40B4-BE49-F238E27FC236}">
                  <a16:creationId xmlns:a16="http://schemas.microsoft.com/office/drawing/2014/main" id="{1ED038BB-3909-B8CD-BBAA-6DF8731CACEC}"/>
                </a:ext>
              </a:extLst>
            </p:cNvPr>
            <p:cNvSpPr txBox="1"/>
            <p:nvPr/>
          </p:nvSpPr>
          <p:spPr>
            <a:xfrm>
              <a:off x="4504642" y="5969655"/>
              <a:ext cx="1471448" cy="523220"/>
            </a:xfrm>
            <a:prstGeom prst="rect">
              <a:avLst/>
            </a:prstGeom>
            <a:noFill/>
          </p:spPr>
          <p:txBody>
            <a:bodyPr wrap="square" rtlCol="0">
              <a:spAutoFit/>
            </a:bodyPr>
            <a:lstStyle/>
            <a:p>
              <a:pPr algn="ctr"/>
              <a:r>
                <a:rPr kumimoji="1" lang="ja-JP" altLang="en-US" sz="2800" dirty="0"/>
                <a:t>病院２</a:t>
              </a:r>
            </a:p>
          </p:txBody>
        </p:sp>
      </p:grpSp>
      <p:grpSp>
        <p:nvGrpSpPr>
          <p:cNvPr id="10" name="グループ化 9">
            <a:extLst>
              <a:ext uri="{FF2B5EF4-FFF2-40B4-BE49-F238E27FC236}">
                <a16:creationId xmlns:a16="http://schemas.microsoft.com/office/drawing/2014/main" id="{5C7EE6BD-B2E3-F33D-B1C0-8347FC438132}"/>
              </a:ext>
            </a:extLst>
          </p:cNvPr>
          <p:cNvGrpSpPr/>
          <p:nvPr/>
        </p:nvGrpSpPr>
        <p:grpSpPr>
          <a:xfrm>
            <a:off x="9637494" y="3986157"/>
            <a:ext cx="1471448" cy="2166610"/>
            <a:chOff x="4504642" y="4326265"/>
            <a:chExt cx="1471448" cy="2166610"/>
          </a:xfrm>
        </p:grpSpPr>
        <p:pic>
          <p:nvPicPr>
            <p:cNvPr id="11" name="図 10">
              <a:extLst>
                <a:ext uri="{FF2B5EF4-FFF2-40B4-BE49-F238E27FC236}">
                  <a16:creationId xmlns:a16="http://schemas.microsoft.com/office/drawing/2014/main" id="{E382C661-53B1-DC8D-72D2-419CBD2E9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3349" y="4326265"/>
              <a:ext cx="1294034" cy="1513490"/>
            </a:xfrm>
            <a:prstGeom prst="rect">
              <a:avLst/>
            </a:prstGeom>
          </p:spPr>
        </p:pic>
        <p:sp>
          <p:nvSpPr>
            <p:cNvPr id="12" name="テキスト ボックス 11">
              <a:extLst>
                <a:ext uri="{FF2B5EF4-FFF2-40B4-BE49-F238E27FC236}">
                  <a16:creationId xmlns:a16="http://schemas.microsoft.com/office/drawing/2014/main" id="{E48F369D-6410-F15A-A411-4FDDD04628DA}"/>
                </a:ext>
              </a:extLst>
            </p:cNvPr>
            <p:cNvSpPr txBox="1"/>
            <p:nvPr/>
          </p:nvSpPr>
          <p:spPr>
            <a:xfrm>
              <a:off x="4504642" y="5969655"/>
              <a:ext cx="1471448" cy="523220"/>
            </a:xfrm>
            <a:prstGeom prst="rect">
              <a:avLst/>
            </a:prstGeom>
            <a:noFill/>
          </p:spPr>
          <p:txBody>
            <a:bodyPr wrap="square" rtlCol="0">
              <a:spAutoFit/>
            </a:bodyPr>
            <a:lstStyle/>
            <a:p>
              <a:pPr algn="ctr"/>
              <a:r>
                <a:rPr kumimoji="1" lang="ja-JP" altLang="en-US" sz="2800" dirty="0"/>
                <a:t>病院</a:t>
              </a:r>
              <a:r>
                <a:rPr lang="ja-JP" altLang="en-US" sz="2800" dirty="0"/>
                <a:t>３</a:t>
              </a:r>
              <a:endParaRPr kumimoji="1" lang="ja-JP" altLang="en-US" sz="2800" dirty="0"/>
            </a:p>
          </p:txBody>
        </p:sp>
      </p:grpSp>
      <p:grpSp>
        <p:nvGrpSpPr>
          <p:cNvPr id="13" name="グループ化 12">
            <a:extLst>
              <a:ext uri="{FF2B5EF4-FFF2-40B4-BE49-F238E27FC236}">
                <a16:creationId xmlns:a16="http://schemas.microsoft.com/office/drawing/2014/main" id="{A37A4FE9-6A78-C874-8157-DC1CC523B23F}"/>
              </a:ext>
            </a:extLst>
          </p:cNvPr>
          <p:cNvGrpSpPr/>
          <p:nvPr/>
        </p:nvGrpSpPr>
        <p:grpSpPr>
          <a:xfrm>
            <a:off x="3341021" y="1813553"/>
            <a:ext cx="1513490" cy="2048727"/>
            <a:chOff x="1813993" y="2280745"/>
            <a:chExt cx="1513490" cy="2048727"/>
          </a:xfrm>
        </p:grpSpPr>
        <p:pic>
          <p:nvPicPr>
            <p:cNvPr id="14" name="図 13">
              <a:extLst>
                <a:ext uri="{FF2B5EF4-FFF2-40B4-BE49-F238E27FC236}">
                  <a16:creationId xmlns:a16="http://schemas.microsoft.com/office/drawing/2014/main" id="{3C6B661A-639B-F4EE-FB51-F629288245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993" y="2280745"/>
              <a:ext cx="1513490" cy="1513490"/>
            </a:xfrm>
            <a:prstGeom prst="rect">
              <a:avLst/>
            </a:prstGeom>
          </p:spPr>
        </p:pic>
        <p:sp>
          <p:nvSpPr>
            <p:cNvPr id="15" name="テキスト ボックス 14">
              <a:extLst>
                <a:ext uri="{FF2B5EF4-FFF2-40B4-BE49-F238E27FC236}">
                  <a16:creationId xmlns:a16="http://schemas.microsoft.com/office/drawing/2014/main" id="{B3267673-8645-E781-8463-321A16E439E7}"/>
                </a:ext>
              </a:extLst>
            </p:cNvPr>
            <p:cNvSpPr txBox="1"/>
            <p:nvPr/>
          </p:nvSpPr>
          <p:spPr>
            <a:xfrm>
              <a:off x="1813993" y="3867807"/>
              <a:ext cx="1513490" cy="461665"/>
            </a:xfrm>
            <a:prstGeom prst="rect">
              <a:avLst/>
            </a:prstGeom>
            <a:noFill/>
          </p:spPr>
          <p:txBody>
            <a:bodyPr wrap="square" rtlCol="0">
              <a:spAutoFit/>
            </a:bodyPr>
            <a:lstStyle/>
            <a:p>
              <a:pPr algn="ctr"/>
              <a:r>
                <a:rPr kumimoji="1" lang="ja-JP" altLang="en-US" sz="2400" dirty="0"/>
                <a:t>患者１</a:t>
              </a:r>
            </a:p>
          </p:txBody>
        </p:sp>
      </p:grpSp>
      <p:grpSp>
        <p:nvGrpSpPr>
          <p:cNvPr id="19" name="グループ化 18">
            <a:extLst>
              <a:ext uri="{FF2B5EF4-FFF2-40B4-BE49-F238E27FC236}">
                <a16:creationId xmlns:a16="http://schemas.microsoft.com/office/drawing/2014/main" id="{9783D4DC-B978-3A41-FE7F-B1CEDC71E50C}"/>
              </a:ext>
            </a:extLst>
          </p:cNvPr>
          <p:cNvGrpSpPr/>
          <p:nvPr/>
        </p:nvGrpSpPr>
        <p:grpSpPr>
          <a:xfrm>
            <a:off x="5696031" y="3985145"/>
            <a:ext cx="1513490" cy="1975155"/>
            <a:chOff x="7939908" y="2354317"/>
            <a:chExt cx="1513490" cy="1975155"/>
          </a:xfrm>
        </p:grpSpPr>
        <p:pic>
          <p:nvPicPr>
            <p:cNvPr id="20" name="図 19">
              <a:extLst>
                <a:ext uri="{FF2B5EF4-FFF2-40B4-BE49-F238E27FC236}">
                  <a16:creationId xmlns:a16="http://schemas.microsoft.com/office/drawing/2014/main" id="{210D903A-6845-F5C0-65BF-7E1B861EA5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39908" y="2354317"/>
              <a:ext cx="1513490" cy="1513490"/>
            </a:xfrm>
            <a:prstGeom prst="rect">
              <a:avLst/>
            </a:prstGeom>
          </p:spPr>
        </p:pic>
        <p:sp>
          <p:nvSpPr>
            <p:cNvPr id="21" name="テキスト ボックス 20">
              <a:extLst>
                <a:ext uri="{FF2B5EF4-FFF2-40B4-BE49-F238E27FC236}">
                  <a16:creationId xmlns:a16="http://schemas.microsoft.com/office/drawing/2014/main" id="{567E2ED7-042B-5183-B9CB-0BEECEE0ABD8}"/>
                </a:ext>
              </a:extLst>
            </p:cNvPr>
            <p:cNvSpPr txBox="1"/>
            <p:nvPr/>
          </p:nvSpPr>
          <p:spPr>
            <a:xfrm>
              <a:off x="7939908" y="3867807"/>
              <a:ext cx="1513490" cy="461665"/>
            </a:xfrm>
            <a:prstGeom prst="rect">
              <a:avLst/>
            </a:prstGeom>
            <a:noFill/>
          </p:spPr>
          <p:txBody>
            <a:bodyPr wrap="square" rtlCol="0">
              <a:spAutoFit/>
            </a:bodyPr>
            <a:lstStyle/>
            <a:p>
              <a:pPr algn="ctr"/>
              <a:r>
                <a:rPr kumimoji="1" lang="ja-JP" altLang="en-US" sz="2400" dirty="0"/>
                <a:t>患者２</a:t>
              </a:r>
            </a:p>
          </p:txBody>
        </p:sp>
      </p:grpSp>
      <p:grpSp>
        <p:nvGrpSpPr>
          <p:cNvPr id="22" name="グループ化 21">
            <a:extLst>
              <a:ext uri="{FF2B5EF4-FFF2-40B4-BE49-F238E27FC236}">
                <a16:creationId xmlns:a16="http://schemas.microsoft.com/office/drawing/2014/main" id="{FD9DE090-F24F-04D2-C261-AE6552A475DC}"/>
              </a:ext>
            </a:extLst>
          </p:cNvPr>
          <p:cNvGrpSpPr/>
          <p:nvPr/>
        </p:nvGrpSpPr>
        <p:grpSpPr>
          <a:xfrm>
            <a:off x="9204488" y="1795665"/>
            <a:ext cx="1513490" cy="2060592"/>
            <a:chOff x="5664635" y="4237712"/>
            <a:chExt cx="1513490" cy="2060592"/>
          </a:xfrm>
        </p:grpSpPr>
        <p:pic>
          <p:nvPicPr>
            <p:cNvPr id="23" name="図 22">
              <a:extLst>
                <a:ext uri="{FF2B5EF4-FFF2-40B4-BE49-F238E27FC236}">
                  <a16:creationId xmlns:a16="http://schemas.microsoft.com/office/drawing/2014/main" id="{6D0E478F-EAA4-6B0B-D5E3-8156C8F727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64635" y="4237712"/>
              <a:ext cx="1513490" cy="1513490"/>
            </a:xfrm>
            <a:prstGeom prst="rect">
              <a:avLst/>
            </a:prstGeom>
          </p:spPr>
        </p:pic>
        <p:sp>
          <p:nvSpPr>
            <p:cNvPr id="24" name="テキスト ボックス 23">
              <a:extLst>
                <a:ext uri="{FF2B5EF4-FFF2-40B4-BE49-F238E27FC236}">
                  <a16:creationId xmlns:a16="http://schemas.microsoft.com/office/drawing/2014/main" id="{D294B091-3389-9629-FA1D-04AFC89F724A}"/>
                </a:ext>
              </a:extLst>
            </p:cNvPr>
            <p:cNvSpPr txBox="1"/>
            <p:nvPr/>
          </p:nvSpPr>
          <p:spPr>
            <a:xfrm>
              <a:off x="5664635" y="5836639"/>
              <a:ext cx="1513490" cy="461665"/>
            </a:xfrm>
            <a:prstGeom prst="rect">
              <a:avLst/>
            </a:prstGeom>
            <a:noFill/>
          </p:spPr>
          <p:txBody>
            <a:bodyPr wrap="square" rtlCol="0">
              <a:spAutoFit/>
            </a:bodyPr>
            <a:lstStyle/>
            <a:p>
              <a:pPr algn="ctr"/>
              <a:r>
                <a:rPr kumimoji="1" lang="ja-JP" altLang="en-US" sz="2400" dirty="0"/>
                <a:t>患者３</a:t>
              </a:r>
            </a:p>
          </p:txBody>
        </p:sp>
      </p:grpSp>
      <p:cxnSp>
        <p:nvCxnSpPr>
          <p:cNvPr id="25" name="直線矢印コネクタ 24">
            <a:extLst>
              <a:ext uri="{FF2B5EF4-FFF2-40B4-BE49-F238E27FC236}">
                <a16:creationId xmlns:a16="http://schemas.microsoft.com/office/drawing/2014/main" id="{79BA2486-48D0-8AAA-A464-88C43C461CE4}"/>
              </a:ext>
            </a:extLst>
          </p:cNvPr>
          <p:cNvCxnSpPr>
            <a:cxnSpLocks/>
          </p:cNvCxnSpPr>
          <p:nvPr/>
        </p:nvCxnSpPr>
        <p:spPr>
          <a:xfrm flipV="1">
            <a:off x="4563932" y="2938950"/>
            <a:ext cx="1394639" cy="9196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FE719412-A871-578A-0097-3BB84AA9A602}"/>
              </a:ext>
            </a:extLst>
          </p:cNvPr>
          <p:cNvCxnSpPr>
            <a:cxnSpLocks/>
          </p:cNvCxnSpPr>
          <p:nvPr/>
        </p:nvCxnSpPr>
        <p:spPr>
          <a:xfrm>
            <a:off x="6991927" y="4958891"/>
            <a:ext cx="2778400"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B51CE74C-DC92-6558-6D84-5405C26079BC}"/>
              </a:ext>
            </a:extLst>
          </p:cNvPr>
          <p:cNvCxnSpPr>
            <a:cxnSpLocks/>
            <a:endCxn id="5" idx="3"/>
          </p:cNvCxnSpPr>
          <p:nvPr/>
        </p:nvCxnSpPr>
        <p:spPr>
          <a:xfrm flipH="1">
            <a:off x="2465799" y="2605931"/>
            <a:ext cx="6862979" cy="2135959"/>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6A5F608A-3EBF-5DE7-E3AB-7BE63F419619}"/>
              </a:ext>
            </a:extLst>
          </p:cNvPr>
          <p:cNvSpPr txBox="1"/>
          <p:nvPr/>
        </p:nvSpPr>
        <p:spPr>
          <a:xfrm>
            <a:off x="534493" y="2272690"/>
            <a:ext cx="2640239" cy="1200329"/>
          </a:xfrm>
          <a:prstGeom prst="rect">
            <a:avLst/>
          </a:prstGeom>
          <a:noFill/>
        </p:spPr>
        <p:txBody>
          <a:bodyPr wrap="square" rtlCol="0">
            <a:spAutoFit/>
          </a:bodyPr>
          <a:lstStyle/>
          <a:p>
            <a:r>
              <a:rPr kumimoji="1" lang="ja-JP" altLang="en-US" sz="2400" b="1" dirty="0">
                <a:solidFill>
                  <a:schemeClr val="accent1">
                    <a:lumMod val="75000"/>
                  </a:schemeClr>
                </a:solidFill>
              </a:rPr>
              <a:t>青い矢印の長さの合計がアルゴリズムのコスト</a:t>
            </a:r>
            <a:endParaRPr kumimoji="1" lang="en-US" altLang="ja-JP" sz="2400" b="1" dirty="0">
              <a:solidFill>
                <a:schemeClr val="accent1">
                  <a:lumMod val="75000"/>
                </a:schemeClr>
              </a:solidFill>
            </a:endParaRPr>
          </a:p>
        </p:txBody>
      </p:sp>
      <p:sp>
        <p:nvSpPr>
          <p:cNvPr id="3" name="スライド番号プレースホルダー 2">
            <a:extLst>
              <a:ext uri="{FF2B5EF4-FFF2-40B4-BE49-F238E27FC236}">
                <a16:creationId xmlns:a16="http://schemas.microsoft.com/office/drawing/2014/main" id="{E3472FBE-82D7-E5D7-9601-E4F2A3771DF2}"/>
              </a:ext>
            </a:extLst>
          </p:cNvPr>
          <p:cNvSpPr>
            <a:spLocks noGrp="1"/>
          </p:cNvSpPr>
          <p:nvPr>
            <p:ph type="sldNum" sz="quarter" idx="12"/>
          </p:nvPr>
        </p:nvSpPr>
        <p:spPr/>
        <p:txBody>
          <a:bodyPr/>
          <a:lstStyle/>
          <a:p>
            <a:fld id="{4B077F3A-4098-4199-8925-77865D1E3500}" type="slidenum">
              <a:rPr kumimoji="1" lang="ja-JP" altLang="en-US" smtClean="0"/>
              <a:t>3</a:t>
            </a:fld>
            <a:endParaRPr kumimoji="1" lang="ja-JP" altLang="en-US"/>
          </a:p>
        </p:txBody>
      </p:sp>
    </p:spTree>
    <p:extLst>
      <p:ext uri="{BB962C8B-B14F-4D97-AF65-F5344CB8AC3E}">
        <p14:creationId xmlns:p14="http://schemas.microsoft.com/office/powerpoint/2010/main" val="3894697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15B68-818C-DEA4-A63A-3F49FEFCA5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6D15AF8-C044-9E64-090B-C8FD20EA71F2}"/>
              </a:ext>
            </a:extLst>
          </p:cNvPr>
          <p:cNvSpPr>
            <a:spLocks noGrp="1"/>
          </p:cNvSpPr>
          <p:nvPr>
            <p:ph type="title"/>
          </p:nvPr>
        </p:nvSpPr>
        <p:spPr/>
        <p:txBody>
          <a:bodyPr/>
          <a:lstStyle/>
          <a:p>
            <a:r>
              <a:rPr kumimoji="1" lang="ja-JP" altLang="en-US" dirty="0"/>
              <a:t>例</a:t>
            </a:r>
            <a:r>
              <a:rPr lang="ja-JP" altLang="en-US" dirty="0"/>
              <a:t>２：最善の割り当て（結果論）</a:t>
            </a:r>
            <a:endParaRPr kumimoji="1" lang="ja-JP" altLang="en-US" dirty="0"/>
          </a:p>
        </p:txBody>
      </p:sp>
      <p:grpSp>
        <p:nvGrpSpPr>
          <p:cNvPr id="4" name="グループ化 3">
            <a:extLst>
              <a:ext uri="{FF2B5EF4-FFF2-40B4-BE49-F238E27FC236}">
                <a16:creationId xmlns:a16="http://schemas.microsoft.com/office/drawing/2014/main" id="{344318A6-D78E-2470-6576-1CCAF3A95196}"/>
              </a:ext>
            </a:extLst>
          </p:cNvPr>
          <p:cNvGrpSpPr/>
          <p:nvPr/>
        </p:nvGrpSpPr>
        <p:grpSpPr>
          <a:xfrm>
            <a:off x="1083058" y="3985145"/>
            <a:ext cx="1471448" cy="2166610"/>
            <a:chOff x="1835014" y="1915510"/>
            <a:chExt cx="1471448" cy="2166610"/>
          </a:xfrm>
        </p:grpSpPr>
        <p:pic>
          <p:nvPicPr>
            <p:cNvPr id="5" name="図 4">
              <a:extLst>
                <a:ext uri="{FF2B5EF4-FFF2-40B4-BE49-F238E27FC236}">
                  <a16:creationId xmlns:a16="http://schemas.microsoft.com/office/drawing/2014/main" id="{069C4D71-7A64-78AF-F2C1-3BB2A5A995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3721" y="1915510"/>
              <a:ext cx="1294034" cy="1513490"/>
            </a:xfrm>
            <a:prstGeom prst="rect">
              <a:avLst/>
            </a:prstGeom>
          </p:spPr>
        </p:pic>
        <p:sp>
          <p:nvSpPr>
            <p:cNvPr id="6" name="テキスト ボックス 5">
              <a:extLst>
                <a:ext uri="{FF2B5EF4-FFF2-40B4-BE49-F238E27FC236}">
                  <a16:creationId xmlns:a16="http://schemas.microsoft.com/office/drawing/2014/main" id="{4C20DE2E-F21B-9F81-9D6C-641C4853C1A9}"/>
                </a:ext>
              </a:extLst>
            </p:cNvPr>
            <p:cNvSpPr txBox="1"/>
            <p:nvPr/>
          </p:nvSpPr>
          <p:spPr>
            <a:xfrm>
              <a:off x="1835014" y="3558900"/>
              <a:ext cx="1471448" cy="523220"/>
            </a:xfrm>
            <a:prstGeom prst="rect">
              <a:avLst/>
            </a:prstGeom>
            <a:noFill/>
          </p:spPr>
          <p:txBody>
            <a:bodyPr wrap="square" rtlCol="0">
              <a:spAutoFit/>
            </a:bodyPr>
            <a:lstStyle/>
            <a:p>
              <a:pPr algn="ctr"/>
              <a:r>
                <a:rPr kumimoji="1" lang="ja-JP" altLang="en-US" sz="2800" dirty="0"/>
                <a:t>病院</a:t>
              </a:r>
              <a:r>
                <a:rPr lang="ja-JP" altLang="en-US" sz="2800" dirty="0"/>
                <a:t>１</a:t>
              </a:r>
              <a:endParaRPr kumimoji="1" lang="ja-JP" altLang="en-US" sz="2800" dirty="0"/>
            </a:p>
          </p:txBody>
        </p:sp>
      </p:grpSp>
      <p:grpSp>
        <p:nvGrpSpPr>
          <p:cNvPr id="7" name="グループ化 6">
            <a:extLst>
              <a:ext uri="{FF2B5EF4-FFF2-40B4-BE49-F238E27FC236}">
                <a16:creationId xmlns:a16="http://schemas.microsoft.com/office/drawing/2014/main" id="{2BC99005-33E9-D74E-0914-1136BD298878}"/>
              </a:ext>
            </a:extLst>
          </p:cNvPr>
          <p:cNvGrpSpPr/>
          <p:nvPr/>
        </p:nvGrpSpPr>
        <p:grpSpPr>
          <a:xfrm>
            <a:off x="5869864" y="1849186"/>
            <a:ext cx="1471448" cy="2166610"/>
            <a:chOff x="4504642" y="4326265"/>
            <a:chExt cx="1471448" cy="2166610"/>
          </a:xfrm>
        </p:grpSpPr>
        <p:pic>
          <p:nvPicPr>
            <p:cNvPr id="8" name="図 7">
              <a:extLst>
                <a:ext uri="{FF2B5EF4-FFF2-40B4-BE49-F238E27FC236}">
                  <a16:creationId xmlns:a16="http://schemas.microsoft.com/office/drawing/2014/main" id="{EEEF3B23-00ED-736F-F55C-CE089EB8E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3349" y="4326265"/>
              <a:ext cx="1294034" cy="1513490"/>
            </a:xfrm>
            <a:prstGeom prst="rect">
              <a:avLst/>
            </a:prstGeom>
          </p:spPr>
        </p:pic>
        <p:sp>
          <p:nvSpPr>
            <p:cNvPr id="9" name="テキスト ボックス 8">
              <a:extLst>
                <a:ext uri="{FF2B5EF4-FFF2-40B4-BE49-F238E27FC236}">
                  <a16:creationId xmlns:a16="http://schemas.microsoft.com/office/drawing/2014/main" id="{BBEC4E29-8031-29D7-5AEE-CA585FAC7CF1}"/>
                </a:ext>
              </a:extLst>
            </p:cNvPr>
            <p:cNvSpPr txBox="1"/>
            <p:nvPr/>
          </p:nvSpPr>
          <p:spPr>
            <a:xfrm>
              <a:off x="4504642" y="5969655"/>
              <a:ext cx="1471448" cy="523220"/>
            </a:xfrm>
            <a:prstGeom prst="rect">
              <a:avLst/>
            </a:prstGeom>
            <a:noFill/>
          </p:spPr>
          <p:txBody>
            <a:bodyPr wrap="square" rtlCol="0">
              <a:spAutoFit/>
            </a:bodyPr>
            <a:lstStyle/>
            <a:p>
              <a:pPr algn="ctr"/>
              <a:r>
                <a:rPr kumimoji="1" lang="ja-JP" altLang="en-US" sz="2800" dirty="0"/>
                <a:t>病院２</a:t>
              </a:r>
            </a:p>
          </p:txBody>
        </p:sp>
      </p:grpSp>
      <p:grpSp>
        <p:nvGrpSpPr>
          <p:cNvPr id="10" name="グループ化 9">
            <a:extLst>
              <a:ext uri="{FF2B5EF4-FFF2-40B4-BE49-F238E27FC236}">
                <a16:creationId xmlns:a16="http://schemas.microsoft.com/office/drawing/2014/main" id="{27D73273-8876-C48B-52EF-5DCFA2536265}"/>
              </a:ext>
            </a:extLst>
          </p:cNvPr>
          <p:cNvGrpSpPr/>
          <p:nvPr/>
        </p:nvGrpSpPr>
        <p:grpSpPr>
          <a:xfrm>
            <a:off x="9637494" y="3986157"/>
            <a:ext cx="1471448" cy="2166610"/>
            <a:chOff x="4504642" y="4326265"/>
            <a:chExt cx="1471448" cy="2166610"/>
          </a:xfrm>
        </p:grpSpPr>
        <p:pic>
          <p:nvPicPr>
            <p:cNvPr id="11" name="図 10">
              <a:extLst>
                <a:ext uri="{FF2B5EF4-FFF2-40B4-BE49-F238E27FC236}">
                  <a16:creationId xmlns:a16="http://schemas.microsoft.com/office/drawing/2014/main" id="{022DFCAF-783E-3BC1-FD75-922D42D2D0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3349" y="4326265"/>
              <a:ext cx="1294034" cy="1513490"/>
            </a:xfrm>
            <a:prstGeom prst="rect">
              <a:avLst/>
            </a:prstGeom>
          </p:spPr>
        </p:pic>
        <p:sp>
          <p:nvSpPr>
            <p:cNvPr id="12" name="テキスト ボックス 11">
              <a:extLst>
                <a:ext uri="{FF2B5EF4-FFF2-40B4-BE49-F238E27FC236}">
                  <a16:creationId xmlns:a16="http://schemas.microsoft.com/office/drawing/2014/main" id="{58603E03-E4BE-5E8C-B2FF-38E785B71A23}"/>
                </a:ext>
              </a:extLst>
            </p:cNvPr>
            <p:cNvSpPr txBox="1"/>
            <p:nvPr/>
          </p:nvSpPr>
          <p:spPr>
            <a:xfrm>
              <a:off x="4504642" y="5969655"/>
              <a:ext cx="1471448" cy="523220"/>
            </a:xfrm>
            <a:prstGeom prst="rect">
              <a:avLst/>
            </a:prstGeom>
            <a:noFill/>
          </p:spPr>
          <p:txBody>
            <a:bodyPr wrap="square" rtlCol="0">
              <a:spAutoFit/>
            </a:bodyPr>
            <a:lstStyle/>
            <a:p>
              <a:pPr algn="ctr"/>
              <a:r>
                <a:rPr kumimoji="1" lang="ja-JP" altLang="en-US" sz="2800" dirty="0"/>
                <a:t>病院</a:t>
              </a:r>
              <a:r>
                <a:rPr lang="ja-JP" altLang="en-US" sz="2800" dirty="0"/>
                <a:t>３</a:t>
              </a:r>
              <a:endParaRPr kumimoji="1" lang="ja-JP" altLang="en-US" sz="2800" dirty="0"/>
            </a:p>
          </p:txBody>
        </p:sp>
      </p:grpSp>
      <p:grpSp>
        <p:nvGrpSpPr>
          <p:cNvPr id="13" name="グループ化 12">
            <a:extLst>
              <a:ext uri="{FF2B5EF4-FFF2-40B4-BE49-F238E27FC236}">
                <a16:creationId xmlns:a16="http://schemas.microsoft.com/office/drawing/2014/main" id="{6381D699-6A7E-36D6-0420-0181E0E4F482}"/>
              </a:ext>
            </a:extLst>
          </p:cNvPr>
          <p:cNvGrpSpPr/>
          <p:nvPr/>
        </p:nvGrpSpPr>
        <p:grpSpPr>
          <a:xfrm>
            <a:off x="3341021" y="1813553"/>
            <a:ext cx="1513490" cy="2048727"/>
            <a:chOff x="1813993" y="2280745"/>
            <a:chExt cx="1513490" cy="2048727"/>
          </a:xfrm>
        </p:grpSpPr>
        <p:pic>
          <p:nvPicPr>
            <p:cNvPr id="14" name="図 13">
              <a:extLst>
                <a:ext uri="{FF2B5EF4-FFF2-40B4-BE49-F238E27FC236}">
                  <a16:creationId xmlns:a16="http://schemas.microsoft.com/office/drawing/2014/main" id="{64724E55-3F17-1A22-C24F-FD94FC203E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993" y="2280745"/>
              <a:ext cx="1513490" cy="1513490"/>
            </a:xfrm>
            <a:prstGeom prst="rect">
              <a:avLst/>
            </a:prstGeom>
          </p:spPr>
        </p:pic>
        <p:sp>
          <p:nvSpPr>
            <p:cNvPr id="15" name="テキスト ボックス 14">
              <a:extLst>
                <a:ext uri="{FF2B5EF4-FFF2-40B4-BE49-F238E27FC236}">
                  <a16:creationId xmlns:a16="http://schemas.microsoft.com/office/drawing/2014/main" id="{C496CF5D-562F-F803-A149-7543DB4361E0}"/>
                </a:ext>
              </a:extLst>
            </p:cNvPr>
            <p:cNvSpPr txBox="1"/>
            <p:nvPr/>
          </p:nvSpPr>
          <p:spPr>
            <a:xfrm>
              <a:off x="1813993" y="3867807"/>
              <a:ext cx="1513490" cy="461665"/>
            </a:xfrm>
            <a:prstGeom prst="rect">
              <a:avLst/>
            </a:prstGeom>
            <a:noFill/>
          </p:spPr>
          <p:txBody>
            <a:bodyPr wrap="square" rtlCol="0">
              <a:spAutoFit/>
            </a:bodyPr>
            <a:lstStyle/>
            <a:p>
              <a:pPr algn="ctr"/>
              <a:r>
                <a:rPr kumimoji="1" lang="ja-JP" altLang="en-US" sz="2400" dirty="0"/>
                <a:t>患者１</a:t>
              </a:r>
            </a:p>
          </p:txBody>
        </p:sp>
      </p:grpSp>
      <p:grpSp>
        <p:nvGrpSpPr>
          <p:cNvPr id="19" name="グループ化 18">
            <a:extLst>
              <a:ext uri="{FF2B5EF4-FFF2-40B4-BE49-F238E27FC236}">
                <a16:creationId xmlns:a16="http://schemas.microsoft.com/office/drawing/2014/main" id="{F9D3F192-2533-D6F3-A4C8-3D56B0B8D795}"/>
              </a:ext>
            </a:extLst>
          </p:cNvPr>
          <p:cNvGrpSpPr/>
          <p:nvPr/>
        </p:nvGrpSpPr>
        <p:grpSpPr>
          <a:xfrm>
            <a:off x="5696031" y="3985145"/>
            <a:ext cx="1513490" cy="1975155"/>
            <a:chOff x="7939908" y="2354317"/>
            <a:chExt cx="1513490" cy="1975155"/>
          </a:xfrm>
        </p:grpSpPr>
        <p:pic>
          <p:nvPicPr>
            <p:cNvPr id="20" name="図 19">
              <a:extLst>
                <a:ext uri="{FF2B5EF4-FFF2-40B4-BE49-F238E27FC236}">
                  <a16:creationId xmlns:a16="http://schemas.microsoft.com/office/drawing/2014/main" id="{BC4437E3-3934-74B7-227D-61ADAACAF0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39908" y="2354317"/>
              <a:ext cx="1513490" cy="1513490"/>
            </a:xfrm>
            <a:prstGeom prst="rect">
              <a:avLst/>
            </a:prstGeom>
          </p:spPr>
        </p:pic>
        <p:sp>
          <p:nvSpPr>
            <p:cNvPr id="21" name="テキスト ボックス 20">
              <a:extLst>
                <a:ext uri="{FF2B5EF4-FFF2-40B4-BE49-F238E27FC236}">
                  <a16:creationId xmlns:a16="http://schemas.microsoft.com/office/drawing/2014/main" id="{D14218C3-8F1B-4641-49CD-7790DAE2FE84}"/>
                </a:ext>
              </a:extLst>
            </p:cNvPr>
            <p:cNvSpPr txBox="1"/>
            <p:nvPr/>
          </p:nvSpPr>
          <p:spPr>
            <a:xfrm>
              <a:off x="7939908" y="3867807"/>
              <a:ext cx="1513490" cy="461665"/>
            </a:xfrm>
            <a:prstGeom prst="rect">
              <a:avLst/>
            </a:prstGeom>
            <a:noFill/>
          </p:spPr>
          <p:txBody>
            <a:bodyPr wrap="square" rtlCol="0">
              <a:spAutoFit/>
            </a:bodyPr>
            <a:lstStyle/>
            <a:p>
              <a:pPr algn="ctr"/>
              <a:r>
                <a:rPr kumimoji="1" lang="ja-JP" altLang="en-US" sz="2400" dirty="0"/>
                <a:t>患者２</a:t>
              </a:r>
            </a:p>
          </p:txBody>
        </p:sp>
      </p:grpSp>
      <p:grpSp>
        <p:nvGrpSpPr>
          <p:cNvPr id="22" name="グループ化 21">
            <a:extLst>
              <a:ext uri="{FF2B5EF4-FFF2-40B4-BE49-F238E27FC236}">
                <a16:creationId xmlns:a16="http://schemas.microsoft.com/office/drawing/2014/main" id="{17B8D7A3-A672-6ACC-2F7F-2C9AFC7F60B3}"/>
              </a:ext>
            </a:extLst>
          </p:cNvPr>
          <p:cNvGrpSpPr/>
          <p:nvPr/>
        </p:nvGrpSpPr>
        <p:grpSpPr>
          <a:xfrm>
            <a:off x="9204488" y="1795665"/>
            <a:ext cx="1513490" cy="2060592"/>
            <a:chOff x="5664635" y="4237712"/>
            <a:chExt cx="1513490" cy="2060592"/>
          </a:xfrm>
        </p:grpSpPr>
        <p:pic>
          <p:nvPicPr>
            <p:cNvPr id="23" name="図 22">
              <a:extLst>
                <a:ext uri="{FF2B5EF4-FFF2-40B4-BE49-F238E27FC236}">
                  <a16:creationId xmlns:a16="http://schemas.microsoft.com/office/drawing/2014/main" id="{831F24CF-BC73-15EC-2144-E01DE127AF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64635" y="4237712"/>
              <a:ext cx="1513490" cy="1513490"/>
            </a:xfrm>
            <a:prstGeom prst="rect">
              <a:avLst/>
            </a:prstGeom>
          </p:spPr>
        </p:pic>
        <p:sp>
          <p:nvSpPr>
            <p:cNvPr id="24" name="テキスト ボックス 23">
              <a:extLst>
                <a:ext uri="{FF2B5EF4-FFF2-40B4-BE49-F238E27FC236}">
                  <a16:creationId xmlns:a16="http://schemas.microsoft.com/office/drawing/2014/main" id="{B89DFAF2-4C9C-DFEC-E278-3E23FD2F2E75}"/>
                </a:ext>
              </a:extLst>
            </p:cNvPr>
            <p:cNvSpPr txBox="1"/>
            <p:nvPr/>
          </p:nvSpPr>
          <p:spPr>
            <a:xfrm>
              <a:off x="5664635" y="5836639"/>
              <a:ext cx="1513490" cy="461665"/>
            </a:xfrm>
            <a:prstGeom prst="rect">
              <a:avLst/>
            </a:prstGeom>
            <a:noFill/>
          </p:spPr>
          <p:txBody>
            <a:bodyPr wrap="square" rtlCol="0">
              <a:spAutoFit/>
            </a:bodyPr>
            <a:lstStyle/>
            <a:p>
              <a:pPr algn="ctr"/>
              <a:r>
                <a:rPr kumimoji="1" lang="ja-JP" altLang="en-US" sz="2400" dirty="0"/>
                <a:t>患者３</a:t>
              </a:r>
            </a:p>
          </p:txBody>
        </p:sp>
      </p:grpSp>
      <p:cxnSp>
        <p:nvCxnSpPr>
          <p:cNvPr id="25" name="直線矢印コネクタ 24">
            <a:extLst>
              <a:ext uri="{FF2B5EF4-FFF2-40B4-BE49-F238E27FC236}">
                <a16:creationId xmlns:a16="http://schemas.microsoft.com/office/drawing/2014/main" id="{D786209B-3F53-3534-967A-CE11C4A35514}"/>
              </a:ext>
            </a:extLst>
          </p:cNvPr>
          <p:cNvCxnSpPr>
            <a:cxnSpLocks/>
          </p:cNvCxnSpPr>
          <p:nvPr/>
        </p:nvCxnSpPr>
        <p:spPr>
          <a:xfrm flipH="1">
            <a:off x="2392674" y="3030911"/>
            <a:ext cx="1210898" cy="1052877"/>
          </a:xfrm>
          <a:prstGeom prst="straightConnector1">
            <a:avLst/>
          </a:prstGeom>
          <a:ln w="635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1329DB98-1A3C-DCF5-2610-3215D0EB45EC}"/>
              </a:ext>
            </a:extLst>
          </p:cNvPr>
          <p:cNvCxnSpPr>
            <a:cxnSpLocks/>
          </p:cNvCxnSpPr>
          <p:nvPr/>
        </p:nvCxnSpPr>
        <p:spPr>
          <a:xfrm flipV="1">
            <a:off x="5802858" y="3251988"/>
            <a:ext cx="72163" cy="1018355"/>
          </a:xfrm>
          <a:prstGeom prst="straightConnector1">
            <a:avLst/>
          </a:prstGeom>
          <a:ln w="635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1D70ECD9-3D9C-540C-B362-B6A36AD2B31F}"/>
              </a:ext>
            </a:extLst>
          </p:cNvPr>
          <p:cNvCxnSpPr>
            <a:cxnSpLocks/>
          </p:cNvCxnSpPr>
          <p:nvPr/>
        </p:nvCxnSpPr>
        <p:spPr>
          <a:xfrm>
            <a:off x="10439753" y="3309155"/>
            <a:ext cx="356224" cy="706641"/>
          </a:xfrm>
          <a:prstGeom prst="straightConnector1">
            <a:avLst/>
          </a:prstGeom>
          <a:ln w="635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1FE40FCE-9D62-842B-0CBF-00EF0605C9DC}"/>
              </a:ext>
            </a:extLst>
          </p:cNvPr>
          <p:cNvSpPr txBox="1"/>
          <p:nvPr/>
        </p:nvSpPr>
        <p:spPr>
          <a:xfrm>
            <a:off x="520525" y="2035106"/>
            <a:ext cx="2640239" cy="830997"/>
          </a:xfrm>
          <a:prstGeom prst="rect">
            <a:avLst/>
          </a:prstGeom>
          <a:noFill/>
        </p:spPr>
        <p:txBody>
          <a:bodyPr wrap="square" rtlCol="0">
            <a:spAutoFit/>
          </a:bodyPr>
          <a:lstStyle/>
          <a:p>
            <a:r>
              <a:rPr lang="ja-JP" altLang="en-US" sz="2400" b="1" dirty="0">
                <a:solidFill>
                  <a:schemeClr val="accent2">
                    <a:lumMod val="75000"/>
                  </a:schemeClr>
                </a:solidFill>
              </a:rPr>
              <a:t>こう割り当てるのが最善だった</a:t>
            </a:r>
            <a:r>
              <a:rPr lang="en-US" altLang="ja-JP" sz="2400" b="1" dirty="0">
                <a:solidFill>
                  <a:schemeClr val="accent2">
                    <a:lumMod val="75000"/>
                  </a:schemeClr>
                </a:solidFill>
              </a:rPr>
              <a:t>…</a:t>
            </a:r>
            <a:endParaRPr kumimoji="1" lang="en-US" altLang="ja-JP" sz="2400" b="1" dirty="0">
              <a:solidFill>
                <a:schemeClr val="accent2">
                  <a:lumMod val="75000"/>
                </a:schemeClr>
              </a:solidFill>
            </a:endParaRPr>
          </a:p>
        </p:txBody>
      </p:sp>
      <p:sp>
        <p:nvSpPr>
          <p:cNvPr id="3" name="スライド番号プレースホルダー 2">
            <a:extLst>
              <a:ext uri="{FF2B5EF4-FFF2-40B4-BE49-F238E27FC236}">
                <a16:creationId xmlns:a16="http://schemas.microsoft.com/office/drawing/2014/main" id="{BD51FF04-BE81-C7B1-0A6A-7510B475A5C8}"/>
              </a:ext>
            </a:extLst>
          </p:cNvPr>
          <p:cNvSpPr>
            <a:spLocks noGrp="1"/>
          </p:cNvSpPr>
          <p:nvPr>
            <p:ph type="sldNum" sz="quarter" idx="12"/>
          </p:nvPr>
        </p:nvSpPr>
        <p:spPr/>
        <p:txBody>
          <a:bodyPr/>
          <a:lstStyle/>
          <a:p>
            <a:fld id="{4B077F3A-4098-4199-8925-77865D1E3500}" type="slidenum">
              <a:rPr kumimoji="1" lang="ja-JP" altLang="en-US" smtClean="0"/>
              <a:t>4</a:t>
            </a:fld>
            <a:endParaRPr kumimoji="1" lang="ja-JP" altLang="en-US"/>
          </a:p>
        </p:txBody>
      </p:sp>
    </p:spTree>
    <p:extLst>
      <p:ext uri="{BB962C8B-B14F-4D97-AF65-F5344CB8AC3E}">
        <p14:creationId xmlns:p14="http://schemas.microsoft.com/office/powerpoint/2010/main" val="3515828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626EC7-3A1D-B2B2-7C2A-DB1B111E9D89}"/>
              </a:ext>
            </a:extLst>
          </p:cNvPr>
          <p:cNvSpPr>
            <a:spLocks noGrp="1"/>
          </p:cNvSpPr>
          <p:nvPr>
            <p:ph type="title"/>
          </p:nvPr>
        </p:nvSpPr>
        <p:spPr/>
        <p:txBody>
          <a:bodyPr/>
          <a:lstStyle/>
          <a:p>
            <a:r>
              <a:rPr kumimoji="1" lang="ja-JP" altLang="en-US" dirty="0"/>
              <a:t>問題設定</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2205C36-FB5D-1267-E63A-FB9C6962D51E}"/>
                  </a:ext>
                </a:extLst>
              </p:cNvPr>
              <p:cNvSpPr>
                <a:spLocks noGrp="1"/>
              </p:cNvSpPr>
              <p:nvPr>
                <p:ph idx="1"/>
              </p:nvPr>
            </p:nvSpPr>
            <p:spPr>
              <a:xfrm>
                <a:off x="838199" y="1473872"/>
                <a:ext cx="10515600" cy="992237"/>
              </a:xfrm>
            </p:spPr>
            <p:txBody>
              <a:bodyPr/>
              <a:lstStyle/>
              <a:p>
                <a:pPr marL="0" indent="0">
                  <a:buNone/>
                </a:pPr>
                <a:r>
                  <a:rPr lang="ja-JP" altLang="en-US" dirty="0"/>
                  <a:t>オンラインメトリックマッチング：</a:t>
                </a:r>
                <a14:m>
                  <m:oMath xmlns:m="http://schemas.openxmlformats.org/officeDocument/2006/math">
                    <m:r>
                      <a:rPr lang="en-US" altLang="ja-JP" b="0" i="1" smtClean="0">
                        <a:latin typeface="Cambria Math" panose="02040503050406030204" pitchFamily="18" charset="0"/>
                      </a:rPr>
                      <m:t>𝑂𝑀𝑀</m:t>
                    </m:r>
                    <m:r>
                      <a:rPr lang="en-US" altLang="ja-JP" b="0" i="1" smtClean="0">
                        <a:latin typeface="Cambria Math" panose="02040503050406030204" pitchFamily="18" charset="0"/>
                      </a:rPr>
                      <m:t>(</m:t>
                    </m:r>
                    <m:r>
                      <a:rPr lang="en-US" altLang="ja-JP" b="0" i="1" smtClean="0">
                        <a:latin typeface="Cambria Math" panose="02040503050406030204" pitchFamily="18" charset="0"/>
                      </a:rPr>
                      <m:t>𝑛</m:t>
                    </m:r>
                    <m:r>
                      <a:rPr lang="en-US" altLang="ja-JP" b="0" i="1" smtClean="0">
                        <a:latin typeface="Cambria Math" panose="02040503050406030204" pitchFamily="18" charset="0"/>
                      </a:rPr>
                      <m:t>)</m:t>
                    </m:r>
                  </m:oMath>
                </a14:m>
                <a:endParaRPr lang="en-US" altLang="ja-JP" dirty="0"/>
              </a:p>
              <a:p>
                <a:pPr marL="0" indent="0">
                  <a:buNone/>
                </a:pPr>
                <a:r>
                  <a:rPr kumimoji="1" lang="en-US" altLang="ja-JP" sz="2400" dirty="0"/>
                  <a:t>Online Metric Matching</a:t>
                </a:r>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22205C36-FB5D-1267-E63A-FB9C6962D51E}"/>
                  </a:ext>
                </a:extLst>
              </p:cNvPr>
              <p:cNvSpPr>
                <a:spLocks noGrp="1" noRot="1" noChangeAspect="1" noMove="1" noResize="1" noEditPoints="1" noAdjustHandles="1" noChangeArrowheads="1" noChangeShapeType="1" noTextEdit="1"/>
              </p:cNvSpPr>
              <p:nvPr>
                <p:ph idx="1"/>
              </p:nvPr>
            </p:nvSpPr>
            <p:spPr>
              <a:xfrm>
                <a:off x="838199" y="1473872"/>
                <a:ext cx="10515600" cy="992237"/>
              </a:xfrm>
              <a:blipFill>
                <a:blip r:embed="rId2"/>
                <a:stretch>
                  <a:fillRect l="-1159" t="-8589" b="-79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 3">
                <a:extLst>
                  <a:ext uri="{FF2B5EF4-FFF2-40B4-BE49-F238E27FC236}">
                    <a16:creationId xmlns:a16="http://schemas.microsoft.com/office/drawing/2014/main" id="{5877309A-0B70-BB75-B91B-CEFC5E582AA2}"/>
                  </a:ext>
                </a:extLst>
              </p:cNvPr>
              <p:cNvGraphicFramePr>
                <a:graphicFrameLocks noGrp="1"/>
              </p:cNvGraphicFramePr>
              <p:nvPr>
                <p:extLst>
                  <p:ext uri="{D42A27DB-BD31-4B8C-83A1-F6EECF244321}">
                    <p14:modId xmlns:p14="http://schemas.microsoft.com/office/powerpoint/2010/main" val="238770466"/>
                  </p:ext>
                </p:extLst>
              </p:nvPr>
            </p:nvGraphicFramePr>
            <p:xfrm>
              <a:off x="838200" y="2466109"/>
              <a:ext cx="10515599" cy="3903567"/>
            </p:xfrm>
            <a:graphic>
              <a:graphicData uri="http://schemas.openxmlformats.org/drawingml/2006/table">
                <a:tbl>
                  <a:tblPr firstRow="1" bandRow="1">
                    <a:tableStyleId>{5940675A-B579-460E-94D1-54222C63F5DA}</a:tableStyleId>
                  </a:tblPr>
                  <a:tblGrid>
                    <a:gridCol w="1197992">
                      <a:extLst>
                        <a:ext uri="{9D8B030D-6E8A-4147-A177-3AD203B41FA5}">
                          <a16:colId xmlns:a16="http://schemas.microsoft.com/office/drawing/2014/main" val="2053856224"/>
                        </a:ext>
                      </a:extLst>
                    </a:gridCol>
                    <a:gridCol w="9317607">
                      <a:extLst>
                        <a:ext uri="{9D8B030D-6E8A-4147-A177-3AD203B41FA5}">
                          <a16:colId xmlns:a16="http://schemas.microsoft.com/office/drawing/2014/main" val="1422972592"/>
                        </a:ext>
                      </a:extLst>
                    </a:gridCol>
                  </a:tblGrid>
                  <a:tr h="1538600">
                    <a:tc>
                      <a:txBody>
                        <a:bodyPr/>
                        <a:lstStyle/>
                        <a:p>
                          <a:r>
                            <a:rPr kumimoji="1" lang="ja-JP" altLang="en-US" sz="2400" dirty="0"/>
                            <a:t>入力</a:t>
                          </a:r>
                        </a:p>
                      </a:txBody>
                      <a:tcPr/>
                    </a:tc>
                    <a:tc>
                      <a:txBody>
                        <a:bodyPr/>
                        <a:lstStyle/>
                        <a:p>
                          <a:r>
                            <a:rPr kumimoji="1" lang="ja-JP" altLang="en-US" sz="2400" dirty="0"/>
                            <a:t>距離空間 </a:t>
                          </a:r>
                          <a14:m>
                            <m:oMath xmlns:m="http://schemas.openxmlformats.org/officeDocument/2006/math">
                              <m:r>
                                <a:rPr kumimoji="1" lang="en-US" altLang="ja-JP" sz="2400" b="0" i="1" smtClean="0">
                                  <a:latin typeface="Cambria Math" panose="02040503050406030204" pitchFamily="18" charset="0"/>
                                </a:rPr>
                                <m:t>ℳ</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𝑋</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𝑑</m:t>
                              </m:r>
                              <m:r>
                                <a:rPr kumimoji="1" lang="en-US" altLang="ja-JP" sz="2400" b="0" i="1" smtClean="0">
                                  <a:latin typeface="Cambria Math" panose="02040503050406030204" pitchFamily="18" charset="0"/>
                                </a:rPr>
                                <m:t>)</m:t>
                              </m:r>
                            </m:oMath>
                          </a14:m>
                          <a:endParaRPr kumimoji="1" lang="en-US" altLang="ja-JP" sz="2400" b="0" dirty="0"/>
                        </a:p>
                        <a:p>
                          <a14:m>
                            <m:oMath xmlns:m="http://schemas.openxmlformats.org/officeDocument/2006/math">
                              <m:r>
                                <a:rPr kumimoji="1" lang="en-US" altLang="ja-JP" sz="2400" b="0" i="1" smtClean="0">
                                  <a:latin typeface="Cambria Math" panose="02040503050406030204" pitchFamily="18" charset="0"/>
                                </a:rPr>
                                <m:t>𝑛</m:t>
                              </m:r>
                            </m:oMath>
                          </a14:m>
                          <a:r>
                            <a:rPr kumimoji="1" lang="ja-JP" altLang="en-US" sz="2400" dirty="0"/>
                            <a:t> 個のサーバ </a:t>
                          </a:r>
                          <a14:m>
                            <m:oMath xmlns:m="http://schemas.openxmlformats.org/officeDocument/2006/math">
                              <m:r>
                                <a:rPr kumimoji="1" lang="en-US" altLang="ja-JP" sz="2400" b="0" i="1" smtClean="0">
                                  <a:latin typeface="Cambria Math" panose="02040503050406030204" pitchFamily="18" charset="0"/>
                                </a:rPr>
                                <m:t>𝑆</m:t>
                              </m:r>
                              <m:r>
                                <a:rPr kumimoji="1" lang="en-US" altLang="ja-JP" sz="2400" b="0" i="1" smtClean="0">
                                  <a:latin typeface="Cambria Math" panose="02040503050406030204" pitchFamily="18" charset="0"/>
                                </a:rPr>
                                <m:t>=</m:t>
                              </m:r>
                              <m:d>
                                <m:dPr>
                                  <m:begChr m:val="{"/>
                                  <m:endChr m:val="}"/>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2</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𝑛</m:t>
                                      </m:r>
                                    </m:sub>
                                  </m:sSub>
                                </m:e>
                              </m:d>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𝑋</m:t>
                              </m:r>
                            </m:oMath>
                          </a14:m>
                          <a:endParaRPr kumimoji="1" lang="en-US" altLang="ja-JP" sz="2400" dirty="0"/>
                        </a:p>
                        <a:p>
                          <a:r>
                            <a:rPr kumimoji="1" lang="ja-JP" altLang="en-US" sz="2400" dirty="0"/>
                            <a:t>リクエスト列 </a:t>
                          </a:r>
                          <a14:m>
                            <m:oMath xmlns:m="http://schemas.openxmlformats.org/officeDocument/2006/math">
                              <m:r>
                                <a:rPr kumimoji="1" lang="en-US" altLang="ja-JP" sz="2400" b="0" i="1" smtClean="0">
                                  <a:latin typeface="Cambria Math" panose="02040503050406030204" pitchFamily="18" charset="0"/>
                                </a:rPr>
                                <m:t>𝜎</m:t>
                              </m:r>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2</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𝑛</m:t>
                                  </m:r>
                                </m:sub>
                              </m:sSub>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𝑋</m:t>
                                  </m:r>
                                </m:e>
                                <m:sup>
                                  <m:r>
                                    <a:rPr kumimoji="1" lang="en-US" altLang="ja-JP" sz="2400" b="0" i="1" smtClean="0">
                                      <a:latin typeface="Cambria Math" panose="02040503050406030204" pitchFamily="18" charset="0"/>
                                    </a:rPr>
                                    <m:t>𝑛</m:t>
                                  </m:r>
                                </m:sup>
                              </m:sSup>
                            </m:oMath>
                          </a14:m>
                          <a:r>
                            <a:rPr kumimoji="1" lang="ja-JP" altLang="en-US" sz="2400" dirty="0"/>
                            <a:t> </a:t>
                          </a:r>
                          <a:endParaRPr kumimoji="1" lang="en-US" altLang="ja-JP" sz="2400" dirty="0"/>
                        </a:p>
                        <a:p>
                          <a:r>
                            <a:rPr kumimoji="1" lang="ja-JP" altLang="en-US" sz="2000" dirty="0"/>
                            <a:t>（</a:t>
                          </a:r>
                          <a:r>
                            <a:rPr kumimoji="1" lang="en-US" altLang="ja-JP" sz="2000" dirty="0"/>
                            <a:t>※</a:t>
                          </a:r>
                          <a:r>
                            <a:rPr kumimoji="1" lang="ja-JP" altLang="en-US" sz="2000" dirty="0"/>
                            <a:t>リクエストは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oMath>
                          </a14:m>
                          <a:r>
                            <a:rPr kumimoji="1" lang="ja-JP" altLang="en-US" sz="2000" dirty="0"/>
                            <a:t> から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𝑛</m:t>
                                  </m:r>
                                </m:sub>
                              </m:sSub>
                            </m:oMath>
                          </a14:m>
                          <a:r>
                            <a:rPr kumimoji="1" lang="ja-JP" altLang="en-US" sz="2000" dirty="0"/>
                            <a:t> まで逐次的に与えられる）</a:t>
                          </a:r>
                          <a:endParaRPr kumimoji="1" lang="en-US" altLang="ja-JP" sz="2000" dirty="0"/>
                        </a:p>
                      </a:txBody>
                      <a:tcPr/>
                    </a:tc>
                    <a:extLst>
                      <a:ext uri="{0D108BD9-81ED-4DB2-BD59-A6C34878D82A}">
                        <a16:rowId xmlns:a16="http://schemas.microsoft.com/office/drawing/2014/main" val="3229819575"/>
                      </a:ext>
                    </a:extLst>
                  </a:tr>
                  <a:tr h="471000">
                    <a:tc>
                      <a:txBody>
                        <a:bodyPr/>
                        <a:lstStyle/>
                        <a:p>
                          <a:r>
                            <a:rPr kumimoji="1" lang="ja-JP" altLang="en-US" sz="2400" dirty="0"/>
                            <a:t>出力</a:t>
                          </a:r>
                        </a:p>
                      </a:txBody>
                      <a:tcPr/>
                    </a:tc>
                    <a:tc>
                      <a:txBody>
                        <a:bodyPr/>
                        <a:lstStyle/>
                        <a:p>
                          <a:r>
                            <a:rPr kumimoji="1" lang="ja-JP" altLang="en-US" sz="2400" dirty="0"/>
                            <a:t>サーバ </a:t>
                          </a:r>
                          <a14:m>
                            <m:oMath xmlns:m="http://schemas.openxmlformats.org/officeDocument/2006/math">
                              <m:r>
                                <a:rPr kumimoji="1" lang="en-US" altLang="ja-JP" sz="2400" b="0" i="1" smtClean="0">
                                  <a:latin typeface="Cambria Math" panose="02040503050406030204" pitchFamily="18" charset="0"/>
                                </a:rPr>
                                <m:t>𝑆</m:t>
                              </m:r>
                            </m:oMath>
                          </a14:m>
                          <a:r>
                            <a:rPr kumimoji="1" lang="ja-JP" altLang="en-US" sz="2400" dirty="0"/>
                            <a:t> とリクエスト </a:t>
                          </a:r>
                          <a14:m>
                            <m:oMath xmlns:m="http://schemas.openxmlformats.org/officeDocument/2006/math">
                              <m:r>
                                <a:rPr kumimoji="1" lang="en-US" altLang="ja-JP" sz="2400" b="0" i="1" smtClean="0">
                                  <a:latin typeface="Cambria Math" panose="02040503050406030204" pitchFamily="18" charset="0"/>
                                </a:rPr>
                                <m:t>𝑅</m:t>
                              </m:r>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𝑛</m:t>
                                  </m:r>
                                </m:sub>
                              </m:sSub>
                              <m:r>
                                <a:rPr kumimoji="1" lang="en-US" altLang="ja-JP" sz="2400" b="0" i="1" smtClean="0">
                                  <a:latin typeface="Cambria Math" panose="02040503050406030204" pitchFamily="18" charset="0"/>
                                </a:rPr>
                                <m:t>}</m:t>
                              </m:r>
                            </m:oMath>
                          </a14:m>
                          <a:r>
                            <a:rPr kumimoji="1" lang="ja-JP" altLang="en-US" sz="2400" dirty="0"/>
                            <a:t> の完全マッチング </a:t>
                          </a:r>
                          <a14:m>
                            <m:oMath xmlns:m="http://schemas.openxmlformats.org/officeDocument/2006/math">
                              <m:r>
                                <a:rPr kumimoji="1" lang="en-US" altLang="ja-JP" sz="2400" b="0" i="1" smtClean="0">
                                  <a:latin typeface="Cambria Math" panose="02040503050406030204" pitchFamily="18" charset="0"/>
                                </a:rPr>
                                <m:t>𝑀</m:t>
                              </m:r>
                            </m:oMath>
                          </a14:m>
                          <a:endParaRPr kumimoji="1" lang="en-US" altLang="ja-JP" sz="2400" dirty="0"/>
                        </a:p>
                      </a:txBody>
                      <a:tcPr/>
                    </a:tc>
                    <a:extLst>
                      <a:ext uri="{0D108BD9-81ED-4DB2-BD59-A6C34878D82A}">
                        <a16:rowId xmlns:a16="http://schemas.microsoft.com/office/drawing/2014/main" val="3068641214"/>
                      </a:ext>
                    </a:extLst>
                  </a:tr>
                  <a:tr h="1241600">
                    <a:tc>
                      <a:txBody>
                        <a:bodyPr/>
                        <a:lstStyle/>
                        <a:p>
                          <a:r>
                            <a:rPr kumimoji="1" lang="ja-JP" altLang="en-US" sz="2400" dirty="0"/>
                            <a:t>制約</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dirty="0"/>
                            <a:t>異なるリクエストは異なるサーバに割り当てる</a:t>
                          </a:r>
                          <a:endParaRPr kumimoji="1" lang="en-US" altLang="ja-JP" sz="2400" b="0" i="1" dirty="0">
                            <a:latin typeface="Cambria Math" panose="02040503050406030204" pitchFamily="18" charset="0"/>
                          </a:endParaRPr>
                        </a:p>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en-US" altLang="ja-JP" sz="2400" dirty="0"/>
                            <a:t> </a:t>
                          </a:r>
                          <a:r>
                            <a:rPr kumimoji="1" lang="ja-JP" altLang="en-US" sz="2400" dirty="0"/>
                            <a:t>のマッチ先は </a:t>
                          </a:r>
                          <a14:m>
                            <m:oMath xmlns:m="http://schemas.openxmlformats.org/officeDocument/2006/math">
                              <m:r>
                                <a:rPr kumimoji="1" lang="en-US" altLang="ja-JP" sz="2400" b="0" i="1" smtClean="0">
                                  <a:latin typeface="Cambria Math" panose="02040503050406030204" pitchFamily="18" charset="0"/>
                                </a:rPr>
                                <m:t>𝑆</m:t>
                              </m:r>
                            </m:oMath>
                          </a14:m>
                          <a:r>
                            <a:rPr kumimoji="1" lang="en-US" altLang="ja-JP" sz="2400" dirty="0"/>
                            <a:t> </a:t>
                          </a:r>
                          <a:r>
                            <a:rPr kumimoji="1" lang="ja-JP" altLang="en-US" sz="2400" dirty="0"/>
                            <a:t>と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Sub>
                            </m:oMath>
                          </a14:m>
                          <a:r>
                            <a:rPr kumimoji="1" lang="en-US" altLang="ja-JP" sz="2400" dirty="0"/>
                            <a:t> </a:t>
                          </a:r>
                          <a:r>
                            <a:rPr kumimoji="1" lang="ja-JP" altLang="en-US" sz="2400" dirty="0"/>
                            <a:t>のみに依存して決定</a:t>
                          </a:r>
                          <a:endParaRPr kumimoji="1" lang="en-US" altLang="ja-JP" sz="2400" dirty="0"/>
                        </a:p>
                        <a:p>
                          <a:r>
                            <a:rPr kumimoji="1" lang="ja-JP" altLang="en-US" sz="2400" dirty="0"/>
                            <a:t>マッチ先を後から変更しない</a:t>
                          </a:r>
                          <a:endParaRPr kumimoji="1" lang="en-US" altLang="ja-JP" sz="2400" dirty="0"/>
                        </a:p>
                      </a:txBody>
                      <a:tcPr/>
                    </a:tc>
                    <a:extLst>
                      <a:ext uri="{0D108BD9-81ED-4DB2-BD59-A6C34878D82A}">
                        <a16:rowId xmlns:a16="http://schemas.microsoft.com/office/drawing/2014/main" val="1575375710"/>
                      </a:ext>
                    </a:extLst>
                  </a:tr>
                  <a:tr h="652367">
                    <a:tc>
                      <a:txBody>
                        <a:bodyPr/>
                        <a:lstStyle/>
                        <a:p>
                          <a:r>
                            <a:rPr kumimoji="1" lang="ja-JP" altLang="en-US" sz="2400" dirty="0"/>
                            <a:t>最小化</a:t>
                          </a:r>
                        </a:p>
                      </a:txBody>
                      <a:tcPr/>
                    </a:tc>
                    <a:tc>
                      <a:txBody>
                        <a:bodyPr/>
                        <a:lstStyle/>
                        <a:p>
                          <a:r>
                            <a:rPr kumimoji="1" lang="ja-JP" altLang="en-US" sz="2400" dirty="0"/>
                            <a:t>出力 </a:t>
                          </a:r>
                          <a14:m>
                            <m:oMath xmlns:m="http://schemas.openxmlformats.org/officeDocument/2006/math">
                              <m:r>
                                <a:rPr kumimoji="1" lang="en-US" altLang="ja-JP" sz="2400" b="0" i="1" smtClean="0">
                                  <a:latin typeface="Cambria Math" panose="02040503050406030204" pitchFamily="18" charset="0"/>
                                </a:rPr>
                                <m:t>𝑀</m:t>
                              </m:r>
                            </m:oMath>
                          </a14:m>
                          <a:r>
                            <a:rPr kumimoji="1" lang="ja-JP" altLang="en-US" sz="2400" dirty="0"/>
                            <a:t> におけるリクエストとサーバの距離の総和：</a:t>
                          </a:r>
                          <a14:m>
                            <m:oMath xmlns:m="http://schemas.openxmlformats.org/officeDocument/2006/math">
                              <m:nary>
                                <m:naryPr>
                                  <m:chr m:val="∑"/>
                                  <m:supHide m:val="on"/>
                                  <m:ctrlPr>
                                    <a:rPr kumimoji="1" lang="en-US" altLang="ja-JP" sz="2400" b="0" i="1" smtClean="0">
                                      <a:latin typeface="Cambria Math" panose="02040503050406030204" pitchFamily="18" charset="0"/>
                                    </a:rPr>
                                  </m:ctrlPr>
                                </m:naryPr>
                                <m:sub>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𝑟</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𝑠</m:t>
                                      </m:r>
                                    </m:e>
                                  </m:d>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𝑀</m:t>
                                  </m:r>
                                </m:sub>
                                <m:sup/>
                                <m:e>
                                  <m:r>
                                    <a:rPr kumimoji="1" lang="en-US" altLang="ja-JP" sz="2400" b="0" i="1" smtClean="0">
                                      <a:latin typeface="Cambria Math" panose="02040503050406030204" pitchFamily="18" charset="0"/>
                                    </a:rPr>
                                    <m:t>𝑑</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𝑟</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𝑠</m:t>
                                  </m:r>
                                  <m:r>
                                    <a:rPr kumimoji="1" lang="en-US" altLang="ja-JP" sz="2400" b="0" i="1" smtClean="0">
                                      <a:latin typeface="Cambria Math" panose="02040503050406030204" pitchFamily="18" charset="0"/>
                                    </a:rPr>
                                    <m:t>)</m:t>
                                  </m:r>
                                </m:e>
                              </m:nary>
                            </m:oMath>
                          </a14:m>
                          <a:r>
                            <a:rPr kumimoji="1" lang="ja-JP" altLang="en-US" sz="2400" dirty="0"/>
                            <a:t> </a:t>
                          </a:r>
                        </a:p>
                      </a:txBody>
                      <a:tcPr/>
                    </a:tc>
                    <a:extLst>
                      <a:ext uri="{0D108BD9-81ED-4DB2-BD59-A6C34878D82A}">
                        <a16:rowId xmlns:a16="http://schemas.microsoft.com/office/drawing/2014/main" val="425906247"/>
                      </a:ext>
                    </a:extLst>
                  </a:tr>
                </a:tbl>
              </a:graphicData>
            </a:graphic>
          </p:graphicFrame>
        </mc:Choice>
        <mc:Fallback xmlns="">
          <p:graphicFrame>
            <p:nvGraphicFramePr>
              <p:cNvPr id="4" name="表 3">
                <a:extLst>
                  <a:ext uri="{FF2B5EF4-FFF2-40B4-BE49-F238E27FC236}">
                    <a16:creationId xmlns:a16="http://schemas.microsoft.com/office/drawing/2014/main" id="{5877309A-0B70-BB75-B91B-CEFC5E582AA2}"/>
                  </a:ext>
                </a:extLst>
              </p:cNvPr>
              <p:cNvGraphicFramePr>
                <a:graphicFrameLocks noGrp="1"/>
              </p:cNvGraphicFramePr>
              <p:nvPr>
                <p:extLst>
                  <p:ext uri="{D42A27DB-BD31-4B8C-83A1-F6EECF244321}">
                    <p14:modId xmlns:p14="http://schemas.microsoft.com/office/powerpoint/2010/main" val="238770466"/>
                  </p:ext>
                </p:extLst>
              </p:nvPr>
            </p:nvGraphicFramePr>
            <p:xfrm>
              <a:off x="838200" y="2466109"/>
              <a:ext cx="10515599" cy="3903567"/>
            </p:xfrm>
            <a:graphic>
              <a:graphicData uri="http://schemas.openxmlformats.org/drawingml/2006/table">
                <a:tbl>
                  <a:tblPr firstRow="1" bandRow="1">
                    <a:tableStyleId>{5940675A-B579-460E-94D1-54222C63F5DA}</a:tableStyleId>
                  </a:tblPr>
                  <a:tblGrid>
                    <a:gridCol w="1197992">
                      <a:extLst>
                        <a:ext uri="{9D8B030D-6E8A-4147-A177-3AD203B41FA5}">
                          <a16:colId xmlns:a16="http://schemas.microsoft.com/office/drawing/2014/main" val="2053856224"/>
                        </a:ext>
                      </a:extLst>
                    </a:gridCol>
                    <a:gridCol w="9317607">
                      <a:extLst>
                        <a:ext uri="{9D8B030D-6E8A-4147-A177-3AD203B41FA5}">
                          <a16:colId xmlns:a16="http://schemas.microsoft.com/office/drawing/2014/main" val="1422972592"/>
                        </a:ext>
                      </a:extLst>
                    </a:gridCol>
                  </a:tblGrid>
                  <a:tr h="1538600">
                    <a:tc>
                      <a:txBody>
                        <a:bodyPr/>
                        <a:lstStyle/>
                        <a:p>
                          <a:r>
                            <a:rPr kumimoji="1" lang="ja-JP" altLang="en-US" sz="2400" dirty="0"/>
                            <a:t>入力</a:t>
                          </a:r>
                        </a:p>
                      </a:txBody>
                      <a:tcPr/>
                    </a:tc>
                    <a:tc>
                      <a:txBody>
                        <a:bodyPr/>
                        <a:lstStyle/>
                        <a:p>
                          <a:endParaRPr lang="ja-JP"/>
                        </a:p>
                      </a:txBody>
                      <a:tcPr>
                        <a:blipFill>
                          <a:blip r:embed="rId3"/>
                          <a:stretch>
                            <a:fillRect l="-12950" t="-1976" r="-131" b="-200000"/>
                          </a:stretch>
                        </a:blipFill>
                      </a:tcPr>
                    </a:tc>
                    <a:extLst>
                      <a:ext uri="{0D108BD9-81ED-4DB2-BD59-A6C34878D82A}">
                        <a16:rowId xmlns:a16="http://schemas.microsoft.com/office/drawing/2014/main" val="3229819575"/>
                      </a:ext>
                    </a:extLst>
                  </a:tr>
                  <a:tr h="471000">
                    <a:tc>
                      <a:txBody>
                        <a:bodyPr/>
                        <a:lstStyle/>
                        <a:p>
                          <a:r>
                            <a:rPr kumimoji="1" lang="ja-JP" altLang="en-US" sz="2400" dirty="0"/>
                            <a:t>出力</a:t>
                          </a:r>
                        </a:p>
                      </a:txBody>
                      <a:tcPr/>
                    </a:tc>
                    <a:tc>
                      <a:txBody>
                        <a:bodyPr/>
                        <a:lstStyle/>
                        <a:p>
                          <a:endParaRPr lang="ja-JP"/>
                        </a:p>
                      </a:txBody>
                      <a:tcPr>
                        <a:blipFill>
                          <a:blip r:embed="rId3"/>
                          <a:stretch>
                            <a:fillRect l="-12950" t="-335065" r="-131" b="-557143"/>
                          </a:stretch>
                        </a:blipFill>
                      </a:tcPr>
                    </a:tc>
                    <a:extLst>
                      <a:ext uri="{0D108BD9-81ED-4DB2-BD59-A6C34878D82A}">
                        <a16:rowId xmlns:a16="http://schemas.microsoft.com/office/drawing/2014/main" val="3068641214"/>
                      </a:ext>
                    </a:extLst>
                  </a:tr>
                  <a:tr h="1241600">
                    <a:tc>
                      <a:txBody>
                        <a:bodyPr/>
                        <a:lstStyle/>
                        <a:p>
                          <a:r>
                            <a:rPr kumimoji="1" lang="ja-JP" altLang="en-US" sz="2400" dirty="0"/>
                            <a:t>制約</a:t>
                          </a:r>
                        </a:p>
                      </a:txBody>
                      <a:tcPr/>
                    </a:tc>
                    <a:tc>
                      <a:txBody>
                        <a:bodyPr/>
                        <a:lstStyle/>
                        <a:p>
                          <a:endParaRPr lang="ja-JP"/>
                        </a:p>
                      </a:txBody>
                      <a:tcPr>
                        <a:blipFill>
                          <a:blip r:embed="rId3"/>
                          <a:stretch>
                            <a:fillRect l="-12950" t="-164216" r="-131" b="-110294"/>
                          </a:stretch>
                        </a:blipFill>
                      </a:tcPr>
                    </a:tc>
                    <a:extLst>
                      <a:ext uri="{0D108BD9-81ED-4DB2-BD59-A6C34878D82A}">
                        <a16:rowId xmlns:a16="http://schemas.microsoft.com/office/drawing/2014/main" val="1575375710"/>
                      </a:ext>
                    </a:extLst>
                  </a:tr>
                  <a:tr h="652367">
                    <a:tc>
                      <a:txBody>
                        <a:bodyPr/>
                        <a:lstStyle/>
                        <a:p>
                          <a:r>
                            <a:rPr kumimoji="1" lang="ja-JP" altLang="en-US" sz="2400" dirty="0"/>
                            <a:t>最小化</a:t>
                          </a:r>
                        </a:p>
                      </a:txBody>
                      <a:tcPr/>
                    </a:tc>
                    <a:tc>
                      <a:txBody>
                        <a:bodyPr/>
                        <a:lstStyle/>
                        <a:p>
                          <a:endParaRPr lang="ja-JP"/>
                        </a:p>
                      </a:txBody>
                      <a:tcPr>
                        <a:blipFill>
                          <a:blip r:embed="rId3"/>
                          <a:stretch>
                            <a:fillRect l="-12950" t="-503738" r="-131" b="-110280"/>
                          </a:stretch>
                        </a:blipFill>
                      </a:tcPr>
                    </a:tc>
                    <a:extLst>
                      <a:ext uri="{0D108BD9-81ED-4DB2-BD59-A6C34878D82A}">
                        <a16:rowId xmlns:a16="http://schemas.microsoft.com/office/drawing/2014/main" val="425906247"/>
                      </a:ext>
                    </a:extLst>
                  </a:tr>
                </a:tbl>
              </a:graphicData>
            </a:graphic>
          </p:graphicFrame>
        </mc:Fallback>
      </mc:AlternateContent>
      <p:sp>
        <p:nvSpPr>
          <p:cNvPr id="5" name="スライド番号プレースホルダー 4">
            <a:extLst>
              <a:ext uri="{FF2B5EF4-FFF2-40B4-BE49-F238E27FC236}">
                <a16:creationId xmlns:a16="http://schemas.microsoft.com/office/drawing/2014/main" id="{BB888947-F54E-353A-1398-59969B70209D}"/>
              </a:ext>
            </a:extLst>
          </p:cNvPr>
          <p:cNvSpPr>
            <a:spLocks noGrp="1"/>
          </p:cNvSpPr>
          <p:nvPr>
            <p:ph type="sldNum" sz="quarter" idx="12"/>
          </p:nvPr>
        </p:nvSpPr>
        <p:spPr/>
        <p:txBody>
          <a:bodyPr/>
          <a:lstStyle/>
          <a:p>
            <a:fld id="{4B077F3A-4098-4199-8925-77865D1E3500}" type="slidenum">
              <a:rPr kumimoji="1" lang="ja-JP" altLang="en-US" smtClean="0"/>
              <a:t>5</a:t>
            </a:fld>
            <a:endParaRPr kumimoji="1" lang="ja-JP" altLang="en-US"/>
          </a:p>
        </p:txBody>
      </p:sp>
    </p:spTree>
    <p:extLst>
      <p:ext uri="{BB962C8B-B14F-4D97-AF65-F5344CB8AC3E}">
        <p14:creationId xmlns:p14="http://schemas.microsoft.com/office/powerpoint/2010/main" val="3931122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430B58-A63A-48B4-AFD7-4B405285BC8B}"/>
              </a:ext>
            </a:extLst>
          </p:cNvPr>
          <p:cNvSpPr>
            <a:spLocks noGrp="1"/>
          </p:cNvSpPr>
          <p:nvPr>
            <p:ph type="title"/>
          </p:nvPr>
        </p:nvSpPr>
        <p:spPr/>
        <p:txBody>
          <a:bodyPr/>
          <a:lstStyle/>
          <a:p>
            <a:r>
              <a:rPr kumimoji="1" lang="ja-JP" altLang="en-US" dirty="0"/>
              <a:t>競合比</a:t>
            </a:r>
            <a:r>
              <a:rPr lang="ja-JP" altLang="en-US" sz="3600" dirty="0"/>
              <a:t>～</a:t>
            </a:r>
            <a:r>
              <a:rPr kumimoji="1" lang="ja-JP" altLang="en-US" sz="3600" dirty="0"/>
              <a:t>小さいほど望ましい評価指標～</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D222B36-B569-4F72-8573-120799218718}"/>
                  </a:ext>
                </a:extLst>
              </p:cNvPr>
              <p:cNvSpPr>
                <a:spLocks noGrp="1"/>
              </p:cNvSpPr>
              <p:nvPr>
                <p:ph idx="1"/>
              </p:nvPr>
            </p:nvSpPr>
            <p:spPr>
              <a:xfrm>
                <a:off x="825843" y="1960775"/>
                <a:ext cx="10515600" cy="4185382"/>
              </a:xfrm>
            </p:spPr>
            <p:txBody>
              <a:bodyPr>
                <a:normAutofit/>
              </a:bodyPr>
              <a:lstStyle/>
              <a:p>
                <a:pPr marL="0" indent="0">
                  <a:buNone/>
                </a:pPr>
                <a14:m>
                  <m:oMath xmlns:m="http://schemas.openxmlformats.org/officeDocument/2006/math">
                    <m:r>
                      <a:rPr lang="en-US" altLang="ja-JP" b="0" i="1" smtClean="0">
                        <a:latin typeface="Cambria Math" panose="02040503050406030204" pitchFamily="18" charset="0"/>
                      </a:rPr>
                      <m:t>𝐴𝐿𝐺</m:t>
                    </m:r>
                  </m:oMath>
                </a14:m>
                <a:r>
                  <a:rPr lang="en-US" altLang="ja-JP" b="0" dirty="0">
                    <a:latin typeface="Cambria Math" panose="02040503050406030204" pitchFamily="18" charset="0"/>
                  </a:rPr>
                  <a:t> : </a:t>
                </a:r>
                <a:r>
                  <a:rPr lang="en-US" altLang="ja-JP"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altLang="ja-JP" b="0" i="1" smtClean="0">
                        <a:latin typeface="Cambria Math" panose="02040503050406030204" pitchFamily="18" charset="0"/>
                        <a:ea typeface="Calibri" panose="020F0502020204030204" pitchFamily="34" charset="0"/>
                        <a:cs typeface="Calibri" panose="020F0502020204030204" pitchFamily="34" charset="0"/>
                      </a:rPr>
                      <m:t>𝑂𝑀𝑀</m:t>
                    </m:r>
                    <m:r>
                      <a:rPr lang="en-US" altLang="ja-JP" b="0" i="1" smtClean="0">
                        <a:latin typeface="Cambria Math" panose="02040503050406030204" pitchFamily="18" charset="0"/>
                        <a:ea typeface="Calibri" panose="020F0502020204030204" pitchFamily="34" charset="0"/>
                        <a:cs typeface="Calibri" panose="020F0502020204030204" pitchFamily="34" charset="0"/>
                      </a:rPr>
                      <m:t>(</m:t>
                    </m:r>
                    <m:r>
                      <a:rPr lang="en-US" altLang="ja-JP" b="0" i="1" smtClean="0">
                        <a:latin typeface="Cambria Math" panose="02040503050406030204" pitchFamily="18" charset="0"/>
                        <a:ea typeface="Calibri" panose="020F0502020204030204" pitchFamily="34" charset="0"/>
                        <a:cs typeface="Calibri" panose="020F0502020204030204" pitchFamily="34" charset="0"/>
                      </a:rPr>
                      <m:t>𝑛</m:t>
                    </m:r>
                    <m:r>
                      <a:rPr lang="en-US" altLang="ja-JP" b="0" i="1" smtClean="0">
                        <a:latin typeface="Cambria Math" panose="02040503050406030204" pitchFamily="18" charset="0"/>
                        <a:ea typeface="Calibri" panose="020F0502020204030204" pitchFamily="34" charset="0"/>
                        <a:cs typeface="Calibri" panose="020F0502020204030204" pitchFamily="34" charset="0"/>
                      </a:rPr>
                      <m:t>)</m:t>
                    </m:r>
                  </m:oMath>
                </a14:m>
                <a:r>
                  <a:rPr lang="ja-JP" altLang="en-US" b="0" i="1" dirty="0">
                    <a:latin typeface="Cambria Math" panose="02040503050406030204" pitchFamily="18" charset="0"/>
                  </a:rPr>
                  <a:t>に対するオンラインアルゴリズム</a:t>
                </a:r>
                <a:endParaRPr lang="en-US" altLang="ja-JP" b="0" i="1" dirty="0">
                  <a:latin typeface="Cambria Math" panose="02040503050406030204" pitchFamily="18" charset="0"/>
                </a:endParaRPr>
              </a:p>
              <a:p>
                <a:pPr marL="0" indent="0">
                  <a:buNone/>
                </a:pPr>
                <a:endParaRPr lang="en-US" altLang="ja-JP" sz="800" b="0" dirty="0">
                  <a:latin typeface="Calibri" panose="020F0502020204030204" pitchFamily="34" charset="0"/>
                  <a:ea typeface="Calibri" panose="020F0502020204030204" pitchFamily="34" charset="0"/>
                  <a:cs typeface="Calibri" panose="020F0502020204030204" pitchFamily="34" charset="0"/>
                </a:endParaRPr>
              </a:p>
              <a:p>
                <a:pPr marL="0" indent="0">
                  <a:buNone/>
                </a:pPr>
                <a14:m>
                  <m:oMath xmlns:m="http://schemas.openxmlformats.org/officeDocument/2006/math">
                    <m:r>
                      <a:rPr lang="en-US" altLang="ja-JP" b="0" i="1" smtClean="0">
                        <a:latin typeface="Cambria Math" panose="02040503050406030204" pitchFamily="18" charset="0"/>
                      </a:rPr>
                      <m:t>𝐴𝐿𝐺</m:t>
                    </m:r>
                  </m:oMath>
                </a14:m>
                <a:r>
                  <a:rPr lang="en-US" altLang="ja-JP" dirty="0"/>
                  <a:t> </a:t>
                </a:r>
                <a:r>
                  <a:rPr lang="ja-JP" altLang="en-US" dirty="0"/>
                  <a:t>が</a:t>
                </a:r>
                <a:r>
                  <a:rPr lang="en-US" altLang="ja-JP" dirty="0"/>
                  <a:t> </a:t>
                </a:r>
                <a14:m>
                  <m:oMath xmlns:m="http://schemas.openxmlformats.org/officeDocument/2006/math">
                    <m:r>
                      <a:rPr lang="en-US" altLang="ja-JP" b="1" i="1" smtClean="0">
                        <a:latin typeface="Cambria Math" panose="02040503050406030204" pitchFamily="18" charset="0"/>
                      </a:rPr>
                      <m:t>𝜶</m:t>
                    </m:r>
                  </m:oMath>
                </a14:m>
                <a:r>
                  <a:rPr lang="en-US" altLang="ja-JP" b="1" dirty="0"/>
                  <a:t>-</a:t>
                </a:r>
                <a:r>
                  <a:rPr lang="ja-JP" altLang="en-US" b="1" dirty="0"/>
                  <a:t>競合的</a:t>
                </a:r>
                <a:r>
                  <a:rPr lang="en-US" altLang="ja-JP" dirty="0"/>
                  <a:t> </a:t>
                </a:r>
                <a:r>
                  <a:rPr lang="ja-JP" altLang="en-US" dirty="0"/>
                  <a:t>とは</a:t>
                </a:r>
                <a:r>
                  <a:rPr lang="en-US" altLang="ja-JP" dirty="0"/>
                  <a:t>  </a:t>
                </a:r>
                <a14:m>
                  <m:oMath xmlns:m="http://schemas.openxmlformats.org/officeDocument/2006/math">
                    <m:r>
                      <a:rPr lang="en-US" altLang="ja-JP" b="0" i="1" smtClean="0">
                        <a:latin typeface="Cambria Math" panose="02040503050406030204" pitchFamily="18" charset="0"/>
                      </a:rPr>
                      <m:t>∀</m:t>
                    </m:r>
                    <m:r>
                      <a:rPr lang="en-US" altLang="ja-JP" b="0" i="1" smtClean="0">
                        <a:latin typeface="Cambria Math" panose="02040503050406030204" pitchFamily="18" charset="0"/>
                      </a:rPr>
                      <m:t>𝜎</m:t>
                    </m:r>
                    <m:r>
                      <a:rPr lang="en-US" altLang="ja-JP" b="0" i="1" smtClean="0">
                        <a:latin typeface="Cambria Math" panose="02040503050406030204" pitchFamily="18" charset="0"/>
                      </a:rPr>
                      <m:t>:  </m:t>
                    </m:r>
                    <m:r>
                      <a:rPr lang="en-US" altLang="ja-JP" b="0" i="1" smtClean="0">
                        <a:solidFill>
                          <a:schemeClr val="accent1"/>
                        </a:solidFill>
                        <a:latin typeface="Cambria Math" panose="02040503050406030204" pitchFamily="18" charset="0"/>
                      </a:rPr>
                      <m:t>𝐴𝐿𝐺</m:t>
                    </m:r>
                    <m:d>
                      <m:dPr>
                        <m:ctrlPr>
                          <a:rPr lang="en-US" altLang="ja-JP" b="0" i="1" smtClean="0">
                            <a:solidFill>
                              <a:schemeClr val="accent1"/>
                            </a:solidFill>
                            <a:latin typeface="Cambria Math" panose="02040503050406030204" pitchFamily="18" charset="0"/>
                          </a:rPr>
                        </m:ctrlPr>
                      </m:dPr>
                      <m:e>
                        <m:r>
                          <a:rPr lang="en-US" altLang="ja-JP" b="0" i="1" smtClean="0">
                            <a:solidFill>
                              <a:schemeClr val="accent1"/>
                            </a:solidFill>
                            <a:latin typeface="Cambria Math" panose="02040503050406030204" pitchFamily="18" charset="0"/>
                          </a:rPr>
                          <m:t>𝜎</m:t>
                        </m:r>
                      </m:e>
                    </m:d>
                    <m:r>
                      <a:rPr lang="en-US" altLang="ja-JP" b="0" i="1" smtClean="0">
                        <a:latin typeface="Cambria Math" panose="02040503050406030204" pitchFamily="18" charset="0"/>
                      </a:rPr>
                      <m:t>≤</m:t>
                    </m:r>
                    <m:r>
                      <a:rPr lang="en-US" altLang="ja-JP" b="0" i="1" smtClean="0">
                        <a:latin typeface="Cambria Math" panose="02040503050406030204" pitchFamily="18" charset="0"/>
                      </a:rPr>
                      <m:t>𝛼</m:t>
                    </m:r>
                    <m:r>
                      <a:rPr lang="en-US" altLang="ja-JP" b="0" i="1" smtClean="0">
                        <a:latin typeface="Cambria Math" panose="02040503050406030204" pitchFamily="18" charset="0"/>
                      </a:rPr>
                      <m:t>⋅</m:t>
                    </m:r>
                    <m:r>
                      <a:rPr lang="en-US" altLang="ja-JP" b="0" i="1" smtClean="0">
                        <a:solidFill>
                          <a:schemeClr val="accent2"/>
                        </a:solidFill>
                        <a:latin typeface="Cambria Math" panose="02040503050406030204" pitchFamily="18" charset="0"/>
                      </a:rPr>
                      <m:t>𝑂𝑃𝑇</m:t>
                    </m:r>
                    <m:r>
                      <a:rPr lang="en-US" altLang="ja-JP" b="0" i="1" smtClean="0">
                        <a:solidFill>
                          <a:schemeClr val="accent2"/>
                        </a:solidFill>
                        <a:latin typeface="Cambria Math" panose="02040503050406030204" pitchFamily="18" charset="0"/>
                      </a:rPr>
                      <m:t>(</m:t>
                    </m:r>
                    <m:r>
                      <a:rPr lang="en-US" altLang="ja-JP" b="0" i="1" smtClean="0">
                        <a:solidFill>
                          <a:schemeClr val="accent2"/>
                        </a:solidFill>
                        <a:latin typeface="Cambria Math" panose="02040503050406030204" pitchFamily="18" charset="0"/>
                      </a:rPr>
                      <m:t>𝜎</m:t>
                    </m:r>
                    <m:r>
                      <a:rPr lang="en-US" altLang="ja-JP" b="0" i="1" smtClean="0">
                        <a:solidFill>
                          <a:schemeClr val="accent2"/>
                        </a:solidFill>
                        <a:latin typeface="Cambria Math" panose="02040503050406030204" pitchFamily="18" charset="0"/>
                      </a:rPr>
                      <m:t>)</m:t>
                    </m:r>
                  </m:oMath>
                </a14:m>
                <a:r>
                  <a:rPr lang="en-US" altLang="ja-JP" dirty="0"/>
                  <a:t> </a:t>
                </a:r>
                <a:r>
                  <a:rPr lang="ja-JP" altLang="en-US" dirty="0"/>
                  <a:t>が成り立つこと</a:t>
                </a:r>
                <a:endParaRPr lang="en-US" altLang="ja-JP" dirty="0"/>
              </a:p>
              <a:p>
                <a:pPr marL="457200" lvl="1" indent="0">
                  <a:buNone/>
                </a:pPr>
                <a14:m>
                  <m:oMath xmlns:m="http://schemas.openxmlformats.org/officeDocument/2006/math">
                    <m:r>
                      <a:rPr lang="en-US" altLang="ja-JP" b="0" i="1" smtClean="0">
                        <a:solidFill>
                          <a:schemeClr val="accent1"/>
                        </a:solidFill>
                        <a:latin typeface="Cambria Math" panose="02040503050406030204" pitchFamily="18" charset="0"/>
                      </a:rPr>
                      <m:t>𝐴𝐿𝐺</m:t>
                    </m:r>
                    <m:r>
                      <a:rPr lang="en-US" altLang="ja-JP" b="0" i="1" smtClean="0">
                        <a:solidFill>
                          <a:schemeClr val="accent1"/>
                        </a:solidFill>
                        <a:latin typeface="Cambria Math" panose="02040503050406030204" pitchFamily="18" charset="0"/>
                      </a:rPr>
                      <m:t>(</m:t>
                    </m:r>
                    <m:r>
                      <a:rPr lang="en-US" altLang="ja-JP" b="0" i="1" smtClean="0">
                        <a:solidFill>
                          <a:schemeClr val="accent1"/>
                        </a:solidFill>
                        <a:latin typeface="Cambria Math" panose="02040503050406030204" pitchFamily="18" charset="0"/>
                      </a:rPr>
                      <m:t>𝜎</m:t>
                    </m:r>
                    <m:r>
                      <a:rPr lang="en-US" altLang="ja-JP" b="0" i="1" smtClean="0">
                        <a:solidFill>
                          <a:schemeClr val="accent1"/>
                        </a:solidFill>
                        <a:latin typeface="Cambria Math" panose="02040503050406030204" pitchFamily="18" charset="0"/>
                      </a:rPr>
                      <m:t>)</m:t>
                    </m:r>
                  </m:oMath>
                </a14:m>
                <a:r>
                  <a:rPr lang="en-US" altLang="ja-JP" dirty="0"/>
                  <a:t> : </a:t>
                </a:r>
                <a14:m>
                  <m:oMath xmlns:m="http://schemas.openxmlformats.org/officeDocument/2006/math">
                    <m:r>
                      <a:rPr lang="en-US" altLang="ja-JP" b="0" i="1" smtClean="0">
                        <a:latin typeface="Cambria Math" panose="02040503050406030204" pitchFamily="18" charset="0"/>
                      </a:rPr>
                      <m:t>𝜎</m:t>
                    </m:r>
                  </m:oMath>
                </a14:m>
                <a:r>
                  <a:rPr lang="ja-JP" altLang="en-US" dirty="0"/>
                  <a:t> を実行する際の</a:t>
                </a:r>
                <a14:m>
                  <m:oMath xmlns:m="http://schemas.openxmlformats.org/officeDocument/2006/math">
                    <m:r>
                      <a:rPr lang="en-US" altLang="ja-JP" b="0" i="1" smtClean="0">
                        <a:latin typeface="Cambria Math" panose="02040503050406030204" pitchFamily="18" charset="0"/>
                      </a:rPr>
                      <m:t>𝐴𝐿𝐺</m:t>
                    </m:r>
                  </m:oMath>
                </a14:m>
                <a:r>
                  <a:rPr lang="ja-JP" altLang="en-US" dirty="0"/>
                  <a:t>のコスト</a:t>
                </a:r>
                <a:endParaRPr lang="en-US" altLang="ja-JP" dirty="0"/>
              </a:p>
              <a:p>
                <a:pPr marL="457200" lvl="1" indent="0">
                  <a:buNone/>
                </a:pPr>
                <a14:m>
                  <m:oMath xmlns:m="http://schemas.openxmlformats.org/officeDocument/2006/math">
                    <m:r>
                      <a:rPr lang="en-US" altLang="ja-JP" b="0" i="1" smtClean="0">
                        <a:solidFill>
                          <a:schemeClr val="accent2"/>
                        </a:solidFill>
                        <a:latin typeface="Cambria Math" panose="02040503050406030204" pitchFamily="18" charset="0"/>
                      </a:rPr>
                      <m:t>𝑂𝑃𝑇</m:t>
                    </m:r>
                    <m:r>
                      <a:rPr lang="en-US" altLang="ja-JP" b="0" i="1" smtClean="0">
                        <a:solidFill>
                          <a:schemeClr val="accent2"/>
                        </a:solidFill>
                        <a:latin typeface="Cambria Math" panose="02040503050406030204" pitchFamily="18" charset="0"/>
                      </a:rPr>
                      <m:t>(</m:t>
                    </m:r>
                    <m:r>
                      <a:rPr lang="en-US" altLang="ja-JP" b="0" i="1" smtClean="0">
                        <a:solidFill>
                          <a:schemeClr val="accent2"/>
                        </a:solidFill>
                        <a:latin typeface="Cambria Math" panose="02040503050406030204" pitchFamily="18" charset="0"/>
                      </a:rPr>
                      <m:t>𝜎</m:t>
                    </m:r>
                    <m:r>
                      <a:rPr lang="en-US" altLang="ja-JP" b="0" i="1" smtClean="0">
                        <a:solidFill>
                          <a:schemeClr val="accent2"/>
                        </a:solidFill>
                        <a:latin typeface="Cambria Math" panose="02040503050406030204" pitchFamily="18" charset="0"/>
                      </a:rPr>
                      <m:t>)</m:t>
                    </m:r>
                  </m:oMath>
                </a14:m>
                <a:r>
                  <a:rPr lang="en-US" altLang="ja-JP" dirty="0"/>
                  <a:t> : </a:t>
                </a:r>
                <a14:m>
                  <m:oMath xmlns:m="http://schemas.openxmlformats.org/officeDocument/2006/math">
                    <m:r>
                      <a:rPr lang="en-US" altLang="ja-JP" b="0" i="1" smtClean="0">
                        <a:latin typeface="Cambria Math" panose="02040503050406030204" pitchFamily="18" charset="0"/>
                      </a:rPr>
                      <m:t>𝜎</m:t>
                    </m:r>
                  </m:oMath>
                </a14:m>
                <a:r>
                  <a:rPr lang="ja-JP" altLang="en-US" dirty="0"/>
                  <a:t> 全体を既知としたときの最適コスト</a:t>
                </a:r>
                <a:endParaRPr lang="en-US" altLang="ja-JP" dirty="0"/>
              </a:p>
              <a:p>
                <a:pPr marL="457200" lvl="1" indent="0">
                  <a:buNone/>
                </a:pPr>
                <a:endParaRPr lang="en-US" altLang="ja-JP" sz="800" dirty="0"/>
              </a:p>
              <a:p>
                <a:pPr marL="0" indent="0">
                  <a:buNone/>
                </a:pPr>
                <a14:m>
                  <m:oMath xmlns:m="http://schemas.openxmlformats.org/officeDocument/2006/math">
                    <m:r>
                      <a:rPr lang="en-US" altLang="ja-JP" i="1">
                        <a:latin typeface="Cambria Math" panose="02040503050406030204" pitchFamily="18" charset="0"/>
                      </a:rPr>
                      <m:t>ℛ</m:t>
                    </m:r>
                    <m:d>
                      <m:dPr>
                        <m:ctrlPr>
                          <a:rPr lang="en-US" altLang="ja-JP" i="1">
                            <a:latin typeface="Cambria Math" panose="02040503050406030204" pitchFamily="18" charset="0"/>
                          </a:rPr>
                        </m:ctrlPr>
                      </m:dPr>
                      <m:e>
                        <m:r>
                          <a:rPr lang="en-US" altLang="ja-JP" i="1">
                            <a:latin typeface="Cambria Math" panose="02040503050406030204" pitchFamily="18" charset="0"/>
                          </a:rPr>
                          <m:t>𝐴𝐿𝐺</m:t>
                        </m:r>
                      </m:e>
                    </m:d>
                    <m:r>
                      <a:rPr lang="en-US" altLang="ja-JP" b="0" i="1" smtClean="0">
                        <a:latin typeface="Cambria Math" panose="02040503050406030204" pitchFamily="18" charset="0"/>
                      </a:rPr>
                      <m:t>=</m:t>
                    </m:r>
                    <m:r>
                      <m:rPr>
                        <m:sty m:val="p"/>
                      </m:rPr>
                      <a:rPr lang="en-US" altLang="ja-JP" b="0" i="1" smtClean="0">
                        <a:latin typeface="Cambria Math" panose="02040503050406030204" pitchFamily="18" charset="0"/>
                      </a:rPr>
                      <m:t>inf</m:t>
                    </m:r>
                    <m:r>
                      <a:rPr lang="en-US" altLang="ja-JP" b="0" i="1" smtClean="0">
                        <a:latin typeface="Cambria Math" panose="02040503050406030204" pitchFamily="18" charset="0"/>
                      </a:rPr>
                      <m:t> </m:t>
                    </m:r>
                    <m:d>
                      <m:dPr>
                        <m:begChr m:val="{"/>
                        <m:endChr m:val="|"/>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𝛼</m:t>
                        </m:r>
                        <m:r>
                          <a:rPr lang="en-US" altLang="ja-JP" b="0" i="1" smtClean="0">
                            <a:latin typeface="Cambria Math" panose="02040503050406030204" pitchFamily="18" charset="0"/>
                          </a:rPr>
                          <m:t> </m:t>
                        </m:r>
                      </m:e>
                    </m:d>
                    <m:r>
                      <a:rPr lang="en-US" altLang="ja-JP" b="0" i="1" smtClean="0">
                        <a:latin typeface="Cambria Math" panose="02040503050406030204" pitchFamily="18" charset="0"/>
                      </a:rPr>
                      <m:t> </m:t>
                    </m:r>
                    <m:r>
                      <a:rPr lang="en-US" altLang="ja-JP" b="0" i="1" smtClean="0">
                        <a:latin typeface="Cambria Math" panose="02040503050406030204" pitchFamily="18" charset="0"/>
                      </a:rPr>
                      <m:t>𝐴𝐿𝐺</m:t>
                    </m:r>
                  </m:oMath>
                </a14:m>
                <a:r>
                  <a:rPr lang="en-US" altLang="ja-JP" dirty="0"/>
                  <a:t> </a:t>
                </a:r>
                <a:r>
                  <a:rPr lang="ja-JP" altLang="en-US" dirty="0"/>
                  <a:t>は</a:t>
                </a:r>
                <a:r>
                  <a:rPr lang="en-US" altLang="ja-JP" dirty="0"/>
                  <a:t> </a:t>
                </a:r>
                <a14:m>
                  <m:oMath xmlns:m="http://schemas.openxmlformats.org/officeDocument/2006/math">
                    <m:r>
                      <a:rPr lang="en-US" altLang="ja-JP" b="0" i="1" smtClean="0">
                        <a:latin typeface="Cambria Math" panose="02040503050406030204" pitchFamily="18" charset="0"/>
                      </a:rPr>
                      <m:t>𝛼</m:t>
                    </m:r>
                  </m:oMath>
                </a14:m>
                <a:r>
                  <a:rPr lang="en-US" altLang="ja-JP" dirty="0"/>
                  <a:t>-</a:t>
                </a:r>
                <a:r>
                  <a:rPr lang="ja-JP" altLang="en-US" dirty="0"/>
                  <a:t>競合的</a:t>
                </a:r>
                <a14:m>
                  <m:oMath xmlns:m="http://schemas.openxmlformats.org/officeDocument/2006/math">
                    <m:r>
                      <a:rPr lang="en-US" altLang="ja-JP" b="0" i="1" smtClean="0">
                        <a:latin typeface="Cambria Math" panose="02040503050406030204" pitchFamily="18" charset="0"/>
                      </a:rPr>
                      <m:t>}</m:t>
                    </m:r>
                  </m:oMath>
                </a14:m>
                <a:r>
                  <a:rPr lang="en-US" altLang="ja-JP" dirty="0"/>
                  <a:t> : </a:t>
                </a:r>
                <a14:m>
                  <m:oMath xmlns:m="http://schemas.openxmlformats.org/officeDocument/2006/math">
                    <m:r>
                      <a:rPr lang="en-US" altLang="ja-JP" b="0" i="1" smtClean="0">
                        <a:latin typeface="Cambria Math" panose="02040503050406030204" pitchFamily="18" charset="0"/>
                      </a:rPr>
                      <m:t>𝐴𝐿𝐺</m:t>
                    </m:r>
                  </m:oMath>
                </a14:m>
                <a:r>
                  <a:rPr lang="ja-JP" altLang="en-US" dirty="0"/>
                  <a:t> の</a:t>
                </a:r>
                <a:r>
                  <a:rPr lang="ja-JP" altLang="en-US" b="1" dirty="0"/>
                  <a:t>競合比</a:t>
                </a:r>
                <a:endParaRPr lang="en-US" altLang="ja-JP" b="1" dirty="0"/>
              </a:p>
              <a:p>
                <a:pPr marL="0" indent="0">
                  <a:buNone/>
                </a:pPr>
                <a14:m>
                  <m:oMath xmlns:m="http://schemas.openxmlformats.org/officeDocument/2006/math">
                    <m:r>
                      <a:rPr lang="en-US" altLang="ja-JP" sz="2400" i="1" smtClean="0">
                        <a:latin typeface="Cambria Math" panose="02040503050406030204" pitchFamily="18" charset="0"/>
                        <a:ea typeface="Cambria Math" panose="02040503050406030204" pitchFamily="18" charset="0"/>
                      </a:rPr>
                      <m:t>≈</m:t>
                    </m:r>
                  </m:oMath>
                </a14:m>
                <a:r>
                  <a:rPr lang="en-US" altLang="ja-JP" sz="2400" dirty="0"/>
                  <a:t> </a:t>
                </a:r>
                <a:r>
                  <a:rPr lang="ja-JP" altLang="en-US" sz="2400" b="1" dirty="0"/>
                  <a:t>最悪ケースにおいて</a:t>
                </a:r>
                <a:r>
                  <a:rPr lang="ja-JP" altLang="en-US" sz="2400" b="1" dirty="0">
                    <a:solidFill>
                      <a:schemeClr val="accent2"/>
                    </a:solidFill>
                  </a:rPr>
                  <a:t>理論上のコスト最小値</a:t>
                </a:r>
                <a:r>
                  <a:rPr lang="ja-JP" altLang="en-US" sz="2400" b="1" dirty="0"/>
                  <a:t>の何倍以内に収まるか？</a:t>
                </a:r>
                <a:endParaRPr lang="en-US" altLang="ja-JP" sz="2400" b="1" dirty="0"/>
              </a:p>
              <a:p>
                <a:pPr marL="0" indent="0">
                  <a:buNone/>
                </a:pPr>
                <a:endParaRPr lang="en-US" altLang="ja-JP" dirty="0"/>
              </a:p>
            </p:txBody>
          </p:sp>
        </mc:Choice>
        <mc:Fallback xmlns="">
          <p:sp>
            <p:nvSpPr>
              <p:cNvPr id="3" name="コンテンツ プレースホルダー 2">
                <a:extLst>
                  <a:ext uri="{FF2B5EF4-FFF2-40B4-BE49-F238E27FC236}">
                    <a16:creationId xmlns:a16="http://schemas.microsoft.com/office/drawing/2014/main" id="{4D222B36-B569-4F72-8573-120799218718}"/>
                  </a:ext>
                </a:extLst>
              </p:cNvPr>
              <p:cNvSpPr>
                <a:spLocks noGrp="1" noRot="1" noChangeAspect="1" noMove="1" noResize="1" noEditPoints="1" noAdjustHandles="1" noChangeArrowheads="1" noChangeShapeType="1" noTextEdit="1"/>
              </p:cNvSpPr>
              <p:nvPr>
                <p:ph idx="1"/>
              </p:nvPr>
            </p:nvSpPr>
            <p:spPr>
              <a:xfrm>
                <a:off x="825843" y="1960775"/>
                <a:ext cx="10515600" cy="4185382"/>
              </a:xfrm>
              <a:blipFill>
                <a:blip r:embed="rId3"/>
                <a:stretch>
                  <a:fillRect l="-290" t="-3207"/>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ED7359BE-7E64-2189-37F7-F729200A50C9}"/>
              </a:ext>
            </a:extLst>
          </p:cNvPr>
          <p:cNvSpPr>
            <a:spLocks noGrp="1"/>
          </p:cNvSpPr>
          <p:nvPr>
            <p:ph type="sldNum" sz="quarter" idx="12"/>
          </p:nvPr>
        </p:nvSpPr>
        <p:spPr/>
        <p:txBody>
          <a:bodyPr/>
          <a:lstStyle/>
          <a:p>
            <a:fld id="{4B077F3A-4098-4199-8925-77865D1E3500}" type="slidenum">
              <a:rPr kumimoji="1" lang="ja-JP" altLang="en-US" smtClean="0"/>
              <a:t>6</a:t>
            </a:fld>
            <a:endParaRPr kumimoji="1" lang="ja-JP" altLang="en-US"/>
          </a:p>
        </p:txBody>
      </p:sp>
    </p:spTree>
    <p:extLst>
      <p:ext uri="{BB962C8B-B14F-4D97-AF65-F5344CB8AC3E}">
        <p14:creationId xmlns:p14="http://schemas.microsoft.com/office/powerpoint/2010/main" val="2576317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9424AB-D35F-9E24-3E1A-DE47B389E04B}"/>
              </a:ext>
            </a:extLst>
          </p:cNvPr>
          <p:cNvSpPr>
            <a:spLocks noGrp="1"/>
          </p:cNvSpPr>
          <p:nvPr>
            <p:ph type="title"/>
          </p:nvPr>
        </p:nvSpPr>
        <p:spPr/>
        <p:txBody>
          <a:bodyPr/>
          <a:lstStyle/>
          <a:p>
            <a:r>
              <a:rPr kumimoji="1" lang="ja-JP" altLang="en-US" dirty="0"/>
              <a:t>本日の内容</a:t>
            </a:r>
          </a:p>
        </p:txBody>
      </p:sp>
      <p:sp>
        <p:nvSpPr>
          <p:cNvPr id="3" name="コンテンツ プレースホルダー 2">
            <a:extLst>
              <a:ext uri="{FF2B5EF4-FFF2-40B4-BE49-F238E27FC236}">
                <a16:creationId xmlns:a16="http://schemas.microsoft.com/office/drawing/2014/main" id="{69AD0ABC-6876-C4DF-7874-50BB34EE9B3D}"/>
              </a:ext>
            </a:extLst>
          </p:cNvPr>
          <p:cNvSpPr>
            <a:spLocks noGrp="1"/>
          </p:cNvSpPr>
          <p:nvPr>
            <p:ph idx="1"/>
          </p:nvPr>
        </p:nvSpPr>
        <p:spPr/>
        <p:txBody>
          <a:bodyPr/>
          <a:lstStyle/>
          <a:p>
            <a:r>
              <a:rPr kumimoji="1" lang="en-US" altLang="ja-JP" dirty="0"/>
              <a:t>OMM</a:t>
            </a:r>
            <a:r>
              <a:rPr kumimoji="1" lang="ja-JP" altLang="en-US" dirty="0"/>
              <a:t>に対する古典的な結果を紹介</a:t>
            </a:r>
            <a:endParaRPr kumimoji="1" lang="en-US" altLang="ja-JP" dirty="0"/>
          </a:p>
          <a:p>
            <a:r>
              <a:rPr lang="en-US" altLang="ja-JP" dirty="0"/>
              <a:t>OMM</a:t>
            </a:r>
            <a:r>
              <a:rPr lang="ja-JP" altLang="en-US" dirty="0"/>
              <a:t>の拡張の一つであるオンライン輸送問題について最近の進展（自分の研究成果含む）について紹介</a:t>
            </a:r>
            <a:endParaRPr kumimoji="1" lang="ja-JP" altLang="en-US" dirty="0"/>
          </a:p>
        </p:txBody>
      </p:sp>
      <p:sp>
        <p:nvSpPr>
          <p:cNvPr id="4" name="スライド番号プレースホルダー 3">
            <a:extLst>
              <a:ext uri="{FF2B5EF4-FFF2-40B4-BE49-F238E27FC236}">
                <a16:creationId xmlns:a16="http://schemas.microsoft.com/office/drawing/2014/main" id="{FC6A6EB0-9B7F-9F4D-5318-E0EA79AC8C7F}"/>
              </a:ext>
            </a:extLst>
          </p:cNvPr>
          <p:cNvSpPr>
            <a:spLocks noGrp="1"/>
          </p:cNvSpPr>
          <p:nvPr>
            <p:ph type="sldNum" sz="quarter" idx="12"/>
          </p:nvPr>
        </p:nvSpPr>
        <p:spPr/>
        <p:txBody>
          <a:bodyPr/>
          <a:lstStyle/>
          <a:p>
            <a:fld id="{4B077F3A-4098-4199-8925-77865D1E3500}" type="slidenum">
              <a:rPr kumimoji="1" lang="ja-JP" altLang="en-US" smtClean="0"/>
              <a:t>7</a:t>
            </a:fld>
            <a:endParaRPr kumimoji="1" lang="ja-JP" altLang="en-US"/>
          </a:p>
        </p:txBody>
      </p:sp>
    </p:spTree>
    <p:extLst>
      <p:ext uri="{BB962C8B-B14F-4D97-AF65-F5344CB8AC3E}">
        <p14:creationId xmlns:p14="http://schemas.microsoft.com/office/powerpoint/2010/main" val="337271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942CBB-DC51-EE31-833C-A2338E5F798D}"/>
              </a:ext>
            </a:extLst>
          </p:cNvPr>
          <p:cNvSpPr>
            <a:spLocks noGrp="1"/>
          </p:cNvSpPr>
          <p:nvPr>
            <p:ph type="title"/>
          </p:nvPr>
        </p:nvSpPr>
        <p:spPr/>
        <p:txBody>
          <a:bodyPr/>
          <a:lstStyle/>
          <a:p>
            <a:r>
              <a:rPr kumimoji="1" lang="ja-JP" altLang="en-US" dirty="0"/>
              <a:t>最初の結果</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A191DEC-9BE4-B8A3-7B15-D843C86F4BEA}"/>
                  </a:ext>
                </a:extLst>
              </p:cNvPr>
              <p:cNvSpPr>
                <a:spLocks noGrp="1"/>
              </p:cNvSpPr>
              <p:nvPr>
                <p:ph idx="1"/>
              </p:nvPr>
            </p:nvSpPr>
            <p:spPr>
              <a:xfrm>
                <a:off x="838200" y="1750700"/>
                <a:ext cx="10515600" cy="2962701"/>
              </a:xfrm>
            </p:spPr>
            <p:txBody>
              <a:bodyPr>
                <a:normAutofit/>
              </a:bodyPr>
              <a:lstStyle/>
              <a:p>
                <a:pPr marL="0" indent="0">
                  <a:buNone/>
                </a:pPr>
                <a:r>
                  <a:rPr kumimoji="1" lang="en-US" altLang="ja-JP" sz="2600" dirty="0"/>
                  <a:t>[</a:t>
                </a:r>
                <a:r>
                  <a:rPr kumimoji="1" lang="en-US" altLang="ja-JP" sz="2600" dirty="0" err="1"/>
                  <a:t>Karyanasundaram</a:t>
                </a:r>
                <a:r>
                  <a:rPr kumimoji="1" lang="en-US" altLang="ja-JP" sz="2600" dirty="0"/>
                  <a:t> and </a:t>
                </a:r>
                <a:r>
                  <a:rPr kumimoji="1" lang="en-US" altLang="ja-JP" sz="2600" dirty="0" err="1"/>
                  <a:t>Pruhs</a:t>
                </a:r>
                <a:r>
                  <a:rPr kumimoji="1" lang="en-US" altLang="ja-JP" sz="2600" dirty="0"/>
                  <a:t>, 1993]</a:t>
                </a:r>
                <a:r>
                  <a:rPr kumimoji="1" lang="ja-JP" altLang="en-US" sz="2600" dirty="0"/>
                  <a:t>（以下</a:t>
                </a:r>
                <a:r>
                  <a:rPr kumimoji="1" lang="en-US" altLang="ja-JP" sz="2600" dirty="0"/>
                  <a:t>[KP93]</a:t>
                </a:r>
                <a:r>
                  <a:rPr kumimoji="1" lang="ja-JP" altLang="en-US" sz="2600" dirty="0"/>
                  <a:t>）は以下を示した：</a:t>
                </a:r>
                <a:endParaRPr kumimoji="1" lang="en-US" altLang="ja-JP" sz="2600" dirty="0"/>
              </a:p>
              <a:p>
                <a:pPr marL="514350" indent="-514350">
                  <a:buFont typeface="+mj-lt"/>
                  <a:buAutoNum type="arabicPeriod"/>
                </a:pPr>
                <a:r>
                  <a:rPr kumimoji="1" lang="en-US" altLang="ja-JP" sz="2600" b="0" dirty="0"/>
                  <a:t> </a:t>
                </a:r>
                <a14:m>
                  <m:oMath xmlns:m="http://schemas.openxmlformats.org/officeDocument/2006/math">
                    <m:r>
                      <a:rPr kumimoji="1" lang="en-US" altLang="ja-JP" sz="2600" b="0" i="1" smtClean="0">
                        <a:latin typeface="Cambria Math" panose="02040503050406030204" pitchFamily="18" charset="0"/>
                      </a:rPr>
                      <m:t>𝑂𝑀𝑀</m:t>
                    </m:r>
                    <m:r>
                      <a:rPr kumimoji="1" lang="en-US" altLang="ja-JP" sz="2600" b="0" i="1" smtClean="0">
                        <a:latin typeface="Cambria Math" panose="02040503050406030204" pitchFamily="18" charset="0"/>
                      </a:rPr>
                      <m:t>(</m:t>
                    </m:r>
                    <m:r>
                      <a:rPr kumimoji="1" lang="en-US" altLang="ja-JP" sz="2600" b="0" i="1" smtClean="0">
                        <a:latin typeface="Cambria Math" panose="02040503050406030204" pitchFamily="18" charset="0"/>
                      </a:rPr>
                      <m:t>𝑛</m:t>
                    </m:r>
                    <m:r>
                      <a:rPr kumimoji="1" lang="en-US" altLang="ja-JP" sz="2600" b="0" i="1" smtClean="0">
                        <a:latin typeface="Cambria Math" panose="02040503050406030204" pitchFamily="18" charset="0"/>
                      </a:rPr>
                      <m:t>)</m:t>
                    </m:r>
                  </m:oMath>
                </a14:m>
                <a:r>
                  <a:rPr kumimoji="1" lang="ja-JP" altLang="en-US" sz="2600" dirty="0"/>
                  <a:t> に対する貪欲法の競合比は </a:t>
                </a:r>
                <a14:m>
                  <m:oMath xmlns:m="http://schemas.openxmlformats.org/officeDocument/2006/math">
                    <m:sSup>
                      <m:sSupPr>
                        <m:ctrlPr>
                          <a:rPr kumimoji="1" lang="en-US" altLang="ja-JP" sz="2600" b="0" i="1" smtClean="0">
                            <a:latin typeface="Cambria Math" panose="02040503050406030204" pitchFamily="18" charset="0"/>
                          </a:rPr>
                        </m:ctrlPr>
                      </m:sSupPr>
                      <m:e>
                        <m:r>
                          <a:rPr kumimoji="1" lang="en-US" altLang="ja-JP" sz="2600" b="0" i="1" smtClean="0">
                            <a:latin typeface="Cambria Math" panose="02040503050406030204" pitchFamily="18" charset="0"/>
                          </a:rPr>
                          <m:t>2</m:t>
                        </m:r>
                      </m:e>
                      <m:sup>
                        <m:r>
                          <a:rPr kumimoji="1" lang="en-US" altLang="ja-JP" sz="2600" b="0" i="1" smtClean="0">
                            <a:latin typeface="Cambria Math" panose="02040503050406030204" pitchFamily="18" charset="0"/>
                          </a:rPr>
                          <m:t>𝑛</m:t>
                        </m:r>
                      </m:sup>
                    </m:sSup>
                    <m:r>
                      <a:rPr kumimoji="1" lang="en-US" altLang="ja-JP" sz="2600" b="0" i="1" smtClean="0">
                        <a:latin typeface="Cambria Math" panose="02040503050406030204" pitchFamily="18" charset="0"/>
                      </a:rPr>
                      <m:t>−1</m:t>
                    </m:r>
                  </m:oMath>
                </a14:m>
                <a:r>
                  <a:rPr kumimoji="1" lang="ja-JP" altLang="en-US" sz="2600" dirty="0"/>
                  <a:t>，</a:t>
                </a:r>
                <a:endParaRPr kumimoji="1" lang="en-US" altLang="ja-JP" sz="2600" dirty="0"/>
              </a:p>
              <a:p>
                <a:pPr marL="514350" indent="-514350">
                  <a:buFont typeface="+mj-lt"/>
                  <a:buAutoNum type="arabicPeriod"/>
                </a:pPr>
                <a:r>
                  <a:rPr lang="en-US" altLang="ja-JP" sz="2600" dirty="0"/>
                  <a:t>Permutation </a:t>
                </a:r>
                <a:r>
                  <a:rPr lang="ja-JP" altLang="en-US" sz="2600" dirty="0"/>
                  <a:t>アルゴリズムの競合比は </a:t>
                </a:r>
                <a14:m>
                  <m:oMath xmlns:m="http://schemas.openxmlformats.org/officeDocument/2006/math">
                    <m:r>
                      <a:rPr lang="en-US" altLang="ja-JP" sz="2600" b="0" i="1" smtClean="0">
                        <a:latin typeface="Cambria Math" panose="02040503050406030204" pitchFamily="18" charset="0"/>
                      </a:rPr>
                      <m:t>2</m:t>
                    </m:r>
                    <m:r>
                      <a:rPr lang="en-US" altLang="ja-JP" sz="2600" b="0" i="1" smtClean="0">
                        <a:latin typeface="Cambria Math" panose="02040503050406030204" pitchFamily="18" charset="0"/>
                      </a:rPr>
                      <m:t>𝑛</m:t>
                    </m:r>
                    <m:r>
                      <a:rPr lang="en-US" altLang="ja-JP" sz="2600" b="0" i="1" smtClean="0">
                        <a:latin typeface="Cambria Math" panose="02040503050406030204" pitchFamily="18" charset="0"/>
                      </a:rPr>
                      <m:t>−1</m:t>
                    </m:r>
                  </m:oMath>
                </a14:m>
                <a:r>
                  <a:rPr kumimoji="1" lang="en-US" altLang="ja-JP" sz="2600" dirty="0"/>
                  <a:t> </a:t>
                </a:r>
                <a:r>
                  <a:rPr kumimoji="1" lang="ja-JP" altLang="en-US" sz="2600" dirty="0"/>
                  <a:t>でこれが最善．</a:t>
                </a:r>
                <a:endParaRPr kumimoji="1" lang="en-US" altLang="ja-JP" sz="2600" dirty="0"/>
              </a:p>
              <a:p>
                <a:pPr marL="0" indent="0">
                  <a:buNone/>
                </a:pPr>
                <a:endParaRPr kumimoji="1" lang="en-US" altLang="ja-JP" sz="2600" dirty="0"/>
              </a:p>
              <a:p>
                <a:pPr marL="0" indent="0">
                  <a:buNone/>
                </a:pPr>
                <a:r>
                  <a:rPr lang="ja-JP" altLang="en-US" sz="2600" dirty="0"/>
                  <a:t>つまり，決定的アルゴリズムの競合比に関しては解決済み</a:t>
                </a:r>
                <a:endParaRPr kumimoji="1" lang="ja-JP" altLang="en-US" sz="2600" dirty="0"/>
              </a:p>
            </p:txBody>
          </p:sp>
        </mc:Choice>
        <mc:Fallback xmlns="">
          <p:sp>
            <p:nvSpPr>
              <p:cNvPr id="3" name="コンテンツ プレースホルダー 2">
                <a:extLst>
                  <a:ext uri="{FF2B5EF4-FFF2-40B4-BE49-F238E27FC236}">
                    <a16:creationId xmlns:a16="http://schemas.microsoft.com/office/drawing/2014/main" id="{FA191DEC-9BE4-B8A3-7B15-D843C86F4BEA}"/>
                  </a:ext>
                </a:extLst>
              </p:cNvPr>
              <p:cNvSpPr>
                <a:spLocks noGrp="1" noRot="1" noChangeAspect="1" noMove="1" noResize="1" noEditPoints="1" noAdjustHandles="1" noChangeArrowheads="1" noChangeShapeType="1" noTextEdit="1"/>
              </p:cNvSpPr>
              <p:nvPr>
                <p:ph idx="1"/>
              </p:nvPr>
            </p:nvSpPr>
            <p:spPr>
              <a:xfrm>
                <a:off x="838200" y="1750700"/>
                <a:ext cx="10515600" cy="2962701"/>
              </a:xfrm>
              <a:blipFill>
                <a:blip r:embed="rId2"/>
                <a:stretch>
                  <a:fillRect l="-1101" t="-3498"/>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706BA938-EAEC-E48F-3468-699D26F4D6CF}"/>
              </a:ext>
            </a:extLst>
          </p:cNvPr>
          <p:cNvSpPr txBox="1"/>
          <p:nvPr/>
        </p:nvSpPr>
        <p:spPr>
          <a:xfrm>
            <a:off x="838200" y="5938887"/>
            <a:ext cx="10515600" cy="369332"/>
          </a:xfrm>
          <a:prstGeom prst="rect">
            <a:avLst/>
          </a:prstGeom>
          <a:noFill/>
        </p:spPr>
        <p:txBody>
          <a:bodyPr wrap="square" rtlCol="0">
            <a:spAutoFit/>
          </a:bodyPr>
          <a:lstStyle/>
          <a:p>
            <a:r>
              <a:rPr kumimoji="1" lang="en-US" altLang="ja-JP" dirty="0"/>
              <a:t>※2</a:t>
            </a:r>
            <a:r>
              <a:rPr kumimoji="1" lang="ja-JP" altLang="en-US" dirty="0"/>
              <a:t>については同時期に </a:t>
            </a:r>
            <a:r>
              <a:rPr kumimoji="1" lang="en-US" altLang="ja-JP" dirty="0"/>
              <a:t>[</a:t>
            </a:r>
            <a:r>
              <a:rPr lang="en-US" altLang="ja-JP" dirty="0" err="1"/>
              <a:t>Khuller</a:t>
            </a:r>
            <a:r>
              <a:rPr lang="en-US" altLang="ja-JP" dirty="0"/>
              <a:t> et al., 1994] </a:t>
            </a:r>
            <a:r>
              <a:rPr lang="ja-JP" altLang="en-US" dirty="0"/>
              <a:t>も独立に証明している</a:t>
            </a:r>
            <a:endParaRPr kumimoji="1" lang="ja-JP" altLang="en-US" dirty="0"/>
          </a:p>
        </p:txBody>
      </p:sp>
      <p:sp>
        <p:nvSpPr>
          <p:cNvPr id="5" name="スライド番号プレースホルダー 4">
            <a:extLst>
              <a:ext uri="{FF2B5EF4-FFF2-40B4-BE49-F238E27FC236}">
                <a16:creationId xmlns:a16="http://schemas.microsoft.com/office/drawing/2014/main" id="{204E4CB9-74FB-4896-3B41-72A1433DB514}"/>
              </a:ext>
            </a:extLst>
          </p:cNvPr>
          <p:cNvSpPr>
            <a:spLocks noGrp="1"/>
          </p:cNvSpPr>
          <p:nvPr>
            <p:ph type="sldNum" sz="quarter" idx="12"/>
          </p:nvPr>
        </p:nvSpPr>
        <p:spPr/>
        <p:txBody>
          <a:bodyPr/>
          <a:lstStyle/>
          <a:p>
            <a:fld id="{4B077F3A-4098-4199-8925-77865D1E3500}" type="slidenum">
              <a:rPr kumimoji="1" lang="ja-JP" altLang="en-US" smtClean="0"/>
              <a:t>8</a:t>
            </a:fld>
            <a:endParaRPr kumimoji="1" lang="ja-JP" altLang="en-US"/>
          </a:p>
        </p:txBody>
      </p:sp>
    </p:spTree>
    <p:extLst>
      <p:ext uri="{BB962C8B-B14F-4D97-AF65-F5344CB8AC3E}">
        <p14:creationId xmlns:p14="http://schemas.microsoft.com/office/powerpoint/2010/main" val="1905580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EB7AADD0-0617-B84B-71F9-422B037E71D0}"/>
                  </a:ext>
                </a:extLst>
              </p:cNvPr>
              <p:cNvSpPr>
                <a:spLocks noGrp="1"/>
              </p:cNvSpPr>
              <p:nvPr>
                <p:ph type="title"/>
              </p:nvPr>
            </p:nvSpPr>
            <p:spPr/>
            <p:txBody>
              <a:bodyPr/>
              <a:lstStyle/>
              <a:p>
                <a:r>
                  <a:rPr lang="ja-JP" altLang="en-US" dirty="0"/>
                  <a:t>貪欲法（</a:t>
                </a:r>
                <a14:m>
                  <m:oMath xmlns:m="http://schemas.openxmlformats.org/officeDocument/2006/math">
                    <m:r>
                      <a:rPr lang="en-US" altLang="ja-JP" b="0" i="1" smtClean="0">
                        <a:latin typeface="Cambria Math" panose="02040503050406030204" pitchFamily="18" charset="0"/>
                      </a:rPr>
                      <m:t>𝐺𝑅𝐸𝐸𝐷𝑌</m:t>
                    </m:r>
                  </m:oMath>
                </a14:m>
                <a:r>
                  <a:rPr lang="ja-JP" altLang="en-US" dirty="0"/>
                  <a:t>）</a:t>
                </a:r>
                <a:endParaRPr kumimoji="1" lang="ja-JP" altLang="en-US" dirty="0"/>
              </a:p>
            </p:txBody>
          </p:sp>
        </mc:Choice>
        <mc:Fallback xmlns="">
          <p:sp>
            <p:nvSpPr>
              <p:cNvPr id="2" name="タイトル 1">
                <a:extLst>
                  <a:ext uri="{FF2B5EF4-FFF2-40B4-BE49-F238E27FC236}">
                    <a16:creationId xmlns:a16="http://schemas.microsoft.com/office/drawing/2014/main" id="{EB7AADD0-0617-B84B-71F9-422B037E71D0}"/>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ja-JP" altLang="en-US">
                    <a:noFill/>
                  </a:rPr>
                  <a:t> </a:t>
                </a:r>
              </a:p>
            </p:txBody>
          </p:sp>
        </mc:Fallback>
      </mc:AlternateContent>
      <p:sp>
        <p:nvSpPr>
          <p:cNvPr id="3" name="コンテンツ プレースホルダー 2">
            <a:extLst>
              <a:ext uri="{FF2B5EF4-FFF2-40B4-BE49-F238E27FC236}">
                <a16:creationId xmlns:a16="http://schemas.microsoft.com/office/drawing/2014/main" id="{4359E08E-0DD7-AEC6-BB60-DC884CAD3C95}"/>
              </a:ext>
            </a:extLst>
          </p:cNvPr>
          <p:cNvSpPr>
            <a:spLocks noGrp="1"/>
          </p:cNvSpPr>
          <p:nvPr>
            <p:ph idx="1"/>
          </p:nvPr>
        </p:nvSpPr>
        <p:spPr>
          <a:xfrm>
            <a:off x="838200" y="1825624"/>
            <a:ext cx="10515600" cy="908149"/>
          </a:xfrm>
        </p:spPr>
        <p:txBody>
          <a:bodyPr/>
          <a:lstStyle/>
          <a:p>
            <a:r>
              <a:rPr kumimoji="1" lang="ja-JP" altLang="en-US" dirty="0"/>
              <a:t>まだリクエストがマッチしていないサーバの中で最も近いサーバに割り当てる</a:t>
            </a:r>
            <a:endParaRPr kumimoji="1" lang="en-US" altLang="ja-JP" dirty="0"/>
          </a:p>
          <a:p>
            <a:endParaRPr kumimoji="1" lang="ja-JP" altLang="en-US" dirty="0"/>
          </a:p>
        </p:txBody>
      </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4035EDB7-C1AF-1AFE-D34C-9D639BB87A68}"/>
                  </a:ext>
                </a:extLst>
              </p:cNvPr>
              <p:cNvSpPr txBox="1"/>
              <p:nvPr/>
            </p:nvSpPr>
            <p:spPr>
              <a:xfrm>
                <a:off x="838197" y="2700851"/>
                <a:ext cx="10515599" cy="830997"/>
              </a:xfrm>
              <a:prstGeom prst="rect">
                <a:avLst/>
              </a:prstGeom>
              <a:noFill/>
            </p:spPr>
            <p:txBody>
              <a:bodyPr wrap="square" rtlCol="0">
                <a:spAutoFit/>
              </a:bodyPr>
              <a:lstStyle/>
              <a:p>
                <a:r>
                  <a:rPr lang="en-US" altLang="ja-JP" sz="2400" dirty="0"/>
                  <a:t>[KP93]</a:t>
                </a:r>
                <a:r>
                  <a:rPr lang="ja-JP" altLang="en-US" sz="2400" dirty="0"/>
                  <a:t>は以下の</a:t>
                </a:r>
                <a:r>
                  <a:rPr lang="en-US" altLang="ja-JP" sz="2400" dirty="0"/>
                  <a:t>2</a:t>
                </a:r>
                <a:r>
                  <a:rPr lang="ja-JP" altLang="en-US" sz="2400" dirty="0"/>
                  <a:t>つを証明することにより，貪欲法の </a:t>
                </a:r>
                <a14:m>
                  <m:oMath xmlns:m="http://schemas.openxmlformats.org/officeDocument/2006/math">
                    <m:r>
                      <a:rPr lang="en-US" altLang="ja-JP" sz="2400" b="0" i="1" smtClean="0">
                        <a:latin typeface="Cambria Math" panose="02040503050406030204" pitchFamily="18" charset="0"/>
                      </a:rPr>
                      <m:t>𝑂𝑀𝑀</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m:t>
                    </m:r>
                  </m:oMath>
                </a14:m>
                <a:r>
                  <a:rPr lang="ja-JP" altLang="en-US" sz="2400" dirty="0"/>
                  <a:t> に対する競合比を </a:t>
                </a:r>
                <a14:m>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2</m:t>
                        </m:r>
                      </m:e>
                      <m:sup>
                        <m:r>
                          <a:rPr lang="en-US" altLang="ja-JP" sz="2400" b="0" i="1" smtClean="0">
                            <a:latin typeface="Cambria Math" panose="02040503050406030204" pitchFamily="18" charset="0"/>
                          </a:rPr>
                          <m:t>𝑛</m:t>
                        </m:r>
                      </m:sup>
                    </m:sSup>
                    <m:r>
                      <a:rPr lang="en-US" altLang="ja-JP" sz="2400" b="0" i="1" smtClean="0">
                        <a:latin typeface="Cambria Math" panose="02040503050406030204" pitchFamily="18" charset="0"/>
                      </a:rPr>
                      <m:t>−1</m:t>
                    </m:r>
                  </m:oMath>
                </a14:m>
                <a:r>
                  <a:rPr kumimoji="1" lang="ja-JP" altLang="en-US" sz="2400" dirty="0"/>
                  <a:t> であると結論付けた．</a:t>
                </a:r>
              </a:p>
            </p:txBody>
          </p:sp>
        </mc:Choice>
        <mc:Fallback>
          <p:sp>
            <p:nvSpPr>
              <p:cNvPr id="10" name="テキスト ボックス 9">
                <a:extLst>
                  <a:ext uri="{FF2B5EF4-FFF2-40B4-BE49-F238E27FC236}">
                    <a16:creationId xmlns:a16="http://schemas.microsoft.com/office/drawing/2014/main" id="{4035EDB7-C1AF-1AFE-D34C-9D639BB87A68}"/>
                  </a:ext>
                </a:extLst>
              </p:cNvPr>
              <p:cNvSpPr txBox="1">
                <a:spLocks noRot="1" noChangeAspect="1" noMove="1" noResize="1" noEditPoints="1" noAdjustHandles="1" noChangeArrowheads="1" noChangeShapeType="1" noTextEdit="1"/>
              </p:cNvSpPr>
              <p:nvPr/>
            </p:nvSpPr>
            <p:spPr>
              <a:xfrm>
                <a:off x="838197" y="2700851"/>
                <a:ext cx="10515599" cy="830997"/>
              </a:xfrm>
              <a:prstGeom prst="rect">
                <a:avLst/>
              </a:prstGeom>
              <a:blipFill>
                <a:blip r:embed="rId3"/>
                <a:stretch>
                  <a:fillRect l="-870" t="-8088" b="-17647"/>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1D363CBB-03E1-19E6-8045-0E63AA6FD95C}"/>
                  </a:ext>
                </a:extLst>
              </p:cNvPr>
              <p:cNvSpPr txBox="1"/>
              <p:nvPr/>
            </p:nvSpPr>
            <p:spPr>
              <a:xfrm>
                <a:off x="838198" y="3646102"/>
                <a:ext cx="10515599" cy="1230658"/>
              </a:xfrm>
              <a:prstGeom prst="rect">
                <a:avLst/>
              </a:prstGeom>
              <a:noFill/>
            </p:spPr>
            <p:txBody>
              <a:bodyPr wrap="square" rtlCol="0">
                <a:spAutoFit/>
              </a:bodyPr>
              <a:lstStyle/>
              <a:p>
                <a:r>
                  <a:rPr kumimoji="1" lang="ja-JP" altLang="en-US" sz="2400" b="1" dirty="0"/>
                  <a:t>定理（競合比下界）</a:t>
                </a:r>
                <a:r>
                  <a:rPr kumimoji="1" lang="ja-JP" altLang="en-US" sz="2400" dirty="0"/>
                  <a:t>　ある</a:t>
                </a:r>
                <a:r>
                  <a:rPr lang="ja-JP" altLang="en-US" sz="2400" dirty="0"/>
                  <a:t> </a:t>
                </a:r>
                <a14:m>
                  <m:oMath xmlns:m="http://schemas.openxmlformats.org/officeDocument/2006/math">
                    <m:r>
                      <a:rPr lang="en-US" altLang="ja-JP" sz="2400" b="0" i="1" smtClean="0">
                        <a:latin typeface="Cambria Math" panose="02040503050406030204" pitchFamily="18" charset="0"/>
                      </a:rPr>
                      <m:t>𝑂𝑀𝑀</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m:t>
                    </m:r>
                  </m:oMath>
                </a14:m>
                <a:r>
                  <a:rPr kumimoji="1" lang="ja-JP" altLang="en-US" sz="2400" dirty="0"/>
                  <a:t> のインスタンスが存在して，</a:t>
                </a:r>
                <a:endParaRPr kumimoji="1" lang="en-US" altLang="ja-JP" sz="2400" dirty="0"/>
              </a:p>
              <a:p>
                <a:pPr/>
                <a14:m>
                  <m:oMathPara xmlns:m="http://schemas.openxmlformats.org/officeDocument/2006/math">
                    <m:oMathParaPr>
                      <m:jc m:val="centerGroup"/>
                    </m:oMathParaPr>
                    <m:oMath xmlns:m="http://schemas.openxmlformats.org/officeDocument/2006/math">
                      <m:f>
                        <m:fPr>
                          <m:ctrlPr>
                            <a:rPr kumimoji="1" lang="en-US" altLang="ja-JP" sz="2400" b="0" i="1" smtClean="0">
                              <a:solidFill>
                                <a:schemeClr val="tx1"/>
                              </a:solidFill>
                              <a:latin typeface="Cambria Math" panose="02040503050406030204" pitchFamily="18" charset="0"/>
                            </a:rPr>
                          </m:ctrlPr>
                        </m:fPr>
                        <m:num>
                          <m:r>
                            <a:rPr kumimoji="1" lang="en-US" altLang="ja-JP" sz="2400" b="0" i="1" smtClean="0">
                              <a:solidFill>
                                <a:schemeClr val="accent1"/>
                              </a:solidFill>
                              <a:latin typeface="Cambria Math" panose="02040503050406030204" pitchFamily="18" charset="0"/>
                            </a:rPr>
                            <m:t>𝐺𝑅𝐸𝐸𝐷𝑌</m:t>
                          </m:r>
                          <m:d>
                            <m:dPr>
                              <m:ctrlPr>
                                <a:rPr kumimoji="1" lang="en-US" altLang="ja-JP" sz="2400" b="0" i="1" smtClean="0">
                                  <a:solidFill>
                                    <a:schemeClr val="accent1"/>
                                  </a:solidFill>
                                  <a:latin typeface="Cambria Math" panose="02040503050406030204" pitchFamily="18" charset="0"/>
                                </a:rPr>
                              </m:ctrlPr>
                            </m:dPr>
                            <m:e>
                              <m:r>
                                <a:rPr kumimoji="1" lang="en-US" altLang="ja-JP" sz="2400" b="0" i="1" smtClean="0">
                                  <a:solidFill>
                                    <a:schemeClr val="accent1"/>
                                  </a:solidFill>
                                  <a:latin typeface="Cambria Math" panose="02040503050406030204" pitchFamily="18" charset="0"/>
                                </a:rPr>
                                <m:t>𝜎</m:t>
                              </m:r>
                            </m:e>
                          </m:d>
                        </m:num>
                        <m:den>
                          <m:r>
                            <a:rPr kumimoji="1" lang="en-US" altLang="ja-JP" sz="2400" b="0" i="1" smtClean="0">
                              <a:solidFill>
                                <a:schemeClr val="accent2"/>
                              </a:solidFill>
                              <a:latin typeface="Cambria Math" panose="02040503050406030204" pitchFamily="18" charset="0"/>
                            </a:rPr>
                            <m:t>𝑂𝑃𝑇</m:t>
                          </m:r>
                          <m:d>
                            <m:dPr>
                              <m:ctrlPr>
                                <a:rPr kumimoji="1" lang="en-US" altLang="ja-JP" sz="2400" b="0" i="1" smtClean="0">
                                  <a:solidFill>
                                    <a:schemeClr val="accent2"/>
                                  </a:solidFill>
                                  <a:latin typeface="Cambria Math" panose="02040503050406030204" pitchFamily="18" charset="0"/>
                                </a:rPr>
                              </m:ctrlPr>
                            </m:dPr>
                            <m:e>
                              <m:r>
                                <a:rPr kumimoji="1" lang="en-US" altLang="ja-JP" sz="2400" b="0" i="1" smtClean="0">
                                  <a:solidFill>
                                    <a:schemeClr val="accent2"/>
                                  </a:solidFill>
                                  <a:latin typeface="Cambria Math" panose="02040503050406030204" pitchFamily="18" charset="0"/>
                                </a:rPr>
                                <m:t>𝜎</m:t>
                              </m:r>
                            </m:e>
                          </m:d>
                        </m:den>
                      </m:f>
                      <m:r>
                        <a:rPr kumimoji="1" lang="en-US" altLang="ja-JP" sz="2400" b="0" i="1" smtClean="0">
                          <a:latin typeface="Cambria Math" panose="02040503050406030204" pitchFamily="18" charset="0"/>
                        </a:rPr>
                        <m:t>=</m:t>
                      </m:r>
                      <m:sSup>
                        <m:sSupPr>
                          <m:ctrlPr>
                            <a:rPr kumimoji="1" lang="en-US" altLang="ja-JP" sz="2400" b="0" i="1" smtClean="0">
                              <a:solidFill>
                                <a:schemeClr val="tx1"/>
                              </a:solidFill>
                              <a:latin typeface="Cambria Math" panose="02040503050406030204" pitchFamily="18" charset="0"/>
                            </a:rPr>
                          </m:ctrlPr>
                        </m:sSupPr>
                        <m:e>
                          <m:r>
                            <a:rPr kumimoji="1" lang="en-US" altLang="ja-JP" sz="2400" b="0" i="1" smtClean="0">
                              <a:latin typeface="Cambria Math" panose="02040503050406030204" pitchFamily="18" charset="0"/>
                            </a:rPr>
                            <m:t>2</m:t>
                          </m:r>
                        </m:e>
                        <m:sup>
                          <m:r>
                            <a:rPr kumimoji="1" lang="en-US" altLang="ja-JP" sz="2400" b="0" i="1" smtClean="0">
                              <a:latin typeface="Cambria Math" panose="02040503050406030204" pitchFamily="18" charset="0"/>
                            </a:rPr>
                            <m:t>𝑛</m:t>
                          </m:r>
                        </m:sup>
                      </m:sSup>
                      <m:r>
                        <a:rPr kumimoji="1" lang="en-US" altLang="ja-JP" sz="2400" b="0" i="1" smtClean="0">
                          <a:latin typeface="Cambria Math" panose="02040503050406030204" pitchFamily="18" charset="0"/>
                        </a:rPr>
                        <m:t>−1</m:t>
                      </m:r>
                    </m:oMath>
                  </m:oMathPara>
                </a14:m>
                <a:endParaRPr kumimoji="1" lang="ja-JP" altLang="en-US" sz="2400" dirty="0"/>
              </a:p>
            </p:txBody>
          </p:sp>
        </mc:Choice>
        <mc:Fallback>
          <p:sp>
            <p:nvSpPr>
              <p:cNvPr id="11" name="テキスト ボックス 10">
                <a:extLst>
                  <a:ext uri="{FF2B5EF4-FFF2-40B4-BE49-F238E27FC236}">
                    <a16:creationId xmlns:a16="http://schemas.microsoft.com/office/drawing/2014/main" id="{1D363CBB-03E1-19E6-8045-0E63AA6FD95C}"/>
                  </a:ext>
                </a:extLst>
              </p:cNvPr>
              <p:cNvSpPr txBox="1">
                <a:spLocks noRot="1" noChangeAspect="1" noMove="1" noResize="1" noEditPoints="1" noAdjustHandles="1" noChangeArrowheads="1" noChangeShapeType="1" noTextEdit="1"/>
              </p:cNvSpPr>
              <p:nvPr/>
            </p:nvSpPr>
            <p:spPr>
              <a:xfrm>
                <a:off x="838198" y="3646102"/>
                <a:ext cx="10515599" cy="1230658"/>
              </a:xfrm>
              <a:prstGeom prst="rect">
                <a:avLst/>
              </a:prstGeom>
              <a:blipFill>
                <a:blip r:embed="rId4"/>
                <a:stretch>
                  <a:fillRect l="-870" t="-29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2" name="テキスト ボックス 11">
                <a:extLst>
                  <a:ext uri="{FF2B5EF4-FFF2-40B4-BE49-F238E27FC236}">
                    <a16:creationId xmlns:a16="http://schemas.microsoft.com/office/drawing/2014/main" id="{42DC9676-0F7C-B3A6-64FF-FBDF7BE65437}"/>
                  </a:ext>
                </a:extLst>
              </p:cNvPr>
              <p:cNvSpPr txBox="1"/>
              <p:nvPr/>
            </p:nvSpPr>
            <p:spPr>
              <a:xfrm>
                <a:off x="838197" y="4960685"/>
                <a:ext cx="10515599" cy="1230658"/>
              </a:xfrm>
              <a:prstGeom prst="rect">
                <a:avLst/>
              </a:prstGeom>
              <a:noFill/>
            </p:spPr>
            <p:txBody>
              <a:bodyPr wrap="square" rtlCol="0">
                <a:spAutoFit/>
              </a:bodyPr>
              <a:lstStyle/>
              <a:p>
                <a:r>
                  <a:rPr kumimoji="1" lang="ja-JP" altLang="en-US" sz="2400" b="1" dirty="0"/>
                  <a:t>定理（競合比上界）</a:t>
                </a:r>
                <a:r>
                  <a:rPr kumimoji="1" lang="ja-JP" altLang="en-US" sz="2400" dirty="0"/>
                  <a:t>　任意の</a:t>
                </a:r>
                <a:r>
                  <a:rPr lang="ja-JP" altLang="en-US" sz="2400" dirty="0"/>
                  <a:t> </a:t>
                </a:r>
                <a14:m>
                  <m:oMath xmlns:m="http://schemas.openxmlformats.org/officeDocument/2006/math">
                    <m:r>
                      <a:rPr lang="en-US" altLang="ja-JP" sz="2400" b="0" i="1" smtClean="0">
                        <a:latin typeface="Cambria Math" panose="02040503050406030204" pitchFamily="18" charset="0"/>
                      </a:rPr>
                      <m:t>𝑂𝑀𝑀</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m:t>
                    </m:r>
                  </m:oMath>
                </a14:m>
                <a:r>
                  <a:rPr kumimoji="1" lang="ja-JP" altLang="en-US" sz="2400" dirty="0"/>
                  <a:t> のインスタンスに対して</a:t>
                </a:r>
                <a:endParaRPr kumimoji="1" lang="en-US" altLang="ja-JP" sz="2400" dirty="0"/>
              </a:p>
              <a:p>
                <a14:m>
                  <m:oMathPara xmlns:m="http://schemas.openxmlformats.org/officeDocument/2006/math">
                    <m:oMathParaPr>
                      <m:jc m:val="centerGroup"/>
                    </m:oMathParaPr>
                    <m:oMath xmlns:m="http://schemas.openxmlformats.org/officeDocument/2006/math">
                      <m:f>
                        <m:fPr>
                          <m:ctrlPr>
                            <a:rPr kumimoji="1" lang="en-US" altLang="ja-JP" sz="2400" b="0" i="1" smtClean="0">
                              <a:solidFill>
                                <a:schemeClr val="tx1"/>
                              </a:solidFill>
                              <a:latin typeface="Cambria Math" panose="02040503050406030204" pitchFamily="18" charset="0"/>
                            </a:rPr>
                          </m:ctrlPr>
                        </m:fPr>
                        <m:num>
                          <m:r>
                            <a:rPr kumimoji="1" lang="en-US" altLang="ja-JP" sz="2400" b="0" i="1" smtClean="0">
                              <a:solidFill>
                                <a:schemeClr val="accent1"/>
                              </a:solidFill>
                              <a:latin typeface="Cambria Math" panose="02040503050406030204" pitchFamily="18" charset="0"/>
                            </a:rPr>
                            <m:t>𝐺𝑅𝐸𝐸𝐷𝑌</m:t>
                          </m:r>
                          <m:d>
                            <m:dPr>
                              <m:ctrlPr>
                                <a:rPr kumimoji="1" lang="en-US" altLang="ja-JP" sz="2400" b="0" i="1" smtClean="0">
                                  <a:solidFill>
                                    <a:schemeClr val="accent1"/>
                                  </a:solidFill>
                                  <a:latin typeface="Cambria Math" panose="02040503050406030204" pitchFamily="18" charset="0"/>
                                </a:rPr>
                              </m:ctrlPr>
                            </m:dPr>
                            <m:e>
                              <m:r>
                                <a:rPr kumimoji="1" lang="en-US" altLang="ja-JP" sz="2400" b="0" i="1" smtClean="0">
                                  <a:solidFill>
                                    <a:schemeClr val="accent1"/>
                                  </a:solidFill>
                                  <a:latin typeface="Cambria Math" panose="02040503050406030204" pitchFamily="18" charset="0"/>
                                </a:rPr>
                                <m:t>𝜎</m:t>
                              </m:r>
                            </m:e>
                          </m:d>
                        </m:num>
                        <m:den>
                          <m:r>
                            <a:rPr lang="en-US" altLang="ja-JP" sz="2400" i="1">
                              <a:solidFill>
                                <a:schemeClr val="accent2"/>
                              </a:solidFill>
                              <a:latin typeface="Cambria Math" panose="02040503050406030204" pitchFamily="18" charset="0"/>
                            </a:rPr>
                            <m:t>𝑂𝑃𝑇</m:t>
                          </m:r>
                          <m:d>
                            <m:dPr>
                              <m:ctrlPr>
                                <a:rPr lang="en-US" altLang="ja-JP" sz="2400" i="1">
                                  <a:solidFill>
                                    <a:schemeClr val="accent2"/>
                                  </a:solidFill>
                                  <a:latin typeface="Cambria Math" panose="02040503050406030204" pitchFamily="18" charset="0"/>
                                </a:rPr>
                              </m:ctrlPr>
                            </m:dPr>
                            <m:e>
                              <m:r>
                                <a:rPr lang="en-US" altLang="ja-JP" sz="2400" i="1">
                                  <a:solidFill>
                                    <a:schemeClr val="accent2"/>
                                  </a:solidFill>
                                  <a:latin typeface="Cambria Math" panose="02040503050406030204" pitchFamily="18" charset="0"/>
                                </a:rPr>
                                <m:t>𝜎</m:t>
                              </m:r>
                            </m:e>
                          </m:d>
                        </m:den>
                      </m:f>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2</m:t>
                          </m:r>
                        </m:e>
                        <m:sup>
                          <m:r>
                            <a:rPr kumimoji="1" lang="en-US" altLang="ja-JP" sz="2400" b="0" i="1" smtClean="0">
                              <a:latin typeface="Cambria Math" panose="02040503050406030204" pitchFamily="18" charset="0"/>
                            </a:rPr>
                            <m:t>𝑛</m:t>
                          </m:r>
                        </m:sup>
                      </m:sSup>
                      <m:r>
                        <a:rPr kumimoji="1" lang="en-US" altLang="ja-JP" sz="2400" b="0" i="1" smtClean="0">
                          <a:latin typeface="Cambria Math" panose="02040503050406030204" pitchFamily="18" charset="0"/>
                        </a:rPr>
                        <m:t>−1</m:t>
                      </m:r>
                    </m:oMath>
                  </m:oMathPara>
                </a14:m>
                <a:endParaRPr kumimoji="1" lang="ja-JP" altLang="en-US" sz="2400" dirty="0"/>
              </a:p>
            </p:txBody>
          </p:sp>
        </mc:Choice>
        <mc:Fallback>
          <p:sp>
            <p:nvSpPr>
              <p:cNvPr id="12" name="テキスト ボックス 11">
                <a:extLst>
                  <a:ext uri="{FF2B5EF4-FFF2-40B4-BE49-F238E27FC236}">
                    <a16:creationId xmlns:a16="http://schemas.microsoft.com/office/drawing/2014/main" id="{42DC9676-0F7C-B3A6-64FF-FBDF7BE65437}"/>
                  </a:ext>
                </a:extLst>
              </p:cNvPr>
              <p:cNvSpPr txBox="1">
                <a:spLocks noRot="1" noChangeAspect="1" noMove="1" noResize="1" noEditPoints="1" noAdjustHandles="1" noChangeArrowheads="1" noChangeShapeType="1" noTextEdit="1"/>
              </p:cNvSpPr>
              <p:nvPr/>
            </p:nvSpPr>
            <p:spPr>
              <a:xfrm>
                <a:off x="838197" y="4960685"/>
                <a:ext cx="10515599" cy="1230658"/>
              </a:xfrm>
              <a:prstGeom prst="rect">
                <a:avLst/>
              </a:prstGeom>
              <a:blipFill>
                <a:blip r:embed="rId5"/>
                <a:stretch>
                  <a:fillRect l="-870" t="-2970"/>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95C64DF8-F68E-534B-5F00-084F388F3204}"/>
              </a:ext>
            </a:extLst>
          </p:cNvPr>
          <p:cNvSpPr>
            <a:spLocks noGrp="1"/>
          </p:cNvSpPr>
          <p:nvPr>
            <p:ph type="sldNum" sz="quarter" idx="12"/>
          </p:nvPr>
        </p:nvSpPr>
        <p:spPr/>
        <p:txBody>
          <a:bodyPr/>
          <a:lstStyle/>
          <a:p>
            <a:fld id="{4B077F3A-4098-4199-8925-77865D1E3500}" type="slidenum">
              <a:rPr kumimoji="1" lang="ja-JP" altLang="en-US" smtClean="0"/>
              <a:t>9</a:t>
            </a:fld>
            <a:endParaRPr kumimoji="1" lang="ja-JP" altLang="en-US"/>
          </a:p>
        </p:txBody>
      </p:sp>
    </p:spTree>
    <p:extLst>
      <p:ext uri="{BB962C8B-B14F-4D97-AF65-F5344CB8AC3E}">
        <p14:creationId xmlns:p14="http://schemas.microsoft.com/office/powerpoint/2010/main" val="2999941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A66F12-0401-7B5C-44AE-C1D3A362C717}"/>
              </a:ext>
            </a:extLst>
          </p:cNvPr>
          <p:cNvSpPr>
            <a:spLocks noGrp="1"/>
          </p:cNvSpPr>
          <p:nvPr>
            <p:ph type="title"/>
          </p:nvPr>
        </p:nvSpPr>
        <p:spPr/>
        <p:txBody>
          <a:bodyPr/>
          <a:lstStyle/>
          <a:p>
            <a:r>
              <a:rPr kumimoji="1" lang="ja-JP" altLang="en-US" dirty="0"/>
              <a:t>競合比下界の証明</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0B6F6DB-F09E-3A09-2CFC-ED3AACEDDCEA}"/>
                  </a:ext>
                </a:extLst>
              </p:cNvPr>
              <p:cNvSpPr>
                <a:spLocks noGrp="1"/>
              </p:cNvSpPr>
              <p:nvPr>
                <p:ph idx="1"/>
              </p:nvPr>
            </p:nvSpPr>
            <p:spPr/>
            <p:txBody>
              <a:bodyPr>
                <a:normAutofit/>
              </a:bodyPr>
              <a:lstStyle/>
              <a:p>
                <a:pPr marL="0" indent="0">
                  <a:buNone/>
                </a:pPr>
                <a:r>
                  <a:rPr kumimoji="1" lang="ja-JP" altLang="en-US" sz="2400" dirty="0"/>
                  <a:t>距離空間を直線とし，下図のような例を考えればよい</a:t>
                </a:r>
                <a:endParaRPr kumimoji="1" lang="en-US" altLang="ja-JP" sz="2400" dirty="0"/>
              </a:p>
              <a:p>
                <a:pPr marL="0" indent="0">
                  <a:buNone/>
                </a:pPr>
                <a:r>
                  <a:rPr kumimoji="1" lang="ja-JP" altLang="en-US" sz="2400" dirty="0"/>
                  <a:t>（図は </a:t>
                </a:r>
                <a14:m>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=5</m:t>
                    </m:r>
                  </m:oMath>
                </a14:m>
                <a:r>
                  <a:rPr kumimoji="1" lang="ja-JP" altLang="en-US" sz="2400" dirty="0"/>
                  <a:t> の場合を示している）</a:t>
                </a:r>
              </a:p>
            </p:txBody>
          </p:sp>
        </mc:Choice>
        <mc:Fallback xmlns="">
          <p:sp>
            <p:nvSpPr>
              <p:cNvPr id="3" name="コンテンツ プレースホルダー 2">
                <a:extLst>
                  <a:ext uri="{FF2B5EF4-FFF2-40B4-BE49-F238E27FC236}">
                    <a16:creationId xmlns:a16="http://schemas.microsoft.com/office/drawing/2014/main" id="{40B6F6DB-F09E-3A09-2CFC-ED3AACEDDCEA}"/>
                  </a:ext>
                </a:extLst>
              </p:cNvPr>
              <p:cNvSpPr>
                <a:spLocks noGrp="1" noRot="1" noChangeAspect="1" noMove="1" noResize="1" noEditPoints="1" noAdjustHandles="1" noChangeArrowheads="1" noChangeShapeType="1" noTextEdit="1"/>
              </p:cNvSpPr>
              <p:nvPr>
                <p:ph idx="1"/>
              </p:nvPr>
            </p:nvSpPr>
            <p:spPr>
              <a:blipFill>
                <a:blip r:embed="rId2"/>
                <a:stretch>
                  <a:fillRect l="-928" t="-1541"/>
                </a:stretch>
              </a:blipFill>
            </p:spPr>
            <p:txBody>
              <a:bodyPr/>
              <a:lstStyle/>
              <a:p>
                <a:r>
                  <a:rPr lang="ja-JP" altLang="en-US">
                    <a:noFill/>
                  </a:rPr>
                  <a:t> </a:t>
                </a:r>
              </a:p>
            </p:txBody>
          </p:sp>
        </mc:Fallback>
      </mc:AlternateContent>
      <p:cxnSp>
        <p:nvCxnSpPr>
          <p:cNvPr id="27" name="直線矢印コネクタ 26">
            <a:extLst>
              <a:ext uri="{FF2B5EF4-FFF2-40B4-BE49-F238E27FC236}">
                <a16:creationId xmlns:a16="http://schemas.microsoft.com/office/drawing/2014/main" id="{D62BC105-B94C-9D17-E991-1CCDAF620901}"/>
              </a:ext>
            </a:extLst>
          </p:cNvPr>
          <p:cNvCxnSpPr>
            <a:cxnSpLocks/>
          </p:cNvCxnSpPr>
          <p:nvPr/>
        </p:nvCxnSpPr>
        <p:spPr>
          <a:xfrm>
            <a:off x="838200" y="4289194"/>
            <a:ext cx="105156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グループ化 27">
            <a:extLst>
              <a:ext uri="{FF2B5EF4-FFF2-40B4-BE49-F238E27FC236}">
                <a16:creationId xmlns:a16="http://schemas.microsoft.com/office/drawing/2014/main" id="{C3C00ABA-4D6E-3130-2CAB-1F1C70E8B6AC}"/>
              </a:ext>
            </a:extLst>
          </p:cNvPr>
          <p:cNvGrpSpPr/>
          <p:nvPr/>
        </p:nvGrpSpPr>
        <p:grpSpPr>
          <a:xfrm>
            <a:off x="786353" y="4121083"/>
            <a:ext cx="424207" cy="819883"/>
            <a:chOff x="1428161" y="1065228"/>
            <a:chExt cx="424207" cy="819883"/>
          </a:xfrm>
        </p:grpSpPr>
        <p:cxnSp>
          <p:nvCxnSpPr>
            <p:cNvPr id="29" name="直線コネクタ 28">
              <a:extLst>
                <a:ext uri="{FF2B5EF4-FFF2-40B4-BE49-F238E27FC236}">
                  <a16:creationId xmlns:a16="http://schemas.microsoft.com/office/drawing/2014/main" id="{D9743CB0-315C-3938-7DDF-65625A2AE729}"/>
                </a:ext>
              </a:extLst>
            </p:cNvPr>
            <p:cNvCxnSpPr/>
            <p:nvPr/>
          </p:nvCxnSpPr>
          <p:spPr>
            <a:xfrm>
              <a:off x="1640265" y="1065228"/>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044D818B-F503-E8B8-F243-EC8DA6DB1493}"/>
                    </a:ext>
                  </a:extLst>
                </p:cNvPr>
                <p:cNvSpPr txBox="1"/>
                <p:nvPr/>
              </p:nvSpPr>
              <p:spPr>
                <a:xfrm>
                  <a:off x="1428161" y="1423446"/>
                  <a:ext cx="42420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1</m:t>
                            </m:r>
                          </m:sub>
                        </m:sSub>
                      </m:oMath>
                    </m:oMathPara>
                  </a14:m>
                  <a:endParaRPr kumimoji="1" lang="ja-JP" altLang="en-US" sz="2400" dirty="0"/>
                </a:p>
              </p:txBody>
            </p:sp>
          </mc:Choice>
          <mc:Fallback xmlns="">
            <p:sp>
              <p:nvSpPr>
                <p:cNvPr id="30" name="テキスト ボックス 29">
                  <a:extLst>
                    <a:ext uri="{FF2B5EF4-FFF2-40B4-BE49-F238E27FC236}">
                      <a16:creationId xmlns:a16="http://schemas.microsoft.com/office/drawing/2014/main" id="{044D818B-F503-E8B8-F243-EC8DA6DB1493}"/>
                    </a:ext>
                  </a:extLst>
                </p:cNvPr>
                <p:cNvSpPr txBox="1">
                  <a:spLocks noRot="1" noChangeAspect="1" noMove="1" noResize="1" noEditPoints="1" noAdjustHandles="1" noChangeArrowheads="1" noChangeShapeType="1" noTextEdit="1"/>
                </p:cNvSpPr>
                <p:nvPr/>
              </p:nvSpPr>
              <p:spPr>
                <a:xfrm>
                  <a:off x="1428161" y="1423446"/>
                  <a:ext cx="424207" cy="461665"/>
                </a:xfrm>
                <a:prstGeom prst="rect">
                  <a:avLst/>
                </a:prstGeom>
                <a:blipFill>
                  <a:blip r:embed="rId3"/>
                  <a:stretch>
                    <a:fillRect/>
                  </a:stretch>
                </a:blipFill>
              </p:spPr>
              <p:txBody>
                <a:bodyPr/>
                <a:lstStyle/>
                <a:p>
                  <a:r>
                    <a:rPr lang="ja-JP" altLang="en-US">
                      <a:noFill/>
                    </a:rPr>
                    <a:t> </a:t>
                  </a:r>
                </a:p>
              </p:txBody>
            </p:sp>
          </mc:Fallback>
        </mc:AlternateContent>
      </p:grpSp>
      <p:grpSp>
        <p:nvGrpSpPr>
          <p:cNvPr id="31" name="グループ化 30">
            <a:extLst>
              <a:ext uri="{FF2B5EF4-FFF2-40B4-BE49-F238E27FC236}">
                <a16:creationId xmlns:a16="http://schemas.microsoft.com/office/drawing/2014/main" id="{5561693A-823E-B5E8-4322-72E1196ED8C1}"/>
              </a:ext>
            </a:extLst>
          </p:cNvPr>
          <p:cNvGrpSpPr/>
          <p:nvPr/>
        </p:nvGrpSpPr>
        <p:grpSpPr>
          <a:xfrm>
            <a:off x="2092750" y="4121083"/>
            <a:ext cx="424207" cy="819883"/>
            <a:chOff x="1428161" y="1065228"/>
            <a:chExt cx="424207" cy="819883"/>
          </a:xfrm>
        </p:grpSpPr>
        <p:cxnSp>
          <p:nvCxnSpPr>
            <p:cNvPr id="32" name="直線コネクタ 31">
              <a:extLst>
                <a:ext uri="{FF2B5EF4-FFF2-40B4-BE49-F238E27FC236}">
                  <a16:creationId xmlns:a16="http://schemas.microsoft.com/office/drawing/2014/main" id="{3EBC3B6C-A3CE-FD69-68A5-A21BA292B972}"/>
                </a:ext>
              </a:extLst>
            </p:cNvPr>
            <p:cNvCxnSpPr/>
            <p:nvPr/>
          </p:nvCxnSpPr>
          <p:spPr>
            <a:xfrm>
              <a:off x="1640265" y="1065228"/>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30373DEF-7D46-D29E-588C-195DE38D0B8C}"/>
                    </a:ext>
                  </a:extLst>
                </p:cNvPr>
                <p:cNvSpPr txBox="1"/>
                <p:nvPr/>
              </p:nvSpPr>
              <p:spPr>
                <a:xfrm>
                  <a:off x="1428161" y="1423446"/>
                  <a:ext cx="42420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2</m:t>
                            </m:r>
                          </m:sub>
                        </m:sSub>
                      </m:oMath>
                    </m:oMathPara>
                  </a14:m>
                  <a:endParaRPr kumimoji="1" lang="ja-JP" altLang="en-US" sz="2400" dirty="0"/>
                </a:p>
              </p:txBody>
            </p:sp>
          </mc:Choice>
          <mc:Fallback xmlns="">
            <p:sp>
              <p:nvSpPr>
                <p:cNvPr id="33" name="テキスト ボックス 32">
                  <a:extLst>
                    <a:ext uri="{FF2B5EF4-FFF2-40B4-BE49-F238E27FC236}">
                      <a16:creationId xmlns:a16="http://schemas.microsoft.com/office/drawing/2014/main" id="{30373DEF-7D46-D29E-588C-195DE38D0B8C}"/>
                    </a:ext>
                  </a:extLst>
                </p:cNvPr>
                <p:cNvSpPr txBox="1">
                  <a:spLocks noRot="1" noChangeAspect="1" noMove="1" noResize="1" noEditPoints="1" noAdjustHandles="1" noChangeArrowheads="1" noChangeShapeType="1" noTextEdit="1"/>
                </p:cNvSpPr>
                <p:nvPr/>
              </p:nvSpPr>
              <p:spPr>
                <a:xfrm>
                  <a:off x="1428161" y="1423446"/>
                  <a:ext cx="424207" cy="461665"/>
                </a:xfrm>
                <a:prstGeom prst="rect">
                  <a:avLst/>
                </a:prstGeom>
                <a:blipFill>
                  <a:blip r:embed="rId4"/>
                  <a:stretch>
                    <a:fillRect/>
                  </a:stretch>
                </a:blipFill>
              </p:spPr>
              <p:txBody>
                <a:bodyPr/>
                <a:lstStyle/>
                <a:p>
                  <a:r>
                    <a:rPr lang="ja-JP" altLang="en-US">
                      <a:noFill/>
                    </a:rPr>
                    <a:t> </a:t>
                  </a:r>
                </a:p>
              </p:txBody>
            </p:sp>
          </mc:Fallback>
        </mc:AlternateContent>
      </p:grpSp>
      <p:grpSp>
        <p:nvGrpSpPr>
          <p:cNvPr id="34" name="グループ化 33">
            <a:extLst>
              <a:ext uri="{FF2B5EF4-FFF2-40B4-BE49-F238E27FC236}">
                <a16:creationId xmlns:a16="http://schemas.microsoft.com/office/drawing/2014/main" id="{A6C74228-6A7B-287C-ECCB-BA7C8C0E65CF}"/>
              </a:ext>
            </a:extLst>
          </p:cNvPr>
          <p:cNvGrpSpPr/>
          <p:nvPr/>
        </p:nvGrpSpPr>
        <p:grpSpPr>
          <a:xfrm>
            <a:off x="3399147" y="4121083"/>
            <a:ext cx="424207" cy="819883"/>
            <a:chOff x="1428161" y="1065228"/>
            <a:chExt cx="424207" cy="819883"/>
          </a:xfrm>
        </p:grpSpPr>
        <p:cxnSp>
          <p:nvCxnSpPr>
            <p:cNvPr id="35" name="直線コネクタ 34">
              <a:extLst>
                <a:ext uri="{FF2B5EF4-FFF2-40B4-BE49-F238E27FC236}">
                  <a16:creationId xmlns:a16="http://schemas.microsoft.com/office/drawing/2014/main" id="{60A7E5CF-D87A-2D3C-6222-BF13FFCA1137}"/>
                </a:ext>
              </a:extLst>
            </p:cNvPr>
            <p:cNvCxnSpPr/>
            <p:nvPr/>
          </p:nvCxnSpPr>
          <p:spPr>
            <a:xfrm>
              <a:off x="1640265" y="1065228"/>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EFC8771E-06AB-F7CB-2A41-E0E6AB6A5DFB}"/>
                    </a:ext>
                  </a:extLst>
                </p:cNvPr>
                <p:cNvSpPr txBox="1"/>
                <p:nvPr/>
              </p:nvSpPr>
              <p:spPr>
                <a:xfrm>
                  <a:off x="1428161" y="1423446"/>
                  <a:ext cx="42420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3</m:t>
                            </m:r>
                          </m:sub>
                        </m:sSub>
                      </m:oMath>
                    </m:oMathPara>
                  </a14:m>
                  <a:endParaRPr kumimoji="1" lang="ja-JP" altLang="en-US" sz="2400" dirty="0"/>
                </a:p>
              </p:txBody>
            </p:sp>
          </mc:Choice>
          <mc:Fallback xmlns="">
            <p:sp>
              <p:nvSpPr>
                <p:cNvPr id="36" name="テキスト ボックス 35">
                  <a:extLst>
                    <a:ext uri="{FF2B5EF4-FFF2-40B4-BE49-F238E27FC236}">
                      <a16:creationId xmlns:a16="http://schemas.microsoft.com/office/drawing/2014/main" id="{EFC8771E-06AB-F7CB-2A41-E0E6AB6A5DFB}"/>
                    </a:ext>
                  </a:extLst>
                </p:cNvPr>
                <p:cNvSpPr txBox="1">
                  <a:spLocks noRot="1" noChangeAspect="1" noMove="1" noResize="1" noEditPoints="1" noAdjustHandles="1" noChangeArrowheads="1" noChangeShapeType="1" noTextEdit="1"/>
                </p:cNvSpPr>
                <p:nvPr/>
              </p:nvSpPr>
              <p:spPr>
                <a:xfrm>
                  <a:off x="1428161" y="1423446"/>
                  <a:ext cx="424207" cy="461665"/>
                </a:xfrm>
                <a:prstGeom prst="rect">
                  <a:avLst/>
                </a:prstGeom>
                <a:blipFill>
                  <a:blip r:embed="rId5"/>
                  <a:stretch>
                    <a:fillRect r="-1449"/>
                  </a:stretch>
                </a:blipFill>
              </p:spPr>
              <p:txBody>
                <a:bodyPr/>
                <a:lstStyle/>
                <a:p>
                  <a:r>
                    <a:rPr lang="ja-JP" altLang="en-US">
                      <a:noFill/>
                    </a:rPr>
                    <a:t> </a:t>
                  </a:r>
                </a:p>
              </p:txBody>
            </p:sp>
          </mc:Fallback>
        </mc:AlternateContent>
      </p:grpSp>
      <p:grpSp>
        <p:nvGrpSpPr>
          <p:cNvPr id="37" name="グループ化 36">
            <a:extLst>
              <a:ext uri="{FF2B5EF4-FFF2-40B4-BE49-F238E27FC236}">
                <a16:creationId xmlns:a16="http://schemas.microsoft.com/office/drawing/2014/main" id="{20A27466-215C-D736-B627-9E5F8DECB672}"/>
              </a:ext>
            </a:extLst>
          </p:cNvPr>
          <p:cNvGrpSpPr/>
          <p:nvPr/>
        </p:nvGrpSpPr>
        <p:grpSpPr>
          <a:xfrm>
            <a:off x="10830229" y="4121083"/>
            <a:ext cx="424207" cy="819883"/>
            <a:chOff x="1428161" y="1065228"/>
            <a:chExt cx="424207" cy="819883"/>
          </a:xfrm>
        </p:grpSpPr>
        <p:cxnSp>
          <p:nvCxnSpPr>
            <p:cNvPr id="38" name="直線コネクタ 37">
              <a:extLst>
                <a:ext uri="{FF2B5EF4-FFF2-40B4-BE49-F238E27FC236}">
                  <a16:creationId xmlns:a16="http://schemas.microsoft.com/office/drawing/2014/main" id="{05978CA1-C489-326E-23D5-50D7A8BF81C7}"/>
                </a:ext>
              </a:extLst>
            </p:cNvPr>
            <p:cNvCxnSpPr/>
            <p:nvPr/>
          </p:nvCxnSpPr>
          <p:spPr>
            <a:xfrm>
              <a:off x="1640265" y="1065228"/>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E1262017-4CC0-4538-CD8E-579C508CC168}"/>
                    </a:ext>
                  </a:extLst>
                </p:cNvPr>
                <p:cNvSpPr txBox="1"/>
                <p:nvPr/>
              </p:nvSpPr>
              <p:spPr>
                <a:xfrm>
                  <a:off x="1428161" y="1423446"/>
                  <a:ext cx="42420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5</m:t>
                            </m:r>
                          </m:sub>
                        </m:sSub>
                      </m:oMath>
                    </m:oMathPara>
                  </a14:m>
                  <a:endParaRPr kumimoji="1" lang="ja-JP" altLang="en-US" sz="2400" dirty="0"/>
                </a:p>
              </p:txBody>
            </p:sp>
          </mc:Choice>
          <mc:Fallback xmlns="">
            <p:sp>
              <p:nvSpPr>
                <p:cNvPr id="39" name="テキスト ボックス 38">
                  <a:extLst>
                    <a:ext uri="{FF2B5EF4-FFF2-40B4-BE49-F238E27FC236}">
                      <a16:creationId xmlns:a16="http://schemas.microsoft.com/office/drawing/2014/main" id="{E1262017-4CC0-4538-CD8E-579C508CC168}"/>
                    </a:ext>
                  </a:extLst>
                </p:cNvPr>
                <p:cNvSpPr txBox="1">
                  <a:spLocks noRot="1" noChangeAspect="1" noMove="1" noResize="1" noEditPoints="1" noAdjustHandles="1" noChangeArrowheads="1" noChangeShapeType="1" noTextEdit="1"/>
                </p:cNvSpPr>
                <p:nvPr/>
              </p:nvSpPr>
              <p:spPr>
                <a:xfrm>
                  <a:off x="1428161" y="1423446"/>
                  <a:ext cx="424207" cy="461665"/>
                </a:xfrm>
                <a:prstGeom prst="rect">
                  <a:avLst/>
                </a:prstGeom>
                <a:blipFill>
                  <a:blip r:embed="rId6"/>
                  <a:stretch>
                    <a:fillRect r="-1449" b="-1316"/>
                  </a:stretch>
                </a:blipFill>
              </p:spPr>
              <p:txBody>
                <a:bodyPr/>
                <a:lstStyle/>
                <a:p>
                  <a:r>
                    <a:rPr lang="ja-JP" altLang="en-US">
                      <a:noFill/>
                    </a:rPr>
                    <a:t> </a:t>
                  </a:r>
                </a:p>
              </p:txBody>
            </p:sp>
          </mc:Fallback>
        </mc:AlternateContent>
      </p:grpSp>
      <p:grpSp>
        <p:nvGrpSpPr>
          <p:cNvPr id="40" name="グループ化 39">
            <a:extLst>
              <a:ext uri="{FF2B5EF4-FFF2-40B4-BE49-F238E27FC236}">
                <a16:creationId xmlns:a16="http://schemas.microsoft.com/office/drawing/2014/main" id="{05C02E87-4BFC-1F70-3756-D550FEC28765}"/>
              </a:ext>
            </a:extLst>
          </p:cNvPr>
          <p:cNvGrpSpPr/>
          <p:nvPr/>
        </p:nvGrpSpPr>
        <p:grpSpPr>
          <a:xfrm>
            <a:off x="5883896" y="4121083"/>
            <a:ext cx="424207" cy="819883"/>
            <a:chOff x="1428161" y="1065228"/>
            <a:chExt cx="424207" cy="819883"/>
          </a:xfrm>
        </p:grpSpPr>
        <p:cxnSp>
          <p:nvCxnSpPr>
            <p:cNvPr id="41" name="直線コネクタ 40">
              <a:extLst>
                <a:ext uri="{FF2B5EF4-FFF2-40B4-BE49-F238E27FC236}">
                  <a16:creationId xmlns:a16="http://schemas.microsoft.com/office/drawing/2014/main" id="{595F63D0-EAC9-D3FD-1FD0-011A9328ED87}"/>
                </a:ext>
              </a:extLst>
            </p:cNvPr>
            <p:cNvCxnSpPr/>
            <p:nvPr/>
          </p:nvCxnSpPr>
          <p:spPr>
            <a:xfrm>
              <a:off x="1640265" y="1065228"/>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2D76659C-5ACE-F2A7-6382-E9D97002E715}"/>
                    </a:ext>
                  </a:extLst>
                </p:cNvPr>
                <p:cNvSpPr txBox="1"/>
                <p:nvPr/>
              </p:nvSpPr>
              <p:spPr>
                <a:xfrm>
                  <a:off x="1428161" y="1423446"/>
                  <a:ext cx="42420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4</m:t>
                            </m:r>
                          </m:sub>
                        </m:sSub>
                      </m:oMath>
                    </m:oMathPara>
                  </a14:m>
                  <a:endParaRPr kumimoji="1" lang="ja-JP" altLang="en-US" sz="2400" dirty="0"/>
                </a:p>
              </p:txBody>
            </p:sp>
          </mc:Choice>
          <mc:Fallback xmlns="">
            <p:sp>
              <p:nvSpPr>
                <p:cNvPr id="42" name="テキスト ボックス 41">
                  <a:extLst>
                    <a:ext uri="{FF2B5EF4-FFF2-40B4-BE49-F238E27FC236}">
                      <a16:creationId xmlns:a16="http://schemas.microsoft.com/office/drawing/2014/main" id="{2D76659C-5ACE-F2A7-6382-E9D97002E715}"/>
                    </a:ext>
                  </a:extLst>
                </p:cNvPr>
                <p:cNvSpPr txBox="1">
                  <a:spLocks noRot="1" noChangeAspect="1" noMove="1" noResize="1" noEditPoints="1" noAdjustHandles="1" noChangeArrowheads="1" noChangeShapeType="1" noTextEdit="1"/>
                </p:cNvSpPr>
                <p:nvPr/>
              </p:nvSpPr>
              <p:spPr>
                <a:xfrm>
                  <a:off x="1428161" y="1423446"/>
                  <a:ext cx="424207" cy="461665"/>
                </a:xfrm>
                <a:prstGeom prst="rect">
                  <a:avLst/>
                </a:prstGeom>
                <a:blipFill>
                  <a:blip r:embed="rId7"/>
                  <a:stretch>
                    <a:fillRect/>
                  </a:stretch>
                </a:blipFill>
              </p:spPr>
              <p:txBody>
                <a:bodyPr/>
                <a:lstStyle/>
                <a:p>
                  <a:r>
                    <a:rPr lang="ja-JP" altLang="en-US">
                      <a:noFill/>
                    </a:rPr>
                    <a:t> </a:t>
                  </a:r>
                </a:p>
              </p:txBody>
            </p:sp>
          </mc:Fallback>
        </mc:AlternateContent>
      </p:grpSp>
      <p:grpSp>
        <p:nvGrpSpPr>
          <p:cNvPr id="43" name="グループ化 42">
            <a:extLst>
              <a:ext uri="{FF2B5EF4-FFF2-40B4-BE49-F238E27FC236}">
                <a16:creationId xmlns:a16="http://schemas.microsoft.com/office/drawing/2014/main" id="{B6BAFF45-5D6D-F40A-BA8A-E3BE20BEEA64}"/>
              </a:ext>
            </a:extLst>
          </p:cNvPr>
          <p:cNvGrpSpPr/>
          <p:nvPr/>
        </p:nvGrpSpPr>
        <p:grpSpPr>
          <a:xfrm>
            <a:off x="1423448" y="4335808"/>
            <a:ext cx="7452483" cy="400110"/>
            <a:chOff x="1423448" y="5042818"/>
            <a:chExt cx="7452483" cy="400110"/>
          </a:xfrm>
        </p:grpSpPr>
        <p:sp>
          <p:nvSpPr>
            <p:cNvPr id="44" name="テキスト ボックス 43">
              <a:extLst>
                <a:ext uri="{FF2B5EF4-FFF2-40B4-BE49-F238E27FC236}">
                  <a16:creationId xmlns:a16="http://schemas.microsoft.com/office/drawing/2014/main" id="{36CBAC8C-780B-647A-B8DB-E832EDF1751B}"/>
                </a:ext>
              </a:extLst>
            </p:cNvPr>
            <p:cNvSpPr txBox="1"/>
            <p:nvPr/>
          </p:nvSpPr>
          <p:spPr>
            <a:xfrm>
              <a:off x="1423448" y="5042818"/>
              <a:ext cx="456415" cy="400110"/>
            </a:xfrm>
            <a:prstGeom prst="rect">
              <a:avLst/>
            </a:prstGeom>
            <a:noFill/>
          </p:spPr>
          <p:txBody>
            <a:bodyPr wrap="square" rtlCol="0">
              <a:spAutoFit/>
            </a:bodyPr>
            <a:lstStyle/>
            <a:p>
              <a:pPr algn="ctr"/>
              <a:r>
                <a:rPr lang="en-US" altLang="ja-JP" sz="2000" dirty="0"/>
                <a:t>2</a:t>
              </a:r>
              <a:endParaRPr kumimoji="1" lang="ja-JP" altLang="en-US" dirty="0"/>
            </a:p>
          </p:txBody>
        </p:sp>
        <p:sp>
          <p:nvSpPr>
            <p:cNvPr id="45" name="テキスト ボックス 44">
              <a:extLst>
                <a:ext uri="{FF2B5EF4-FFF2-40B4-BE49-F238E27FC236}">
                  <a16:creationId xmlns:a16="http://schemas.microsoft.com/office/drawing/2014/main" id="{7765042F-4FF0-2C60-2B17-DE524DFE22C8}"/>
                </a:ext>
              </a:extLst>
            </p:cNvPr>
            <p:cNvSpPr txBox="1"/>
            <p:nvPr/>
          </p:nvSpPr>
          <p:spPr>
            <a:xfrm>
              <a:off x="2729845" y="5042818"/>
              <a:ext cx="456415" cy="400110"/>
            </a:xfrm>
            <a:prstGeom prst="rect">
              <a:avLst/>
            </a:prstGeom>
            <a:noFill/>
          </p:spPr>
          <p:txBody>
            <a:bodyPr wrap="square" rtlCol="0">
              <a:spAutoFit/>
            </a:bodyPr>
            <a:lstStyle/>
            <a:p>
              <a:pPr algn="ctr"/>
              <a:r>
                <a:rPr lang="en-US" altLang="ja-JP" sz="2000" dirty="0"/>
                <a:t>2</a:t>
              </a:r>
              <a:endParaRPr kumimoji="1" lang="ja-JP" altLang="en-US" dirty="0"/>
            </a:p>
          </p:txBody>
        </p:sp>
        <p:sp>
          <p:nvSpPr>
            <p:cNvPr id="46" name="テキスト ボックス 45">
              <a:extLst>
                <a:ext uri="{FF2B5EF4-FFF2-40B4-BE49-F238E27FC236}">
                  <a16:creationId xmlns:a16="http://schemas.microsoft.com/office/drawing/2014/main" id="{8E88080C-97D3-3CAF-BFA3-1D1A4669FE47}"/>
                </a:ext>
              </a:extLst>
            </p:cNvPr>
            <p:cNvSpPr txBox="1"/>
            <p:nvPr/>
          </p:nvSpPr>
          <p:spPr>
            <a:xfrm>
              <a:off x="4625418" y="5042818"/>
              <a:ext cx="456415" cy="400110"/>
            </a:xfrm>
            <a:prstGeom prst="rect">
              <a:avLst/>
            </a:prstGeom>
            <a:noFill/>
          </p:spPr>
          <p:txBody>
            <a:bodyPr wrap="square" rtlCol="0">
              <a:spAutoFit/>
            </a:bodyPr>
            <a:lstStyle/>
            <a:p>
              <a:pPr algn="ctr"/>
              <a:r>
                <a:rPr kumimoji="1" lang="en-US" altLang="ja-JP" sz="2000" dirty="0"/>
                <a:t>4</a:t>
              </a:r>
              <a:endParaRPr kumimoji="1" lang="ja-JP" altLang="en-US" dirty="0"/>
            </a:p>
          </p:txBody>
        </p:sp>
        <p:sp>
          <p:nvSpPr>
            <p:cNvPr id="47" name="テキスト ボックス 46">
              <a:extLst>
                <a:ext uri="{FF2B5EF4-FFF2-40B4-BE49-F238E27FC236}">
                  <a16:creationId xmlns:a16="http://schemas.microsoft.com/office/drawing/2014/main" id="{A02379F5-0ACA-FEEB-5245-A6A8BE44F2CC}"/>
                </a:ext>
              </a:extLst>
            </p:cNvPr>
            <p:cNvSpPr txBox="1"/>
            <p:nvPr/>
          </p:nvSpPr>
          <p:spPr>
            <a:xfrm>
              <a:off x="8419516" y="5042818"/>
              <a:ext cx="456415" cy="400110"/>
            </a:xfrm>
            <a:prstGeom prst="rect">
              <a:avLst/>
            </a:prstGeom>
            <a:noFill/>
          </p:spPr>
          <p:txBody>
            <a:bodyPr wrap="square" rtlCol="0">
              <a:spAutoFit/>
            </a:bodyPr>
            <a:lstStyle/>
            <a:p>
              <a:pPr algn="ctr"/>
              <a:r>
                <a:rPr lang="en-US" altLang="ja-JP" sz="2000" dirty="0"/>
                <a:t>8</a:t>
              </a:r>
              <a:endParaRPr kumimoji="1" lang="ja-JP" altLang="en-US" dirty="0"/>
            </a:p>
          </p:txBody>
        </p:sp>
      </p:grpSp>
      <p:grpSp>
        <p:nvGrpSpPr>
          <p:cNvPr id="48" name="グループ化 47">
            <a:extLst>
              <a:ext uri="{FF2B5EF4-FFF2-40B4-BE49-F238E27FC236}">
                <a16:creationId xmlns:a16="http://schemas.microsoft.com/office/drawing/2014/main" id="{ED667B17-813B-1C9D-2E6E-CAFA0FC60300}"/>
              </a:ext>
            </a:extLst>
          </p:cNvPr>
          <p:cNvGrpSpPr/>
          <p:nvPr/>
        </p:nvGrpSpPr>
        <p:grpSpPr>
          <a:xfrm>
            <a:off x="1407737" y="3026774"/>
            <a:ext cx="487837" cy="1215807"/>
            <a:chOff x="4837914" y="1536817"/>
            <a:chExt cx="487837" cy="1215807"/>
          </a:xfrm>
        </p:grpSpPr>
        <p:cxnSp>
          <p:nvCxnSpPr>
            <p:cNvPr id="49" name="直線矢印コネクタ 48">
              <a:extLst>
                <a:ext uri="{FF2B5EF4-FFF2-40B4-BE49-F238E27FC236}">
                  <a16:creationId xmlns:a16="http://schemas.microsoft.com/office/drawing/2014/main" id="{680EFB65-D7FF-1B91-3510-78E564A5E1D4}"/>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テキスト ボックス 49">
                  <a:extLst>
                    <a:ext uri="{FF2B5EF4-FFF2-40B4-BE49-F238E27FC236}">
                      <a16:creationId xmlns:a16="http://schemas.microsoft.com/office/drawing/2014/main" id="{348E4CFE-78ED-1850-D106-243298BE54E9}"/>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oMath>
                    </m:oMathPara>
                  </a14:m>
                  <a:endParaRPr lang="ja-JP" altLang="en-US" sz="2400" dirty="0"/>
                </a:p>
              </p:txBody>
            </p:sp>
          </mc:Choice>
          <mc:Fallback xmlns="">
            <p:sp>
              <p:nvSpPr>
                <p:cNvPr id="50" name="テキスト ボックス 49">
                  <a:extLst>
                    <a:ext uri="{FF2B5EF4-FFF2-40B4-BE49-F238E27FC236}">
                      <a16:creationId xmlns:a16="http://schemas.microsoft.com/office/drawing/2014/main" id="{348E4CFE-78ED-1850-D106-243298BE54E9}"/>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8"/>
                  <a:stretch>
                    <a:fillRect b="-1333"/>
                  </a:stretch>
                </a:blipFill>
              </p:spPr>
              <p:txBody>
                <a:bodyPr/>
                <a:lstStyle/>
                <a:p>
                  <a:r>
                    <a:rPr lang="ja-JP" altLang="en-US">
                      <a:noFill/>
                    </a:rPr>
                    <a:t> </a:t>
                  </a:r>
                </a:p>
              </p:txBody>
            </p:sp>
          </mc:Fallback>
        </mc:AlternateContent>
      </p:grpSp>
      <p:grpSp>
        <p:nvGrpSpPr>
          <p:cNvPr id="51" name="グループ化 50">
            <a:extLst>
              <a:ext uri="{FF2B5EF4-FFF2-40B4-BE49-F238E27FC236}">
                <a16:creationId xmlns:a16="http://schemas.microsoft.com/office/drawing/2014/main" id="{8ABF7B4F-609D-2E41-05BC-11027B6D971B}"/>
              </a:ext>
            </a:extLst>
          </p:cNvPr>
          <p:cNvGrpSpPr/>
          <p:nvPr/>
        </p:nvGrpSpPr>
        <p:grpSpPr>
          <a:xfrm>
            <a:off x="2070361" y="3026774"/>
            <a:ext cx="487837" cy="1215807"/>
            <a:chOff x="4837914" y="1536817"/>
            <a:chExt cx="487837" cy="1215807"/>
          </a:xfrm>
        </p:grpSpPr>
        <p:cxnSp>
          <p:nvCxnSpPr>
            <p:cNvPr id="52" name="直線矢印コネクタ 51">
              <a:extLst>
                <a:ext uri="{FF2B5EF4-FFF2-40B4-BE49-F238E27FC236}">
                  <a16:creationId xmlns:a16="http://schemas.microsoft.com/office/drawing/2014/main" id="{89462007-84AA-FACE-F8FF-629A14D2F714}"/>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テキスト ボックス 52">
                  <a:extLst>
                    <a:ext uri="{FF2B5EF4-FFF2-40B4-BE49-F238E27FC236}">
                      <a16:creationId xmlns:a16="http://schemas.microsoft.com/office/drawing/2014/main" id="{59E9A961-0174-FF6D-6476-D306CE2B502A}"/>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2</m:t>
                            </m:r>
                          </m:sub>
                        </m:sSub>
                      </m:oMath>
                    </m:oMathPara>
                  </a14:m>
                  <a:endParaRPr lang="ja-JP" altLang="en-US" sz="2400" dirty="0"/>
                </a:p>
              </p:txBody>
            </p:sp>
          </mc:Choice>
          <mc:Fallback xmlns="">
            <p:sp>
              <p:nvSpPr>
                <p:cNvPr id="53" name="テキスト ボックス 52">
                  <a:extLst>
                    <a:ext uri="{FF2B5EF4-FFF2-40B4-BE49-F238E27FC236}">
                      <a16:creationId xmlns:a16="http://schemas.microsoft.com/office/drawing/2014/main" id="{59E9A961-0174-FF6D-6476-D306CE2B502A}"/>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9"/>
                  <a:stretch>
                    <a:fillRect b="-1333"/>
                  </a:stretch>
                </a:blipFill>
              </p:spPr>
              <p:txBody>
                <a:bodyPr/>
                <a:lstStyle/>
                <a:p>
                  <a:r>
                    <a:rPr lang="ja-JP" altLang="en-US">
                      <a:noFill/>
                    </a:rPr>
                    <a:t> </a:t>
                  </a:r>
                </a:p>
              </p:txBody>
            </p:sp>
          </mc:Fallback>
        </mc:AlternateContent>
      </p:grpSp>
      <p:grpSp>
        <p:nvGrpSpPr>
          <p:cNvPr id="54" name="グループ化 53">
            <a:extLst>
              <a:ext uri="{FF2B5EF4-FFF2-40B4-BE49-F238E27FC236}">
                <a16:creationId xmlns:a16="http://schemas.microsoft.com/office/drawing/2014/main" id="{C63937D7-66EE-0B95-F0D6-3EB46E1F2B39}"/>
              </a:ext>
            </a:extLst>
          </p:cNvPr>
          <p:cNvGrpSpPr/>
          <p:nvPr/>
        </p:nvGrpSpPr>
        <p:grpSpPr>
          <a:xfrm>
            <a:off x="3370866" y="3026774"/>
            <a:ext cx="487837" cy="1215807"/>
            <a:chOff x="4837914" y="1536817"/>
            <a:chExt cx="487837" cy="1215807"/>
          </a:xfrm>
        </p:grpSpPr>
        <p:cxnSp>
          <p:nvCxnSpPr>
            <p:cNvPr id="55" name="直線矢印コネクタ 54">
              <a:extLst>
                <a:ext uri="{FF2B5EF4-FFF2-40B4-BE49-F238E27FC236}">
                  <a16:creationId xmlns:a16="http://schemas.microsoft.com/office/drawing/2014/main" id="{7E5EB749-6716-9BE7-D65B-FAF391C77929}"/>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CD43DCCD-B563-B782-BBE3-ABE0BDF0E44B}"/>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3</m:t>
                            </m:r>
                          </m:sub>
                        </m:sSub>
                      </m:oMath>
                    </m:oMathPara>
                  </a14:m>
                  <a:endParaRPr lang="ja-JP" altLang="en-US" sz="2400" dirty="0"/>
                </a:p>
              </p:txBody>
            </p:sp>
          </mc:Choice>
          <mc:Fallback xmlns="">
            <p:sp>
              <p:nvSpPr>
                <p:cNvPr id="56" name="テキスト ボックス 55">
                  <a:extLst>
                    <a:ext uri="{FF2B5EF4-FFF2-40B4-BE49-F238E27FC236}">
                      <a16:creationId xmlns:a16="http://schemas.microsoft.com/office/drawing/2014/main" id="{CD43DCCD-B563-B782-BBE3-ABE0BDF0E44B}"/>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10"/>
                  <a:stretch>
                    <a:fillRect b="-1333"/>
                  </a:stretch>
                </a:blipFill>
              </p:spPr>
              <p:txBody>
                <a:bodyPr/>
                <a:lstStyle/>
                <a:p>
                  <a:r>
                    <a:rPr lang="ja-JP" altLang="en-US">
                      <a:noFill/>
                    </a:rPr>
                    <a:t> </a:t>
                  </a:r>
                </a:p>
              </p:txBody>
            </p:sp>
          </mc:Fallback>
        </mc:AlternateContent>
      </p:grpSp>
      <p:grpSp>
        <p:nvGrpSpPr>
          <p:cNvPr id="57" name="グループ化 56">
            <a:extLst>
              <a:ext uri="{FF2B5EF4-FFF2-40B4-BE49-F238E27FC236}">
                <a16:creationId xmlns:a16="http://schemas.microsoft.com/office/drawing/2014/main" id="{A44B7AC5-3337-5BB0-107E-34E1BE9CFD0F}"/>
              </a:ext>
            </a:extLst>
          </p:cNvPr>
          <p:cNvGrpSpPr/>
          <p:nvPr/>
        </p:nvGrpSpPr>
        <p:grpSpPr>
          <a:xfrm>
            <a:off x="5852080" y="3026774"/>
            <a:ext cx="487837" cy="1215807"/>
            <a:chOff x="4837914" y="1536817"/>
            <a:chExt cx="487837" cy="1215807"/>
          </a:xfrm>
        </p:grpSpPr>
        <p:cxnSp>
          <p:nvCxnSpPr>
            <p:cNvPr id="58" name="直線矢印コネクタ 57">
              <a:extLst>
                <a:ext uri="{FF2B5EF4-FFF2-40B4-BE49-F238E27FC236}">
                  <a16:creationId xmlns:a16="http://schemas.microsoft.com/office/drawing/2014/main" id="{57AA36F4-CB6C-F4B0-2BB4-9D04C910C8E6}"/>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テキスト ボックス 58">
                  <a:extLst>
                    <a:ext uri="{FF2B5EF4-FFF2-40B4-BE49-F238E27FC236}">
                      <a16:creationId xmlns:a16="http://schemas.microsoft.com/office/drawing/2014/main" id="{B370FBA0-8C12-6887-5B3C-4F37B96876C5}"/>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4</m:t>
                            </m:r>
                          </m:sub>
                        </m:sSub>
                      </m:oMath>
                    </m:oMathPara>
                  </a14:m>
                  <a:endParaRPr lang="ja-JP" altLang="en-US" sz="2400" dirty="0"/>
                </a:p>
              </p:txBody>
            </p:sp>
          </mc:Choice>
          <mc:Fallback xmlns="">
            <p:sp>
              <p:nvSpPr>
                <p:cNvPr id="59" name="テキスト ボックス 58">
                  <a:extLst>
                    <a:ext uri="{FF2B5EF4-FFF2-40B4-BE49-F238E27FC236}">
                      <a16:creationId xmlns:a16="http://schemas.microsoft.com/office/drawing/2014/main" id="{B370FBA0-8C12-6887-5B3C-4F37B96876C5}"/>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11"/>
                  <a:stretch>
                    <a:fillRect b="-1333"/>
                  </a:stretch>
                </a:blipFill>
              </p:spPr>
              <p:txBody>
                <a:bodyPr/>
                <a:lstStyle/>
                <a:p>
                  <a:r>
                    <a:rPr lang="ja-JP" altLang="en-US">
                      <a:noFill/>
                    </a:rPr>
                    <a:t> </a:t>
                  </a:r>
                </a:p>
              </p:txBody>
            </p:sp>
          </mc:Fallback>
        </mc:AlternateContent>
      </p:grpSp>
      <p:grpSp>
        <p:nvGrpSpPr>
          <p:cNvPr id="60" name="グループ化 59">
            <a:extLst>
              <a:ext uri="{FF2B5EF4-FFF2-40B4-BE49-F238E27FC236}">
                <a16:creationId xmlns:a16="http://schemas.microsoft.com/office/drawing/2014/main" id="{B7EEC1A6-0D78-322A-20A0-171379BE5D7E}"/>
              </a:ext>
            </a:extLst>
          </p:cNvPr>
          <p:cNvGrpSpPr/>
          <p:nvPr/>
        </p:nvGrpSpPr>
        <p:grpSpPr>
          <a:xfrm>
            <a:off x="10793690" y="3026774"/>
            <a:ext cx="487837" cy="1215807"/>
            <a:chOff x="4837914" y="1536817"/>
            <a:chExt cx="487837" cy="1215807"/>
          </a:xfrm>
        </p:grpSpPr>
        <p:cxnSp>
          <p:nvCxnSpPr>
            <p:cNvPr id="61" name="直線矢印コネクタ 60">
              <a:extLst>
                <a:ext uri="{FF2B5EF4-FFF2-40B4-BE49-F238E27FC236}">
                  <a16:creationId xmlns:a16="http://schemas.microsoft.com/office/drawing/2014/main" id="{E7BF7AF2-9464-7018-007B-4C26BA920101}"/>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AA0749A8-E02A-DDE1-159B-7D6885245183}"/>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5</m:t>
                            </m:r>
                          </m:sub>
                        </m:sSub>
                      </m:oMath>
                    </m:oMathPara>
                  </a14:m>
                  <a:endParaRPr lang="ja-JP" altLang="en-US" sz="2400" dirty="0"/>
                </a:p>
              </p:txBody>
            </p:sp>
          </mc:Choice>
          <mc:Fallback xmlns="">
            <p:sp>
              <p:nvSpPr>
                <p:cNvPr id="62" name="テキスト ボックス 61">
                  <a:extLst>
                    <a:ext uri="{FF2B5EF4-FFF2-40B4-BE49-F238E27FC236}">
                      <a16:creationId xmlns:a16="http://schemas.microsoft.com/office/drawing/2014/main" id="{AA0749A8-E02A-DDE1-159B-7D6885245183}"/>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12"/>
                  <a:stretch>
                    <a:fillRect b="-2667"/>
                  </a:stretch>
                </a:blipFill>
              </p:spPr>
              <p:txBody>
                <a:bodyPr/>
                <a:lstStyle/>
                <a:p>
                  <a:r>
                    <a:rPr lang="ja-JP" altLang="en-US">
                      <a:noFill/>
                    </a:rPr>
                    <a:t> </a:t>
                  </a:r>
                </a:p>
              </p:txBody>
            </p:sp>
          </mc:Fallback>
        </mc:AlternateContent>
      </p:grpSp>
      <p:cxnSp>
        <p:nvCxnSpPr>
          <p:cNvPr id="63" name="直線矢印コネクタ 62">
            <a:extLst>
              <a:ext uri="{FF2B5EF4-FFF2-40B4-BE49-F238E27FC236}">
                <a16:creationId xmlns:a16="http://schemas.microsoft.com/office/drawing/2014/main" id="{6C5077F4-45C2-4929-9D4F-33186EF1774A}"/>
              </a:ext>
            </a:extLst>
          </p:cNvPr>
          <p:cNvCxnSpPr>
            <a:cxnSpLocks/>
          </p:cNvCxnSpPr>
          <p:nvPr/>
        </p:nvCxnSpPr>
        <p:spPr>
          <a:xfrm>
            <a:off x="1651655" y="3874937"/>
            <a:ext cx="653198" cy="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18D343C8-8D4F-3A38-67B4-3A601CBDBCB3}"/>
              </a:ext>
            </a:extLst>
          </p:cNvPr>
          <p:cNvCxnSpPr>
            <a:cxnSpLocks/>
          </p:cNvCxnSpPr>
          <p:nvPr/>
        </p:nvCxnSpPr>
        <p:spPr>
          <a:xfrm>
            <a:off x="2314279" y="3874937"/>
            <a:ext cx="1296971" cy="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551F0ECF-DA05-864A-96F3-77ACE889853D}"/>
              </a:ext>
            </a:extLst>
          </p:cNvPr>
          <p:cNvCxnSpPr>
            <a:cxnSpLocks/>
          </p:cNvCxnSpPr>
          <p:nvPr/>
        </p:nvCxnSpPr>
        <p:spPr>
          <a:xfrm>
            <a:off x="3611250" y="3874937"/>
            <a:ext cx="2484748" cy="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矢印コネクタ 65">
            <a:extLst>
              <a:ext uri="{FF2B5EF4-FFF2-40B4-BE49-F238E27FC236}">
                <a16:creationId xmlns:a16="http://schemas.microsoft.com/office/drawing/2014/main" id="{D2FA45CC-657F-02C0-27AE-8C25DF2C97EB}"/>
              </a:ext>
            </a:extLst>
          </p:cNvPr>
          <p:cNvCxnSpPr>
            <a:cxnSpLocks/>
          </p:cNvCxnSpPr>
          <p:nvPr/>
        </p:nvCxnSpPr>
        <p:spPr>
          <a:xfrm>
            <a:off x="6095998" y="3874937"/>
            <a:ext cx="4941610" cy="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FD054A2D-DF77-034C-2468-D78779D53ACE}"/>
              </a:ext>
            </a:extLst>
          </p:cNvPr>
          <p:cNvCxnSpPr>
            <a:cxnSpLocks/>
          </p:cNvCxnSpPr>
          <p:nvPr/>
        </p:nvCxnSpPr>
        <p:spPr>
          <a:xfrm flipH="1">
            <a:off x="998456" y="3640838"/>
            <a:ext cx="10039152" cy="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A07950E5-BD62-98AA-D96E-6F2B9F809940}"/>
              </a:ext>
            </a:extLst>
          </p:cNvPr>
          <p:cNvCxnSpPr>
            <a:cxnSpLocks/>
          </p:cNvCxnSpPr>
          <p:nvPr/>
        </p:nvCxnSpPr>
        <p:spPr>
          <a:xfrm flipH="1">
            <a:off x="998456" y="3874937"/>
            <a:ext cx="627868" cy="0"/>
          </a:xfrm>
          <a:prstGeom prst="straightConnector1">
            <a:avLst/>
          </a:prstGeom>
          <a:ln w="476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484F8768-D631-750C-22EC-8D12DB957363}"/>
                  </a:ext>
                </a:extLst>
              </p:cNvPr>
              <p:cNvSpPr txBox="1"/>
              <p:nvPr/>
            </p:nvSpPr>
            <p:spPr>
              <a:xfrm>
                <a:off x="838200" y="5303652"/>
                <a:ext cx="10515600" cy="5280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solidFill>
                            <a:schemeClr val="accent1"/>
                          </a:solidFill>
                          <a:latin typeface="Cambria Math" panose="02040503050406030204" pitchFamily="18" charset="0"/>
                        </a:rPr>
                        <m:t>𝐺𝑅𝐸𝐸𝐷𝑌</m:t>
                      </m:r>
                      <m:d>
                        <m:dPr>
                          <m:ctrlPr>
                            <a:rPr kumimoji="1" lang="en-US" altLang="ja-JP" sz="2800" b="0" i="1" smtClean="0">
                              <a:solidFill>
                                <a:schemeClr val="accent1"/>
                              </a:solidFill>
                              <a:latin typeface="Cambria Math" panose="02040503050406030204" pitchFamily="18" charset="0"/>
                            </a:rPr>
                          </m:ctrlPr>
                        </m:dPr>
                        <m:e>
                          <m:r>
                            <a:rPr kumimoji="1" lang="en-US" altLang="ja-JP" sz="2800" b="0" i="1" smtClean="0">
                              <a:solidFill>
                                <a:schemeClr val="accent1"/>
                              </a:solidFill>
                              <a:latin typeface="Cambria Math" panose="02040503050406030204" pitchFamily="18" charset="0"/>
                            </a:rPr>
                            <m:t>𝜎</m:t>
                          </m:r>
                        </m:e>
                      </m:d>
                      <m:r>
                        <a:rPr kumimoji="1" lang="en-US" altLang="ja-JP" sz="2800" b="0" i="1" smtClean="0">
                          <a:latin typeface="Cambria Math" panose="02040503050406030204" pitchFamily="18" charset="0"/>
                        </a:rPr>
                        <m:t>=31=</m:t>
                      </m:r>
                      <m:sSup>
                        <m:sSupPr>
                          <m:ctrlPr>
                            <a:rPr kumimoji="1" lang="en-US" altLang="ja-JP" sz="2800" b="0" i="1" smtClean="0">
                              <a:latin typeface="Cambria Math" panose="02040503050406030204" pitchFamily="18" charset="0"/>
                            </a:rPr>
                          </m:ctrlPr>
                        </m:sSupPr>
                        <m:e>
                          <m:r>
                            <a:rPr kumimoji="1" lang="en-US" altLang="ja-JP" sz="2800" b="0" i="1" smtClean="0">
                              <a:latin typeface="Cambria Math" panose="02040503050406030204" pitchFamily="18" charset="0"/>
                            </a:rPr>
                            <m:t>2</m:t>
                          </m:r>
                        </m:e>
                        <m:sup>
                          <m:r>
                            <a:rPr kumimoji="1" lang="en-US" altLang="ja-JP" sz="2800" b="0" i="1" smtClean="0">
                              <a:latin typeface="Cambria Math" panose="02040503050406030204" pitchFamily="18" charset="0"/>
                            </a:rPr>
                            <m:t>5</m:t>
                          </m:r>
                        </m:sup>
                      </m:sSup>
                      <m:r>
                        <a:rPr kumimoji="1" lang="en-US" altLang="ja-JP" sz="2800" b="0" i="1" smtClean="0">
                          <a:latin typeface="Cambria Math" panose="02040503050406030204" pitchFamily="18" charset="0"/>
                        </a:rPr>
                        <m:t>−1,   </m:t>
                      </m:r>
                      <m:r>
                        <a:rPr kumimoji="1" lang="en-US" altLang="ja-JP" sz="2800" b="0" i="1" smtClean="0">
                          <a:solidFill>
                            <a:schemeClr val="accent2"/>
                          </a:solidFill>
                          <a:latin typeface="Cambria Math" panose="02040503050406030204" pitchFamily="18" charset="0"/>
                        </a:rPr>
                        <m:t>𝑂𝑃𝑇</m:t>
                      </m:r>
                      <m:d>
                        <m:dPr>
                          <m:ctrlPr>
                            <a:rPr kumimoji="1" lang="en-US" altLang="ja-JP" sz="2800" b="0" i="1" smtClean="0">
                              <a:solidFill>
                                <a:schemeClr val="accent2"/>
                              </a:solidFill>
                              <a:latin typeface="Cambria Math" panose="02040503050406030204" pitchFamily="18" charset="0"/>
                            </a:rPr>
                          </m:ctrlPr>
                        </m:dPr>
                        <m:e>
                          <m:r>
                            <a:rPr kumimoji="1" lang="en-US" altLang="ja-JP" sz="2800" b="0" i="1" smtClean="0">
                              <a:solidFill>
                                <a:schemeClr val="accent2"/>
                              </a:solidFill>
                              <a:latin typeface="Cambria Math" panose="02040503050406030204" pitchFamily="18" charset="0"/>
                            </a:rPr>
                            <m:t>𝜎</m:t>
                          </m:r>
                        </m:e>
                      </m:d>
                      <m:r>
                        <a:rPr kumimoji="1" lang="en-US" altLang="ja-JP" sz="2800" b="0" i="1" smtClean="0">
                          <a:latin typeface="Cambria Math" panose="02040503050406030204" pitchFamily="18" charset="0"/>
                        </a:rPr>
                        <m:t>=1</m:t>
                      </m:r>
                    </m:oMath>
                  </m:oMathPara>
                </a14:m>
                <a:endParaRPr kumimoji="1" lang="ja-JP" altLang="en-US" sz="2800" dirty="0"/>
              </a:p>
            </p:txBody>
          </p:sp>
        </mc:Choice>
        <mc:Fallback xmlns="">
          <p:sp>
            <p:nvSpPr>
              <p:cNvPr id="69" name="テキスト ボックス 68">
                <a:extLst>
                  <a:ext uri="{FF2B5EF4-FFF2-40B4-BE49-F238E27FC236}">
                    <a16:creationId xmlns:a16="http://schemas.microsoft.com/office/drawing/2014/main" id="{484F8768-D631-750C-22EC-8D12DB957363}"/>
                  </a:ext>
                </a:extLst>
              </p:cNvPr>
              <p:cNvSpPr txBox="1">
                <a:spLocks noRot="1" noChangeAspect="1" noMove="1" noResize="1" noEditPoints="1" noAdjustHandles="1" noChangeArrowheads="1" noChangeShapeType="1" noTextEdit="1"/>
              </p:cNvSpPr>
              <p:nvPr/>
            </p:nvSpPr>
            <p:spPr>
              <a:xfrm>
                <a:off x="838200" y="5303652"/>
                <a:ext cx="10515600" cy="528093"/>
              </a:xfrm>
              <a:prstGeom prst="rect">
                <a:avLst/>
              </a:prstGeom>
              <a:blipFill>
                <a:blip r:embed="rId13"/>
                <a:stretch>
                  <a:fillRect/>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9A2FD0C5-EAB1-39DC-792C-1DBCCB6A251B}"/>
              </a:ext>
            </a:extLst>
          </p:cNvPr>
          <p:cNvSpPr>
            <a:spLocks noGrp="1"/>
          </p:cNvSpPr>
          <p:nvPr>
            <p:ph type="sldNum" sz="quarter" idx="12"/>
          </p:nvPr>
        </p:nvSpPr>
        <p:spPr/>
        <p:txBody>
          <a:bodyPr/>
          <a:lstStyle/>
          <a:p>
            <a:fld id="{4B077F3A-4098-4199-8925-77865D1E3500}" type="slidenum">
              <a:rPr kumimoji="1" lang="ja-JP" altLang="en-US" smtClean="0"/>
              <a:t>10</a:t>
            </a:fld>
            <a:endParaRPr kumimoji="1" lang="ja-JP" altLang="en-US"/>
          </a:p>
        </p:txBody>
      </p:sp>
    </p:spTree>
    <p:extLst>
      <p:ext uri="{BB962C8B-B14F-4D97-AF65-F5344CB8AC3E}">
        <p14:creationId xmlns:p14="http://schemas.microsoft.com/office/powerpoint/2010/main" val="82163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fade">
                                      <p:cBhvr>
                                        <p:cTn id="22" dur="500"/>
                                        <p:tgtEl>
                                          <p:spTgt spid="6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fade">
                                      <p:cBhvr>
                                        <p:cTn id="32" dur="500"/>
                                        <p:tgtEl>
                                          <p:spTgt spid="6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6"/>
                                        </p:tgtEl>
                                        <p:attrNameLst>
                                          <p:attrName>style.visibility</p:attrName>
                                        </p:attrNameLst>
                                      </p:cBhvr>
                                      <p:to>
                                        <p:strVal val="visible"/>
                                      </p:to>
                                    </p:set>
                                    <p:animEffect transition="in" filter="fade">
                                      <p:cBhvr>
                                        <p:cTn id="42" dur="500"/>
                                        <p:tgtEl>
                                          <p:spTgt spid="6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fade">
                                      <p:cBhvr>
                                        <p:cTn id="47" dur="500"/>
                                        <p:tgtEl>
                                          <p:spTgt spid="6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7"/>
                                        </p:tgtEl>
                                        <p:attrNameLst>
                                          <p:attrName>style.visibility</p:attrName>
                                        </p:attrNameLst>
                                      </p:cBhvr>
                                      <p:to>
                                        <p:strVal val="visible"/>
                                      </p:to>
                                    </p:set>
                                    <p:animEffect transition="in" filter="fade">
                                      <p:cBhvr>
                                        <p:cTn id="52" dur="500"/>
                                        <p:tgtEl>
                                          <p:spTgt spid="6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8"/>
                                        </p:tgtEl>
                                        <p:attrNameLst>
                                          <p:attrName>style.visibility</p:attrName>
                                        </p:attrNameLst>
                                      </p:cBhvr>
                                      <p:to>
                                        <p:strVal val="visible"/>
                                      </p:to>
                                    </p:set>
                                    <p:animEffect transition="in" filter="fade">
                                      <p:cBhvr>
                                        <p:cTn id="5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A4930-23AC-44C1-745E-F2A2B3BEE014}"/>
              </a:ext>
            </a:extLst>
          </p:cNvPr>
          <p:cNvSpPr>
            <a:spLocks noGrp="1"/>
          </p:cNvSpPr>
          <p:nvPr>
            <p:ph type="title"/>
          </p:nvPr>
        </p:nvSpPr>
        <p:spPr/>
        <p:txBody>
          <a:bodyPr/>
          <a:lstStyle/>
          <a:p>
            <a:r>
              <a:rPr lang="en-US" altLang="ja-JP" dirty="0"/>
              <a:t>Permutation </a:t>
            </a:r>
            <a:r>
              <a:rPr lang="ja-JP" altLang="en-US" dirty="0"/>
              <a:t>アルゴリズム</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3D98C33-EAAB-3844-DEA2-DBD87EE1A760}"/>
                  </a:ext>
                </a:extLst>
              </p:cNvPr>
              <p:cNvSpPr>
                <a:spLocks noGrp="1"/>
              </p:cNvSpPr>
              <p:nvPr>
                <p:ph idx="1"/>
              </p:nvPr>
            </p:nvSpPr>
            <p:spPr>
              <a:xfrm>
                <a:off x="838200" y="3429000"/>
                <a:ext cx="10515600" cy="2972084"/>
              </a:xfrm>
              <a:solidFill>
                <a:schemeClr val="accent4">
                  <a:lumMod val="20000"/>
                  <a:lumOff val="80000"/>
                </a:schemeClr>
              </a:solidFill>
            </p:spPr>
            <p:txBody>
              <a:bodyPr anchor="ctr">
                <a:normAutofit/>
              </a:bodyPr>
              <a:lstStyle/>
              <a:p>
                <a:pPr marL="0" indent="0">
                  <a:buNone/>
                </a:pPr>
                <a:r>
                  <a:rPr kumimoji="1" lang="ja-JP" altLang="en-US" sz="2400" b="0" dirty="0"/>
                  <a:t>初期化</a:t>
                </a:r>
                <a:r>
                  <a:rPr kumimoji="1" lang="en-US" altLang="ja-JP" sz="2400" b="0" dirty="0"/>
                  <a:t>: </a:t>
                </a:r>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0</m:t>
                        </m:r>
                      </m:sub>
                      <m:sup>
                        <m:r>
                          <a:rPr kumimoji="1" lang="en-US" altLang="ja-JP" sz="2400" b="0" i="1" smtClean="0">
                            <a:latin typeface="Cambria Math" panose="02040503050406030204" pitchFamily="18" charset="0"/>
                          </a:rPr>
                          <m:t>∗</m:t>
                        </m:r>
                      </m:sup>
                    </m:sSubSup>
                    <m:r>
                      <a:rPr kumimoji="1" lang="en-US" altLang="ja-JP" sz="2400" b="0" i="1" smtClean="0">
                        <a:latin typeface="Cambria Math" panose="02040503050406030204" pitchFamily="18" charset="0"/>
                      </a:rPr>
                      <m:t>←∅</m:t>
                    </m:r>
                  </m:oMath>
                </a14:m>
                <a:endParaRPr kumimoji="1" lang="en-US" altLang="ja-JP" sz="2400" dirty="0"/>
              </a:p>
              <a:p>
                <a:pPr marL="0" indent="0">
                  <a:buNone/>
                </a:pPr>
                <a:r>
                  <a:rPr lang="en-US" altLang="ja-JP" sz="2400" dirty="0"/>
                  <a:t>For </a:t>
                </a:r>
                <a14:m>
                  <m:oMath xmlns:m="http://schemas.openxmlformats.org/officeDocument/2006/math">
                    <m:r>
                      <a:rPr lang="en-US" altLang="ja-JP" sz="2400" b="0" i="1" smtClean="0">
                        <a:latin typeface="Cambria Math" panose="02040503050406030204" pitchFamily="18" charset="0"/>
                      </a:rPr>
                      <m:t>𝑖</m:t>
                    </m:r>
                    <m:r>
                      <a:rPr lang="en-US" altLang="ja-JP" sz="2400" b="0" i="1" smtClean="0">
                        <a:latin typeface="Cambria Math" panose="02040503050406030204" pitchFamily="18" charset="0"/>
                      </a:rPr>
                      <m:t>=1,…,</m:t>
                    </m:r>
                    <m:r>
                      <a:rPr lang="en-US" altLang="ja-JP" sz="2400" b="0" i="1" smtClean="0">
                        <a:latin typeface="Cambria Math" panose="02040503050406030204" pitchFamily="18" charset="0"/>
                      </a:rPr>
                      <m:t>𝑛</m:t>
                    </m:r>
                  </m:oMath>
                </a14:m>
                <a:r>
                  <a:rPr kumimoji="1" lang="ja-JP" altLang="en-US" sz="2400" dirty="0"/>
                  <a:t> </a:t>
                </a:r>
                <a:r>
                  <a:rPr lang="en-US" altLang="ja-JP" sz="2400" dirty="0"/>
                  <a:t>do</a:t>
                </a:r>
              </a:p>
              <a:p>
                <a:pPr marL="457200" lvl="1" indent="0">
                  <a:buNone/>
                </a:pPr>
                <a:r>
                  <a:rPr lang="ja-JP" altLang="en-US" dirty="0"/>
                  <a:t>新しいリクエスト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𝑟</m:t>
                        </m:r>
                      </m:e>
                      <m:sub>
                        <m:r>
                          <a:rPr lang="en-US" altLang="ja-JP" b="0" i="1" smtClean="0">
                            <a:latin typeface="Cambria Math" panose="02040503050406030204" pitchFamily="18" charset="0"/>
                          </a:rPr>
                          <m:t>𝑖</m:t>
                        </m:r>
                      </m:sub>
                    </m:sSub>
                  </m:oMath>
                </a14:m>
                <a:r>
                  <a:rPr lang="en-US" altLang="ja-JP" dirty="0"/>
                  <a:t> </a:t>
                </a:r>
                <a:r>
                  <a:rPr lang="ja-JP" altLang="en-US" dirty="0"/>
                  <a:t>を受け取る．</a:t>
                </a:r>
                <a:endParaRPr lang="en-US" altLang="ja-JP" dirty="0"/>
              </a:p>
              <a:p>
                <a:pPr marL="457200" lvl="1" indent="0">
                  <a:buNone/>
                </a:pP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𝑟</m:t>
                        </m:r>
                      </m:e>
                      <m:sub>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𝑟</m:t>
                        </m:r>
                      </m:e>
                      <m:sub>
                        <m:r>
                          <a:rPr lang="en-US" altLang="ja-JP" i="1">
                            <a:latin typeface="Cambria Math" panose="02040503050406030204" pitchFamily="18" charset="0"/>
                          </a:rPr>
                          <m:t>𝑖</m:t>
                        </m:r>
                      </m:sub>
                    </m:sSub>
                  </m:oMath>
                </a14:m>
                <a:r>
                  <a:rPr lang="ja-JP" altLang="en-US" dirty="0"/>
                  <a:t> の最適割り当て </a:t>
                </a:r>
                <a14:m>
                  <m:oMath xmlns:m="http://schemas.openxmlformats.org/officeDocument/2006/math">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𝑀</m:t>
                        </m:r>
                      </m:e>
                      <m:sub>
                        <m:r>
                          <a:rPr lang="en-US" altLang="ja-JP" b="0" i="1" smtClean="0">
                            <a:latin typeface="Cambria Math" panose="02040503050406030204" pitchFamily="18" charset="0"/>
                          </a:rPr>
                          <m:t>𝑖</m:t>
                        </m:r>
                      </m:sub>
                      <m:sup>
                        <m:r>
                          <a:rPr lang="en-US" altLang="ja-JP" b="0" i="1" smtClean="0">
                            <a:latin typeface="Cambria Math" panose="02040503050406030204" pitchFamily="18" charset="0"/>
                          </a:rPr>
                          <m:t>∗</m:t>
                        </m:r>
                      </m:sup>
                    </m:sSubSup>
                  </m:oMath>
                </a14:m>
                <a:r>
                  <a:rPr lang="en-US" altLang="ja-JP" dirty="0"/>
                  <a:t> </a:t>
                </a:r>
                <a:r>
                  <a:rPr lang="ja-JP" altLang="en-US" dirty="0"/>
                  <a:t>を求める．</a:t>
                </a:r>
                <a:endParaRPr lang="en-US" altLang="ja-JP" dirty="0"/>
              </a:p>
              <a:p>
                <a:pPr marL="457200" lvl="1" indent="0">
                  <a:buNone/>
                </a:pPr>
                <a14:m>
                  <m:oMath xmlns:m="http://schemas.openxmlformats.org/officeDocument/2006/math">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𝑀</m:t>
                        </m:r>
                      </m:e>
                      <m:sub>
                        <m:r>
                          <a:rPr lang="en-US" altLang="ja-JP" b="0" i="1" smtClean="0">
                            <a:latin typeface="Cambria Math" panose="02040503050406030204" pitchFamily="18" charset="0"/>
                          </a:rPr>
                          <m:t>𝑖</m:t>
                        </m:r>
                      </m:sub>
                      <m:sup>
                        <m:r>
                          <a:rPr lang="en-US" altLang="ja-JP" b="0" i="1" smtClean="0">
                            <a:latin typeface="Cambria Math" panose="02040503050406030204" pitchFamily="18" charset="0"/>
                          </a:rPr>
                          <m:t>∗</m:t>
                        </m:r>
                      </m:sup>
                    </m:sSubSup>
                  </m:oMath>
                </a14:m>
                <a:r>
                  <a:rPr lang="en-US" altLang="ja-JP" dirty="0"/>
                  <a:t> </a:t>
                </a:r>
                <a:r>
                  <a:rPr lang="ja-JP" altLang="en-US" dirty="0"/>
                  <a:t>の中で </a:t>
                </a:r>
                <a14:m>
                  <m:oMath xmlns:m="http://schemas.openxmlformats.org/officeDocument/2006/math">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𝑀</m:t>
                        </m:r>
                      </m:e>
                      <m:sub>
                        <m:r>
                          <a:rPr lang="en-US" altLang="ja-JP" b="0" i="1" smtClean="0">
                            <a:latin typeface="Cambria Math" panose="02040503050406030204" pitchFamily="18" charset="0"/>
                          </a:rPr>
                          <m:t>𝑖</m:t>
                        </m:r>
                        <m:r>
                          <a:rPr lang="en-US" altLang="ja-JP" b="0" i="1" smtClean="0">
                            <a:latin typeface="Cambria Math" panose="02040503050406030204" pitchFamily="18" charset="0"/>
                          </a:rPr>
                          <m:t>−1</m:t>
                        </m:r>
                      </m:sub>
                      <m:sup>
                        <m:r>
                          <a:rPr lang="en-US" altLang="ja-JP" b="0" i="1" smtClean="0">
                            <a:latin typeface="Cambria Math" panose="02040503050406030204" pitchFamily="18" charset="0"/>
                          </a:rPr>
                          <m:t>∗</m:t>
                        </m:r>
                      </m:sup>
                    </m:sSubSup>
                  </m:oMath>
                </a14:m>
                <a:r>
                  <a:rPr lang="en-US" altLang="ja-JP" dirty="0"/>
                  <a:t> </a:t>
                </a:r>
                <a:r>
                  <a:rPr lang="ja-JP" altLang="en-US" dirty="0"/>
                  <a:t>から新たに使用するようになったサーバを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𝑠</m:t>
                        </m:r>
                      </m:e>
                      <m:sub>
                        <m:r>
                          <a:rPr lang="en-US" altLang="ja-JP" b="0" i="1" smtClean="0">
                            <a:latin typeface="Cambria Math" panose="02040503050406030204" pitchFamily="18" charset="0"/>
                          </a:rPr>
                          <m:t>𝑖</m:t>
                        </m:r>
                      </m:sub>
                    </m:sSub>
                  </m:oMath>
                </a14:m>
                <a:r>
                  <a:rPr lang="en-US" altLang="ja-JP" dirty="0"/>
                  <a:t> </a:t>
                </a:r>
                <a:r>
                  <a:rPr lang="ja-JP" altLang="en-US" dirty="0"/>
                  <a:t>とする．</a:t>
                </a:r>
                <a:endParaRPr lang="en-US" altLang="ja-JP" dirty="0"/>
              </a:p>
              <a:p>
                <a:pPr marL="457200" lvl="1" indent="0">
                  <a:buNone/>
                </a:pP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𝑟</m:t>
                        </m:r>
                      </m:e>
                      <m:sub>
                        <m:r>
                          <a:rPr lang="en-US" altLang="ja-JP" b="0" i="1" smtClean="0">
                            <a:latin typeface="Cambria Math" panose="02040503050406030204" pitchFamily="18" charset="0"/>
                          </a:rPr>
                          <m:t>𝑖</m:t>
                        </m:r>
                      </m:sub>
                    </m:sSub>
                  </m:oMath>
                </a14:m>
                <a:r>
                  <a:rPr lang="en-US" altLang="ja-JP" dirty="0"/>
                  <a:t> </a:t>
                </a:r>
                <a:r>
                  <a:rPr lang="ja-JP" altLang="en-US" dirty="0"/>
                  <a:t>を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𝑠</m:t>
                        </m:r>
                      </m:e>
                      <m:sub>
                        <m:r>
                          <a:rPr lang="en-US" altLang="ja-JP" b="0" i="1" smtClean="0">
                            <a:latin typeface="Cambria Math" panose="02040503050406030204" pitchFamily="18" charset="0"/>
                          </a:rPr>
                          <m:t>𝑖</m:t>
                        </m:r>
                      </m:sub>
                    </m:sSub>
                  </m:oMath>
                </a14:m>
                <a:r>
                  <a:rPr lang="en-US" altLang="ja-JP" dirty="0"/>
                  <a:t> </a:t>
                </a:r>
                <a:r>
                  <a:rPr lang="ja-JP" altLang="en-US" dirty="0"/>
                  <a:t>に割り当てる．</a:t>
                </a:r>
                <a:endParaRPr lang="en-US" altLang="ja-JP" dirty="0"/>
              </a:p>
              <a:p>
                <a:pPr marL="0" indent="0">
                  <a:buNone/>
                </a:pPr>
                <a:r>
                  <a:rPr lang="en-US" altLang="ja-JP" sz="2400" dirty="0"/>
                  <a:t>end for</a:t>
                </a:r>
              </a:p>
            </p:txBody>
          </p:sp>
        </mc:Choice>
        <mc:Fallback xmlns="">
          <p:sp>
            <p:nvSpPr>
              <p:cNvPr id="3" name="コンテンツ プレースホルダー 2">
                <a:extLst>
                  <a:ext uri="{FF2B5EF4-FFF2-40B4-BE49-F238E27FC236}">
                    <a16:creationId xmlns:a16="http://schemas.microsoft.com/office/drawing/2014/main" id="{C3D98C33-EAAB-3844-DEA2-DBD87EE1A760}"/>
                  </a:ext>
                </a:extLst>
              </p:cNvPr>
              <p:cNvSpPr>
                <a:spLocks noGrp="1" noRot="1" noChangeAspect="1" noMove="1" noResize="1" noEditPoints="1" noAdjustHandles="1" noChangeArrowheads="1" noChangeShapeType="1" noTextEdit="1"/>
              </p:cNvSpPr>
              <p:nvPr>
                <p:ph idx="1"/>
              </p:nvPr>
            </p:nvSpPr>
            <p:spPr>
              <a:xfrm>
                <a:off x="838200" y="3429000"/>
                <a:ext cx="10515600" cy="2972084"/>
              </a:xfrm>
              <a:blipFill>
                <a:blip r:embed="rId2"/>
                <a:stretch>
                  <a:fillRect l="-928" t="-2259" b="-349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F34F7A4A-27CA-0EF4-27C8-BB81228887D7}"/>
                  </a:ext>
                </a:extLst>
              </p:cNvPr>
              <p:cNvSpPr txBox="1"/>
              <p:nvPr/>
            </p:nvSpPr>
            <p:spPr>
              <a:xfrm>
                <a:off x="838200" y="2877648"/>
                <a:ext cx="10515600" cy="461921"/>
              </a:xfrm>
              <a:prstGeom prst="rect">
                <a:avLst/>
              </a:prstGeom>
              <a:noFill/>
            </p:spPr>
            <p:txBody>
              <a:bodyPr wrap="square" rtlCol="0">
                <a:spAutoFit/>
              </a:bodyPr>
              <a:lstStyle/>
              <a:p>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sub>
                      <m:sup>
                        <m:r>
                          <a:rPr kumimoji="1" lang="en-US" altLang="ja-JP" sz="2400" b="0" i="1" smtClean="0">
                            <a:latin typeface="Cambria Math" panose="02040503050406030204" pitchFamily="18" charset="0"/>
                          </a:rPr>
                          <m:t>∗</m:t>
                        </m:r>
                      </m:sup>
                    </m:sSubSup>
                  </m:oMath>
                </a14:m>
                <a:r>
                  <a:rPr kumimoji="1" lang="en-US" altLang="ja-JP" sz="2400" dirty="0"/>
                  <a:t>: </a:t>
                </a:r>
                <a:r>
                  <a:rPr lang="ja-JP" altLang="en-US" sz="2400" dirty="0"/>
                  <a:t>仮想的に内部で求める </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𝑟</m:t>
                        </m:r>
                      </m:e>
                      <m:sub>
                        <m:r>
                          <a:rPr lang="en-US" altLang="ja-JP" sz="2400" b="0" i="1" smtClean="0">
                            <a:latin typeface="Cambria Math" panose="02040503050406030204" pitchFamily="18" charset="0"/>
                          </a:rPr>
                          <m:t>1</m:t>
                        </m:r>
                      </m:sub>
                    </m:sSub>
                    <m:r>
                      <a:rPr lang="en-US" altLang="ja-JP" sz="2400" b="0" i="1" smtClean="0">
                        <a:latin typeface="Cambria Math" panose="02040503050406030204" pitchFamily="18" charset="0"/>
                      </a:rPr>
                      <m:t>,…,</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𝑟</m:t>
                        </m:r>
                      </m:e>
                      <m:sub>
                        <m:r>
                          <a:rPr lang="en-US" altLang="ja-JP" sz="2400" b="0" i="1" smtClean="0">
                            <a:latin typeface="Cambria Math" panose="02040503050406030204" pitchFamily="18" charset="0"/>
                          </a:rPr>
                          <m:t>𝑖</m:t>
                        </m:r>
                      </m:sub>
                    </m:sSub>
                  </m:oMath>
                </a14:m>
                <a:r>
                  <a:rPr kumimoji="1" lang="ja-JP" altLang="en-US" sz="2400" dirty="0"/>
                  <a:t> の最適割り当て</a:t>
                </a:r>
              </a:p>
            </p:txBody>
          </p:sp>
        </mc:Choice>
        <mc:Fallback xmlns="">
          <p:sp>
            <p:nvSpPr>
              <p:cNvPr id="4" name="テキスト ボックス 3">
                <a:extLst>
                  <a:ext uri="{FF2B5EF4-FFF2-40B4-BE49-F238E27FC236}">
                    <a16:creationId xmlns:a16="http://schemas.microsoft.com/office/drawing/2014/main" id="{F34F7A4A-27CA-0EF4-27C8-BB81228887D7}"/>
                  </a:ext>
                </a:extLst>
              </p:cNvPr>
              <p:cNvSpPr txBox="1">
                <a:spLocks noRot="1" noChangeAspect="1" noMove="1" noResize="1" noEditPoints="1" noAdjustHandles="1" noChangeArrowheads="1" noChangeShapeType="1" noTextEdit="1"/>
              </p:cNvSpPr>
              <p:nvPr/>
            </p:nvSpPr>
            <p:spPr>
              <a:xfrm>
                <a:off x="838200" y="2877648"/>
                <a:ext cx="10515600" cy="461921"/>
              </a:xfrm>
              <a:prstGeom prst="rect">
                <a:avLst/>
              </a:prstGeom>
              <a:blipFill>
                <a:blip r:embed="rId3"/>
                <a:stretch>
                  <a:fillRect l="-174" t="-14474" b="-31579"/>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13902E05-D04C-4DC1-9E70-7894F3F8E205}"/>
              </a:ext>
            </a:extLst>
          </p:cNvPr>
          <p:cNvSpPr>
            <a:spLocks noGrp="1"/>
          </p:cNvSpPr>
          <p:nvPr>
            <p:ph type="sldNum" sz="quarter" idx="12"/>
          </p:nvPr>
        </p:nvSpPr>
        <p:spPr/>
        <p:txBody>
          <a:bodyPr/>
          <a:lstStyle/>
          <a:p>
            <a:fld id="{4B077F3A-4098-4199-8925-77865D1E3500}" type="slidenum">
              <a:rPr kumimoji="1" lang="ja-JP" altLang="en-US" smtClean="0"/>
              <a:t>11</a:t>
            </a:fld>
            <a:endParaRPr kumimoji="1" lang="ja-JP" altLang="en-US"/>
          </a:p>
        </p:txBody>
      </p:sp>
      <p:sp>
        <p:nvSpPr>
          <p:cNvPr id="6" name="テキスト ボックス 5">
            <a:extLst>
              <a:ext uri="{FF2B5EF4-FFF2-40B4-BE49-F238E27FC236}">
                <a16:creationId xmlns:a16="http://schemas.microsoft.com/office/drawing/2014/main" id="{65D051BD-A0A0-B50F-A2FA-6E177AABA4A6}"/>
              </a:ext>
            </a:extLst>
          </p:cNvPr>
          <p:cNvSpPr txBox="1"/>
          <p:nvPr/>
        </p:nvSpPr>
        <p:spPr>
          <a:xfrm>
            <a:off x="838200" y="1690688"/>
            <a:ext cx="10515600" cy="1107996"/>
          </a:xfrm>
          <a:prstGeom prst="rect">
            <a:avLst/>
          </a:prstGeom>
          <a:noFill/>
        </p:spPr>
        <p:txBody>
          <a:bodyPr wrap="square" rtlCol="0">
            <a:spAutoFit/>
          </a:bodyPr>
          <a:lstStyle/>
          <a:p>
            <a:r>
              <a:rPr kumimoji="1" lang="ja-JP" altLang="en-US" sz="2400" b="1" dirty="0"/>
              <a:t>基本的なアイデア</a:t>
            </a:r>
            <a:endParaRPr kumimoji="1" lang="en-US" altLang="ja-JP" sz="2400" b="1" dirty="0"/>
          </a:p>
          <a:p>
            <a:r>
              <a:rPr kumimoji="1" lang="ja-JP" altLang="en-US" sz="2400" dirty="0"/>
              <a:t>オフライン最適割り当てと</a:t>
            </a:r>
            <a:r>
              <a:rPr kumimoji="1" lang="ja-JP" altLang="en-US" sz="2400" b="1" dirty="0"/>
              <a:t>「使用中のサーバの集合を一致」</a:t>
            </a:r>
            <a:r>
              <a:rPr kumimoji="1" lang="ja-JP" altLang="en-US" sz="2400" dirty="0"/>
              <a:t>させる</a:t>
            </a:r>
            <a:endParaRPr kumimoji="1" lang="en-US" altLang="ja-JP" sz="2400" dirty="0"/>
          </a:p>
          <a:p>
            <a:r>
              <a:rPr lang="ja-JP" altLang="en-US" dirty="0"/>
              <a:t>（ただしオンラインなので割り当ての中身は一致させられない）</a:t>
            </a:r>
            <a:endParaRPr kumimoji="1" lang="ja-JP" altLang="en-US" dirty="0"/>
          </a:p>
        </p:txBody>
      </p:sp>
    </p:spTree>
    <p:extLst>
      <p:ext uri="{BB962C8B-B14F-4D97-AF65-F5344CB8AC3E}">
        <p14:creationId xmlns:p14="http://schemas.microsoft.com/office/powerpoint/2010/main" val="1765515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1DB26-1AB2-3768-036F-43C487D97D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042F1E5-19BE-EAC2-E8F2-DBD86D7045E8}"/>
              </a:ext>
            </a:extLst>
          </p:cNvPr>
          <p:cNvSpPr>
            <a:spLocks noGrp="1"/>
          </p:cNvSpPr>
          <p:nvPr>
            <p:ph type="title"/>
          </p:nvPr>
        </p:nvSpPr>
        <p:spPr/>
        <p:txBody>
          <a:bodyPr/>
          <a:lstStyle/>
          <a:p>
            <a:r>
              <a:rPr lang="en-US" altLang="ja-JP" dirty="0"/>
              <a:t>Permutation</a:t>
            </a:r>
            <a:r>
              <a:rPr lang="ja-JP" altLang="en-US" dirty="0"/>
              <a:t> </a:t>
            </a:r>
            <a:r>
              <a:rPr kumimoji="1" lang="ja-JP" altLang="en-US" dirty="0"/>
              <a:t>の割り当て１</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5CB2AEE-53F8-7172-00E4-FFFA36DC87E5}"/>
                  </a:ext>
                </a:extLst>
              </p:cNvPr>
              <p:cNvSpPr>
                <a:spLocks noGrp="1"/>
              </p:cNvSpPr>
              <p:nvPr>
                <p:ph idx="1"/>
              </p:nvPr>
            </p:nvSpPr>
            <p:spPr>
              <a:xfrm>
                <a:off x="838200" y="1825625"/>
                <a:ext cx="10515600" cy="899102"/>
              </a:xfrm>
            </p:spPr>
            <p:txBody>
              <a:bodyPr>
                <a:normAutofit/>
              </a:bodyPr>
              <a:lstStyle/>
              <a:p>
                <a:pPr marL="0" indent="0">
                  <a:buNone/>
                </a:pPr>
                <a:r>
                  <a:rPr kumimoji="1" lang="ja-JP" altLang="en-US" sz="2400" dirty="0"/>
                  <a:t>最適マッチング </a:t>
                </a: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oMath>
                </a14:m>
                <a:r>
                  <a:rPr kumimoji="1" lang="ja-JP" altLang="en-US" sz="2400" dirty="0"/>
                  <a:t> </a:t>
                </a:r>
                <a:r>
                  <a:rPr lang="ja-JP" altLang="en-US" sz="2400" dirty="0"/>
                  <a:t>を計算済みで</a:t>
                </a:r>
                <a:r>
                  <a:rPr kumimoji="1" lang="ja-JP" altLang="en-US" sz="2400" dirty="0"/>
                  <a:t>新しいリクエスト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5</m:t>
                        </m:r>
                      </m:sub>
                    </m:sSub>
                  </m:oMath>
                </a14:m>
                <a:r>
                  <a:rPr kumimoji="1" lang="ja-JP" altLang="en-US" sz="2400" dirty="0"/>
                  <a:t> を受け取った</a:t>
                </a:r>
              </a:p>
            </p:txBody>
          </p:sp>
        </mc:Choice>
        <mc:Fallback xmlns="">
          <p:sp>
            <p:nvSpPr>
              <p:cNvPr id="3" name="コンテンツ プレースホルダー 2">
                <a:extLst>
                  <a:ext uri="{FF2B5EF4-FFF2-40B4-BE49-F238E27FC236}">
                    <a16:creationId xmlns:a16="http://schemas.microsoft.com/office/drawing/2014/main" id="{E5CB2AEE-53F8-7172-00E4-FFFA36DC87E5}"/>
                  </a:ext>
                </a:extLst>
              </p:cNvPr>
              <p:cNvSpPr>
                <a:spLocks noGrp="1" noRot="1" noChangeAspect="1" noMove="1" noResize="1" noEditPoints="1" noAdjustHandles="1" noChangeArrowheads="1" noChangeShapeType="1" noTextEdit="1"/>
              </p:cNvSpPr>
              <p:nvPr>
                <p:ph idx="1"/>
              </p:nvPr>
            </p:nvSpPr>
            <p:spPr>
              <a:xfrm>
                <a:off x="838200" y="1825625"/>
                <a:ext cx="10515600" cy="899102"/>
              </a:xfrm>
              <a:blipFill>
                <a:blip r:embed="rId2"/>
                <a:stretch>
                  <a:fillRect l="-928" t="-7432"/>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5EBD9487-9A10-03A9-A1C0-8BED86454043}"/>
              </a:ext>
            </a:extLst>
          </p:cNvPr>
          <p:cNvSpPr/>
          <p:nvPr/>
        </p:nvSpPr>
        <p:spPr>
          <a:xfrm>
            <a:off x="4952834" y="446204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AD7D3DB0-CA42-9EA3-EBDC-1FD9D5831EB2}"/>
              </a:ext>
            </a:extLst>
          </p:cNvPr>
          <p:cNvSpPr/>
          <p:nvPr/>
        </p:nvSpPr>
        <p:spPr>
          <a:xfrm>
            <a:off x="3051379" y="4061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1B4B2714-5167-0CC1-7355-8EDCDAC0DD53}"/>
              </a:ext>
            </a:extLst>
          </p:cNvPr>
          <p:cNvCxnSpPr>
            <a:cxnSpLocks/>
          </p:cNvCxnSpPr>
          <p:nvPr/>
        </p:nvCxnSpPr>
        <p:spPr>
          <a:xfrm>
            <a:off x="4106942" y="412588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088E9349-8368-6C14-21D1-001729A2207B}"/>
              </a:ext>
            </a:extLst>
          </p:cNvPr>
          <p:cNvCxnSpPr>
            <a:cxnSpLocks/>
          </p:cNvCxnSpPr>
          <p:nvPr/>
        </p:nvCxnSpPr>
        <p:spPr>
          <a:xfrm flipH="1" flipV="1">
            <a:off x="3195379" y="4205274"/>
            <a:ext cx="845892" cy="56841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7E582FDD-9140-D2E2-6085-96DB51DAC631}"/>
              </a:ext>
            </a:extLst>
          </p:cNvPr>
          <p:cNvCxnSpPr>
            <a:cxnSpLocks/>
            <a:endCxn id="4" idx="6"/>
          </p:cNvCxnSpPr>
          <p:nvPr/>
        </p:nvCxnSpPr>
        <p:spPr>
          <a:xfrm flipH="1">
            <a:off x="5096834" y="4382200"/>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B7B03333-0294-C449-1916-D9603460D05A}"/>
              </a:ext>
            </a:extLst>
          </p:cNvPr>
          <p:cNvCxnSpPr>
            <a:cxnSpLocks/>
          </p:cNvCxnSpPr>
          <p:nvPr/>
        </p:nvCxnSpPr>
        <p:spPr>
          <a:xfrm>
            <a:off x="5995778" y="367519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F7F3988D-2EEC-2A04-8999-4F114E7FAC34}"/>
              </a:ext>
            </a:extLst>
          </p:cNvPr>
          <p:cNvSpPr/>
          <p:nvPr/>
        </p:nvSpPr>
        <p:spPr>
          <a:xfrm>
            <a:off x="5253016" y="538106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663C93CE-F237-6056-1182-B2B029253FC4}"/>
              </a:ext>
            </a:extLst>
          </p:cNvPr>
          <p:cNvCxnSpPr>
            <a:cxnSpLocks/>
          </p:cNvCxnSpPr>
          <p:nvPr/>
        </p:nvCxnSpPr>
        <p:spPr>
          <a:xfrm flipH="1">
            <a:off x="5397016" y="5301219"/>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C1A014B9-BCDE-56C9-D6DC-31CA715BDC56}"/>
              </a:ext>
            </a:extLst>
          </p:cNvPr>
          <p:cNvCxnSpPr>
            <a:cxnSpLocks/>
          </p:cNvCxnSpPr>
          <p:nvPr/>
        </p:nvCxnSpPr>
        <p:spPr>
          <a:xfrm>
            <a:off x="6248903" y="459420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C2AFA0B6-6338-7FDE-C481-34C57A117F10}"/>
              </a:ext>
            </a:extLst>
          </p:cNvPr>
          <p:cNvSpPr/>
          <p:nvPr/>
        </p:nvSpPr>
        <p:spPr>
          <a:xfrm>
            <a:off x="6975598" y="414112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10BBFDDB-E378-A98A-D8A0-3CAC82599033}"/>
              </a:ext>
            </a:extLst>
          </p:cNvPr>
          <p:cNvCxnSpPr>
            <a:cxnSpLocks/>
          </p:cNvCxnSpPr>
          <p:nvPr/>
        </p:nvCxnSpPr>
        <p:spPr>
          <a:xfrm flipH="1" flipV="1">
            <a:off x="7119598" y="4213123"/>
            <a:ext cx="851887" cy="248926"/>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D102A1F1-934B-5A4D-5365-D62D167BF80B}"/>
              </a:ext>
            </a:extLst>
          </p:cNvPr>
          <p:cNvCxnSpPr>
            <a:cxnSpLocks/>
          </p:cNvCxnSpPr>
          <p:nvPr/>
        </p:nvCxnSpPr>
        <p:spPr>
          <a:xfrm>
            <a:off x="8054613" y="3815611"/>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0E1E9E8C-FBA0-FB1E-4AC8-E54F501B64C1}"/>
              </a:ext>
            </a:extLst>
          </p:cNvPr>
          <p:cNvSpPr/>
          <p:nvPr/>
        </p:nvSpPr>
        <p:spPr>
          <a:xfrm>
            <a:off x="3546325" y="5893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B2F594F1-F118-C965-81B2-369987ECAE68}"/>
              </a:ext>
            </a:extLst>
          </p:cNvPr>
          <p:cNvSpPr/>
          <p:nvPr/>
        </p:nvSpPr>
        <p:spPr>
          <a:xfrm>
            <a:off x="9057885" y="4205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44D4625B-8DBB-69E3-F7E7-41FE0EFB7BCB}"/>
              </a:ext>
            </a:extLst>
          </p:cNvPr>
          <p:cNvSpPr/>
          <p:nvPr/>
        </p:nvSpPr>
        <p:spPr>
          <a:xfrm>
            <a:off x="8054613" y="5821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5" name="直線矢印コネクタ 34">
            <a:extLst>
              <a:ext uri="{FF2B5EF4-FFF2-40B4-BE49-F238E27FC236}">
                <a16:creationId xmlns:a16="http://schemas.microsoft.com/office/drawing/2014/main" id="{730E88A6-113C-D0B7-2EA9-4521F0EF8ECF}"/>
              </a:ext>
            </a:extLst>
          </p:cNvPr>
          <p:cNvCxnSpPr>
            <a:cxnSpLocks/>
          </p:cNvCxnSpPr>
          <p:nvPr/>
        </p:nvCxnSpPr>
        <p:spPr>
          <a:xfrm>
            <a:off x="2180146" y="385961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B8C5DFE3-3C6C-78B4-3FC8-4B7C3EAA1708}"/>
                  </a:ext>
                </a:extLst>
              </p:cNvPr>
              <p:cNvSpPr txBox="1"/>
              <p:nvPr/>
            </p:nvSpPr>
            <p:spPr>
              <a:xfrm>
                <a:off x="1972756" y="340601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36" name="テキスト ボックス 35">
                <a:extLst>
                  <a:ext uri="{FF2B5EF4-FFF2-40B4-BE49-F238E27FC236}">
                    <a16:creationId xmlns:a16="http://schemas.microsoft.com/office/drawing/2014/main" id="{EEDEB7B6-52DE-1698-2CE7-2C61153F4423}"/>
                  </a:ext>
                </a:extLst>
              </p:cNvPr>
              <p:cNvSpPr txBox="1">
                <a:spLocks noRot="1" noChangeAspect="1" noMove="1" noResize="1" noEditPoints="1" noAdjustHandles="1" noChangeArrowheads="1" noChangeShapeType="1" noTextEdit="1"/>
              </p:cNvSpPr>
              <p:nvPr/>
            </p:nvSpPr>
            <p:spPr>
              <a:xfrm>
                <a:off x="1972756" y="3406010"/>
                <a:ext cx="414780" cy="400174"/>
              </a:xfrm>
              <a:prstGeom prst="rect">
                <a:avLst/>
              </a:prstGeom>
              <a:blipFill>
                <a:blip r:embed="rId3"/>
                <a:stretch>
                  <a:fillRect b="-1538"/>
                </a:stretch>
              </a:blipFill>
            </p:spPr>
            <p:txBody>
              <a:bodyPr/>
              <a:lstStyle/>
              <a:p>
                <a:r>
                  <a:rPr lang="ja-JP" altLang="en-US">
                    <a:noFill/>
                  </a:rPr>
                  <a:t> </a:t>
                </a:r>
              </a:p>
            </p:txBody>
          </p:sp>
        </mc:Fallback>
      </mc:AlternateContent>
      <p:sp>
        <p:nvSpPr>
          <p:cNvPr id="7" name="スライド番号プレースホルダー 6">
            <a:extLst>
              <a:ext uri="{FF2B5EF4-FFF2-40B4-BE49-F238E27FC236}">
                <a16:creationId xmlns:a16="http://schemas.microsoft.com/office/drawing/2014/main" id="{BB319896-2AEF-0812-6DA1-59D2C371DEDF}"/>
              </a:ext>
            </a:extLst>
          </p:cNvPr>
          <p:cNvSpPr>
            <a:spLocks noGrp="1"/>
          </p:cNvSpPr>
          <p:nvPr>
            <p:ph type="sldNum" sz="quarter" idx="12"/>
          </p:nvPr>
        </p:nvSpPr>
        <p:spPr/>
        <p:txBody>
          <a:bodyPr/>
          <a:lstStyle/>
          <a:p>
            <a:fld id="{4B077F3A-4098-4199-8925-77865D1E3500}" type="slidenum">
              <a:rPr kumimoji="1" lang="ja-JP" altLang="en-US" smtClean="0"/>
              <a:t>12</a:t>
            </a:fld>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1D646963-2CD6-6A01-8C7A-25801B9095B6}"/>
                  </a:ext>
                </a:extLst>
              </p:cNvPr>
              <p:cNvSpPr txBox="1"/>
              <p:nvPr/>
            </p:nvSpPr>
            <p:spPr>
              <a:xfrm>
                <a:off x="3899552" y="367519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2</m:t>
                          </m:r>
                        </m:sub>
                      </m:sSub>
                    </m:oMath>
                  </m:oMathPara>
                </a14:m>
                <a:endParaRPr kumimoji="1" lang="ja-JP" altLang="en-US" sz="2000" dirty="0"/>
              </a:p>
            </p:txBody>
          </p:sp>
        </mc:Choice>
        <mc:Fallback xmlns="">
          <p:sp>
            <p:nvSpPr>
              <p:cNvPr id="9" name="テキスト ボックス 8">
                <a:extLst>
                  <a:ext uri="{FF2B5EF4-FFF2-40B4-BE49-F238E27FC236}">
                    <a16:creationId xmlns:a16="http://schemas.microsoft.com/office/drawing/2014/main" id="{1D646963-2CD6-6A01-8C7A-25801B9095B6}"/>
                  </a:ext>
                </a:extLst>
              </p:cNvPr>
              <p:cNvSpPr txBox="1">
                <a:spLocks noRot="1" noChangeAspect="1" noMove="1" noResize="1" noEditPoints="1" noAdjustHandles="1" noChangeArrowheads="1" noChangeShapeType="1" noTextEdit="1"/>
              </p:cNvSpPr>
              <p:nvPr/>
            </p:nvSpPr>
            <p:spPr>
              <a:xfrm>
                <a:off x="3899552" y="3675190"/>
                <a:ext cx="414780" cy="400174"/>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C2BCFE4-B7D5-750F-63EC-30D38DF02C3A}"/>
                  </a:ext>
                </a:extLst>
              </p:cNvPr>
              <p:cNvSpPr txBox="1"/>
              <p:nvPr/>
            </p:nvSpPr>
            <p:spPr>
              <a:xfrm>
                <a:off x="5791182" y="3232838"/>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3</m:t>
                          </m:r>
                        </m:sub>
                      </m:sSub>
                    </m:oMath>
                  </m:oMathPara>
                </a14:m>
                <a:endParaRPr kumimoji="1" lang="ja-JP" altLang="en-US" sz="2000" dirty="0"/>
              </a:p>
            </p:txBody>
          </p:sp>
        </mc:Choice>
        <mc:Fallback xmlns="">
          <p:sp>
            <p:nvSpPr>
              <p:cNvPr id="10" name="テキスト ボックス 9">
                <a:extLst>
                  <a:ext uri="{FF2B5EF4-FFF2-40B4-BE49-F238E27FC236}">
                    <a16:creationId xmlns:a16="http://schemas.microsoft.com/office/drawing/2014/main" id="{DC2BCFE4-B7D5-750F-63EC-30D38DF02C3A}"/>
                  </a:ext>
                </a:extLst>
              </p:cNvPr>
              <p:cNvSpPr txBox="1">
                <a:spLocks noRot="1" noChangeAspect="1" noMove="1" noResize="1" noEditPoints="1" noAdjustHandles="1" noChangeArrowheads="1" noChangeShapeType="1" noTextEdit="1"/>
              </p:cNvSpPr>
              <p:nvPr/>
            </p:nvSpPr>
            <p:spPr>
              <a:xfrm>
                <a:off x="5791182" y="3232838"/>
                <a:ext cx="414780" cy="4001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BAEEF924-53C7-D5BB-E59E-CA9A53B95FCB}"/>
                  </a:ext>
                </a:extLst>
              </p:cNvPr>
              <p:cNvSpPr txBox="1"/>
              <p:nvPr/>
            </p:nvSpPr>
            <p:spPr>
              <a:xfrm>
                <a:off x="7846794" y="3306412"/>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4</m:t>
                          </m:r>
                        </m:sub>
                      </m:sSub>
                    </m:oMath>
                  </m:oMathPara>
                </a14:m>
                <a:endParaRPr kumimoji="1" lang="ja-JP" altLang="en-US" sz="2000" dirty="0"/>
              </a:p>
            </p:txBody>
          </p:sp>
        </mc:Choice>
        <mc:Fallback xmlns="">
          <p:sp>
            <p:nvSpPr>
              <p:cNvPr id="11" name="テキスト ボックス 10">
                <a:extLst>
                  <a:ext uri="{FF2B5EF4-FFF2-40B4-BE49-F238E27FC236}">
                    <a16:creationId xmlns:a16="http://schemas.microsoft.com/office/drawing/2014/main" id="{BAEEF924-53C7-D5BB-E59E-CA9A53B95FCB}"/>
                  </a:ext>
                </a:extLst>
              </p:cNvPr>
              <p:cNvSpPr txBox="1">
                <a:spLocks noRot="1" noChangeAspect="1" noMove="1" noResize="1" noEditPoints="1" noAdjustHandles="1" noChangeArrowheads="1" noChangeShapeType="1" noTextEdit="1"/>
              </p:cNvSpPr>
              <p:nvPr/>
            </p:nvSpPr>
            <p:spPr>
              <a:xfrm>
                <a:off x="7846794" y="3306412"/>
                <a:ext cx="414780" cy="400174"/>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B5DE4A81-04A1-FEF9-1F74-DF0578AA13A3}"/>
                  </a:ext>
                </a:extLst>
              </p:cNvPr>
              <p:cNvSpPr txBox="1"/>
              <p:nvPr/>
            </p:nvSpPr>
            <p:spPr>
              <a:xfrm>
                <a:off x="6066317" y="4165327"/>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oMath>
                  </m:oMathPara>
                </a14:m>
                <a:endParaRPr kumimoji="1" lang="ja-JP" altLang="en-US" sz="2000" dirty="0"/>
              </a:p>
            </p:txBody>
          </p:sp>
        </mc:Choice>
        <mc:Fallback xmlns="">
          <p:sp>
            <p:nvSpPr>
              <p:cNvPr id="12" name="テキスト ボックス 11">
                <a:extLst>
                  <a:ext uri="{FF2B5EF4-FFF2-40B4-BE49-F238E27FC236}">
                    <a16:creationId xmlns:a16="http://schemas.microsoft.com/office/drawing/2014/main" id="{B5DE4A81-04A1-FEF9-1F74-DF0578AA13A3}"/>
                  </a:ext>
                </a:extLst>
              </p:cNvPr>
              <p:cNvSpPr txBox="1">
                <a:spLocks noRot="1" noChangeAspect="1" noMove="1" noResize="1" noEditPoints="1" noAdjustHandles="1" noChangeArrowheads="1" noChangeShapeType="1" noTextEdit="1"/>
              </p:cNvSpPr>
              <p:nvPr/>
            </p:nvSpPr>
            <p:spPr>
              <a:xfrm>
                <a:off x="6066317" y="4165327"/>
                <a:ext cx="414780" cy="400174"/>
              </a:xfrm>
              <a:prstGeom prst="rect">
                <a:avLst/>
              </a:prstGeom>
              <a:blipFill>
                <a:blip r:embed="rId7"/>
                <a:stretch>
                  <a:fillRect/>
                </a:stretch>
              </a:blipFill>
            </p:spPr>
            <p:txBody>
              <a:bodyPr/>
              <a:lstStyle/>
              <a:p>
                <a:r>
                  <a:rPr lang="ja-JP" altLang="en-US">
                    <a:noFill/>
                  </a:rPr>
                  <a:t> </a:t>
                </a:r>
              </a:p>
            </p:txBody>
          </p:sp>
        </mc:Fallback>
      </mc:AlternateContent>
      <p:sp>
        <p:nvSpPr>
          <p:cNvPr id="15" name="楕円 14">
            <a:extLst>
              <a:ext uri="{FF2B5EF4-FFF2-40B4-BE49-F238E27FC236}">
                <a16:creationId xmlns:a16="http://schemas.microsoft.com/office/drawing/2014/main" id="{3A5DDC7D-7094-2612-947F-DE3BDC283682}"/>
              </a:ext>
            </a:extLst>
          </p:cNvPr>
          <p:cNvSpPr/>
          <p:nvPr/>
        </p:nvSpPr>
        <p:spPr>
          <a:xfrm>
            <a:off x="8913885" y="43125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A1BDC907-1E10-1D35-EBC6-0B101E7DA4B9}"/>
              </a:ext>
            </a:extLst>
          </p:cNvPr>
          <p:cNvCxnSpPr>
            <a:cxnSpLocks/>
          </p:cNvCxnSpPr>
          <p:nvPr/>
        </p:nvCxnSpPr>
        <p:spPr>
          <a:xfrm>
            <a:off x="8985885" y="858608"/>
            <a:ext cx="0" cy="47970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489BBC9E-5657-9F59-8DA8-79DAFBC561F7}"/>
              </a:ext>
            </a:extLst>
          </p:cNvPr>
          <p:cNvSpPr txBox="1"/>
          <p:nvPr/>
        </p:nvSpPr>
        <p:spPr>
          <a:xfrm>
            <a:off x="9263799" y="337229"/>
            <a:ext cx="2149312" cy="369332"/>
          </a:xfrm>
          <a:prstGeom prst="rect">
            <a:avLst/>
          </a:prstGeom>
          <a:noFill/>
        </p:spPr>
        <p:txBody>
          <a:bodyPr wrap="square" rtlCol="0">
            <a:spAutoFit/>
          </a:bodyPr>
          <a:lstStyle/>
          <a:p>
            <a:r>
              <a:rPr kumimoji="1" lang="ja-JP" altLang="en-US" dirty="0"/>
              <a:t>サーバ（病院）</a:t>
            </a:r>
          </a:p>
        </p:txBody>
      </p:sp>
      <p:sp>
        <p:nvSpPr>
          <p:cNvPr id="20" name="テキスト ボックス 19">
            <a:extLst>
              <a:ext uri="{FF2B5EF4-FFF2-40B4-BE49-F238E27FC236}">
                <a16:creationId xmlns:a16="http://schemas.microsoft.com/office/drawing/2014/main" id="{49345345-2B12-531A-46E3-5E7DD54C3D87}"/>
              </a:ext>
            </a:extLst>
          </p:cNvPr>
          <p:cNvSpPr txBox="1"/>
          <p:nvPr/>
        </p:nvSpPr>
        <p:spPr>
          <a:xfrm>
            <a:off x="9263798" y="979041"/>
            <a:ext cx="2312311" cy="369332"/>
          </a:xfrm>
          <a:prstGeom prst="rect">
            <a:avLst/>
          </a:prstGeom>
          <a:noFill/>
        </p:spPr>
        <p:txBody>
          <a:bodyPr wrap="square" rtlCol="0">
            <a:spAutoFit/>
          </a:bodyPr>
          <a:lstStyle/>
          <a:p>
            <a:r>
              <a:rPr lang="ja-JP" altLang="en-US" dirty="0"/>
              <a:t>リクエスト</a:t>
            </a:r>
            <a:r>
              <a:rPr kumimoji="1" lang="ja-JP" altLang="en-US" dirty="0"/>
              <a:t>（患者）</a:t>
            </a: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9A6F258C-296D-FA3A-1CB1-22B05BBD827D}"/>
                  </a:ext>
                </a:extLst>
              </p:cNvPr>
              <p:cNvSpPr txBox="1"/>
              <p:nvPr/>
            </p:nvSpPr>
            <p:spPr>
              <a:xfrm>
                <a:off x="6975598" y="4602470"/>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b="0" i="1" smtClean="0">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21" name="テキスト ボックス 20">
                <a:extLst>
                  <a:ext uri="{FF2B5EF4-FFF2-40B4-BE49-F238E27FC236}">
                    <a16:creationId xmlns:a16="http://schemas.microsoft.com/office/drawing/2014/main" id="{9A6F258C-296D-FA3A-1CB1-22B05BBD827D}"/>
                  </a:ext>
                </a:extLst>
              </p:cNvPr>
              <p:cNvSpPr txBox="1">
                <a:spLocks noRot="1" noChangeAspect="1" noMove="1" noResize="1" noEditPoints="1" noAdjustHandles="1" noChangeArrowheads="1" noChangeShapeType="1" noTextEdit="1"/>
              </p:cNvSpPr>
              <p:nvPr/>
            </p:nvSpPr>
            <p:spPr>
              <a:xfrm>
                <a:off x="6975598" y="4602470"/>
                <a:ext cx="1257972" cy="469809"/>
              </a:xfrm>
              <a:prstGeom prst="rect">
                <a:avLst/>
              </a:prstGeom>
              <a:blipFill>
                <a:blip r:embed="rId8"/>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747226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5011C-A96E-1502-E043-7977539820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B88D0C-A6C9-4726-900E-F3478484D78E}"/>
              </a:ext>
            </a:extLst>
          </p:cNvPr>
          <p:cNvSpPr>
            <a:spLocks noGrp="1"/>
          </p:cNvSpPr>
          <p:nvPr>
            <p:ph type="title"/>
          </p:nvPr>
        </p:nvSpPr>
        <p:spPr/>
        <p:txBody>
          <a:bodyPr/>
          <a:lstStyle/>
          <a:p>
            <a:r>
              <a:rPr lang="en-US" altLang="ja-JP" dirty="0"/>
              <a:t>Permutation</a:t>
            </a:r>
            <a:r>
              <a:rPr lang="ja-JP" altLang="en-US" dirty="0"/>
              <a:t> </a:t>
            </a:r>
            <a:r>
              <a:rPr kumimoji="1" lang="ja-JP" altLang="en-US" dirty="0"/>
              <a:t>の割り当て２</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0AF2F14-1F3E-A9E6-6BE6-BF07ABFCABF9}"/>
                  </a:ext>
                </a:extLst>
              </p:cNvPr>
              <p:cNvSpPr>
                <a:spLocks noGrp="1"/>
              </p:cNvSpPr>
              <p:nvPr>
                <p:ph idx="1"/>
              </p:nvPr>
            </p:nvSpPr>
            <p:spPr>
              <a:xfrm>
                <a:off x="838200" y="1825625"/>
                <a:ext cx="10515600" cy="899102"/>
              </a:xfrm>
            </p:spPr>
            <p:txBody>
              <a:bodyPr>
                <a:normAutofit/>
              </a:bodyPr>
              <a:lstStyle/>
              <a:p>
                <a:pPr marL="0" indent="0">
                  <a:buNone/>
                </a:pPr>
                <a:r>
                  <a:rPr kumimoji="1" lang="ja-JP" altLang="en-US" sz="2400" dirty="0"/>
                  <a:t>最適マッチング </a:t>
                </a: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oMath>
                </a14:m>
                <a:r>
                  <a:rPr kumimoji="1" lang="ja-JP" altLang="en-US" sz="2400" dirty="0"/>
                  <a:t> </a:t>
                </a:r>
                <a:r>
                  <a:rPr lang="ja-JP" altLang="en-US" sz="2400" dirty="0"/>
                  <a:t>を計算済みで</a:t>
                </a:r>
                <a:r>
                  <a:rPr kumimoji="1" lang="ja-JP" altLang="en-US" sz="2400" dirty="0"/>
                  <a:t>新しいリクエスト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5</m:t>
                        </m:r>
                      </m:sub>
                    </m:sSub>
                  </m:oMath>
                </a14:m>
                <a:r>
                  <a:rPr kumimoji="1" lang="ja-JP" altLang="en-US" sz="2400" dirty="0"/>
                  <a:t> を受け取った</a:t>
                </a:r>
                <a:endParaRPr kumimoji="1" lang="en-US" altLang="ja-JP" sz="2400" dirty="0"/>
              </a:p>
              <a:p>
                <a:pPr marL="0" indent="0">
                  <a:buNone/>
                </a:pP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5</m:t>
                        </m:r>
                      </m:sub>
                    </m:sSub>
                  </m:oMath>
                </a14:m>
                <a:r>
                  <a:rPr kumimoji="1" lang="ja-JP" altLang="en-US" sz="2400" dirty="0"/>
                  <a:t> を含む最適マッチング </a:t>
                </a:r>
                <a14:m>
                  <m:oMath xmlns:m="http://schemas.openxmlformats.org/officeDocument/2006/math">
                    <m:sSubSup>
                      <m:sSubSupPr>
                        <m:ctrlPr>
                          <a:rPr kumimoji="1" lang="en-US" altLang="ja-JP" sz="2400" b="0" i="1" smtClean="0">
                            <a:solidFill>
                              <a:srgbClr val="7030A0"/>
                            </a:solidFill>
                            <a:latin typeface="Cambria Math" panose="02040503050406030204" pitchFamily="18" charset="0"/>
                          </a:rPr>
                        </m:ctrlPr>
                      </m:sSubSupPr>
                      <m:e>
                        <m:r>
                          <a:rPr kumimoji="1" lang="en-US" altLang="ja-JP" sz="2400" b="0" i="1" smtClean="0">
                            <a:solidFill>
                              <a:srgbClr val="7030A0"/>
                            </a:solidFill>
                            <a:latin typeface="Cambria Math" panose="02040503050406030204" pitchFamily="18" charset="0"/>
                          </a:rPr>
                          <m:t>𝑀</m:t>
                        </m:r>
                      </m:e>
                      <m:sub>
                        <m:r>
                          <a:rPr kumimoji="1" lang="en-US" altLang="ja-JP" sz="2400" b="0" i="1" smtClean="0">
                            <a:solidFill>
                              <a:srgbClr val="7030A0"/>
                            </a:solidFill>
                            <a:latin typeface="Cambria Math" panose="02040503050406030204" pitchFamily="18" charset="0"/>
                          </a:rPr>
                          <m:t>5</m:t>
                        </m:r>
                      </m:sub>
                      <m:sup>
                        <m:r>
                          <a:rPr kumimoji="1" lang="en-US" altLang="ja-JP" sz="2400" b="0" i="1" smtClean="0">
                            <a:solidFill>
                              <a:srgbClr val="7030A0"/>
                            </a:solidFill>
                            <a:latin typeface="Cambria Math" panose="02040503050406030204" pitchFamily="18" charset="0"/>
                          </a:rPr>
                          <m:t>∗</m:t>
                        </m:r>
                      </m:sup>
                    </m:sSubSup>
                  </m:oMath>
                </a14:m>
                <a:r>
                  <a:rPr kumimoji="1" lang="ja-JP" altLang="en-US" sz="2400" dirty="0"/>
                  <a:t> を計算する</a:t>
                </a:r>
              </a:p>
            </p:txBody>
          </p:sp>
        </mc:Choice>
        <mc:Fallback xmlns="">
          <p:sp>
            <p:nvSpPr>
              <p:cNvPr id="3" name="コンテンツ プレースホルダー 2">
                <a:extLst>
                  <a:ext uri="{FF2B5EF4-FFF2-40B4-BE49-F238E27FC236}">
                    <a16:creationId xmlns:a16="http://schemas.microsoft.com/office/drawing/2014/main" id="{90AF2F14-1F3E-A9E6-6BE6-BF07ABFCABF9}"/>
                  </a:ext>
                </a:extLst>
              </p:cNvPr>
              <p:cNvSpPr>
                <a:spLocks noGrp="1" noRot="1" noChangeAspect="1" noMove="1" noResize="1" noEditPoints="1" noAdjustHandles="1" noChangeArrowheads="1" noChangeShapeType="1" noTextEdit="1"/>
              </p:cNvSpPr>
              <p:nvPr>
                <p:ph idx="1"/>
              </p:nvPr>
            </p:nvSpPr>
            <p:spPr>
              <a:xfrm>
                <a:off x="838200" y="1825625"/>
                <a:ext cx="10515600" cy="899102"/>
              </a:xfrm>
              <a:blipFill>
                <a:blip r:embed="rId2"/>
                <a:stretch>
                  <a:fillRect l="-928" t="-7432" b="-1486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D94F9691-449E-7EAD-A56A-6A2E5E68D0DA}"/>
              </a:ext>
            </a:extLst>
          </p:cNvPr>
          <p:cNvSpPr/>
          <p:nvPr/>
        </p:nvSpPr>
        <p:spPr>
          <a:xfrm>
            <a:off x="4952834" y="446204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6868BE8F-37F5-FFC0-94FE-DC65B1CDA91F}"/>
              </a:ext>
            </a:extLst>
          </p:cNvPr>
          <p:cNvSpPr/>
          <p:nvPr/>
        </p:nvSpPr>
        <p:spPr>
          <a:xfrm>
            <a:off x="3051379" y="4061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99CAF52F-9D3B-2315-F8D7-9CE662C55708}"/>
              </a:ext>
            </a:extLst>
          </p:cNvPr>
          <p:cNvCxnSpPr>
            <a:cxnSpLocks/>
          </p:cNvCxnSpPr>
          <p:nvPr/>
        </p:nvCxnSpPr>
        <p:spPr>
          <a:xfrm>
            <a:off x="4106942" y="412588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E3A95486-555C-9EE6-A8D2-4D12F411DA3E}"/>
              </a:ext>
            </a:extLst>
          </p:cNvPr>
          <p:cNvCxnSpPr>
            <a:cxnSpLocks/>
          </p:cNvCxnSpPr>
          <p:nvPr/>
        </p:nvCxnSpPr>
        <p:spPr>
          <a:xfrm flipH="1" flipV="1">
            <a:off x="3195379" y="4205274"/>
            <a:ext cx="845892" cy="56841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F0A98797-D5F3-C68F-9703-5D0D9499D90D}"/>
              </a:ext>
            </a:extLst>
          </p:cNvPr>
          <p:cNvCxnSpPr>
            <a:cxnSpLocks/>
            <a:endCxn id="4" idx="6"/>
          </p:cNvCxnSpPr>
          <p:nvPr/>
        </p:nvCxnSpPr>
        <p:spPr>
          <a:xfrm flipH="1">
            <a:off x="5096834" y="4382200"/>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0313AB5E-3D88-988F-BB85-5D6D922D02C5}"/>
              </a:ext>
            </a:extLst>
          </p:cNvPr>
          <p:cNvCxnSpPr>
            <a:cxnSpLocks/>
          </p:cNvCxnSpPr>
          <p:nvPr/>
        </p:nvCxnSpPr>
        <p:spPr>
          <a:xfrm>
            <a:off x="5995778" y="367519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3DBCAEBC-24D4-189E-C81A-A2EDB2A7ABD7}"/>
              </a:ext>
            </a:extLst>
          </p:cNvPr>
          <p:cNvSpPr/>
          <p:nvPr/>
        </p:nvSpPr>
        <p:spPr>
          <a:xfrm>
            <a:off x="5253016" y="538106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AA35CED7-86A4-3D46-0356-8627B81A8412}"/>
              </a:ext>
            </a:extLst>
          </p:cNvPr>
          <p:cNvCxnSpPr>
            <a:cxnSpLocks/>
          </p:cNvCxnSpPr>
          <p:nvPr/>
        </p:nvCxnSpPr>
        <p:spPr>
          <a:xfrm flipH="1">
            <a:off x="5397016" y="5301219"/>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9731CD06-FAF7-8A03-B7A7-990A5977F349}"/>
              </a:ext>
            </a:extLst>
          </p:cNvPr>
          <p:cNvCxnSpPr>
            <a:cxnSpLocks/>
          </p:cNvCxnSpPr>
          <p:nvPr/>
        </p:nvCxnSpPr>
        <p:spPr>
          <a:xfrm>
            <a:off x="6248903" y="459420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233D9DE9-FD0E-7876-92A0-2257B9A56DB0}"/>
              </a:ext>
            </a:extLst>
          </p:cNvPr>
          <p:cNvSpPr/>
          <p:nvPr/>
        </p:nvSpPr>
        <p:spPr>
          <a:xfrm>
            <a:off x="6975598" y="414112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748322D9-6A09-D7B3-F068-D6FCAC3E87BF}"/>
              </a:ext>
            </a:extLst>
          </p:cNvPr>
          <p:cNvCxnSpPr>
            <a:cxnSpLocks/>
          </p:cNvCxnSpPr>
          <p:nvPr/>
        </p:nvCxnSpPr>
        <p:spPr>
          <a:xfrm flipH="1" flipV="1">
            <a:off x="7119598" y="4213123"/>
            <a:ext cx="851887" cy="248926"/>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B2CF0B6A-D99C-42B0-344E-F872F60BD0E2}"/>
              </a:ext>
            </a:extLst>
          </p:cNvPr>
          <p:cNvCxnSpPr>
            <a:cxnSpLocks/>
          </p:cNvCxnSpPr>
          <p:nvPr/>
        </p:nvCxnSpPr>
        <p:spPr>
          <a:xfrm>
            <a:off x="8054613" y="3815611"/>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A45F055A-6197-3DE5-0D1D-41573859F7A5}"/>
              </a:ext>
            </a:extLst>
          </p:cNvPr>
          <p:cNvSpPr/>
          <p:nvPr/>
        </p:nvSpPr>
        <p:spPr>
          <a:xfrm>
            <a:off x="3546325" y="5893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2C6260CD-99D1-F80A-A731-AF537329B59B}"/>
              </a:ext>
            </a:extLst>
          </p:cNvPr>
          <p:cNvSpPr/>
          <p:nvPr/>
        </p:nvSpPr>
        <p:spPr>
          <a:xfrm>
            <a:off x="9057885" y="4205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8902F781-44AE-5E17-F2C1-48193E829DF8}"/>
              </a:ext>
            </a:extLst>
          </p:cNvPr>
          <p:cNvSpPr/>
          <p:nvPr/>
        </p:nvSpPr>
        <p:spPr>
          <a:xfrm>
            <a:off x="8054613" y="5821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5" name="直線矢印コネクタ 34">
            <a:extLst>
              <a:ext uri="{FF2B5EF4-FFF2-40B4-BE49-F238E27FC236}">
                <a16:creationId xmlns:a16="http://schemas.microsoft.com/office/drawing/2014/main" id="{C6C304E9-BBA8-6460-1E2C-03C2158D75EE}"/>
              </a:ext>
            </a:extLst>
          </p:cNvPr>
          <p:cNvCxnSpPr>
            <a:cxnSpLocks/>
          </p:cNvCxnSpPr>
          <p:nvPr/>
        </p:nvCxnSpPr>
        <p:spPr>
          <a:xfrm>
            <a:off x="2180146" y="385961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C9BA3FFB-1715-719B-5DAF-9A78F72A696D}"/>
                  </a:ext>
                </a:extLst>
              </p:cNvPr>
              <p:cNvSpPr txBox="1"/>
              <p:nvPr/>
            </p:nvSpPr>
            <p:spPr>
              <a:xfrm>
                <a:off x="1972756" y="340601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36" name="テキスト ボックス 35">
                <a:extLst>
                  <a:ext uri="{FF2B5EF4-FFF2-40B4-BE49-F238E27FC236}">
                    <a16:creationId xmlns:a16="http://schemas.microsoft.com/office/drawing/2014/main" id="{C9BA3FFB-1715-719B-5DAF-9A78F72A696D}"/>
                  </a:ext>
                </a:extLst>
              </p:cNvPr>
              <p:cNvSpPr txBox="1">
                <a:spLocks noRot="1" noChangeAspect="1" noMove="1" noResize="1" noEditPoints="1" noAdjustHandles="1" noChangeArrowheads="1" noChangeShapeType="1" noTextEdit="1"/>
              </p:cNvSpPr>
              <p:nvPr/>
            </p:nvSpPr>
            <p:spPr>
              <a:xfrm>
                <a:off x="1972756" y="3406010"/>
                <a:ext cx="414780" cy="400174"/>
              </a:xfrm>
              <a:prstGeom prst="rect">
                <a:avLst/>
              </a:prstGeom>
              <a:blipFill>
                <a:blip r:embed="rId3"/>
                <a:stretch>
                  <a:fillRect b="-1538"/>
                </a:stretch>
              </a:blipFill>
            </p:spPr>
            <p:txBody>
              <a:bodyPr/>
              <a:lstStyle/>
              <a:p>
                <a:r>
                  <a:rPr lang="ja-JP" altLang="en-US">
                    <a:noFill/>
                  </a:rPr>
                  <a:t> </a:t>
                </a:r>
              </a:p>
            </p:txBody>
          </p:sp>
        </mc:Fallback>
      </mc:AlternateContent>
      <p:sp>
        <p:nvSpPr>
          <p:cNvPr id="7" name="スライド番号プレースホルダー 6">
            <a:extLst>
              <a:ext uri="{FF2B5EF4-FFF2-40B4-BE49-F238E27FC236}">
                <a16:creationId xmlns:a16="http://schemas.microsoft.com/office/drawing/2014/main" id="{9BE6BC16-E7A8-E8A5-66B4-EEE2178A66A6}"/>
              </a:ext>
            </a:extLst>
          </p:cNvPr>
          <p:cNvSpPr>
            <a:spLocks noGrp="1"/>
          </p:cNvSpPr>
          <p:nvPr>
            <p:ph type="sldNum" sz="quarter" idx="12"/>
          </p:nvPr>
        </p:nvSpPr>
        <p:spPr/>
        <p:txBody>
          <a:bodyPr/>
          <a:lstStyle/>
          <a:p>
            <a:fld id="{4B077F3A-4098-4199-8925-77865D1E3500}" type="slidenum">
              <a:rPr kumimoji="1" lang="ja-JP" altLang="en-US" smtClean="0"/>
              <a:t>13</a:t>
            </a:fld>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862DFEAF-ACC0-48FB-13BA-1F5026706B0E}"/>
                  </a:ext>
                </a:extLst>
              </p:cNvPr>
              <p:cNvSpPr txBox="1"/>
              <p:nvPr/>
            </p:nvSpPr>
            <p:spPr>
              <a:xfrm>
                <a:off x="3899552" y="367519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2</m:t>
                          </m:r>
                        </m:sub>
                      </m:sSub>
                    </m:oMath>
                  </m:oMathPara>
                </a14:m>
                <a:endParaRPr kumimoji="1" lang="ja-JP" altLang="en-US" sz="2000" dirty="0"/>
              </a:p>
            </p:txBody>
          </p:sp>
        </mc:Choice>
        <mc:Fallback xmlns="">
          <p:sp>
            <p:nvSpPr>
              <p:cNvPr id="9" name="テキスト ボックス 8">
                <a:extLst>
                  <a:ext uri="{FF2B5EF4-FFF2-40B4-BE49-F238E27FC236}">
                    <a16:creationId xmlns:a16="http://schemas.microsoft.com/office/drawing/2014/main" id="{862DFEAF-ACC0-48FB-13BA-1F5026706B0E}"/>
                  </a:ext>
                </a:extLst>
              </p:cNvPr>
              <p:cNvSpPr txBox="1">
                <a:spLocks noRot="1" noChangeAspect="1" noMove="1" noResize="1" noEditPoints="1" noAdjustHandles="1" noChangeArrowheads="1" noChangeShapeType="1" noTextEdit="1"/>
              </p:cNvSpPr>
              <p:nvPr/>
            </p:nvSpPr>
            <p:spPr>
              <a:xfrm>
                <a:off x="3899552" y="3675190"/>
                <a:ext cx="414780" cy="400174"/>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68DAE2CE-2493-C8A5-9CE2-3DA654E87B97}"/>
                  </a:ext>
                </a:extLst>
              </p:cNvPr>
              <p:cNvSpPr txBox="1"/>
              <p:nvPr/>
            </p:nvSpPr>
            <p:spPr>
              <a:xfrm>
                <a:off x="5791182" y="3232838"/>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3</m:t>
                          </m:r>
                        </m:sub>
                      </m:sSub>
                    </m:oMath>
                  </m:oMathPara>
                </a14:m>
                <a:endParaRPr kumimoji="1" lang="ja-JP" altLang="en-US" sz="2000" dirty="0"/>
              </a:p>
            </p:txBody>
          </p:sp>
        </mc:Choice>
        <mc:Fallback xmlns="">
          <p:sp>
            <p:nvSpPr>
              <p:cNvPr id="10" name="テキスト ボックス 9">
                <a:extLst>
                  <a:ext uri="{FF2B5EF4-FFF2-40B4-BE49-F238E27FC236}">
                    <a16:creationId xmlns:a16="http://schemas.microsoft.com/office/drawing/2014/main" id="{68DAE2CE-2493-C8A5-9CE2-3DA654E87B97}"/>
                  </a:ext>
                </a:extLst>
              </p:cNvPr>
              <p:cNvSpPr txBox="1">
                <a:spLocks noRot="1" noChangeAspect="1" noMove="1" noResize="1" noEditPoints="1" noAdjustHandles="1" noChangeArrowheads="1" noChangeShapeType="1" noTextEdit="1"/>
              </p:cNvSpPr>
              <p:nvPr/>
            </p:nvSpPr>
            <p:spPr>
              <a:xfrm>
                <a:off x="5791182" y="3232838"/>
                <a:ext cx="414780" cy="4001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9DEB9CAB-3160-7F8A-C6FD-AF09BCB4240A}"/>
                  </a:ext>
                </a:extLst>
              </p:cNvPr>
              <p:cNvSpPr txBox="1"/>
              <p:nvPr/>
            </p:nvSpPr>
            <p:spPr>
              <a:xfrm>
                <a:off x="7846794" y="3306412"/>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4</m:t>
                          </m:r>
                        </m:sub>
                      </m:sSub>
                    </m:oMath>
                  </m:oMathPara>
                </a14:m>
                <a:endParaRPr kumimoji="1" lang="ja-JP" altLang="en-US" sz="2000" dirty="0"/>
              </a:p>
            </p:txBody>
          </p:sp>
        </mc:Choice>
        <mc:Fallback xmlns="">
          <p:sp>
            <p:nvSpPr>
              <p:cNvPr id="11" name="テキスト ボックス 10">
                <a:extLst>
                  <a:ext uri="{FF2B5EF4-FFF2-40B4-BE49-F238E27FC236}">
                    <a16:creationId xmlns:a16="http://schemas.microsoft.com/office/drawing/2014/main" id="{9DEB9CAB-3160-7F8A-C6FD-AF09BCB4240A}"/>
                  </a:ext>
                </a:extLst>
              </p:cNvPr>
              <p:cNvSpPr txBox="1">
                <a:spLocks noRot="1" noChangeAspect="1" noMove="1" noResize="1" noEditPoints="1" noAdjustHandles="1" noChangeArrowheads="1" noChangeShapeType="1" noTextEdit="1"/>
              </p:cNvSpPr>
              <p:nvPr/>
            </p:nvSpPr>
            <p:spPr>
              <a:xfrm>
                <a:off x="7846794" y="3306412"/>
                <a:ext cx="414780" cy="400174"/>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E4FDEF46-067D-9950-DF8A-818CC799D4C4}"/>
                  </a:ext>
                </a:extLst>
              </p:cNvPr>
              <p:cNvSpPr txBox="1"/>
              <p:nvPr/>
            </p:nvSpPr>
            <p:spPr>
              <a:xfrm>
                <a:off x="6066317" y="4165327"/>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oMath>
                  </m:oMathPara>
                </a14:m>
                <a:endParaRPr kumimoji="1" lang="ja-JP" altLang="en-US" sz="2000" dirty="0"/>
              </a:p>
            </p:txBody>
          </p:sp>
        </mc:Choice>
        <mc:Fallback xmlns="">
          <p:sp>
            <p:nvSpPr>
              <p:cNvPr id="12" name="テキスト ボックス 11">
                <a:extLst>
                  <a:ext uri="{FF2B5EF4-FFF2-40B4-BE49-F238E27FC236}">
                    <a16:creationId xmlns:a16="http://schemas.microsoft.com/office/drawing/2014/main" id="{E4FDEF46-067D-9950-DF8A-818CC799D4C4}"/>
                  </a:ext>
                </a:extLst>
              </p:cNvPr>
              <p:cNvSpPr txBox="1">
                <a:spLocks noRot="1" noChangeAspect="1" noMove="1" noResize="1" noEditPoints="1" noAdjustHandles="1" noChangeArrowheads="1" noChangeShapeType="1" noTextEdit="1"/>
              </p:cNvSpPr>
              <p:nvPr/>
            </p:nvSpPr>
            <p:spPr>
              <a:xfrm>
                <a:off x="6066317" y="4165327"/>
                <a:ext cx="414780" cy="400174"/>
              </a:xfrm>
              <a:prstGeom prst="rect">
                <a:avLst/>
              </a:prstGeom>
              <a:blipFill>
                <a:blip r:embed="rId7"/>
                <a:stretch>
                  <a:fillRect/>
                </a:stretch>
              </a:blipFill>
            </p:spPr>
            <p:txBody>
              <a:bodyPr/>
              <a:lstStyle/>
              <a:p>
                <a:r>
                  <a:rPr lang="ja-JP" altLang="en-US">
                    <a:noFill/>
                  </a:rPr>
                  <a:t> </a:t>
                </a:r>
              </a:p>
            </p:txBody>
          </p:sp>
        </mc:Fallback>
      </mc:AlternateContent>
      <p:cxnSp>
        <p:nvCxnSpPr>
          <p:cNvPr id="8" name="直線矢印コネクタ 7">
            <a:extLst>
              <a:ext uri="{FF2B5EF4-FFF2-40B4-BE49-F238E27FC236}">
                <a16:creationId xmlns:a16="http://schemas.microsoft.com/office/drawing/2014/main" id="{1C870035-A915-69D7-D55C-538531B644DC}"/>
              </a:ext>
            </a:extLst>
          </p:cNvPr>
          <p:cNvCxnSpPr>
            <a:cxnSpLocks/>
            <a:endCxn id="5" idx="2"/>
          </p:cNvCxnSpPr>
          <p:nvPr/>
        </p:nvCxnSpPr>
        <p:spPr>
          <a:xfrm flipV="1">
            <a:off x="2220756" y="4133274"/>
            <a:ext cx="830623" cy="36719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D34C7165-A4D6-0A39-7705-58EEB224F5D9}"/>
              </a:ext>
            </a:extLst>
          </p:cNvPr>
          <p:cNvCxnSpPr>
            <a:cxnSpLocks/>
          </p:cNvCxnSpPr>
          <p:nvPr/>
        </p:nvCxnSpPr>
        <p:spPr>
          <a:xfrm flipV="1">
            <a:off x="4142619" y="4594209"/>
            <a:ext cx="757162" cy="244878"/>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46B42A4D-4BCC-A4B6-29B7-2F70F0D4EE48}"/>
              </a:ext>
            </a:extLst>
          </p:cNvPr>
          <p:cNvCxnSpPr>
            <a:cxnSpLocks/>
            <a:endCxn id="27" idx="1"/>
          </p:cNvCxnSpPr>
          <p:nvPr/>
        </p:nvCxnSpPr>
        <p:spPr>
          <a:xfrm flipV="1">
            <a:off x="6084508" y="4162211"/>
            <a:ext cx="912178" cy="11506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F0A4FFCC-6D2A-D78A-90B6-57F2056A7A3D}"/>
              </a:ext>
            </a:extLst>
          </p:cNvPr>
          <p:cNvCxnSpPr>
            <a:cxnSpLocks/>
            <a:endCxn id="32" idx="2"/>
          </p:cNvCxnSpPr>
          <p:nvPr/>
        </p:nvCxnSpPr>
        <p:spPr>
          <a:xfrm flipV="1">
            <a:off x="8115485" y="4277274"/>
            <a:ext cx="942400" cy="202111"/>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522D26A7-3E75-0BB3-0B54-234443EB1D65}"/>
              </a:ext>
            </a:extLst>
          </p:cNvPr>
          <p:cNvCxnSpPr>
            <a:cxnSpLocks/>
          </p:cNvCxnSpPr>
          <p:nvPr/>
        </p:nvCxnSpPr>
        <p:spPr>
          <a:xfrm flipH="1">
            <a:off x="5360071" y="5160267"/>
            <a:ext cx="845891" cy="151849"/>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E52D7DF2-8979-13E2-A91C-48E1044BD3AD}"/>
                  </a:ext>
                </a:extLst>
              </p:cNvPr>
              <p:cNvSpPr txBox="1"/>
              <p:nvPr/>
            </p:nvSpPr>
            <p:spPr>
              <a:xfrm>
                <a:off x="1306544" y="4638628"/>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rgbClr val="7030A0"/>
                              </a:solidFill>
                              <a:latin typeface="Cambria Math" panose="02040503050406030204" pitchFamily="18" charset="0"/>
                            </a:rPr>
                          </m:ctrlPr>
                        </m:sSubSupPr>
                        <m:e>
                          <m:r>
                            <a:rPr lang="en-US" altLang="ja-JP" sz="2400" i="1">
                              <a:solidFill>
                                <a:srgbClr val="7030A0"/>
                              </a:solidFill>
                              <a:latin typeface="Cambria Math" panose="02040503050406030204" pitchFamily="18" charset="0"/>
                            </a:rPr>
                            <m:t>𝑀</m:t>
                          </m:r>
                        </m:e>
                        <m:sub>
                          <m:r>
                            <a:rPr lang="en-US" altLang="ja-JP" sz="2400" b="0" i="1" smtClean="0">
                              <a:solidFill>
                                <a:srgbClr val="7030A0"/>
                              </a:solidFill>
                              <a:latin typeface="Cambria Math" panose="02040503050406030204" pitchFamily="18" charset="0"/>
                            </a:rPr>
                            <m:t>5</m:t>
                          </m:r>
                        </m:sub>
                        <m:sup>
                          <m:r>
                            <a:rPr lang="en-US" altLang="ja-JP" sz="2400" i="1">
                              <a:solidFill>
                                <a:srgbClr val="7030A0"/>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34" name="テキスト ボックス 33">
                <a:extLst>
                  <a:ext uri="{FF2B5EF4-FFF2-40B4-BE49-F238E27FC236}">
                    <a16:creationId xmlns:a16="http://schemas.microsoft.com/office/drawing/2014/main" id="{E52D7DF2-8979-13E2-A91C-48E1044BD3AD}"/>
                  </a:ext>
                </a:extLst>
              </p:cNvPr>
              <p:cNvSpPr txBox="1">
                <a:spLocks noRot="1" noChangeAspect="1" noMove="1" noResize="1" noEditPoints="1" noAdjustHandles="1" noChangeArrowheads="1" noChangeShapeType="1" noTextEdit="1"/>
              </p:cNvSpPr>
              <p:nvPr/>
            </p:nvSpPr>
            <p:spPr>
              <a:xfrm>
                <a:off x="1306544" y="4638628"/>
                <a:ext cx="1257972" cy="469809"/>
              </a:xfrm>
              <a:prstGeom prst="rect">
                <a:avLst/>
              </a:prstGeom>
              <a:blipFill>
                <a:blip r:embed="rId8"/>
                <a:stretch>
                  <a:fillRect b="-2597"/>
                </a:stretch>
              </a:blipFill>
            </p:spPr>
            <p:txBody>
              <a:bodyPr/>
              <a:lstStyle/>
              <a:p>
                <a:r>
                  <a:rPr lang="ja-JP" altLang="en-US">
                    <a:noFill/>
                  </a:rPr>
                  <a:t> </a:t>
                </a:r>
              </a:p>
            </p:txBody>
          </p:sp>
        </mc:Fallback>
      </mc:AlternateContent>
      <p:sp>
        <p:nvSpPr>
          <p:cNvPr id="37" name="楕円 36">
            <a:extLst>
              <a:ext uri="{FF2B5EF4-FFF2-40B4-BE49-F238E27FC236}">
                <a16:creationId xmlns:a16="http://schemas.microsoft.com/office/drawing/2014/main" id="{3091A573-BE8A-7782-A01D-9D1AD4874346}"/>
              </a:ext>
            </a:extLst>
          </p:cNvPr>
          <p:cNvSpPr/>
          <p:nvPr/>
        </p:nvSpPr>
        <p:spPr>
          <a:xfrm>
            <a:off x="8913885" y="43125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8" name="直線矢印コネクタ 37">
            <a:extLst>
              <a:ext uri="{FF2B5EF4-FFF2-40B4-BE49-F238E27FC236}">
                <a16:creationId xmlns:a16="http://schemas.microsoft.com/office/drawing/2014/main" id="{59FC9087-58FD-73DB-9FC6-517619B97179}"/>
              </a:ext>
            </a:extLst>
          </p:cNvPr>
          <p:cNvCxnSpPr>
            <a:cxnSpLocks/>
          </p:cNvCxnSpPr>
          <p:nvPr/>
        </p:nvCxnSpPr>
        <p:spPr>
          <a:xfrm>
            <a:off x="8985885" y="858608"/>
            <a:ext cx="0" cy="47970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B4B82ADB-1589-2E0E-0EC7-5456BEA4DED6}"/>
              </a:ext>
            </a:extLst>
          </p:cNvPr>
          <p:cNvSpPr txBox="1"/>
          <p:nvPr/>
        </p:nvSpPr>
        <p:spPr>
          <a:xfrm>
            <a:off x="9263799" y="337229"/>
            <a:ext cx="2149312" cy="369332"/>
          </a:xfrm>
          <a:prstGeom prst="rect">
            <a:avLst/>
          </a:prstGeom>
          <a:noFill/>
        </p:spPr>
        <p:txBody>
          <a:bodyPr wrap="square" rtlCol="0">
            <a:spAutoFit/>
          </a:bodyPr>
          <a:lstStyle/>
          <a:p>
            <a:r>
              <a:rPr kumimoji="1" lang="ja-JP" altLang="en-US" dirty="0"/>
              <a:t>サーバ（病院）</a:t>
            </a:r>
          </a:p>
        </p:txBody>
      </p:sp>
      <p:sp>
        <p:nvSpPr>
          <p:cNvPr id="40" name="テキスト ボックス 39">
            <a:extLst>
              <a:ext uri="{FF2B5EF4-FFF2-40B4-BE49-F238E27FC236}">
                <a16:creationId xmlns:a16="http://schemas.microsoft.com/office/drawing/2014/main" id="{2F683DD1-B236-498D-B259-E0A06E9FB496}"/>
              </a:ext>
            </a:extLst>
          </p:cNvPr>
          <p:cNvSpPr txBox="1"/>
          <p:nvPr/>
        </p:nvSpPr>
        <p:spPr>
          <a:xfrm>
            <a:off x="9263798" y="979041"/>
            <a:ext cx="2312311" cy="369332"/>
          </a:xfrm>
          <a:prstGeom prst="rect">
            <a:avLst/>
          </a:prstGeom>
          <a:noFill/>
        </p:spPr>
        <p:txBody>
          <a:bodyPr wrap="square" rtlCol="0">
            <a:spAutoFit/>
          </a:bodyPr>
          <a:lstStyle/>
          <a:p>
            <a:r>
              <a:rPr lang="ja-JP" altLang="en-US" dirty="0"/>
              <a:t>リクエスト</a:t>
            </a:r>
            <a:r>
              <a:rPr kumimoji="1" lang="ja-JP" altLang="en-US" dirty="0"/>
              <a:t>（患者）</a:t>
            </a:r>
          </a:p>
        </p:txBody>
      </p:sp>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93A806FF-91F7-D84E-5B97-4142D5E35452}"/>
                  </a:ext>
                </a:extLst>
              </p:cNvPr>
              <p:cNvSpPr txBox="1"/>
              <p:nvPr/>
            </p:nvSpPr>
            <p:spPr>
              <a:xfrm>
                <a:off x="6975598" y="4602470"/>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b="0" i="1" smtClean="0">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41" name="テキスト ボックス 40">
                <a:extLst>
                  <a:ext uri="{FF2B5EF4-FFF2-40B4-BE49-F238E27FC236}">
                    <a16:creationId xmlns:a16="http://schemas.microsoft.com/office/drawing/2014/main" id="{93A806FF-91F7-D84E-5B97-4142D5E35452}"/>
                  </a:ext>
                </a:extLst>
              </p:cNvPr>
              <p:cNvSpPr txBox="1">
                <a:spLocks noRot="1" noChangeAspect="1" noMove="1" noResize="1" noEditPoints="1" noAdjustHandles="1" noChangeArrowheads="1" noChangeShapeType="1" noTextEdit="1"/>
              </p:cNvSpPr>
              <p:nvPr/>
            </p:nvSpPr>
            <p:spPr>
              <a:xfrm>
                <a:off x="6975598" y="4602470"/>
                <a:ext cx="1257972" cy="469809"/>
              </a:xfrm>
              <a:prstGeom prst="rect">
                <a:avLst/>
              </a:prstGeom>
              <a:blipFill>
                <a:blip r:embed="rId9"/>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08812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56052-FAA5-0314-F54C-AE78E0ED2C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86D1BB-0020-9497-2F59-E5462CC00E2E}"/>
              </a:ext>
            </a:extLst>
          </p:cNvPr>
          <p:cNvSpPr>
            <a:spLocks noGrp="1"/>
          </p:cNvSpPr>
          <p:nvPr>
            <p:ph type="title"/>
          </p:nvPr>
        </p:nvSpPr>
        <p:spPr/>
        <p:txBody>
          <a:bodyPr/>
          <a:lstStyle/>
          <a:p>
            <a:r>
              <a:rPr lang="en-US" altLang="ja-JP" dirty="0"/>
              <a:t>Permutation</a:t>
            </a:r>
            <a:r>
              <a:rPr lang="ja-JP" altLang="en-US" dirty="0"/>
              <a:t> </a:t>
            </a:r>
            <a:r>
              <a:rPr kumimoji="1" lang="ja-JP" altLang="en-US" dirty="0"/>
              <a:t>の割り当て３</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583FF71-9FFF-D97E-3D32-E50B23ED2955}"/>
                  </a:ext>
                </a:extLst>
              </p:cNvPr>
              <p:cNvSpPr>
                <a:spLocks noGrp="1"/>
              </p:cNvSpPr>
              <p:nvPr>
                <p:ph idx="1"/>
              </p:nvPr>
            </p:nvSpPr>
            <p:spPr>
              <a:xfrm>
                <a:off x="838200" y="1825625"/>
                <a:ext cx="10515600" cy="899102"/>
              </a:xfrm>
            </p:spPr>
            <p:txBody>
              <a:bodyPr>
                <a:normAutofit/>
              </a:bodyPr>
              <a:lstStyle/>
              <a:p>
                <a:pPr marL="0" indent="0">
                  <a:buNone/>
                </a:pP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oMath>
                </a14:m>
                <a:r>
                  <a:rPr kumimoji="1" lang="ja-JP" altLang="en-US" sz="2400" dirty="0"/>
                  <a:t> と </a:t>
                </a:r>
                <a14:m>
                  <m:oMath xmlns:m="http://schemas.openxmlformats.org/officeDocument/2006/math">
                    <m:sSubSup>
                      <m:sSubSupPr>
                        <m:ctrlPr>
                          <a:rPr lang="en-US" altLang="ja-JP" sz="2400" i="1">
                            <a:solidFill>
                              <a:srgbClr val="7030A0"/>
                            </a:solidFill>
                            <a:latin typeface="Cambria Math" panose="02040503050406030204" pitchFamily="18" charset="0"/>
                          </a:rPr>
                        </m:ctrlPr>
                      </m:sSubSupPr>
                      <m:e>
                        <m:r>
                          <a:rPr lang="en-US" altLang="ja-JP" sz="2400" i="1">
                            <a:solidFill>
                              <a:srgbClr val="7030A0"/>
                            </a:solidFill>
                            <a:latin typeface="Cambria Math" panose="02040503050406030204" pitchFamily="18" charset="0"/>
                          </a:rPr>
                          <m:t>𝑀</m:t>
                        </m:r>
                      </m:e>
                      <m:sub>
                        <m:r>
                          <a:rPr lang="en-US" altLang="ja-JP" sz="2400" i="1">
                            <a:solidFill>
                              <a:srgbClr val="7030A0"/>
                            </a:solidFill>
                            <a:latin typeface="Cambria Math" panose="02040503050406030204" pitchFamily="18" charset="0"/>
                          </a:rPr>
                          <m:t>5</m:t>
                        </m:r>
                      </m:sub>
                      <m:sup>
                        <m:r>
                          <a:rPr lang="en-US" altLang="ja-JP" sz="2400" i="1">
                            <a:solidFill>
                              <a:srgbClr val="7030A0"/>
                            </a:solidFill>
                            <a:latin typeface="Cambria Math" panose="02040503050406030204" pitchFamily="18" charset="0"/>
                          </a:rPr>
                          <m:t>∗</m:t>
                        </m:r>
                      </m:sup>
                    </m:sSubSup>
                  </m:oMath>
                </a14:m>
                <a:r>
                  <a:rPr kumimoji="1" lang="ja-JP" altLang="en-US" sz="2400" dirty="0"/>
                  <a:t> </a:t>
                </a:r>
                <a:r>
                  <a:rPr lang="ja-JP" altLang="en-US" sz="2400" dirty="0"/>
                  <a:t>を見比べて新たに使用されるサーバ </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𝑠</m:t>
                        </m:r>
                      </m:e>
                      <m:sub>
                        <m:r>
                          <a:rPr lang="en-US" altLang="ja-JP" sz="2400" b="0" i="1" smtClean="0">
                            <a:latin typeface="Cambria Math" panose="02040503050406030204" pitchFamily="18" charset="0"/>
                          </a:rPr>
                          <m:t>5</m:t>
                        </m:r>
                      </m:sub>
                    </m:sSub>
                  </m:oMath>
                </a14:m>
                <a:r>
                  <a:rPr kumimoji="1" lang="en-US" altLang="ja-JP" sz="2400" dirty="0"/>
                  <a:t> </a:t>
                </a:r>
                <a:r>
                  <a:rPr kumimoji="1" lang="ja-JP" altLang="en-US" sz="2400" dirty="0"/>
                  <a:t>を特定</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6583FF71-9FFF-D97E-3D32-E50B23ED2955}"/>
                  </a:ext>
                </a:extLst>
              </p:cNvPr>
              <p:cNvSpPr>
                <a:spLocks noGrp="1" noRot="1" noChangeAspect="1" noMove="1" noResize="1" noEditPoints="1" noAdjustHandles="1" noChangeArrowheads="1" noChangeShapeType="1" noTextEdit="1"/>
              </p:cNvSpPr>
              <p:nvPr>
                <p:ph idx="1"/>
              </p:nvPr>
            </p:nvSpPr>
            <p:spPr>
              <a:xfrm>
                <a:off x="838200" y="1825625"/>
                <a:ext cx="10515600" cy="899102"/>
              </a:xfrm>
              <a:blipFill>
                <a:blip r:embed="rId2"/>
                <a:stretch>
                  <a:fillRect l="-174" t="-7432"/>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AE9C04AA-37B2-B374-2C31-B86E1F4E00F9}"/>
              </a:ext>
            </a:extLst>
          </p:cNvPr>
          <p:cNvSpPr/>
          <p:nvPr/>
        </p:nvSpPr>
        <p:spPr>
          <a:xfrm>
            <a:off x="4952834" y="446204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742A628D-F666-2546-4631-817F247D6FC8}"/>
              </a:ext>
            </a:extLst>
          </p:cNvPr>
          <p:cNvSpPr/>
          <p:nvPr/>
        </p:nvSpPr>
        <p:spPr>
          <a:xfrm>
            <a:off x="3051379" y="4061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33E48F46-1538-CEA3-3606-1AC3CA0EC50E}"/>
              </a:ext>
            </a:extLst>
          </p:cNvPr>
          <p:cNvCxnSpPr>
            <a:cxnSpLocks/>
          </p:cNvCxnSpPr>
          <p:nvPr/>
        </p:nvCxnSpPr>
        <p:spPr>
          <a:xfrm>
            <a:off x="4106942" y="412588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A35659E6-D8F5-15E9-905F-5D75CD33DDF9}"/>
              </a:ext>
            </a:extLst>
          </p:cNvPr>
          <p:cNvCxnSpPr>
            <a:cxnSpLocks/>
          </p:cNvCxnSpPr>
          <p:nvPr/>
        </p:nvCxnSpPr>
        <p:spPr>
          <a:xfrm flipH="1" flipV="1">
            <a:off x="3195379" y="4205274"/>
            <a:ext cx="845892" cy="56841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842F177B-A5AA-2910-5006-DF17E651952C}"/>
              </a:ext>
            </a:extLst>
          </p:cNvPr>
          <p:cNvCxnSpPr>
            <a:cxnSpLocks/>
            <a:endCxn id="4" idx="6"/>
          </p:cNvCxnSpPr>
          <p:nvPr/>
        </p:nvCxnSpPr>
        <p:spPr>
          <a:xfrm flipH="1">
            <a:off x="5096834" y="4382200"/>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52DFB2C7-F496-9BE9-FEE2-E69FCA3C9FB7}"/>
              </a:ext>
            </a:extLst>
          </p:cNvPr>
          <p:cNvCxnSpPr>
            <a:cxnSpLocks/>
          </p:cNvCxnSpPr>
          <p:nvPr/>
        </p:nvCxnSpPr>
        <p:spPr>
          <a:xfrm>
            <a:off x="5995778" y="367519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CB7B0A7B-110D-2BAC-5612-442E1315D616}"/>
              </a:ext>
            </a:extLst>
          </p:cNvPr>
          <p:cNvSpPr/>
          <p:nvPr/>
        </p:nvSpPr>
        <p:spPr>
          <a:xfrm>
            <a:off x="5253016" y="538106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DF17E365-8500-772D-0776-874BAA87A9D2}"/>
              </a:ext>
            </a:extLst>
          </p:cNvPr>
          <p:cNvCxnSpPr>
            <a:cxnSpLocks/>
          </p:cNvCxnSpPr>
          <p:nvPr/>
        </p:nvCxnSpPr>
        <p:spPr>
          <a:xfrm flipH="1">
            <a:off x="5397016" y="5301219"/>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CA8EDDA2-AB79-008D-EE7F-F60EF8F9BEE9}"/>
              </a:ext>
            </a:extLst>
          </p:cNvPr>
          <p:cNvCxnSpPr>
            <a:cxnSpLocks/>
          </p:cNvCxnSpPr>
          <p:nvPr/>
        </p:nvCxnSpPr>
        <p:spPr>
          <a:xfrm>
            <a:off x="6248903" y="459420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E14A7B0E-BF67-5A98-6D73-4653702C7FB9}"/>
              </a:ext>
            </a:extLst>
          </p:cNvPr>
          <p:cNvSpPr/>
          <p:nvPr/>
        </p:nvSpPr>
        <p:spPr>
          <a:xfrm>
            <a:off x="6975598" y="414112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70F26331-5BBB-9BAC-2C75-22E557A50F4E}"/>
              </a:ext>
            </a:extLst>
          </p:cNvPr>
          <p:cNvCxnSpPr>
            <a:cxnSpLocks/>
          </p:cNvCxnSpPr>
          <p:nvPr/>
        </p:nvCxnSpPr>
        <p:spPr>
          <a:xfrm flipH="1" flipV="1">
            <a:off x="7119598" y="4213123"/>
            <a:ext cx="851887" cy="248926"/>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596A9910-9375-0D27-D062-21DB557CDBD7}"/>
              </a:ext>
            </a:extLst>
          </p:cNvPr>
          <p:cNvCxnSpPr>
            <a:cxnSpLocks/>
          </p:cNvCxnSpPr>
          <p:nvPr/>
        </p:nvCxnSpPr>
        <p:spPr>
          <a:xfrm>
            <a:off x="8054613" y="3815611"/>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062A01A5-4FA8-FF61-BD8B-2B2D820CE06D}"/>
              </a:ext>
            </a:extLst>
          </p:cNvPr>
          <p:cNvSpPr/>
          <p:nvPr/>
        </p:nvSpPr>
        <p:spPr>
          <a:xfrm>
            <a:off x="3546325" y="5893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60CF4380-ED7B-6538-1C75-4F34A75814FB}"/>
              </a:ext>
            </a:extLst>
          </p:cNvPr>
          <p:cNvSpPr/>
          <p:nvPr/>
        </p:nvSpPr>
        <p:spPr>
          <a:xfrm>
            <a:off x="9057885" y="4205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3C8F6294-118A-E530-97DC-81DEC1194762}"/>
              </a:ext>
            </a:extLst>
          </p:cNvPr>
          <p:cNvSpPr/>
          <p:nvPr/>
        </p:nvSpPr>
        <p:spPr>
          <a:xfrm>
            <a:off x="8054613" y="5821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5" name="直線矢印コネクタ 34">
            <a:extLst>
              <a:ext uri="{FF2B5EF4-FFF2-40B4-BE49-F238E27FC236}">
                <a16:creationId xmlns:a16="http://schemas.microsoft.com/office/drawing/2014/main" id="{D9572A93-C8CA-00F7-50FF-569261E8CADE}"/>
              </a:ext>
            </a:extLst>
          </p:cNvPr>
          <p:cNvCxnSpPr>
            <a:cxnSpLocks/>
          </p:cNvCxnSpPr>
          <p:nvPr/>
        </p:nvCxnSpPr>
        <p:spPr>
          <a:xfrm>
            <a:off x="2180146" y="385961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86BAD4E8-5AB9-8862-7DA4-B4F768220562}"/>
                  </a:ext>
                </a:extLst>
              </p:cNvPr>
              <p:cNvSpPr txBox="1"/>
              <p:nvPr/>
            </p:nvSpPr>
            <p:spPr>
              <a:xfrm>
                <a:off x="1972756" y="340601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36" name="テキスト ボックス 35">
                <a:extLst>
                  <a:ext uri="{FF2B5EF4-FFF2-40B4-BE49-F238E27FC236}">
                    <a16:creationId xmlns:a16="http://schemas.microsoft.com/office/drawing/2014/main" id="{86BAD4E8-5AB9-8862-7DA4-B4F768220562}"/>
                  </a:ext>
                </a:extLst>
              </p:cNvPr>
              <p:cNvSpPr txBox="1">
                <a:spLocks noRot="1" noChangeAspect="1" noMove="1" noResize="1" noEditPoints="1" noAdjustHandles="1" noChangeArrowheads="1" noChangeShapeType="1" noTextEdit="1"/>
              </p:cNvSpPr>
              <p:nvPr/>
            </p:nvSpPr>
            <p:spPr>
              <a:xfrm>
                <a:off x="1972756" y="3406010"/>
                <a:ext cx="414780" cy="400174"/>
              </a:xfrm>
              <a:prstGeom prst="rect">
                <a:avLst/>
              </a:prstGeom>
              <a:blipFill>
                <a:blip r:embed="rId3"/>
                <a:stretch>
                  <a:fillRect b="-1538"/>
                </a:stretch>
              </a:blipFill>
            </p:spPr>
            <p:txBody>
              <a:bodyPr/>
              <a:lstStyle/>
              <a:p>
                <a:r>
                  <a:rPr lang="ja-JP" altLang="en-US">
                    <a:noFill/>
                  </a:rPr>
                  <a:t> </a:t>
                </a:r>
              </a:p>
            </p:txBody>
          </p:sp>
        </mc:Fallback>
      </mc:AlternateContent>
      <p:sp>
        <p:nvSpPr>
          <p:cNvPr id="7" name="スライド番号プレースホルダー 6">
            <a:extLst>
              <a:ext uri="{FF2B5EF4-FFF2-40B4-BE49-F238E27FC236}">
                <a16:creationId xmlns:a16="http://schemas.microsoft.com/office/drawing/2014/main" id="{78ACD981-A99C-90C5-9C6C-D16C6B995574}"/>
              </a:ext>
            </a:extLst>
          </p:cNvPr>
          <p:cNvSpPr>
            <a:spLocks noGrp="1"/>
          </p:cNvSpPr>
          <p:nvPr>
            <p:ph type="sldNum" sz="quarter" idx="12"/>
          </p:nvPr>
        </p:nvSpPr>
        <p:spPr/>
        <p:txBody>
          <a:bodyPr/>
          <a:lstStyle/>
          <a:p>
            <a:fld id="{4B077F3A-4098-4199-8925-77865D1E3500}" type="slidenum">
              <a:rPr kumimoji="1" lang="ja-JP" altLang="en-US" smtClean="0"/>
              <a:t>14</a:t>
            </a:fld>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A72F5611-4CE9-2D92-97B9-48AE9E559887}"/>
                  </a:ext>
                </a:extLst>
              </p:cNvPr>
              <p:cNvSpPr txBox="1"/>
              <p:nvPr/>
            </p:nvSpPr>
            <p:spPr>
              <a:xfrm>
                <a:off x="3899552" y="367519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2</m:t>
                          </m:r>
                        </m:sub>
                      </m:sSub>
                    </m:oMath>
                  </m:oMathPara>
                </a14:m>
                <a:endParaRPr kumimoji="1" lang="ja-JP" altLang="en-US" sz="2000" dirty="0"/>
              </a:p>
            </p:txBody>
          </p:sp>
        </mc:Choice>
        <mc:Fallback xmlns="">
          <p:sp>
            <p:nvSpPr>
              <p:cNvPr id="9" name="テキスト ボックス 8">
                <a:extLst>
                  <a:ext uri="{FF2B5EF4-FFF2-40B4-BE49-F238E27FC236}">
                    <a16:creationId xmlns:a16="http://schemas.microsoft.com/office/drawing/2014/main" id="{A72F5611-4CE9-2D92-97B9-48AE9E559887}"/>
                  </a:ext>
                </a:extLst>
              </p:cNvPr>
              <p:cNvSpPr txBox="1">
                <a:spLocks noRot="1" noChangeAspect="1" noMove="1" noResize="1" noEditPoints="1" noAdjustHandles="1" noChangeArrowheads="1" noChangeShapeType="1" noTextEdit="1"/>
              </p:cNvSpPr>
              <p:nvPr/>
            </p:nvSpPr>
            <p:spPr>
              <a:xfrm>
                <a:off x="3899552" y="3675190"/>
                <a:ext cx="414780" cy="400174"/>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AB70B44A-AA93-86C6-0EDF-A33F06D8C89A}"/>
                  </a:ext>
                </a:extLst>
              </p:cNvPr>
              <p:cNvSpPr txBox="1"/>
              <p:nvPr/>
            </p:nvSpPr>
            <p:spPr>
              <a:xfrm>
                <a:off x="5791182" y="3232838"/>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3</m:t>
                          </m:r>
                        </m:sub>
                      </m:sSub>
                    </m:oMath>
                  </m:oMathPara>
                </a14:m>
                <a:endParaRPr kumimoji="1" lang="ja-JP" altLang="en-US" sz="2000" dirty="0"/>
              </a:p>
            </p:txBody>
          </p:sp>
        </mc:Choice>
        <mc:Fallback xmlns="">
          <p:sp>
            <p:nvSpPr>
              <p:cNvPr id="10" name="テキスト ボックス 9">
                <a:extLst>
                  <a:ext uri="{FF2B5EF4-FFF2-40B4-BE49-F238E27FC236}">
                    <a16:creationId xmlns:a16="http://schemas.microsoft.com/office/drawing/2014/main" id="{AB70B44A-AA93-86C6-0EDF-A33F06D8C89A}"/>
                  </a:ext>
                </a:extLst>
              </p:cNvPr>
              <p:cNvSpPr txBox="1">
                <a:spLocks noRot="1" noChangeAspect="1" noMove="1" noResize="1" noEditPoints="1" noAdjustHandles="1" noChangeArrowheads="1" noChangeShapeType="1" noTextEdit="1"/>
              </p:cNvSpPr>
              <p:nvPr/>
            </p:nvSpPr>
            <p:spPr>
              <a:xfrm>
                <a:off x="5791182" y="3232838"/>
                <a:ext cx="414780" cy="4001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5B062EC1-F30E-5EEF-94F2-B5C87D58AA58}"/>
                  </a:ext>
                </a:extLst>
              </p:cNvPr>
              <p:cNvSpPr txBox="1"/>
              <p:nvPr/>
            </p:nvSpPr>
            <p:spPr>
              <a:xfrm>
                <a:off x="7846794" y="3306412"/>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4</m:t>
                          </m:r>
                        </m:sub>
                      </m:sSub>
                    </m:oMath>
                  </m:oMathPara>
                </a14:m>
                <a:endParaRPr kumimoji="1" lang="ja-JP" altLang="en-US" sz="2000" dirty="0"/>
              </a:p>
            </p:txBody>
          </p:sp>
        </mc:Choice>
        <mc:Fallback xmlns="">
          <p:sp>
            <p:nvSpPr>
              <p:cNvPr id="11" name="テキスト ボックス 10">
                <a:extLst>
                  <a:ext uri="{FF2B5EF4-FFF2-40B4-BE49-F238E27FC236}">
                    <a16:creationId xmlns:a16="http://schemas.microsoft.com/office/drawing/2014/main" id="{5B062EC1-F30E-5EEF-94F2-B5C87D58AA58}"/>
                  </a:ext>
                </a:extLst>
              </p:cNvPr>
              <p:cNvSpPr txBox="1">
                <a:spLocks noRot="1" noChangeAspect="1" noMove="1" noResize="1" noEditPoints="1" noAdjustHandles="1" noChangeArrowheads="1" noChangeShapeType="1" noTextEdit="1"/>
              </p:cNvSpPr>
              <p:nvPr/>
            </p:nvSpPr>
            <p:spPr>
              <a:xfrm>
                <a:off x="7846794" y="3306412"/>
                <a:ext cx="414780" cy="400174"/>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EAAC1358-72FF-1CB0-C2E1-79D2CF0503DF}"/>
                  </a:ext>
                </a:extLst>
              </p:cNvPr>
              <p:cNvSpPr txBox="1"/>
              <p:nvPr/>
            </p:nvSpPr>
            <p:spPr>
              <a:xfrm>
                <a:off x="6066317" y="4165327"/>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oMath>
                  </m:oMathPara>
                </a14:m>
                <a:endParaRPr kumimoji="1" lang="ja-JP" altLang="en-US" sz="2000" dirty="0"/>
              </a:p>
            </p:txBody>
          </p:sp>
        </mc:Choice>
        <mc:Fallback xmlns="">
          <p:sp>
            <p:nvSpPr>
              <p:cNvPr id="12" name="テキスト ボックス 11">
                <a:extLst>
                  <a:ext uri="{FF2B5EF4-FFF2-40B4-BE49-F238E27FC236}">
                    <a16:creationId xmlns:a16="http://schemas.microsoft.com/office/drawing/2014/main" id="{EAAC1358-72FF-1CB0-C2E1-79D2CF0503DF}"/>
                  </a:ext>
                </a:extLst>
              </p:cNvPr>
              <p:cNvSpPr txBox="1">
                <a:spLocks noRot="1" noChangeAspect="1" noMove="1" noResize="1" noEditPoints="1" noAdjustHandles="1" noChangeArrowheads="1" noChangeShapeType="1" noTextEdit="1"/>
              </p:cNvSpPr>
              <p:nvPr/>
            </p:nvSpPr>
            <p:spPr>
              <a:xfrm>
                <a:off x="6066317" y="4165327"/>
                <a:ext cx="414780" cy="400174"/>
              </a:xfrm>
              <a:prstGeom prst="rect">
                <a:avLst/>
              </a:prstGeom>
              <a:blipFill>
                <a:blip r:embed="rId7"/>
                <a:stretch>
                  <a:fillRect/>
                </a:stretch>
              </a:blipFill>
            </p:spPr>
            <p:txBody>
              <a:bodyPr/>
              <a:lstStyle/>
              <a:p>
                <a:r>
                  <a:rPr lang="ja-JP" altLang="en-US">
                    <a:noFill/>
                  </a:rPr>
                  <a:t> </a:t>
                </a:r>
              </a:p>
            </p:txBody>
          </p:sp>
        </mc:Fallback>
      </mc:AlternateContent>
      <p:cxnSp>
        <p:nvCxnSpPr>
          <p:cNvPr id="8" name="直線矢印コネクタ 7">
            <a:extLst>
              <a:ext uri="{FF2B5EF4-FFF2-40B4-BE49-F238E27FC236}">
                <a16:creationId xmlns:a16="http://schemas.microsoft.com/office/drawing/2014/main" id="{5D88333F-0FAC-E223-C122-1EEC150EC743}"/>
              </a:ext>
            </a:extLst>
          </p:cNvPr>
          <p:cNvCxnSpPr>
            <a:cxnSpLocks/>
            <a:endCxn id="5" idx="2"/>
          </p:cNvCxnSpPr>
          <p:nvPr/>
        </p:nvCxnSpPr>
        <p:spPr>
          <a:xfrm flipV="1">
            <a:off x="2220756" y="4133274"/>
            <a:ext cx="830623" cy="36719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69A13188-9552-74DF-A097-BA5133E2CA35}"/>
              </a:ext>
            </a:extLst>
          </p:cNvPr>
          <p:cNvCxnSpPr>
            <a:cxnSpLocks/>
          </p:cNvCxnSpPr>
          <p:nvPr/>
        </p:nvCxnSpPr>
        <p:spPr>
          <a:xfrm flipV="1">
            <a:off x="4142619" y="4594209"/>
            <a:ext cx="757162" cy="244878"/>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C346716A-4B64-B7B8-2A5E-E566BB43DB1F}"/>
              </a:ext>
            </a:extLst>
          </p:cNvPr>
          <p:cNvCxnSpPr>
            <a:cxnSpLocks/>
            <a:endCxn id="27" idx="1"/>
          </p:cNvCxnSpPr>
          <p:nvPr/>
        </p:nvCxnSpPr>
        <p:spPr>
          <a:xfrm flipV="1">
            <a:off x="6084508" y="4162211"/>
            <a:ext cx="912178" cy="11506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328B8C6C-C39F-2A25-FCDE-95F70EAA501A}"/>
              </a:ext>
            </a:extLst>
          </p:cNvPr>
          <p:cNvCxnSpPr>
            <a:cxnSpLocks/>
            <a:endCxn id="32" idx="2"/>
          </p:cNvCxnSpPr>
          <p:nvPr/>
        </p:nvCxnSpPr>
        <p:spPr>
          <a:xfrm flipV="1">
            <a:off x="8115485" y="4277274"/>
            <a:ext cx="942400" cy="202111"/>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F35CE7CD-D442-4446-4179-F3213356C8E0}"/>
              </a:ext>
            </a:extLst>
          </p:cNvPr>
          <p:cNvCxnSpPr>
            <a:cxnSpLocks/>
          </p:cNvCxnSpPr>
          <p:nvPr/>
        </p:nvCxnSpPr>
        <p:spPr>
          <a:xfrm flipH="1">
            <a:off x="5360071" y="5160267"/>
            <a:ext cx="845891" cy="151849"/>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6E50A649-712A-47AE-22AA-17928E4B3D8C}"/>
              </a:ext>
            </a:extLst>
          </p:cNvPr>
          <p:cNvSpPr txBox="1"/>
          <p:nvPr/>
        </p:nvSpPr>
        <p:spPr>
          <a:xfrm>
            <a:off x="8796178" y="3550598"/>
            <a:ext cx="2920065" cy="369332"/>
          </a:xfrm>
          <a:prstGeom prst="rect">
            <a:avLst/>
          </a:prstGeom>
          <a:noFill/>
        </p:spPr>
        <p:txBody>
          <a:bodyPr wrap="square" rtlCol="0">
            <a:spAutoFit/>
          </a:bodyPr>
          <a:lstStyle/>
          <a:p>
            <a:r>
              <a:rPr kumimoji="1" lang="ja-JP" altLang="en-US" dirty="0"/>
              <a:t>新たに使用されるサーバ</a:t>
            </a:r>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903A2AF7-21CF-1566-AAA3-41D816A3892C}"/>
                  </a:ext>
                </a:extLst>
              </p:cNvPr>
              <p:cNvSpPr txBox="1"/>
              <p:nvPr/>
            </p:nvSpPr>
            <p:spPr>
              <a:xfrm>
                <a:off x="9335813" y="3806184"/>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16" name="テキスト ボックス 15">
                <a:extLst>
                  <a:ext uri="{FF2B5EF4-FFF2-40B4-BE49-F238E27FC236}">
                    <a16:creationId xmlns:a16="http://schemas.microsoft.com/office/drawing/2014/main" id="{903A2AF7-21CF-1566-AAA3-41D816A3892C}"/>
                  </a:ext>
                </a:extLst>
              </p:cNvPr>
              <p:cNvSpPr txBox="1">
                <a:spLocks noRot="1" noChangeAspect="1" noMove="1" noResize="1" noEditPoints="1" noAdjustHandles="1" noChangeArrowheads="1" noChangeShapeType="1" noTextEdit="1"/>
              </p:cNvSpPr>
              <p:nvPr/>
            </p:nvSpPr>
            <p:spPr>
              <a:xfrm>
                <a:off x="9335813" y="3806184"/>
                <a:ext cx="414780" cy="400174"/>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F9524861-AC28-E13A-2F7A-EB678F782FE7}"/>
                  </a:ext>
                </a:extLst>
              </p:cNvPr>
              <p:cNvSpPr txBox="1"/>
              <p:nvPr/>
            </p:nvSpPr>
            <p:spPr>
              <a:xfrm>
                <a:off x="1306544" y="4638628"/>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rgbClr val="7030A0"/>
                              </a:solidFill>
                              <a:latin typeface="Cambria Math" panose="02040503050406030204" pitchFamily="18" charset="0"/>
                            </a:rPr>
                          </m:ctrlPr>
                        </m:sSubSupPr>
                        <m:e>
                          <m:r>
                            <a:rPr lang="en-US" altLang="ja-JP" sz="2400" i="1">
                              <a:solidFill>
                                <a:srgbClr val="7030A0"/>
                              </a:solidFill>
                              <a:latin typeface="Cambria Math" panose="02040503050406030204" pitchFamily="18" charset="0"/>
                            </a:rPr>
                            <m:t>𝑀</m:t>
                          </m:r>
                        </m:e>
                        <m:sub>
                          <m:r>
                            <a:rPr lang="en-US" altLang="ja-JP" sz="2400" b="0" i="1" smtClean="0">
                              <a:solidFill>
                                <a:srgbClr val="7030A0"/>
                              </a:solidFill>
                              <a:latin typeface="Cambria Math" panose="02040503050406030204" pitchFamily="18" charset="0"/>
                            </a:rPr>
                            <m:t>5</m:t>
                          </m:r>
                        </m:sub>
                        <m:sup>
                          <m:r>
                            <a:rPr lang="en-US" altLang="ja-JP" sz="2400" i="1">
                              <a:solidFill>
                                <a:srgbClr val="7030A0"/>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19" name="テキスト ボックス 18">
                <a:extLst>
                  <a:ext uri="{FF2B5EF4-FFF2-40B4-BE49-F238E27FC236}">
                    <a16:creationId xmlns:a16="http://schemas.microsoft.com/office/drawing/2014/main" id="{F9524861-AC28-E13A-2F7A-EB678F782FE7}"/>
                  </a:ext>
                </a:extLst>
              </p:cNvPr>
              <p:cNvSpPr txBox="1">
                <a:spLocks noRot="1" noChangeAspect="1" noMove="1" noResize="1" noEditPoints="1" noAdjustHandles="1" noChangeArrowheads="1" noChangeShapeType="1" noTextEdit="1"/>
              </p:cNvSpPr>
              <p:nvPr/>
            </p:nvSpPr>
            <p:spPr>
              <a:xfrm>
                <a:off x="1306544" y="4638628"/>
                <a:ext cx="1257972" cy="469809"/>
              </a:xfrm>
              <a:prstGeom prst="rect">
                <a:avLst/>
              </a:prstGeom>
              <a:blipFill>
                <a:blip r:embed="rId9"/>
                <a:stretch>
                  <a:fillRect b="-2597"/>
                </a:stretch>
              </a:blipFill>
            </p:spPr>
            <p:txBody>
              <a:bodyPr/>
              <a:lstStyle/>
              <a:p>
                <a:r>
                  <a:rPr lang="ja-JP" altLang="en-US">
                    <a:noFill/>
                  </a:rPr>
                  <a:t> </a:t>
                </a:r>
              </a:p>
            </p:txBody>
          </p:sp>
        </mc:Fallback>
      </mc:AlternateContent>
      <p:sp>
        <p:nvSpPr>
          <p:cNvPr id="21" name="楕円 20">
            <a:extLst>
              <a:ext uri="{FF2B5EF4-FFF2-40B4-BE49-F238E27FC236}">
                <a16:creationId xmlns:a16="http://schemas.microsoft.com/office/drawing/2014/main" id="{BD9DDC1F-D3C8-6E76-84AD-C89786A88999}"/>
              </a:ext>
            </a:extLst>
          </p:cNvPr>
          <p:cNvSpPr/>
          <p:nvPr/>
        </p:nvSpPr>
        <p:spPr>
          <a:xfrm>
            <a:off x="8913885" y="43125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矢印コネクタ 22">
            <a:extLst>
              <a:ext uri="{FF2B5EF4-FFF2-40B4-BE49-F238E27FC236}">
                <a16:creationId xmlns:a16="http://schemas.microsoft.com/office/drawing/2014/main" id="{CBCC7D6A-256B-8B81-23F2-F9694716442F}"/>
              </a:ext>
            </a:extLst>
          </p:cNvPr>
          <p:cNvCxnSpPr>
            <a:cxnSpLocks/>
          </p:cNvCxnSpPr>
          <p:nvPr/>
        </p:nvCxnSpPr>
        <p:spPr>
          <a:xfrm>
            <a:off x="8985885" y="858608"/>
            <a:ext cx="0" cy="47970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8A9DB184-7D7A-3E06-6B1A-C1F7AC717015}"/>
              </a:ext>
            </a:extLst>
          </p:cNvPr>
          <p:cNvSpPr txBox="1"/>
          <p:nvPr/>
        </p:nvSpPr>
        <p:spPr>
          <a:xfrm>
            <a:off x="9263799" y="337229"/>
            <a:ext cx="2149312" cy="369332"/>
          </a:xfrm>
          <a:prstGeom prst="rect">
            <a:avLst/>
          </a:prstGeom>
          <a:noFill/>
        </p:spPr>
        <p:txBody>
          <a:bodyPr wrap="square" rtlCol="0">
            <a:spAutoFit/>
          </a:bodyPr>
          <a:lstStyle/>
          <a:p>
            <a:r>
              <a:rPr kumimoji="1" lang="ja-JP" altLang="en-US" dirty="0"/>
              <a:t>サーバ（病院）</a:t>
            </a:r>
          </a:p>
        </p:txBody>
      </p:sp>
      <p:sp>
        <p:nvSpPr>
          <p:cNvPr id="37" name="テキスト ボックス 36">
            <a:extLst>
              <a:ext uri="{FF2B5EF4-FFF2-40B4-BE49-F238E27FC236}">
                <a16:creationId xmlns:a16="http://schemas.microsoft.com/office/drawing/2014/main" id="{F0F2693A-5342-927A-F062-F041E718F9F7}"/>
              </a:ext>
            </a:extLst>
          </p:cNvPr>
          <p:cNvSpPr txBox="1"/>
          <p:nvPr/>
        </p:nvSpPr>
        <p:spPr>
          <a:xfrm>
            <a:off x="9263798" y="979041"/>
            <a:ext cx="2312311" cy="369332"/>
          </a:xfrm>
          <a:prstGeom prst="rect">
            <a:avLst/>
          </a:prstGeom>
          <a:noFill/>
        </p:spPr>
        <p:txBody>
          <a:bodyPr wrap="square" rtlCol="0">
            <a:spAutoFit/>
          </a:bodyPr>
          <a:lstStyle/>
          <a:p>
            <a:r>
              <a:rPr lang="ja-JP" altLang="en-US" dirty="0"/>
              <a:t>リクエスト</a:t>
            </a:r>
            <a:r>
              <a:rPr kumimoji="1" lang="ja-JP" altLang="en-US" dirty="0"/>
              <a:t>（患者）</a:t>
            </a:r>
          </a:p>
        </p:txBody>
      </p:sp>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DF81CABE-402A-3B61-806A-3C03165670A6}"/>
                  </a:ext>
                </a:extLst>
              </p:cNvPr>
              <p:cNvSpPr txBox="1"/>
              <p:nvPr/>
            </p:nvSpPr>
            <p:spPr>
              <a:xfrm>
                <a:off x="6975598" y="4602470"/>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b="0" i="1" smtClean="0">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38" name="テキスト ボックス 37">
                <a:extLst>
                  <a:ext uri="{FF2B5EF4-FFF2-40B4-BE49-F238E27FC236}">
                    <a16:creationId xmlns:a16="http://schemas.microsoft.com/office/drawing/2014/main" id="{DF81CABE-402A-3B61-806A-3C03165670A6}"/>
                  </a:ext>
                </a:extLst>
              </p:cNvPr>
              <p:cNvSpPr txBox="1">
                <a:spLocks noRot="1" noChangeAspect="1" noMove="1" noResize="1" noEditPoints="1" noAdjustHandles="1" noChangeArrowheads="1" noChangeShapeType="1" noTextEdit="1"/>
              </p:cNvSpPr>
              <p:nvPr/>
            </p:nvSpPr>
            <p:spPr>
              <a:xfrm>
                <a:off x="6975598" y="4602470"/>
                <a:ext cx="1257972" cy="469809"/>
              </a:xfrm>
              <a:prstGeom prst="rect">
                <a:avLst/>
              </a:prstGeom>
              <a:blipFill>
                <a:blip r:embed="rId10"/>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538619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010D8-E600-26B8-0B63-53F6130B30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09CE725-EA07-EB41-0E7E-975A089CECC4}"/>
              </a:ext>
            </a:extLst>
          </p:cNvPr>
          <p:cNvSpPr>
            <a:spLocks noGrp="1"/>
          </p:cNvSpPr>
          <p:nvPr>
            <p:ph type="title"/>
          </p:nvPr>
        </p:nvSpPr>
        <p:spPr/>
        <p:txBody>
          <a:bodyPr/>
          <a:lstStyle/>
          <a:p>
            <a:r>
              <a:rPr lang="en-US" altLang="ja-JP" dirty="0"/>
              <a:t>Permutation</a:t>
            </a:r>
            <a:r>
              <a:rPr lang="ja-JP" altLang="en-US" dirty="0"/>
              <a:t> </a:t>
            </a:r>
            <a:r>
              <a:rPr kumimoji="1" lang="ja-JP" altLang="en-US" dirty="0"/>
              <a:t>の割り当て４</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7BC8A70-A97B-3A93-C4DD-E057A29D005E}"/>
                  </a:ext>
                </a:extLst>
              </p:cNvPr>
              <p:cNvSpPr>
                <a:spLocks noGrp="1"/>
              </p:cNvSpPr>
              <p:nvPr>
                <p:ph idx="1"/>
              </p:nvPr>
            </p:nvSpPr>
            <p:spPr>
              <a:xfrm>
                <a:off x="838200" y="1825625"/>
                <a:ext cx="10515600" cy="899102"/>
              </a:xfrm>
            </p:spPr>
            <p:txBody>
              <a:bodyPr>
                <a:normAutofit/>
              </a:bodyPr>
              <a:lstStyle/>
              <a:p>
                <a:pPr marL="0" indent="0">
                  <a:buNone/>
                </a:pP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oMath>
                </a14:m>
                <a:r>
                  <a:rPr kumimoji="1" lang="ja-JP" altLang="en-US" sz="2400" dirty="0"/>
                  <a:t> と </a:t>
                </a:r>
                <a14:m>
                  <m:oMath xmlns:m="http://schemas.openxmlformats.org/officeDocument/2006/math">
                    <m:sSubSup>
                      <m:sSubSupPr>
                        <m:ctrlPr>
                          <a:rPr lang="en-US" altLang="ja-JP" sz="2400" i="1">
                            <a:solidFill>
                              <a:srgbClr val="7030A0"/>
                            </a:solidFill>
                            <a:latin typeface="Cambria Math" panose="02040503050406030204" pitchFamily="18" charset="0"/>
                          </a:rPr>
                        </m:ctrlPr>
                      </m:sSubSupPr>
                      <m:e>
                        <m:r>
                          <a:rPr lang="en-US" altLang="ja-JP" sz="2400" i="1">
                            <a:solidFill>
                              <a:srgbClr val="7030A0"/>
                            </a:solidFill>
                            <a:latin typeface="Cambria Math" panose="02040503050406030204" pitchFamily="18" charset="0"/>
                          </a:rPr>
                          <m:t>𝑀</m:t>
                        </m:r>
                      </m:e>
                      <m:sub>
                        <m:r>
                          <a:rPr lang="en-US" altLang="ja-JP" sz="2400" i="1">
                            <a:solidFill>
                              <a:srgbClr val="7030A0"/>
                            </a:solidFill>
                            <a:latin typeface="Cambria Math" panose="02040503050406030204" pitchFamily="18" charset="0"/>
                          </a:rPr>
                          <m:t>5</m:t>
                        </m:r>
                      </m:sub>
                      <m:sup>
                        <m:r>
                          <a:rPr lang="en-US" altLang="ja-JP" sz="2400" i="1">
                            <a:solidFill>
                              <a:srgbClr val="7030A0"/>
                            </a:solidFill>
                            <a:latin typeface="Cambria Math" panose="02040503050406030204" pitchFamily="18" charset="0"/>
                          </a:rPr>
                          <m:t>∗</m:t>
                        </m:r>
                      </m:sup>
                    </m:sSubSup>
                  </m:oMath>
                </a14:m>
                <a:r>
                  <a:rPr kumimoji="1" lang="ja-JP" altLang="en-US" sz="2400" dirty="0"/>
                  <a:t> </a:t>
                </a:r>
                <a:r>
                  <a:rPr lang="ja-JP" altLang="en-US" sz="2400" dirty="0"/>
                  <a:t>を見比べて新たに使用されるサーバ </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𝑠</m:t>
                        </m:r>
                      </m:e>
                      <m:sub>
                        <m:r>
                          <a:rPr lang="en-US" altLang="ja-JP" sz="2400" b="0" i="1" smtClean="0">
                            <a:latin typeface="Cambria Math" panose="02040503050406030204" pitchFamily="18" charset="0"/>
                          </a:rPr>
                          <m:t>5</m:t>
                        </m:r>
                      </m:sub>
                    </m:sSub>
                  </m:oMath>
                </a14:m>
                <a:r>
                  <a:rPr kumimoji="1" lang="en-US" altLang="ja-JP" sz="2400" dirty="0"/>
                  <a:t> </a:t>
                </a:r>
                <a:r>
                  <a:rPr kumimoji="1" lang="ja-JP" altLang="en-US" sz="2400" dirty="0"/>
                  <a:t>を特定</a:t>
                </a:r>
                <a:endParaRPr kumimoji="1" lang="en-US" altLang="ja-JP" sz="2400" dirty="0"/>
              </a:p>
              <a:p>
                <a:pPr marL="0" indent="0">
                  <a:buNone/>
                </a:pP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𝑟</m:t>
                        </m:r>
                      </m:e>
                      <m:sub>
                        <m:r>
                          <a:rPr lang="en-US" altLang="ja-JP" sz="2400" i="1">
                            <a:latin typeface="Cambria Math" panose="02040503050406030204" pitchFamily="18" charset="0"/>
                          </a:rPr>
                          <m:t>5</m:t>
                        </m:r>
                      </m:sub>
                    </m:sSub>
                  </m:oMath>
                </a14:m>
                <a:r>
                  <a:rPr lang="ja-JP" altLang="en-US" sz="2400" dirty="0"/>
                  <a:t> を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𝑠</m:t>
                        </m:r>
                      </m:e>
                      <m:sub>
                        <m:r>
                          <a:rPr lang="en-US" altLang="ja-JP" sz="2400" i="1">
                            <a:latin typeface="Cambria Math" panose="02040503050406030204" pitchFamily="18" charset="0"/>
                          </a:rPr>
                          <m:t>5</m:t>
                        </m:r>
                      </m:sub>
                    </m:sSub>
                  </m:oMath>
                </a14:m>
                <a:r>
                  <a:rPr lang="ja-JP" altLang="en-US" sz="2400" dirty="0"/>
                  <a:t> に割り当て</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07BC8A70-A97B-3A93-C4DD-E057A29D005E}"/>
                  </a:ext>
                </a:extLst>
              </p:cNvPr>
              <p:cNvSpPr>
                <a:spLocks noGrp="1" noRot="1" noChangeAspect="1" noMove="1" noResize="1" noEditPoints="1" noAdjustHandles="1" noChangeArrowheads="1" noChangeShapeType="1" noTextEdit="1"/>
              </p:cNvSpPr>
              <p:nvPr>
                <p:ph idx="1"/>
              </p:nvPr>
            </p:nvSpPr>
            <p:spPr>
              <a:xfrm>
                <a:off x="838200" y="1825625"/>
                <a:ext cx="10515600" cy="899102"/>
              </a:xfrm>
              <a:blipFill>
                <a:blip r:embed="rId2"/>
                <a:stretch>
                  <a:fillRect l="-174" t="-7432" b="-1486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8553AEDE-F586-8329-A19E-E64C1DD0361F}"/>
              </a:ext>
            </a:extLst>
          </p:cNvPr>
          <p:cNvSpPr/>
          <p:nvPr/>
        </p:nvSpPr>
        <p:spPr>
          <a:xfrm>
            <a:off x="4952834" y="446204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D98BCB0B-3921-F214-1755-63585354795B}"/>
              </a:ext>
            </a:extLst>
          </p:cNvPr>
          <p:cNvSpPr/>
          <p:nvPr/>
        </p:nvSpPr>
        <p:spPr>
          <a:xfrm>
            <a:off x="3051379" y="4061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1F4DB89C-C65C-E440-2F37-988424481C50}"/>
              </a:ext>
            </a:extLst>
          </p:cNvPr>
          <p:cNvCxnSpPr>
            <a:cxnSpLocks/>
          </p:cNvCxnSpPr>
          <p:nvPr/>
        </p:nvCxnSpPr>
        <p:spPr>
          <a:xfrm>
            <a:off x="4106942" y="412588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6BE91F24-FC90-A6F9-3615-8D0BF6F33115}"/>
              </a:ext>
            </a:extLst>
          </p:cNvPr>
          <p:cNvCxnSpPr>
            <a:cxnSpLocks/>
          </p:cNvCxnSpPr>
          <p:nvPr/>
        </p:nvCxnSpPr>
        <p:spPr>
          <a:xfrm flipH="1" flipV="1">
            <a:off x="3195379" y="4205274"/>
            <a:ext cx="845892" cy="56841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323486B2-3E68-1373-B77D-A26BBA871669}"/>
              </a:ext>
            </a:extLst>
          </p:cNvPr>
          <p:cNvCxnSpPr>
            <a:cxnSpLocks/>
            <a:endCxn id="4" idx="6"/>
          </p:cNvCxnSpPr>
          <p:nvPr/>
        </p:nvCxnSpPr>
        <p:spPr>
          <a:xfrm flipH="1">
            <a:off x="5096834" y="4382200"/>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ABB4258A-80CC-1FEE-2B25-48F73114B82E}"/>
              </a:ext>
            </a:extLst>
          </p:cNvPr>
          <p:cNvCxnSpPr>
            <a:cxnSpLocks/>
          </p:cNvCxnSpPr>
          <p:nvPr/>
        </p:nvCxnSpPr>
        <p:spPr>
          <a:xfrm>
            <a:off x="5995778" y="367519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0F724D6F-8FFE-DB9A-845D-2BE9B40C8535}"/>
              </a:ext>
            </a:extLst>
          </p:cNvPr>
          <p:cNvSpPr/>
          <p:nvPr/>
        </p:nvSpPr>
        <p:spPr>
          <a:xfrm>
            <a:off x="5253016" y="538106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728A56C6-D901-BA4D-431B-7052CAF971E2}"/>
              </a:ext>
            </a:extLst>
          </p:cNvPr>
          <p:cNvCxnSpPr>
            <a:cxnSpLocks/>
          </p:cNvCxnSpPr>
          <p:nvPr/>
        </p:nvCxnSpPr>
        <p:spPr>
          <a:xfrm flipH="1">
            <a:off x="5397016" y="5301219"/>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67D637A9-8905-BDB4-210D-75E248E16966}"/>
              </a:ext>
            </a:extLst>
          </p:cNvPr>
          <p:cNvCxnSpPr>
            <a:cxnSpLocks/>
          </p:cNvCxnSpPr>
          <p:nvPr/>
        </p:nvCxnSpPr>
        <p:spPr>
          <a:xfrm>
            <a:off x="6248903" y="459420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2B8C3FB6-8A82-81EE-F6E2-530C880F42F8}"/>
              </a:ext>
            </a:extLst>
          </p:cNvPr>
          <p:cNvSpPr/>
          <p:nvPr/>
        </p:nvSpPr>
        <p:spPr>
          <a:xfrm>
            <a:off x="6975598" y="414112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36178B89-2E0B-D98F-8137-B2F86F27677F}"/>
              </a:ext>
            </a:extLst>
          </p:cNvPr>
          <p:cNvCxnSpPr>
            <a:cxnSpLocks/>
          </p:cNvCxnSpPr>
          <p:nvPr/>
        </p:nvCxnSpPr>
        <p:spPr>
          <a:xfrm flipH="1" flipV="1">
            <a:off x="7119598" y="4213123"/>
            <a:ext cx="851887" cy="248926"/>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948816CC-0909-E448-4A6C-74C03C7CACC4}"/>
              </a:ext>
            </a:extLst>
          </p:cNvPr>
          <p:cNvCxnSpPr>
            <a:cxnSpLocks/>
          </p:cNvCxnSpPr>
          <p:nvPr/>
        </p:nvCxnSpPr>
        <p:spPr>
          <a:xfrm>
            <a:off x="8054613" y="3815611"/>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3E5A18BC-0AB1-10C1-25DD-212F1BE341FF}"/>
              </a:ext>
            </a:extLst>
          </p:cNvPr>
          <p:cNvSpPr/>
          <p:nvPr/>
        </p:nvSpPr>
        <p:spPr>
          <a:xfrm>
            <a:off x="3546325" y="5893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37218A05-394F-22F2-3F04-7DE00FD2004C}"/>
              </a:ext>
            </a:extLst>
          </p:cNvPr>
          <p:cNvSpPr/>
          <p:nvPr/>
        </p:nvSpPr>
        <p:spPr>
          <a:xfrm>
            <a:off x="9057885" y="4205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193E62DE-1311-4287-B952-0AD8E8A93F48}"/>
              </a:ext>
            </a:extLst>
          </p:cNvPr>
          <p:cNvSpPr/>
          <p:nvPr/>
        </p:nvSpPr>
        <p:spPr>
          <a:xfrm>
            <a:off x="8054613" y="5821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5" name="直線矢印コネクタ 34">
            <a:extLst>
              <a:ext uri="{FF2B5EF4-FFF2-40B4-BE49-F238E27FC236}">
                <a16:creationId xmlns:a16="http://schemas.microsoft.com/office/drawing/2014/main" id="{A9A91D2E-9D4B-CF1B-986B-443415CF5ECA}"/>
              </a:ext>
            </a:extLst>
          </p:cNvPr>
          <p:cNvCxnSpPr>
            <a:cxnSpLocks/>
          </p:cNvCxnSpPr>
          <p:nvPr/>
        </p:nvCxnSpPr>
        <p:spPr>
          <a:xfrm>
            <a:off x="2180146" y="385961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35C01632-E150-F6BA-8881-9C1A89B20C5C}"/>
                  </a:ext>
                </a:extLst>
              </p:cNvPr>
              <p:cNvSpPr txBox="1"/>
              <p:nvPr/>
            </p:nvSpPr>
            <p:spPr>
              <a:xfrm>
                <a:off x="1972756" y="340601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36" name="テキスト ボックス 35">
                <a:extLst>
                  <a:ext uri="{FF2B5EF4-FFF2-40B4-BE49-F238E27FC236}">
                    <a16:creationId xmlns:a16="http://schemas.microsoft.com/office/drawing/2014/main" id="{35C01632-E150-F6BA-8881-9C1A89B20C5C}"/>
                  </a:ext>
                </a:extLst>
              </p:cNvPr>
              <p:cNvSpPr txBox="1">
                <a:spLocks noRot="1" noChangeAspect="1" noMove="1" noResize="1" noEditPoints="1" noAdjustHandles="1" noChangeArrowheads="1" noChangeShapeType="1" noTextEdit="1"/>
              </p:cNvSpPr>
              <p:nvPr/>
            </p:nvSpPr>
            <p:spPr>
              <a:xfrm>
                <a:off x="1972756" y="3406010"/>
                <a:ext cx="414780" cy="400174"/>
              </a:xfrm>
              <a:prstGeom prst="rect">
                <a:avLst/>
              </a:prstGeom>
              <a:blipFill>
                <a:blip r:embed="rId3"/>
                <a:stretch>
                  <a:fillRect b="-1538"/>
                </a:stretch>
              </a:blipFill>
            </p:spPr>
            <p:txBody>
              <a:bodyPr/>
              <a:lstStyle/>
              <a:p>
                <a:r>
                  <a:rPr lang="ja-JP" altLang="en-US">
                    <a:noFill/>
                  </a:rPr>
                  <a:t> </a:t>
                </a:r>
              </a:p>
            </p:txBody>
          </p:sp>
        </mc:Fallback>
      </mc:AlternateContent>
      <p:sp>
        <p:nvSpPr>
          <p:cNvPr id="7" name="スライド番号プレースホルダー 6">
            <a:extLst>
              <a:ext uri="{FF2B5EF4-FFF2-40B4-BE49-F238E27FC236}">
                <a16:creationId xmlns:a16="http://schemas.microsoft.com/office/drawing/2014/main" id="{F8BEFA7B-E1A6-079A-9879-368223B83E42}"/>
              </a:ext>
            </a:extLst>
          </p:cNvPr>
          <p:cNvSpPr>
            <a:spLocks noGrp="1"/>
          </p:cNvSpPr>
          <p:nvPr>
            <p:ph type="sldNum" sz="quarter" idx="12"/>
          </p:nvPr>
        </p:nvSpPr>
        <p:spPr/>
        <p:txBody>
          <a:bodyPr/>
          <a:lstStyle/>
          <a:p>
            <a:fld id="{4B077F3A-4098-4199-8925-77865D1E3500}" type="slidenum">
              <a:rPr kumimoji="1" lang="ja-JP" altLang="en-US" smtClean="0"/>
              <a:t>15</a:t>
            </a:fld>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196FCF93-2B52-7E30-9080-AD78814C7456}"/>
                  </a:ext>
                </a:extLst>
              </p:cNvPr>
              <p:cNvSpPr txBox="1"/>
              <p:nvPr/>
            </p:nvSpPr>
            <p:spPr>
              <a:xfrm>
                <a:off x="3899552" y="367519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2</m:t>
                          </m:r>
                        </m:sub>
                      </m:sSub>
                    </m:oMath>
                  </m:oMathPara>
                </a14:m>
                <a:endParaRPr kumimoji="1" lang="ja-JP" altLang="en-US" sz="2000" dirty="0"/>
              </a:p>
            </p:txBody>
          </p:sp>
        </mc:Choice>
        <mc:Fallback xmlns="">
          <p:sp>
            <p:nvSpPr>
              <p:cNvPr id="9" name="テキスト ボックス 8">
                <a:extLst>
                  <a:ext uri="{FF2B5EF4-FFF2-40B4-BE49-F238E27FC236}">
                    <a16:creationId xmlns:a16="http://schemas.microsoft.com/office/drawing/2014/main" id="{196FCF93-2B52-7E30-9080-AD78814C7456}"/>
                  </a:ext>
                </a:extLst>
              </p:cNvPr>
              <p:cNvSpPr txBox="1">
                <a:spLocks noRot="1" noChangeAspect="1" noMove="1" noResize="1" noEditPoints="1" noAdjustHandles="1" noChangeArrowheads="1" noChangeShapeType="1" noTextEdit="1"/>
              </p:cNvSpPr>
              <p:nvPr/>
            </p:nvSpPr>
            <p:spPr>
              <a:xfrm>
                <a:off x="3899552" y="3675190"/>
                <a:ext cx="414780" cy="400174"/>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3B718D1A-3E17-46CC-0C5F-7FDEFA0B2C29}"/>
                  </a:ext>
                </a:extLst>
              </p:cNvPr>
              <p:cNvSpPr txBox="1"/>
              <p:nvPr/>
            </p:nvSpPr>
            <p:spPr>
              <a:xfrm>
                <a:off x="5791182" y="3232838"/>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3</m:t>
                          </m:r>
                        </m:sub>
                      </m:sSub>
                    </m:oMath>
                  </m:oMathPara>
                </a14:m>
                <a:endParaRPr kumimoji="1" lang="ja-JP" altLang="en-US" sz="2000" dirty="0"/>
              </a:p>
            </p:txBody>
          </p:sp>
        </mc:Choice>
        <mc:Fallback xmlns="">
          <p:sp>
            <p:nvSpPr>
              <p:cNvPr id="10" name="テキスト ボックス 9">
                <a:extLst>
                  <a:ext uri="{FF2B5EF4-FFF2-40B4-BE49-F238E27FC236}">
                    <a16:creationId xmlns:a16="http://schemas.microsoft.com/office/drawing/2014/main" id="{3B718D1A-3E17-46CC-0C5F-7FDEFA0B2C29}"/>
                  </a:ext>
                </a:extLst>
              </p:cNvPr>
              <p:cNvSpPr txBox="1">
                <a:spLocks noRot="1" noChangeAspect="1" noMove="1" noResize="1" noEditPoints="1" noAdjustHandles="1" noChangeArrowheads="1" noChangeShapeType="1" noTextEdit="1"/>
              </p:cNvSpPr>
              <p:nvPr/>
            </p:nvSpPr>
            <p:spPr>
              <a:xfrm>
                <a:off x="5791182" y="3232838"/>
                <a:ext cx="414780" cy="4001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4964EEE8-94A8-8782-377E-FB154DF72CAB}"/>
                  </a:ext>
                </a:extLst>
              </p:cNvPr>
              <p:cNvSpPr txBox="1"/>
              <p:nvPr/>
            </p:nvSpPr>
            <p:spPr>
              <a:xfrm>
                <a:off x="7846794" y="3306412"/>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4</m:t>
                          </m:r>
                        </m:sub>
                      </m:sSub>
                    </m:oMath>
                  </m:oMathPara>
                </a14:m>
                <a:endParaRPr kumimoji="1" lang="ja-JP" altLang="en-US" sz="2000" dirty="0"/>
              </a:p>
            </p:txBody>
          </p:sp>
        </mc:Choice>
        <mc:Fallback xmlns="">
          <p:sp>
            <p:nvSpPr>
              <p:cNvPr id="11" name="テキスト ボックス 10">
                <a:extLst>
                  <a:ext uri="{FF2B5EF4-FFF2-40B4-BE49-F238E27FC236}">
                    <a16:creationId xmlns:a16="http://schemas.microsoft.com/office/drawing/2014/main" id="{4964EEE8-94A8-8782-377E-FB154DF72CAB}"/>
                  </a:ext>
                </a:extLst>
              </p:cNvPr>
              <p:cNvSpPr txBox="1">
                <a:spLocks noRot="1" noChangeAspect="1" noMove="1" noResize="1" noEditPoints="1" noAdjustHandles="1" noChangeArrowheads="1" noChangeShapeType="1" noTextEdit="1"/>
              </p:cNvSpPr>
              <p:nvPr/>
            </p:nvSpPr>
            <p:spPr>
              <a:xfrm>
                <a:off x="7846794" y="3306412"/>
                <a:ext cx="414780" cy="400174"/>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1E9F46FA-0110-F5D3-F7EC-0C20D196DE3E}"/>
                  </a:ext>
                </a:extLst>
              </p:cNvPr>
              <p:cNvSpPr txBox="1"/>
              <p:nvPr/>
            </p:nvSpPr>
            <p:spPr>
              <a:xfrm>
                <a:off x="6066317" y="4165327"/>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oMath>
                  </m:oMathPara>
                </a14:m>
                <a:endParaRPr kumimoji="1" lang="ja-JP" altLang="en-US" sz="2000" dirty="0"/>
              </a:p>
            </p:txBody>
          </p:sp>
        </mc:Choice>
        <mc:Fallback xmlns="">
          <p:sp>
            <p:nvSpPr>
              <p:cNvPr id="12" name="テキスト ボックス 11">
                <a:extLst>
                  <a:ext uri="{FF2B5EF4-FFF2-40B4-BE49-F238E27FC236}">
                    <a16:creationId xmlns:a16="http://schemas.microsoft.com/office/drawing/2014/main" id="{1E9F46FA-0110-F5D3-F7EC-0C20D196DE3E}"/>
                  </a:ext>
                </a:extLst>
              </p:cNvPr>
              <p:cNvSpPr txBox="1">
                <a:spLocks noRot="1" noChangeAspect="1" noMove="1" noResize="1" noEditPoints="1" noAdjustHandles="1" noChangeArrowheads="1" noChangeShapeType="1" noTextEdit="1"/>
              </p:cNvSpPr>
              <p:nvPr/>
            </p:nvSpPr>
            <p:spPr>
              <a:xfrm>
                <a:off x="6066317" y="4165327"/>
                <a:ext cx="414780" cy="400174"/>
              </a:xfrm>
              <a:prstGeom prst="rect">
                <a:avLst/>
              </a:prstGeom>
              <a:blipFill>
                <a:blip r:embed="rId7"/>
                <a:stretch>
                  <a:fillRect/>
                </a:stretch>
              </a:blipFill>
            </p:spPr>
            <p:txBody>
              <a:bodyPr/>
              <a:lstStyle/>
              <a:p>
                <a:r>
                  <a:rPr lang="ja-JP" altLang="en-US">
                    <a:noFill/>
                  </a:rPr>
                  <a:t> </a:t>
                </a:r>
              </a:p>
            </p:txBody>
          </p:sp>
        </mc:Fallback>
      </mc:AlternateContent>
      <p:cxnSp>
        <p:nvCxnSpPr>
          <p:cNvPr id="8" name="直線矢印コネクタ 7">
            <a:extLst>
              <a:ext uri="{FF2B5EF4-FFF2-40B4-BE49-F238E27FC236}">
                <a16:creationId xmlns:a16="http://schemas.microsoft.com/office/drawing/2014/main" id="{88DAD8AA-337E-0FD9-DA8A-5A7A9A2C6CA7}"/>
              </a:ext>
            </a:extLst>
          </p:cNvPr>
          <p:cNvCxnSpPr>
            <a:cxnSpLocks/>
            <a:endCxn id="5" idx="2"/>
          </p:cNvCxnSpPr>
          <p:nvPr/>
        </p:nvCxnSpPr>
        <p:spPr>
          <a:xfrm flipV="1">
            <a:off x="2220756" y="4133274"/>
            <a:ext cx="830623" cy="36719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A42F16D2-950D-7548-DE38-77B9C4BDF4AE}"/>
              </a:ext>
            </a:extLst>
          </p:cNvPr>
          <p:cNvCxnSpPr>
            <a:cxnSpLocks/>
          </p:cNvCxnSpPr>
          <p:nvPr/>
        </p:nvCxnSpPr>
        <p:spPr>
          <a:xfrm flipV="1">
            <a:off x="4142619" y="4594209"/>
            <a:ext cx="757162" cy="244878"/>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AD607B5C-3C37-EE89-4CA2-F3DD4FEC5E3A}"/>
              </a:ext>
            </a:extLst>
          </p:cNvPr>
          <p:cNvCxnSpPr>
            <a:cxnSpLocks/>
            <a:endCxn id="27" idx="1"/>
          </p:cNvCxnSpPr>
          <p:nvPr/>
        </p:nvCxnSpPr>
        <p:spPr>
          <a:xfrm flipV="1">
            <a:off x="6084508" y="4162211"/>
            <a:ext cx="912178" cy="11506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E1E35728-5E16-CA52-83F2-B344F1C651C0}"/>
              </a:ext>
            </a:extLst>
          </p:cNvPr>
          <p:cNvCxnSpPr>
            <a:cxnSpLocks/>
            <a:endCxn id="32" idx="2"/>
          </p:cNvCxnSpPr>
          <p:nvPr/>
        </p:nvCxnSpPr>
        <p:spPr>
          <a:xfrm flipV="1">
            <a:off x="8115485" y="4277274"/>
            <a:ext cx="942400" cy="202111"/>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7DAB4871-86D3-A6E8-7215-F263CBEE57DD}"/>
              </a:ext>
            </a:extLst>
          </p:cNvPr>
          <p:cNvCxnSpPr>
            <a:cxnSpLocks/>
          </p:cNvCxnSpPr>
          <p:nvPr/>
        </p:nvCxnSpPr>
        <p:spPr>
          <a:xfrm flipH="1">
            <a:off x="5360071" y="5160267"/>
            <a:ext cx="845891" cy="151849"/>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D72CCBC4-EE05-FF14-16D1-29271FE945AD}"/>
              </a:ext>
            </a:extLst>
          </p:cNvPr>
          <p:cNvSpPr txBox="1"/>
          <p:nvPr/>
        </p:nvSpPr>
        <p:spPr>
          <a:xfrm>
            <a:off x="8796178" y="3550598"/>
            <a:ext cx="2920065" cy="369332"/>
          </a:xfrm>
          <a:prstGeom prst="rect">
            <a:avLst/>
          </a:prstGeom>
          <a:noFill/>
        </p:spPr>
        <p:txBody>
          <a:bodyPr wrap="square" rtlCol="0">
            <a:spAutoFit/>
          </a:bodyPr>
          <a:lstStyle/>
          <a:p>
            <a:r>
              <a:rPr kumimoji="1" lang="ja-JP" altLang="en-US" dirty="0"/>
              <a:t>新たに使用されるサーバ</a:t>
            </a:r>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8C34AD6D-8F5A-3A6A-4517-CA0BFADDCA35}"/>
                  </a:ext>
                </a:extLst>
              </p:cNvPr>
              <p:cNvSpPr txBox="1"/>
              <p:nvPr/>
            </p:nvSpPr>
            <p:spPr>
              <a:xfrm>
                <a:off x="9335813" y="3806184"/>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16" name="テキスト ボックス 15">
                <a:extLst>
                  <a:ext uri="{FF2B5EF4-FFF2-40B4-BE49-F238E27FC236}">
                    <a16:creationId xmlns:a16="http://schemas.microsoft.com/office/drawing/2014/main" id="{8C34AD6D-8F5A-3A6A-4517-CA0BFADDCA35}"/>
                  </a:ext>
                </a:extLst>
              </p:cNvPr>
              <p:cNvSpPr txBox="1">
                <a:spLocks noRot="1" noChangeAspect="1" noMove="1" noResize="1" noEditPoints="1" noAdjustHandles="1" noChangeArrowheads="1" noChangeShapeType="1" noTextEdit="1"/>
              </p:cNvSpPr>
              <p:nvPr/>
            </p:nvSpPr>
            <p:spPr>
              <a:xfrm>
                <a:off x="9335813" y="3806184"/>
                <a:ext cx="414780" cy="400174"/>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0225A16D-210F-D393-6EDA-FB7F7E5D6BE1}"/>
                  </a:ext>
                </a:extLst>
              </p:cNvPr>
              <p:cNvSpPr txBox="1"/>
              <p:nvPr/>
            </p:nvSpPr>
            <p:spPr>
              <a:xfrm>
                <a:off x="1306544" y="4638628"/>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rgbClr val="7030A0"/>
                              </a:solidFill>
                              <a:latin typeface="Cambria Math" panose="02040503050406030204" pitchFamily="18" charset="0"/>
                            </a:rPr>
                          </m:ctrlPr>
                        </m:sSubSupPr>
                        <m:e>
                          <m:r>
                            <a:rPr lang="en-US" altLang="ja-JP" sz="2400" i="1">
                              <a:solidFill>
                                <a:srgbClr val="7030A0"/>
                              </a:solidFill>
                              <a:latin typeface="Cambria Math" panose="02040503050406030204" pitchFamily="18" charset="0"/>
                            </a:rPr>
                            <m:t>𝑀</m:t>
                          </m:r>
                        </m:e>
                        <m:sub>
                          <m:r>
                            <a:rPr lang="en-US" altLang="ja-JP" sz="2400" b="0" i="1" smtClean="0">
                              <a:solidFill>
                                <a:srgbClr val="7030A0"/>
                              </a:solidFill>
                              <a:latin typeface="Cambria Math" panose="02040503050406030204" pitchFamily="18" charset="0"/>
                            </a:rPr>
                            <m:t>5</m:t>
                          </m:r>
                        </m:sub>
                        <m:sup>
                          <m:r>
                            <a:rPr lang="en-US" altLang="ja-JP" sz="2400" i="1">
                              <a:solidFill>
                                <a:srgbClr val="7030A0"/>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19" name="テキスト ボックス 18">
                <a:extLst>
                  <a:ext uri="{FF2B5EF4-FFF2-40B4-BE49-F238E27FC236}">
                    <a16:creationId xmlns:a16="http://schemas.microsoft.com/office/drawing/2014/main" id="{0225A16D-210F-D393-6EDA-FB7F7E5D6BE1}"/>
                  </a:ext>
                </a:extLst>
              </p:cNvPr>
              <p:cNvSpPr txBox="1">
                <a:spLocks noRot="1" noChangeAspect="1" noMove="1" noResize="1" noEditPoints="1" noAdjustHandles="1" noChangeArrowheads="1" noChangeShapeType="1" noTextEdit="1"/>
              </p:cNvSpPr>
              <p:nvPr/>
            </p:nvSpPr>
            <p:spPr>
              <a:xfrm>
                <a:off x="1306544" y="4638628"/>
                <a:ext cx="1257972" cy="469809"/>
              </a:xfrm>
              <a:prstGeom prst="rect">
                <a:avLst/>
              </a:prstGeom>
              <a:blipFill>
                <a:blip r:embed="rId9"/>
                <a:stretch>
                  <a:fillRect b="-2597"/>
                </a:stretch>
              </a:blipFill>
            </p:spPr>
            <p:txBody>
              <a:bodyPr/>
              <a:lstStyle/>
              <a:p>
                <a:r>
                  <a:rPr lang="ja-JP" altLang="en-US">
                    <a:noFill/>
                  </a:rPr>
                  <a:t> </a:t>
                </a:r>
              </a:p>
            </p:txBody>
          </p:sp>
        </mc:Fallback>
      </mc:AlternateContent>
      <p:cxnSp>
        <p:nvCxnSpPr>
          <p:cNvPr id="23" name="直線矢印コネクタ 22">
            <a:extLst>
              <a:ext uri="{FF2B5EF4-FFF2-40B4-BE49-F238E27FC236}">
                <a16:creationId xmlns:a16="http://schemas.microsoft.com/office/drawing/2014/main" id="{A6C496E3-E60F-1AA6-B530-149B1D11CD47}"/>
              </a:ext>
            </a:extLst>
          </p:cNvPr>
          <p:cNvCxnSpPr>
            <a:cxnSpLocks/>
          </p:cNvCxnSpPr>
          <p:nvPr/>
        </p:nvCxnSpPr>
        <p:spPr>
          <a:xfrm flipV="1">
            <a:off x="2255893" y="4213123"/>
            <a:ext cx="6801992" cy="248926"/>
          </a:xfrm>
          <a:prstGeom prst="straightConnector1">
            <a:avLst/>
          </a:prstGeom>
          <a:ln w="79375">
            <a:tailEnd type="triangle"/>
          </a:ln>
        </p:spPr>
        <p:style>
          <a:lnRef idx="1">
            <a:schemeClr val="accent1"/>
          </a:lnRef>
          <a:fillRef idx="0">
            <a:schemeClr val="accent1"/>
          </a:fillRef>
          <a:effectRef idx="0">
            <a:schemeClr val="accent1"/>
          </a:effectRef>
          <a:fontRef idx="minor">
            <a:schemeClr val="tx1"/>
          </a:fontRef>
        </p:style>
      </p:cxnSp>
      <p:sp>
        <p:nvSpPr>
          <p:cNvPr id="34" name="楕円 33">
            <a:extLst>
              <a:ext uri="{FF2B5EF4-FFF2-40B4-BE49-F238E27FC236}">
                <a16:creationId xmlns:a16="http://schemas.microsoft.com/office/drawing/2014/main" id="{EC9A24AC-7718-FFE5-502F-BF75975D9F5F}"/>
              </a:ext>
            </a:extLst>
          </p:cNvPr>
          <p:cNvSpPr/>
          <p:nvPr/>
        </p:nvSpPr>
        <p:spPr>
          <a:xfrm>
            <a:off x="8913885" y="43125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矢印コネクタ 36">
            <a:extLst>
              <a:ext uri="{FF2B5EF4-FFF2-40B4-BE49-F238E27FC236}">
                <a16:creationId xmlns:a16="http://schemas.microsoft.com/office/drawing/2014/main" id="{A99959D1-FAA3-476C-5F4D-B0EE153B6FE4}"/>
              </a:ext>
            </a:extLst>
          </p:cNvPr>
          <p:cNvCxnSpPr>
            <a:cxnSpLocks/>
          </p:cNvCxnSpPr>
          <p:nvPr/>
        </p:nvCxnSpPr>
        <p:spPr>
          <a:xfrm>
            <a:off x="8985885" y="858608"/>
            <a:ext cx="0" cy="47970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992FBFDB-627A-B991-AAC9-357819A59B69}"/>
              </a:ext>
            </a:extLst>
          </p:cNvPr>
          <p:cNvSpPr txBox="1"/>
          <p:nvPr/>
        </p:nvSpPr>
        <p:spPr>
          <a:xfrm>
            <a:off x="9263799" y="337229"/>
            <a:ext cx="2149312" cy="369332"/>
          </a:xfrm>
          <a:prstGeom prst="rect">
            <a:avLst/>
          </a:prstGeom>
          <a:noFill/>
        </p:spPr>
        <p:txBody>
          <a:bodyPr wrap="square" rtlCol="0">
            <a:spAutoFit/>
          </a:bodyPr>
          <a:lstStyle/>
          <a:p>
            <a:r>
              <a:rPr kumimoji="1" lang="ja-JP" altLang="en-US" dirty="0"/>
              <a:t>サーバ（病院）</a:t>
            </a:r>
          </a:p>
        </p:txBody>
      </p:sp>
      <p:sp>
        <p:nvSpPr>
          <p:cNvPr id="39" name="テキスト ボックス 38">
            <a:extLst>
              <a:ext uri="{FF2B5EF4-FFF2-40B4-BE49-F238E27FC236}">
                <a16:creationId xmlns:a16="http://schemas.microsoft.com/office/drawing/2014/main" id="{07EC09A9-F5D2-76A9-5A94-06ACDC3153D1}"/>
              </a:ext>
            </a:extLst>
          </p:cNvPr>
          <p:cNvSpPr txBox="1"/>
          <p:nvPr/>
        </p:nvSpPr>
        <p:spPr>
          <a:xfrm>
            <a:off x="9263798" y="979041"/>
            <a:ext cx="2312311" cy="369332"/>
          </a:xfrm>
          <a:prstGeom prst="rect">
            <a:avLst/>
          </a:prstGeom>
          <a:noFill/>
        </p:spPr>
        <p:txBody>
          <a:bodyPr wrap="square" rtlCol="0">
            <a:spAutoFit/>
          </a:bodyPr>
          <a:lstStyle/>
          <a:p>
            <a:r>
              <a:rPr lang="ja-JP" altLang="en-US" dirty="0"/>
              <a:t>リクエスト</a:t>
            </a:r>
            <a:r>
              <a:rPr kumimoji="1" lang="ja-JP" altLang="en-US" dirty="0"/>
              <a:t>（患者）</a:t>
            </a:r>
          </a:p>
        </p:txBody>
      </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74D8C974-0C05-6560-0774-B0F6F31B205F}"/>
                  </a:ext>
                </a:extLst>
              </p:cNvPr>
              <p:cNvSpPr txBox="1"/>
              <p:nvPr/>
            </p:nvSpPr>
            <p:spPr>
              <a:xfrm>
                <a:off x="6975598" y="4602470"/>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b="0" i="1" smtClean="0">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40" name="テキスト ボックス 39">
                <a:extLst>
                  <a:ext uri="{FF2B5EF4-FFF2-40B4-BE49-F238E27FC236}">
                    <a16:creationId xmlns:a16="http://schemas.microsoft.com/office/drawing/2014/main" id="{74D8C974-0C05-6560-0774-B0F6F31B205F}"/>
                  </a:ext>
                </a:extLst>
              </p:cNvPr>
              <p:cNvSpPr txBox="1">
                <a:spLocks noRot="1" noChangeAspect="1" noMove="1" noResize="1" noEditPoints="1" noAdjustHandles="1" noChangeArrowheads="1" noChangeShapeType="1" noTextEdit="1"/>
              </p:cNvSpPr>
              <p:nvPr/>
            </p:nvSpPr>
            <p:spPr>
              <a:xfrm>
                <a:off x="6975598" y="4602470"/>
                <a:ext cx="1257972" cy="469809"/>
              </a:xfrm>
              <a:prstGeom prst="rect">
                <a:avLst/>
              </a:prstGeom>
              <a:blipFill>
                <a:blip r:embed="rId10"/>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27832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FDED59-185F-D6F0-A27D-437335527834}"/>
              </a:ext>
            </a:extLst>
          </p:cNvPr>
          <p:cNvSpPr>
            <a:spLocks noGrp="1"/>
          </p:cNvSpPr>
          <p:nvPr>
            <p:ph type="title"/>
          </p:nvPr>
        </p:nvSpPr>
        <p:spPr/>
        <p:txBody>
          <a:bodyPr/>
          <a:lstStyle/>
          <a:p>
            <a:r>
              <a:rPr lang="en-US" altLang="ja-JP" dirty="0"/>
              <a:t>Permutation </a:t>
            </a:r>
            <a:r>
              <a:rPr lang="ja-JP" altLang="en-US" dirty="0"/>
              <a:t>の競合比解析１</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EAAEC30-A4B6-3646-8343-875DDEFA8274}"/>
                  </a:ext>
                </a:extLst>
              </p:cNvPr>
              <p:cNvSpPr>
                <a:spLocks noGrp="1"/>
              </p:cNvSpPr>
              <p:nvPr>
                <p:ph idx="1"/>
              </p:nvPr>
            </p:nvSpPr>
            <p:spPr>
              <a:xfrm>
                <a:off x="838200" y="1825625"/>
                <a:ext cx="10515600" cy="1857378"/>
              </a:xfrm>
            </p:spPr>
            <p:txBody>
              <a:bodyPr>
                <a:normAutofit/>
              </a:bodyPr>
              <a:lstStyle/>
              <a:p>
                <a:pPr marL="0" indent="0">
                  <a:buNone/>
                </a:pPr>
                <a:r>
                  <a:rPr lang="ja-JP" altLang="en-US" sz="2400" b="1" dirty="0"/>
                  <a:t>観察</a:t>
                </a:r>
                <a:endParaRPr lang="en-US" altLang="ja-JP" sz="2400" b="1" dirty="0"/>
              </a:p>
              <a:p>
                <a:r>
                  <a:rPr lang="ja-JP" altLang="en-US" sz="2400" dirty="0"/>
                  <a:t>三角不等式より </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𝑟</m:t>
                        </m:r>
                      </m:e>
                      <m:sub>
                        <m:r>
                          <a:rPr lang="en-US" altLang="ja-JP" sz="2400" b="0" i="1" smtClean="0">
                            <a:latin typeface="Cambria Math" panose="02040503050406030204" pitchFamily="18" charset="0"/>
                          </a:rPr>
                          <m:t>5</m:t>
                        </m:r>
                      </m:sub>
                    </m:sSub>
                  </m:oMath>
                </a14:m>
                <a:r>
                  <a:rPr lang="ja-JP" altLang="en-US" sz="2400" dirty="0"/>
                  <a:t> の割当てコストは，</a:t>
                </a:r>
                <a14:m>
                  <m:oMath xmlns:m="http://schemas.openxmlformats.org/officeDocument/2006/math">
                    <m:sSubSup>
                      <m:sSubSupPr>
                        <m:ctrlPr>
                          <a:rPr lang="en-US" altLang="ja-JP" sz="2400" b="0" i="1" smtClean="0">
                            <a:latin typeface="Cambria Math" panose="02040503050406030204" pitchFamily="18" charset="0"/>
                          </a:rPr>
                        </m:ctrlPr>
                      </m:sSubSupPr>
                      <m:e>
                        <m:r>
                          <a:rPr lang="en-US" altLang="ja-JP" sz="2400" b="0" i="1" smtClean="0">
                            <a:latin typeface="Cambria Math" panose="02040503050406030204" pitchFamily="18" charset="0"/>
                          </a:rPr>
                          <m:t>𝑀</m:t>
                        </m:r>
                      </m:e>
                      <m:sub>
                        <m:r>
                          <a:rPr lang="en-US" altLang="ja-JP" sz="2400" b="0" i="1" smtClean="0">
                            <a:latin typeface="Cambria Math" panose="02040503050406030204" pitchFamily="18" charset="0"/>
                          </a:rPr>
                          <m:t>4</m:t>
                        </m:r>
                      </m:sub>
                      <m:sup>
                        <m:r>
                          <a:rPr lang="en-US" altLang="ja-JP" sz="2400" b="0" i="1" smtClean="0">
                            <a:latin typeface="Cambria Math" panose="02040503050406030204" pitchFamily="18" charset="0"/>
                          </a:rPr>
                          <m:t>∗</m:t>
                        </m:r>
                      </m:sup>
                    </m:sSubSup>
                  </m:oMath>
                </a14:m>
                <a:r>
                  <a:rPr lang="ja-JP" altLang="en-US" sz="2400" dirty="0"/>
                  <a:t> の重みと </a:t>
                </a:r>
                <a14:m>
                  <m:oMath xmlns:m="http://schemas.openxmlformats.org/officeDocument/2006/math">
                    <m:sSubSup>
                      <m:sSubSupPr>
                        <m:ctrlPr>
                          <a:rPr lang="en-US" altLang="ja-JP" sz="2400" b="0" i="1" smtClean="0">
                            <a:latin typeface="Cambria Math" panose="02040503050406030204" pitchFamily="18" charset="0"/>
                          </a:rPr>
                        </m:ctrlPr>
                      </m:sSubSupPr>
                      <m:e>
                        <m:r>
                          <a:rPr lang="en-US" altLang="ja-JP" sz="2400" b="0" i="1" smtClean="0">
                            <a:latin typeface="Cambria Math" panose="02040503050406030204" pitchFamily="18" charset="0"/>
                          </a:rPr>
                          <m:t>𝑀</m:t>
                        </m:r>
                      </m:e>
                      <m:sub>
                        <m:r>
                          <a:rPr lang="en-US" altLang="ja-JP" sz="2400" b="0" i="1" smtClean="0">
                            <a:latin typeface="Cambria Math" panose="02040503050406030204" pitchFamily="18" charset="0"/>
                          </a:rPr>
                          <m:t>5</m:t>
                        </m:r>
                      </m:sub>
                      <m:sup>
                        <m:r>
                          <a:rPr lang="en-US" altLang="ja-JP" sz="2400" b="0" i="1" smtClean="0">
                            <a:latin typeface="Cambria Math" panose="02040503050406030204" pitchFamily="18" charset="0"/>
                          </a:rPr>
                          <m:t>∗</m:t>
                        </m:r>
                      </m:sup>
                    </m:sSubSup>
                  </m:oMath>
                </a14:m>
                <a:r>
                  <a:rPr lang="ja-JP" altLang="en-US" sz="2400" dirty="0"/>
                  <a:t> の重みの和以下</a:t>
                </a:r>
                <a:endParaRPr lang="en-US" altLang="ja-JP" sz="2400" dirty="0"/>
              </a:p>
              <a:p>
                <a:r>
                  <a:rPr lang="ja-JP" altLang="en-US" sz="2400" dirty="0"/>
                  <a:t>最適性より，</a:t>
                </a:r>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4</m:t>
                        </m:r>
                      </m:sub>
                      <m:sup>
                        <m:r>
                          <a:rPr lang="en-US" altLang="ja-JP" sz="2400" i="1">
                            <a:latin typeface="Cambria Math" panose="02040503050406030204" pitchFamily="18" charset="0"/>
                          </a:rPr>
                          <m:t>∗</m:t>
                        </m:r>
                      </m:sup>
                    </m:sSubSup>
                  </m:oMath>
                </a14:m>
                <a:r>
                  <a:rPr lang="ja-JP" altLang="en-US" sz="2400" dirty="0"/>
                  <a:t> と </a:t>
                </a:r>
                <a14:m>
                  <m:oMath xmlns:m="http://schemas.openxmlformats.org/officeDocument/2006/math">
                    <m:sSubSup>
                      <m:sSubSupPr>
                        <m:ctrlPr>
                          <a:rPr lang="en-US" altLang="ja-JP" sz="2400" b="0" i="1" smtClean="0">
                            <a:latin typeface="Cambria Math" panose="02040503050406030204" pitchFamily="18" charset="0"/>
                          </a:rPr>
                        </m:ctrlPr>
                      </m:sSubSupPr>
                      <m:e>
                        <m:r>
                          <a:rPr lang="en-US" altLang="ja-JP" sz="2400" b="0" i="1" smtClean="0">
                            <a:latin typeface="Cambria Math" panose="02040503050406030204" pitchFamily="18" charset="0"/>
                          </a:rPr>
                          <m:t>𝑀</m:t>
                        </m:r>
                      </m:e>
                      <m:sub>
                        <m:r>
                          <a:rPr lang="en-US" altLang="ja-JP" sz="2400" b="0" i="1" smtClean="0">
                            <a:latin typeface="Cambria Math" panose="02040503050406030204" pitchFamily="18" charset="0"/>
                          </a:rPr>
                          <m:t>5</m:t>
                        </m:r>
                      </m:sub>
                      <m:sup>
                        <m:r>
                          <a:rPr lang="en-US" altLang="ja-JP" sz="2400" b="0" i="1" smtClean="0">
                            <a:latin typeface="Cambria Math" panose="02040503050406030204" pitchFamily="18" charset="0"/>
                          </a:rPr>
                          <m:t>∗</m:t>
                        </m:r>
                      </m:sup>
                    </m:sSubSup>
                  </m:oMath>
                </a14:m>
                <a:r>
                  <a:rPr lang="ja-JP" altLang="en-US" sz="2400" dirty="0"/>
                  <a:t> の重みは共に </a:t>
                </a:r>
                <a14:m>
                  <m:oMath xmlns:m="http://schemas.openxmlformats.org/officeDocument/2006/math">
                    <m:r>
                      <a:rPr lang="en-US" altLang="ja-JP" sz="2400" b="0" i="1" smtClean="0">
                        <a:latin typeface="Cambria Math" panose="02040503050406030204" pitchFamily="18" charset="0"/>
                      </a:rPr>
                      <m:t>𝑂𝑃𝑇</m:t>
                    </m:r>
                    <m:r>
                      <a:rPr lang="en-US" altLang="ja-JP" sz="2400" b="0" i="1" smtClean="0">
                        <a:latin typeface="Cambria Math" panose="02040503050406030204" pitchFamily="18" charset="0"/>
                      </a:rPr>
                      <m:t>=</m:t>
                    </m:r>
                    <m:sSubSup>
                      <m:sSubSupPr>
                        <m:ctrlPr>
                          <a:rPr lang="en-US" altLang="ja-JP" sz="2400" b="0" i="1" smtClean="0">
                            <a:latin typeface="Cambria Math" panose="02040503050406030204" pitchFamily="18" charset="0"/>
                          </a:rPr>
                        </m:ctrlPr>
                      </m:sSubSupPr>
                      <m:e>
                        <m:r>
                          <a:rPr lang="en-US" altLang="ja-JP" sz="2400" b="0" i="1" smtClean="0">
                            <a:latin typeface="Cambria Math" panose="02040503050406030204" pitchFamily="18" charset="0"/>
                          </a:rPr>
                          <m:t>𝑀</m:t>
                        </m:r>
                      </m:e>
                      <m:sub>
                        <m:r>
                          <a:rPr lang="en-US" altLang="ja-JP" sz="2400" b="0" i="1" smtClean="0">
                            <a:latin typeface="Cambria Math" panose="02040503050406030204" pitchFamily="18" charset="0"/>
                          </a:rPr>
                          <m:t>𝑛</m:t>
                        </m:r>
                      </m:sub>
                      <m:sup>
                        <m:r>
                          <a:rPr lang="en-US" altLang="ja-JP" sz="2400" b="0" i="1" smtClean="0">
                            <a:latin typeface="Cambria Math" panose="02040503050406030204" pitchFamily="18" charset="0"/>
                          </a:rPr>
                          <m:t>∗</m:t>
                        </m:r>
                      </m:sup>
                    </m:sSubSup>
                  </m:oMath>
                </a14:m>
                <a:r>
                  <a:rPr lang="ja-JP" altLang="en-US" sz="2400" dirty="0"/>
                  <a:t> 以下</a:t>
                </a:r>
                <a:endParaRPr lang="en-US" altLang="ja-JP" sz="2400" dirty="0"/>
              </a:p>
              <a:p>
                <a:pPr marL="0" indent="0">
                  <a:buNone/>
                </a:pPr>
                <a:r>
                  <a:rPr lang="ja-JP" altLang="en-US" sz="2400" dirty="0"/>
                  <a:t>よって（</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𝑟</m:t>
                        </m:r>
                      </m:e>
                      <m:sub>
                        <m:r>
                          <a:rPr lang="en-US" altLang="ja-JP" sz="2400" b="0" i="1" smtClean="0">
                            <a:latin typeface="Cambria Math" panose="02040503050406030204" pitchFamily="18" charset="0"/>
                          </a:rPr>
                          <m:t>5</m:t>
                        </m:r>
                      </m:sub>
                    </m:sSub>
                  </m:oMath>
                </a14:m>
                <a:r>
                  <a:rPr lang="en-US" altLang="ja-JP" sz="2400" dirty="0"/>
                  <a:t> </a:t>
                </a:r>
                <a:r>
                  <a:rPr lang="ja-JP" altLang="en-US" sz="2400" dirty="0"/>
                  <a:t>の割り当てコスト）</a:t>
                </a:r>
                <a14:m>
                  <m:oMath xmlns:m="http://schemas.openxmlformats.org/officeDocument/2006/math">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𝑂𝑃𝑇</m:t>
                    </m:r>
                  </m:oMath>
                </a14:m>
                <a:r>
                  <a:rPr lang="en-US" altLang="ja-JP" sz="2400" dirty="0"/>
                  <a:t> </a:t>
                </a:r>
              </a:p>
              <a:p>
                <a:pPr marL="0" indent="0">
                  <a:buNone/>
                </a:pPr>
                <a:endParaRPr lang="en-US" altLang="ja-JP" sz="2400" dirty="0"/>
              </a:p>
            </p:txBody>
          </p:sp>
        </mc:Choice>
        <mc:Fallback xmlns="">
          <p:sp>
            <p:nvSpPr>
              <p:cNvPr id="3" name="コンテンツ プレースホルダー 2">
                <a:extLst>
                  <a:ext uri="{FF2B5EF4-FFF2-40B4-BE49-F238E27FC236}">
                    <a16:creationId xmlns:a16="http://schemas.microsoft.com/office/drawing/2014/main" id="{FEAAEC30-A4B6-3646-8343-875DDEFA8274}"/>
                  </a:ext>
                </a:extLst>
              </p:cNvPr>
              <p:cNvSpPr>
                <a:spLocks noGrp="1" noRot="1" noChangeAspect="1" noMove="1" noResize="1" noEditPoints="1" noAdjustHandles="1" noChangeArrowheads="1" noChangeShapeType="1" noTextEdit="1"/>
              </p:cNvSpPr>
              <p:nvPr>
                <p:ph idx="1"/>
              </p:nvPr>
            </p:nvSpPr>
            <p:spPr>
              <a:xfrm>
                <a:off x="838200" y="1825625"/>
                <a:ext cx="10515600" cy="1857378"/>
              </a:xfrm>
              <a:blipFill>
                <a:blip r:embed="rId2"/>
                <a:stretch>
                  <a:fillRect l="-928" t="-3607" b="-4918"/>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BD37AEE4-E5FC-1E4F-C2D1-8887973FC9BA}"/>
              </a:ext>
            </a:extLst>
          </p:cNvPr>
          <p:cNvSpPr>
            <a:spLocks noGrp="1"/>
          </p:cNvSpPr>
          <p:nvPr>
            <p:ph type="sldNum" sz="quarter" idx="12"/>
          </p:nvPr>
        </p:nvSpPr>
        <p:spPr/>
        <p:txBody>
          <a:bodyPr/>
          <a:lstStyle/>
          <a:p>
            <a:fld id="{4B077F3A-4098-4199-8925-77865D1E3500}" type="slidenum">
              <a:rPr kumimoji="1" lang="ja-JP" altLang="en-US" smtClean="0"/>
              <a:t>16</a:t>
            </a:fld>
            <a:endParaRPr kumimoji="1" lang="ja-JP" altLang="en-US"/>
          </a:p>
        </p:txBody>
      </p:sp>
      <p:sp>
        <p:nvSpPr>
          <p:cNvPr id="5" name="楕円 4">
            <a:extLst>
              <a:ext uri="{FF2B5EF4-FFF2-40B4-BE49-F238E27FC236}">
                <a16:creationId xmlns:a16="http://schemas.microsoft.com/office/drawing/2014/main" id="{EBFB5269-E053-763B-54B1-62D80202000A}"/>
              </a:ext>
            </a:extLst>
          </p:cNvPr>
          <p:cNvSpPr/>
          <p:nvPr/>
        </p:nvSpPr>
        <p:spPr>
          <a:xfrm>
            <a:off x="4952834" y="530103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3B0B969E-08F0-7A12-4A91-655410E88401}"/>
              </a:ext>
            </a:extLst>
          </p:cNvPr>
          <p:cNvSpPr/>
          <p:nvPr/>
        </p:nvSpPr>
        <p:spPr>
          <a:xfrm>
            <a:off x="3051379" y="490026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E1998C5D-834E-1A4B-A0DA-317E18F96032}"/>
              </a:ext>
            </a:extLst>
          </p:cNvPr>
          <p:cNvCxnSpPr>
            <a:cxnSpLocks/>
          </p:cNvCxnSpPr>
          <p:nvPr/>
        </p:nvCxnSpPr>
        <p:spPr>
          <a:xfrm>
            <a:off x="4106942" y="496486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72B2353A-D500-47C6-421E-0C65E5FD9EE8}"/>
              </a:ext>
            </a:extLst>
          </p:cNvPr>
          <p:cNvCxnSpPr>
            <a:cxnSpLocks/>
          </p:cNvCxnSpPr>
          <p:nvPr/>
        </p:nvCxnSpPr>
        <p:spPr>
          <a:xfrm flipH="1" flipV="1">
            <a:off x="3195379" y="5044262"/>
            <a:ext cx="845892" cy="56841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3C2BCE2A-1569-DE57-142B-E688C23B1999}"/>
              </a:ext>
            </a:extLst>
          </p:cNvPr>
          <p:cNvCxnSpPr>
            <a:cxnSpLocks/>
            <a:endCxn id="5" idx="6"/>
          </p:cNvCxnSpPr>
          <p:nvPr/>
        </p:nvCxnSpPr>
        <p:spPr>
          <a:xfrm flipH="1">
            <a:off x="5096834" y="5221188"/>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8AF23823-90F2-BA58-6634-49C4F7B60EC5}"/>
              </a:ext>
            </a:extLst>
          </p:cNvPr>
          <p:cNvCxnSpPr>
            <a:cxnSpLocks/>
          </p:cNvCxnSpPr>
          <p:nvPr/>
        </p:nvCxnSpPr>
        <p:spPr>
          <a:xfrm>
            <a:off x="5995778" y="451417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楕円 10">
            <a:extLst>
              <a:ext uri="{FF2B5EF4-FFF2-40B4-BE49-F238E27FC236}">
                <a16:creationId xmlns:a16="http://schemas.microsoft.com/office/drawing/2014/main" id="{FC83AAB1-D8CF-81BB-C375-006C8B7C5671}"/>
              </a:ext>
            </a:extLst>
          </p:cNvPr>
          <p:cNvSpPr/>
          <p:nvPr/>
        </p:nvSpPr>
        <p:spPr>
          <a:xfrm>
            <a:off x="5253016" y="622005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矢印コネクタ 11">
            <a:extLst>
              <a:ext uri="{FF2B5EF4-FFF2-40B4-BE49-F238E27FC236}">
                <a16:creationId xmlns:a16="http://schemas.microsoft.com/office/drawing/2014/main" id="{B7337962-2D9E-79C2-0AD3-24C2C0CC9C61}"/>
              </a:ext>
            </a:extLst>
          </p:cNvPr>
          <p:cNvCxnSpPr>
            <a:cxnSpLocks/>
          </p:cNvCxnSpPr>
          <p:nvPr/>
        </p:nvCxnSpPr>
        <p:spPr>
          <a:xfrm flipH="1">
            <a:off x="5397016" y="6140207"/>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84A4D1D3-C950-7C96-5B1B-EABC4128A621}"/>
              </a:ext>
            </a:extLst>
          </p:cNvPr>
          <p:cNvCxnSpPr>
            <a:cxnSpLocks/>
          </p:cNvCxnSpPr>
          <p:nvPr/>
        </p:nvCxnSpPr>
        <p:spPr>
          <a:xfrm>
            <a:off x="6248903" y="543319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楕円 13">
            <a:extLst>
              <a:ext uri="{FF2B5EF4-FFF2-40B4-BE49-F238E27FC236}">
                <a16:creationId xmlns:a16="http://schemas.microsoft.com/office/drawing/2014/main" id="{BAD93ACC-0CB5-6E49-14C6-B76211B17A4A}"/>
              </a:ext>
            </a:extLst>
          </p:cNvPr>
          <p:cNvSpPr/>
          <p:nvPr/>
        </p:nvSpPr>
        <p:spPr>
          <a:xfrm>
            <a:off x="6975598" y="4980111"/>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矢印コネクタ 14">
            <a:extLst>
              <a:ext uri="{FF2B5EF4-FFF2-40B4-BE49-F238E27FC236}">
                <a16:creationId xmlns:a16="http://schemas.microsoft.com/office/drawing/2014/main" id="{6C490FEA-E5CA-7C86-68DA-E47821E5C146}"/>
              </a:ext>
            </a:extLst>
          </p:cNvPr>
          <p:cNvCxnSpPr>
            <a:cxnSpLocks/>
          </p:cNvCxnSpPr>
          <p:nvPr/>
        </p:nvCxnSpPr>
        <p:spPr>
          <a:xfrm flipH="1" flipV="1">
            <a:off x="7119598" y="5052111"/>
            <a:ext cx="851887" cy="248926"/>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839C6A24-B632-559A-7763-76F99DA0E441}"/>
              </a:ext>
            </a:extLst>
          </p:cNvPr>
          <p:cNvCxnSpPr>
            <a:cxnSpLocks/>
          </p:cNvCxnSpPr>
          <p:nvPr/>
        </p:nvCxnSpPr>
        <p:spPr>
          <a:xfrm>
            <a:off x="8054613" y="465459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楕円 16">
            <a:extLst>
              <a:ext uri="{FF2B5EF4-FFF2-40B4-BE49-F238E27FC236}">
                <a16:creationId xmlns:a16="http://schemas.microsoft.com/office/drawing/2014/main" id="{228DF0DD-CCD8-EA1F-1FD8-9958E86D6A81}"/>
              </a:ext>
            </a:extLst>
          </p:cNvPr>
          <p:cNvSpPr/>
          <p:nvPr/>
        </p:nvSpPr>
        <p:spPr>
          <a:xfrm>
            <a:off x="9057885" y="504426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矢印コネクタ 17">
            <a:extLst>
              <a:ext uri="{FF2B5EF4-FFF2-40B4-BE49-F238E27FC236}">
                <a16:creationId xmlns:a16="http://schemas.microsoft.com/office/drawing/2014/main" id="{9BBBFD37-FB8A-B53B-7ADE-A5E8EC665E34}"/>
              </a:ext>
            </a:extLst>
          </p:cNvPr>
          <p:cNvCxnSpPr>
            <a:cxnSpLocks/>
          </p:cNvCxnSpPr>
          <p:nvPr/>
        </p:nvCxnSpPr>
        <p:spPr>
          <a:xfrm>
            <a:off x="2180146" y="4698606"/>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37FC31DD-A2CA-B7AC-1864-9A5A420F53CB}"/>
                  </a:ext>
                </a:extLst>
              </p:cNvPr>
              <p:cNvSpPr txBox="1"/>
              <p:nvPr/>
            </p:nvSpPr>
            <p:spPr>
              <a:xfrm>
                <a:off x="1972756" y="4244998"/>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19" name="テキスト ボックス 18">
                <a:extLst>
                  <a:ext uri="{FF2B5EF4-FFF2-40B4-BE49-F238E27FC236}">
                    <a16:creationId xmlns:a16="http://schemas.microsoft.com/office/drawing/2014/main" id="{37FC31DD-A2CA-B7AC-1864-9A5A420F53CB}"/>
                  </a:ext>
                </a:extLst>
              </p:cNvPr>
              <p:cNvSpPr txBox="1">
                <a:spLocks noRot="1" noChangeAspect="1" noMove="1" noResize="1" noEditPoints="1" noAdjustHandles="1" noChangeArrowheads="1" noChangeShapeType="1" noTextEdit="1"/>
              </p:cNvSpPr>
              <p:nvPr/>
            </p:nvSpPr>
            <p:spPr>
              <a:xfrm>
                <a:off x="1972756" y="4244998"/>
                <a:ext cx="414780" cy="400174"/>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27228864-749D-065B-FF6D-940F784F8560}"/>
                  </a:ext>
                </a:extLst>
              </p:cNvPr>
              <p:cNvSpPr txBox="1"/>
              <p:nvPr/>
            </p:nvSpPr>
            <p:spPr>
              <a:xfrm>
                <a:off x="3899552" y="4514178"/>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2</m:t>
                          </m:r>
                        </m:sub>
                      </m:sSub>
                    </m:oMath>
                  </m:oMathPara>
                </a14:m>
                <a:endParaRPr kumimoji="1" lang="ja-JP" altLang="en-US" sz="2000" dirty="0"/>
              </a:p>
            </p:txBody>
          </p:sp>
        </mc:Choice>
        <mc:Fallback xmlns="">
          <p:sp>
            <p:nvSpPr>
              <p:cNvPr id="20" name="テキスト ボックス 19">
                <a:extLst>
                  <a:ext uri="{FF2B5EF4-FFF2-40B4-BE49-F238E27FC236}">
                    <a16:creationId xmlns:a16="http://schemas.microsoft.com/office/drawing/2014/main" id="{27228864-749D-065B-FF6D-940F784F8560}"/>
                  </a:ext>
                </a:extLst>
              </p:cNvPr>
              <p:cNvSpPr txBox="1">
                <a:spLocks noRot="1" noChangeAspect="1" noMove="1" noResize="1" noEditPoints="1" noAdjustHandles="1" noChangeArrowheads="1" noChangeShapeType="1" noTextEdit="1"/>
              </p:cNvSpPr>
              <p:nvPr/>
            </p:nvSpPr>
            <p:spPr>
              <a:xfrm>
                <a:off x="3899552" y="4514178"/>
                <a:ext cx="414780" cy="400174"/>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93992164-C8E7-268E-D077-4E7B5D09FA80}"/>
                  </a:ext>
                </a:extLst>
              </p:cNvPr>
              <p:cNvSpPr txBox="1"/>
              <p:nvPr/>
            </p:nvSpPr>
            <p:spPr>
              <a:xfrm>
                <a:off x="5791182" y="4071826"/>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3</m:t>
                          </m:r>
                        </m:sub>
                      </m:sSub>
                    </m:oMath>
                  </m:oMathPara>
                </a14:m>
                <a:endParaRPr kumimoji="1" lang="ja-JP" altLang="en-US" sz="2000" dirty="0"/>
              </a:p>
            </p:txBody>
          </p:sp>
        </mc:Choice>
        <mc:Fallback xmlns="">
          <p:sp>
            <p:nvSpPr>
              <p:cNvPr id="21" name="テキスト ボックス 20">
                <a:extLst>
                  <a:ext uri="{FF2B5EF4-FFF2-40B4-BE49-F238E27FC236}">
                    <a16:creationId xmlns:a16="http://schemas.microsoft.com/office/drawing/2014/main" id="{93992164-C8E7-268E-D077-4E7B5D09FA80}"/>
                  </a:ext>
                </a:extLst>
              </p:cNvPr>
              <p:cNvSpPr txBox="1">
                <a:spLocks noRot="1" noChangeAspect="1" noMove="1" noResize="1" noEditPoints="1" noAdjustHandles="1" noChangeArrowheads="1" noChangeShapeType="1" noTextEdit="1"/>
              </p:cNvSpPr>
              <p:nvPr/>
            </p:nvSpPr>
            <p:spPr>
              <a:xfrm>
                <a:off x="5791182" y="4071826"/>
                <a:ext cx="414780" cy="4001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C3E12C44-C529-B766-6AA0-BB684082E009}"/>
                  </a:ext>
                </a:extLst>
              </p:cNvPr>
              <p:cNvSpPr txBox="1"/>
              <p:nvPr/>
            </p:nvSpPr>
            <p:spPr>
              <a:xfrm>
                <a:off x="7846794" y="414540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4</m:t>
                          </m:r>
                        </m:sub>
                      </m:sSub>
                    </m:oMath>
                  </m:oMathPara>
                </a14:m>
                <a:endParaRPr kumimoji="1" lang="ja-JP" altLang="en-US" sz="2000" dirty="0"/>
              </a:p>
            </p:txBody>
          </p:sp>
        </mc:Choice>
        <mc:Fallback xmlns="">
          <p:sp>
            <p:nvSpPr>
              <p:cNvPr id="22" name="テキスト ボックス 21">
                <a:extLst>
                  <a:ext uri="{FF2B5EF4-FFF2-40B4-BE49-F238E27FC236}">
                    <a16:creationId xmlns:a16="http://schemas.microsoft.com/office/drawing/2014/main" id="{C3E12C44-C529-B766-6AA0-BB684082E009}"/>
                  </a:ext>
                </a:extLst>
              </p:cNvPr>
              <p:cNvSpPr txBox="1">
                <a:spLocks noRot="1" noChangeAspect="1" noMove="1" noResize="1" noEditPoints="1" noAdjustHandles="1" noChangeArrowheads="1" noChangeShapeType="1" noTextEdit="1"/>
              </p:cNvSpPr>
              <p:nvPr/>
            </p:nvSpPr>
            <p:spPr>
              <a:xfrm>
                <a:off x="7846794" y="4145400"/>
                <a:ext cx="414780" cy="400174"/>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38449051-5855-B9ED-04DC-51E04A2D0E5F}"/>
                  </a:ext>
                </a:extLst>
              </p:cNvPr>
              <p:cNvSpPr txBox="1"/>
              <p:nvPr/>
            </p:nvSpPr>
            <p:spPr>
              <a:xfrm>
                <a:off x="6066317" y="5004315"/>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oMath>
                  </m:oMathPara>
                </a14:m>
                <a:endParaRPr kumimoji="1" lang="ja-JP" altLang="en-US" sz="2000" dirty="0"/>
              </a:p>
            </p:txBody>
          </p:sp>
        </mc:Choice>
        <mc:Fallback xmlns="">
          <p:sp>
            <p:nvSpPr>
              <p:cNvPr id="23" name="テキスト ボックス 22">
                <a:extLst>
                  <a:ext uri="{FF2B5EF4-FFF2-40B4-BE49-F238E27FC236}">
                    <a16:creationId xmlns:a16="http://schemas.microsoft.com/office/drawing/2014/main" id="{38449051-5855-B9ED-04DC-51E04A2D0E5F}"/>
                  </a:ext>
                </a:extLst>
              </p:cNvPr>
              <p:cNvSpPr txBox="1">
                <a:spLocks noRot="1" noChangeAspect="1" noMove="1" noResize="1" noEditPoints="1" noAdjustHandles="1" noChangeArrowheads="1" noChangeShapeType="1" noTextEdit="1"/>
              </p:cNvSpPr>
              <p:nvPr/>
            </p:nvSpPr>
            <p:spPr>
              <a:xfrm>
                <a:off x="6066317" y="5004315"/>
                <a:ext cx="414780" cy="400174"/>
              </a:xfrm>
              <a:prstGeom prst="rect">
                <a:avLst/>
              </a:prstGeom>
              <a:blipFill>
                <a:blip r:embed="rId7"/>
                <a:stretch>
                  <a:fillRect/>
                </a:stretch>
              </a:blipFill>
            </p:spPr>
            <p:txBody>
              <a:bodyPr/>
              <a:lstStyle/>
              <a:p>
                <a:r>
                  <a:rPr lang="ja-JP" altLang="en-US">
                    <a:noFill/>
                  </a:rPr>
                  <a:t> </a:t>
                </a:r>
              </a:p>
            </p:txBody>
          </p:sp>
        </mc:Fallback>
      </mc:AlternateContent>
      <p:cxnSp>
        <p:nvCxnSpPr>
          <p:cNvPr id="24" name="直線矢印コネクタ 23">
            <a:extLst>
              <a:ext uri="{FF2B5EF4-FFF2-40B4-BE49-F238E27FC236}">
                <a16:creationId xmlns:a16="http://schemas.microsoft.com/office/drawing/2014/main" id="{A5FB60D2-474B-9785-C73A-93FBCF9CBDC0}"/>
              </a:ext>
            </a:extLst>
          </p:cNvPr>
          <p:cNvCxnSpPr>
            <a:cxnSpLocks/>
            <a:endCxn id="6" idx="2"/>
          </p:cNvCxnSpPr>
          <p:nvPr/>
        </p:nvCxnSpPr>
        <p:spPr>
          <a:xfrm flipV="1">
            <a:off x="2220756" y="4972262"/>
            <a:ext cx="830623" cy="36719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23C5CD21-261B-F3F6-5833-3273579BEF55}"/>
              </a:ext>
            </a:extLst>
          </p:cNvPr>
          <p:cNvCxnSpPr>
            <a:cxnSpLocks/>
          </p:cNvCxnSpPr>
          <p:nvPr/>
        </p:nvCxnSpPr>
        <p:spPr>
          <a:xfrm flipV="1">
            <a:off x="4142619" y="5433197"/>
            <a:ext cx="757162" cy="244878"/>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3B4DFBD0-2E4E-F517-9A2F-FD9AFF40C8C2}"/>
              </a:ext>
            </a:extLst>
          </p:cNvPr>
          <p:cNvCxnSpPr>
            <a:cxnSpLocks/>
            <a:endCxn id="14" idx="1"/>
          </p:cNvCxnSpPr>
          <p:nvPr/>
        </p:nvCxnSpPr>
        <p:spPr>
          <a:xfrm flipV="1">
            <a:off x="6084508" y="5001199"/>
            <a:ext cx="912178" cy="11506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7C103EFF-2551-391B-CD97-0EB4F2B0FD76}"/>
              </a:ext>
            </a:extLst>
          </p:cNvPr>
          <p:cNvCxnSpPr>
            <a:cxnSpLocks/>
            <a:endCxn id="17" idx="2"/>
          </p:cNvCxnSpPr>
          <p:nvPr/>
        </p:nvCxnSpPr>
        <p:spPr>
          <a:xfrm flipV="1">
            <a:off x="8115485" y="5116262"/>
            <a:ext cx="942400" cy="202111"/>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29268FE7-8DE6-E38B-87A4-9099EF97ADB1}"/>
              </a:ext>
            </a:extLst>
          </p:cNvPr>
          <p:cNvCxnSpPr>
            <a:cxnSpLocks/>
          </p:cNvCxnSpPr>
          <p:nvPr/>
        </p:nvCxnSpPr>
        <p:spPr>
          <a:xfrm flipH="1">
            <a:off x="5360071" y="5999255"/>
            <a:ext cx="845891" cy="151849"/>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1FE407E5-C121-EB82-04EB-C2E018DFD241}"/>
                  </a:ext>
                </a:extLst>
              </p:cNvPr>
              <p:cNvSpPr txBox="1"/>
              <p:nvPr/>
            </p:nvSpPr>
            <p:spPr>
              <a:xfrm>
                <a:off x="9335813" y="4645172"/>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29" name="テキスト ボックス 28">
                <a:extLst>
                  <a:ext uri="{FF2B5EF4-FFF2-40B4-BE49-F238E27FC236}">
                    <a16:creationId xmlns:a16="http://schemas.microsoft.com/office/drawing/2014/main" id="{1FE407E5-C121-EB82-04EB-C2E018DFD241}"/>
                  </a:ext>
                </a:extLst>
              </p:cNvPr>
              <p:cNvSpPr txBox="1">
                <a:spLocks noRot="1" noChangeAspect="1" noMove="1" noResize="1" noEditPoints="1" noAdjustHandles="1" noChangeArrowheads="1" noChangeShapeType="1" noTextEdit="1"/>
              </p:cNvSpPr>
              <p:nvPr/>
            </p:nvSpPr>
            <p:spPr>
              <a:xfrm>
                <a:off x="9335813" y="4645172"/>
                <a:ext cx="414780" cy="400174"/>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612EE613-B93F-B5BF-0E44-574A15B7EAC0}"/>
                  </a:ext>
                </a:extLst>
              </p:cNvPr>
              <p:cNvSpPr txBox="1"/>
              <p:nvPr/>
            </p:nvSpPr>
            <p:spPr>
              <a:xfrm>
                <a:off x="1306544" y="5477616"/>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rgbClr val="7030A0"/>
                              </a:solidFill>
                              <a:latin typeface="Cambria Math" panose="02040503050406030204" pitchFamily="18" charset="0"/>
                            </a:rPr>
                          </m:ctrlPr>
                        </m:sSubSupPr>
                        <m:e>
                          <m:r>
                            <a:rPr lang="en-US" altLang="ja-JP" sz="2400" i="1">
                              <a:solidFill>
                                <a:srgbClr val="7030A0"/>
                              </a:solidFill>
                              <a:latin typeface="Cambria Math" panose="02040503050406030204" pitchFamily="18" charset="0"/>
                            </a:rPr>
                            <m:t>𝑀</m:t>
                          </m:r>
                        </m:e>
                        <m:sub>
                          <m:r>
                            <a:rPr lang="en-US" altLang="ja-JP" sz="2400" b="0" i="1" smtClean="0">
                              <a:solidFill>
                                <a:srgbClr val="7030A0"/>
                              </a:solidFill>
                              <a:latin typeface="Cambria Math" panose="02040503050406030204" pitchFamily="18" charset="0"/>
                            </a:rPr>
                            <m:t>5</m:t>
                          </m:r>
                        </m:sub>
                        <m:sup>
                          <m:r>
                            <a:rPr lang="en-US" altLang="ja-JP" sz="2400" i="1">
                              <a:solidFill>
                                <a:srgbClr val="7030A0"/>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30" name="テキスト ボックス 29">
                <a:extLst>
                  <a:ext uri="{FF2B5EF4-FFF2-40B4-BE49-F238E27FC236}">
                    <a16:creationId xmlns:a16="http://schemas.microsoft.com/office/drawing/2014/main" id="{612EE613-B93F-B5BF-0E44-574A15B7EAC0}"/>
                  </a:ext>
                </a:extLst>
              </p:cNvPr>
              <p:cNvSpPr txBox="1">
                <a:spLocks noRot="1" noChangeAspect="1" noMove="1" noResize="1" noEditPoints="1" noAdjustHandles="1" noChangeArrowheads="1" noChangeShapeType="1" noTextEdit="1"/>
              </p:cNvSpPr>
              <p:nvPr/>
            </p:nvSpPr>
            <p:spPr>
              <a:xfrm>
                <a:off x="1306544" y="5477616"/>
                <a:ext cx="1257972" cy="469809"/>
              </a:xfrm>
              <a:prstGeom prst="rect">
                <a:avLst/>
              </a:prstGeom>
              <a:blipFill>
                <a:blip r:embed="rId9"/>
                <a:stretch>
                  <a:fillRect b="-2597"/>
                </a:stretch>
              </a:blipFill>
            </p:spPr>
            <p:txBody>
              <a:bodyPr/>
              <a:lstStyle/>
              <a:p>
                <a:r>
                  <a:rPr lang="ja-JP" altLang="en-US">
                    <a:noFill/>
                  </a:rPr>
                  <a:t> </a:t>
                </a:r>
              </a:p>
            </p:txBody>
          </p:sp>
        </mc:Fallback>
      </mc:AlternateContent>
      <p:cxnSp>
        <p:nvCxnSpPr>
          <p:cNvPr id="31" name="直線矢印コネクタ 30">
            <a:extLst>
              <a:ext uri="{FF2B5EF4-FFF2-40B4-BE49-F238E27FC236}">
                <a16:creationId xmlns:a16="http://schemas.microsoft.com/office/drawing/2014/main" id="{701E0B95-5797-61CB-4129-E07DBB1911E1}"/>
              </a:ext>
            </a:extLst>
          </p:cNvPr>
          <p:cNvCxnSpPr>
            <a:cxnSpLocks/>
          </p:cNvCxnSpPr>
          <p:nvPr/>
        </p:nvCxnSpPr>
        <p:spPr>
          <a:xfrm flipV="1">
            <a:off x="2255893" y="5052111"/>
            <a:ext cx="6801992" cy="248926"/>
          </a:xfrm>
          <a:prstGeom prst="straightConnector1">
            <a:avLst/>
          </a:prstGeom>
          <a:ln w="79375">
            <a:solidFill>
              <a:schemeClr val="accent1">
                <a:alpha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B475CB78-171B-5A39-91D1-90912EEDE817}"/>
                  </a:ext>
                </a:extLst>
              </p:cNvPr>
              <p:cNvSpPr txBox="1"/>
              <p:nvPr/>
            </p:nvSpPr>
            <p:spPr>
              <a:xfrm>
                <a:off x="6975598" y="5441458"/>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b="0" i="1" smtClean="0">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32" name="テキスト ボックス 31">
                <a:extLst>
                  <a:ext uri="{FF2B5EF4-FFF2-40B4-BE49-F238E27FC236}">
                    <a16:creationId xmlns:a16="http://schemas.microsoft.com/office/drawing/2014/main" id="{B475CB78-171B-5A39-91D1-90912EEDE817}"/>
                  </a:ext>
                </a:extLst>
              </p:cNvPr>
              <p:cNvSpPr txBox="1">
                <a:spLocks noRot="1" noChangeAspect="1" noMove="1" noResize="1" noEditPoints="1" noAdjustHandles="1" noChangeArrowheads="1" noChangeShapeType="1" noTextEdit="1"/>
              </p:cNvSpPr>
              <p:nvPr/>
            </p:nvSpPr>
            <p:spPr>
              <a:xfrm>
                <a:off x="6975598" y="5441458"/>
                <a:ext cx="1257972" cy="469809"/>
              </a:xfrm>
              <a:prstGeom prst="rect">
                <a:avLst/>
              </a:prstGeom>
              <a:blipFill>
                <a:blip r:embed="rId10"/>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03751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FEDA6-F0F8-B05E-F09D-01504059DA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A72D26-F120-5A08-57D3-4F44597B16D0}"/>
              </a:ext>
            </a:extLst>
          </p:cNvPr>
          <p:cNvSpPr>
            <a:spLocks noGrp="1"/>
          </p:cNvSpPr>
          <p:nvPr>
            <p:ph type="title"/>
          </p:nvPr>
        </p:nvSpPr>
        <p:spPr/>
        <p:txBody>
          <a:bodyPr/>
          <a:lstStyle/>
          <a:p>
            <a:r>
              <a:rPr lang="en-US" altLang="ja-JP" dirty="0"/>
              <a:t>Permutation </a:t>
            </a:r>
            <a:r>
              <a:rPr lang="ja-JP" altLang="en-US" dirty="0"/>
              <a:t>の競合比解析２</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C681721-C036-0832-549B-C399EB581614}"/>
                  </a:ext>
                </a:extLst>
              </p:cNvPr>
              <p:cNvSpPr>
                <a:spLocks noGrp="1"/>
              </p:cNvSpPr>
              <p:nvPr>
                <p:ph idx="1"/>
              </p:nvPr>
            </p:nvSpPr>
            <p:spPr>
              <a:xfrm>
                <a:off x="838200" y="1825625"/>
                <a:ext cx="10515600" cy="2234208"/>
              </a:xfrm>
            </p:spPr>
            <p:txBody>
              <a:bodyPr>
                <a:normAutofit/>
              </a:bodyPr>
              <a:lstStyle/>
              <a:p>
                <a:pPr marL="0" indent="0">
                  <a:buNone/>
                </a:pPr>
                <a:r>
                  <a:rPr lang="ja-JP" altLang="en-US" sz="2400" dirty="0"/>
                  <a:t>同様に考えて各 </a:t>
                </a:r>
                <a14:m>
                  <m:oMath xmlns:m="http://schemas.openxmlformats.org/officeDocument/2006/math">
                    <m:r>
                      <a:rPr lang="en-US" altLang="ja-JP" sz="2400" b="0" i="1" smtClean="0">
                        <a:latin typeface="Cambria Math" panose="02040503050406030204" pitchFamily="18" charset="0"/>
                      </a:rPr>
                      <m:t>𝑖</m:t>
                    </m:r>
                    <m:r>
                      <a:rPr lang="en-US" altLang="ja-JP" sz="2400" b="0" i="1" smtClean="0">
                        <a:latin typeface="Cambria Math" panose="02040503050406030204" pitchFamily="18" charset="0"/>
                      </a:rPr>
                      <m:t>=1,…,</m:t>
                    </m:r>
                    <m:r>
                      <a:rPr lang="en-US" altLang="ja-JP" sz="2400" b="0" i="1" smtClean="0">
                        <a:latin typeface="Cambria Math" panose="02040503050406030204" pitchFamily="18" charset="0"/>
                      </a:rPr>
                      <m:t>𝑛</m:t>
                    </m:r>
                  </m:oMath>
                </a14:m>
                <a:r>
                  <a:rPr lang="ja-JP" altLang="en-US" sz="2400" dirty="0"/>
                  <a:t> について（</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𝑟</m:t>
                        </m:r>
                      </m:e>
                      <m:sub>
                        <m:r>
                          <a:rPr lang="en-US" altLang="ja-JP" sz="2400" b="0" i="1" smtClean="0">
                            <a:latin typeface="Cambria Math" panose="02040503050406030204" pitchFamily="18" charset="0"/>
                          </a:rPr>
                          <m:t>𝑖</m:t>
                        </m:r>
                      </m:sub>
                    </m:sSub>
                  </m:oMath>
                </a14:m>
                <a:r>
                  <a:rPr lang="en-US" altLang="ja-JP" sz="2400" dirty="0"/>
                  <a:t> </a:t>
                </a:r>
                <a:r>
                  <a:rPr lang="ja-JP" altLang="en-US" sz="2400" dirty="0"/>
                  <a:t>の割り当てコスト）</a:t>
                </a:r>
                <a14:m>
                  <m:oMath xmlns:m="http://schemas.openxmlformats.org/officeDocument/2006/math">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𝑂𝑃𝑇</m:t>
                    </m:r>
                  </m:oMath>
                </a14:m>
                <a:r>
                  <a:rPr lang="en-US" altLang="ja-JP" sz="2400" dirty="0"/>
                  <a:t>  </a:t>
                </a:r>
              </a:p>
              <a:p>
                <a:pPr marL="0" indent="0">
                  <a:buNone/>
                </a:pPr>
                <a:r>
                  <a:rPr lang="ja-JP" altLang="en-US" sz="2400" dirty="0"/>
                  <a:t>特に </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𝑟</m:t>
                        </m:r>
                      </m:e>
                      <m:sub>
                        <m:r>
                          <a:rPr lang="en-US" altLang="ja-JP" sz="2400" b="0" i="1" smtClean="0">
                            <a:latin typeface="Cambria Math" panose="02040503050406030204" pitchFamily="18" charset="0"/>
                          </a:rPr>
                          <m:t>1</m:t>
                        </m:r>
                      </m:sub>
                    </m:sSub>
                  </m:oMath>
                </a14:m>
                <a:r>
                  <a:rPr lang="en-US" altLang="ja-JP" sz="2400" dirty="0"/>
                  <a:t> </a:t>
                </a:r>
                <a:r>
                  <a:rPr lang="ja-JP" altLang="en-US" sz="2400" dirty="0"/>
                  <a:t>の割り当てコストは </a:t>
                </a:r>
                <a14:m>
                  <m:oMath xmlns:m="http://schemas.openxmlformats.org/officeDocument/2006/math">
                    <m:r>
                      <a:rPr lang="en-US" altLang="ja-JP" sz="2400" b="0" i="1" smtClean="0">
                        <a:latin typeface="Cambria Math" panose="02040503050406030204" pitchFamily="18" charset="0"/>
                      </a:rPr>
                      <m:t>𝑂𝑃𝑇</m:t>
                    </m:r>
                  </m:oMath>
                </a14:m>
                <a:r>
                  <a:rPr lang="en-US" altLang="ja-JP" sz="2400" dirty="0"/>
                  <a:t> </a:t>
                </a:r>
                <a:r>
                  <a:rPr lang="ja-JP" altLang="en-US" sz="2400" dirty="0"/>
                  <a:t>以下となるので，</a:t>
                </a:r>
                <a:endParaRPr lang="en-US" altLang="ja-JP" sz="2400" dirty="0"/>
              </a:p>
              <a:p>
                <a:pPr marL="0" indent="0">
                  <a:buNone/>
                </a:pPr>
                <a:endParaRPr lang="en-US" altLang="ja-JP" sz="900" dirty="0"/>
              </a:p>
              <a:p>
                <a:pPr marL="0" indent="0">
                  <a:buNone/>
                </a:pPr>
                <a14:m>
                  <m:oMathPara xmlns:m="http://schemas.openxmlformats.org/officeDocument/2006/math">
                    <m:oMathParaPr>
                      <m:jc m:val="centerGroup"/>
                    </m:oMathParaPr>
                    <m:oMath xmlns:m="http://schemas.openxmlformats.org/officeDocument/2006/math">
                      <m:r>
                        <a:rPr lang="en-US" altLang="ja-JP" sz="2400" b="0" i="1" smtClean="0">
                          <a:latin typeface="Cambria Math" panose="02040503050406030204" pitchFamily="18" charset="0"/>
                        </a:rPr>
                        <m:t>𝑃𝑒𝑟𝑚𝑢𝑡𝑎𝑡𝑖𝑜𝑛</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𝑂𝑃𝑇</m:t>
                      </m:r>
                      <m:r>
                        <a:rPr lang="en-US" altLang="ja-JP" sz="2400" b="0" i="1" smtClean="0">
                          <a:latin typeface="Cambria Math" panose="02040503050406030204" pitchFamily="18" charset="0"/>
                        </a:rPr>
                        <m:t>+</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−1</m:t>
                          </m:r>
                        </m:e>
                      </m:d>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𝑂𝑃𝑇</m:t>
                      </m:r>
                      <m:r>
                        <a:rPr lang="en-US" altLang="ja-JP" sz="2400" b="0" i="1" smtClean="0">
                          <a:latin typeface="Cambria Math" panose="02040503050406030204" pitchFamily="18" charset="0"/>
                        </a:rPr>
                        <m:t>=</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−1</m:t>
                          </m:r>
                        </m:e>
                      </m:d>
                      <m:r>
                        <a:rPr lang="en-US" altLang="ja-JP" sz="2400" b="0" i="1" smtClean="0">
                          <a:latin typeface="Cambria Math" panose="02040503050406030204" pitchFamily="18" charset="0"/>
                        </a:rPr>
                        <m:t>𝑂𝑃𝑇</m:t>
                      </m:r>
                    </m:oMath>
                  </m:oMathPara>
                </a14:m>
                <a:endParaRPr lang="en-US" altLang="ja-JP" sz="2400" b="0" dirty="0"/>
              </a:p>
              <a:p>
                <a:pPr marL="0" indent="0">
                  <a:buNone/>
                </a:pPr>
                <a:endParaRPr lang="en-US" altLang="ja-JP" sz="800" dirty="0"/>
              </a:p>
              <a:p>
                <a:pPr marL="0" indent="0">
                  <a:buNone/>
                </a:pPr>
                <a:r>
                  <a:rPr lang="ja-JP" altLang="en-US" sz="2400" dirty="0"/>
                  <a:t>よって </a:t>
                </a:r>
                <a:r>
                  <a:rPr lang="en-US" altLang="ja-JP" sz="2400" dirty="0"/>
                  <a:t>Permutation </a:t>
                </a:r>
                <a:r>
                  <a:rPr lang="ja-JP" altLang="en-US" sz="2400" dirty="0"/>
                  <a:t>は </a:t>
                </a:r>
                <a14:m>
                  <m:oMath xmlns:m="http://schemas.openxmlformats.org/officeDocument/2006/math">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−1)</m:t>
                    </m:r>
                  </m:oMath>
                </a14:m>
                <a:r>
                  <a:rPr lang="en-US" altLang="ja-JP" sz="2400" dirty="0"/>
                  <a:t>-</a:t>
                </a:r>
                <a:r>
                  <a:rPr lang="ja-JP" altLang="en-US" sz="2400" dirty="0"/>
                  <a:t>競合的であることが示された．</a:t>
                </a:r>
                <a:endParaRPr lang="en-US" altLang="ja-JP" sz="2400" dirty="0"/>
              </a:p>
            </p:txBody>
          </p:sp>
        </mc:Choice>
        <mc:Fallback xmlns="">
          <p:sp>
            <p:nvSpPr>
              <p:cNvPr id="3" name="コンテンツ プレースホルダー 2">
                <a:extLst>
                  <a:ext uri="{FF2B5EF4-FFF2-40B4-BE49-F238E27FC236}">
                    <a16:creationId xmlns:a16="http://schemas.microsoft.com/office/drawing/2014/main" id="{5C681721-C036-0832-549B-C399EB581614}"/>
                  </a:ext>
                </a:extLst>
              </p:cNvPr>
              <p:cNvSpPr>
                <a:spLocks noGrp="1" noRot="1" noChangeAspect="1" noMove="1" noResize="1" noEditPoints="1" noAdjustHandles="1" noChangeArrowheads="1" noChangeShapeType="1" noTextEdit="1"/>
              </p:cNvSpPr>
              <p:nvPr>
                <p:ph idx="1"/>
              </p:nvPr>
            </p:nvSpPr>
            <p:spPr>
              <a:xfrm>
                <a:off x="838200" y="1825625"/>
                <a:ext cx="10515600" cy="2234208"/>
              </a:xfrm>
              <a:blipFill>
                <a:blip r:embed="rId2"/>
                <a:stretch>
                  <a:fillRect l="-928" t="-2997" b="-3270"/>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72EB30D9-5390-78C2-DF18-1842DF91EFBE}"/>
              </a:ext>
            </a:extLst>
          </p:cNvPr>
          <p:cNvSpPr>
            <a:spLocks noGrp="1"/>
          </p:cNvSpPr>
          <p:nvPr>
            <p:ph type="sldNum" sz="quarter" idx="12"/>
          </p:nvPr>
        </p:nvSpPr>
        <p:spPr/>
        <p:txBody>
          <a:bodyPr/>
          <a:lstStyle/>
          <a:p>
            <a:fld id="{4B077F3A-4098-4199-8925-77865D1E3500}" type="slidenum">
              <a:rPr kumimoji="1" lang="ja-JP" altLang="en-US" smtClean="0"/>
              <a:t>17</a:t>
            </a:fld>
            <a:endParaRPr kumimoji="1" lang="ja-JP" altLang="en-US"/>
          </a:p>
        </p:txBody>
      </p:sp>
      <p:sp>
        <p:nvSpPr>
          <p:cNvPr id="5" name="楕円 4">
            <a:extLst>
              <a:ext uri="{FF2B5EF4-FFF2-40B4-BE49-F238E27FC236}">
                <a16:creationId xmlns:a16="http://schemas.microsoft.com/office/drawing/2014/main" id="{21A35C14-4B53-B4FF-708B-EDE1B909FC03}"/>
              </a:ext>
            </a:extLst>
          </p:cNvPr>
          <p:cNvSpPr/>
          <p:nvPr/>
        </p:nvSpPr>
        <p:spPr>
          <a:xfrm>
            <a:off x="4952834" y="530103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79A1DA6A-587F-2D5D-7DA6-0FB8A823BE79}"/>
              </a:ext>
            </a:extLst>
          </p:cNvPr>
          <p:cNvSpPr/>
          <p:nvPr/>
        </p:nvSpPr>
        <p:spPr>
          <a:xfrm>
            <a:off x="3051379" y="490026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0316ABD5-59F7-15FA-A624-184869ED328B}"/>
              </a:ext>
            </a:extLst>
          </p:cNvPr>
          <p:cNvCxnSpPr>
            <a:cxnSpLocks/>
          </p:cNvCxnSpPr>
          <p:nvPr/>
        </p:nvCxnSpPr>
        <p:spPr>
          <a:xfrm>
            <a:off x="4106942" y="496486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F6B2E363-F292-58AE-A26E-FD50190FABD8}"/>
              </a:ext>
            </a:extLst>
          </p:cNvPr>
          <p:cNvCxnSpPr>
            <a:cxnSpLocks/>
          </p:cNvCxnSpPr>
          <p:nvPr/>
        </p:nvCxnSpPr>
        <p:spPr>
          <a:xfrm flipH="1" flipV="1">
            <a:off x="3195379" y="5044262"/>
            <a:ext cx="845892" cy="56841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A3E73729-8965-CD1C-D5A0-26D4E4D30AE8}"/>
              </a:ext>
            </a:extLst>
          </p:cNvPr>
          <p:cNvCxnSpPr>
            <a:cxnSpLocks/>
            <a:endCxn id="5" idx="6"/>
          </p:cNvCxnSpPr>
          <p:nvPr/>
        </p:nvCxnSpPr>
        <p:spPr>
          <a:xfrm flipH="1">
            <a:off x="5096834" y="5221188"/>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C536B347-3064-878F-4DB7-24C57D9BF54B}"/>
              </a:ext>
            </a:extLst>
          </p:cNvPr>
          <p:cNvCxnSpPr>
            <a:cxnSpLocks/>
          </p:cNvCxnSpPr>
          <p:nvPr/>
        </p:nvCxnSpPr>
        <p:spPr>
          <a:xfrm>
            <a:off x="5995778" y="451417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楕円 10">
            <a:extLst>
              <a:ext uri="{FF2B5EF4-FFF2-40B4-BE49-F238E27FC236}">
                <a16:creationId xmlns:a16="http://schemas.microsoft.com/office/drawing/2014/main" id="{F740D25A-D1E5-5F46-C563-879BEB3577FB}"/>
              </a:ext>
            </a:extLst>
          </p:cNvPr>
          <p:cNvSpPr/>
          <p:nvPr/>
        </p:nvSpPr>
        <p:spPr>
          <a:xfrm>
            <a:off x="5253016" y="622005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矢印コネクタ 11">
            <a:extLst>
              <a:ext uri="{FF2B5EF4-FFF2-40B4-BE49-F238E27FC236}">
                <a16:creationId xmlns:a16="http://schemas.microsoft.com/office/drawing/2014/main" id="{CEB2B2FA-EFAD-A570-6C6A-3BF0EB8721BA}"/>
              </a:ext>
            </a:extLst>
          </p:cNvPr>
          <p:cNvCxnSpPr>
            <a:cxnSpLocks/>
          </p:cNvCxnSpPr>
          <p:nvPr/>
        </p:nvCxnSpPr>
        <p:spPr>
          <a:xfrm flipH="1">
            <a:off x="5397016" y="6140207"/>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B0458B71-052F-07A2-115D-D93E249E2EC7}"/>
              </a:ext>
            </a:extLst>
          </p:cNvPr>
          <p:cNvCxnSpPr>
            <a:cxnSpLocks/>
          </p:cNvCxnSpPr>
          <p:nvPr/>
        </p:nvCxnSpPr>
        <p:spPr>
          <a:xfrm>
            <a:off x="6248903" y="543319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楕円 13">
            <a:extLst>
              <a:ext uri="{FF2B5EF4-FFF2-40B4-BE49-F238E27FC236}">
                <a16:creationId xmlns:a16="http://schemas.microsoft.com/office/drawing/2014/main" id="{1D87EE88-F605-FDDC-8F66-8725B3A5EC52}"/>
              </a:ext>
            </a:extLst>
          </p:cNvPr>
          <p:cNvSpPr/>
          <p:nvPr/>
        </p:nvSpPr>
        <p:spPr>
          <a:xfrm>
            <a:off x="6975598" y="4980111"/>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矢印コネクタ 14">
            <a:extLst>
              <a:ext uri="{FF2B5EF4-FFF2-40B4-BE49-F238E27FC236}">
                <a16:creationId xmlns:a16="http://schemas.microsoft.com/office/drawing/2014/main" id="{40A5A1D4-B197-1EC4-3053-F932F9EC1A33}"/>
              </a:ext>
            </a:extLst>
          </p:cNvPr>
          <p:cNvCxnSpPr>
            <a:cxnSpLocks/>
          </p:cNvCxnSpPr>
          <p:nvPr/>
        </p:nvCxnSpPr>
        <p:spPr>
          <a:xfrm flipH="1" flipV="1">
            <a:off x="7119598" y="5052111"/>
            <a:ext cx="851887" cy="248926"/>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558768B5-2C1A-F39C-C053-E97FDB2D04B8}"/>
              </a:ext>
            </a:extLst>
          </p:cNvPr>
          <p:cNvCxnSpPr>
            <a:cxnSpLocks/>
          </p:cNvCxnSpPr>
          <p:nvPr/>
        </p:nvCxnSpPr>
        <p:spPr>
          <a:xfrm>
            <a:off x="8054613" y="465459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楕円 16">
            <a:extLst>
              <a:ext uri="{FF2B5EF4-FFF2-40B4-BE49-F238E27FC236}">
                <a16:creationId xmlns:a16="http://schemas.microsoft.com/office/drawing/2014/main" id="{ACCC6C53-28B7-5812-37A3-C188BEECCABD}"/>
              </a:ext>
            </a:extLst>
          </p:cNvPr>
          <p:cNvSpPr/>
          <p:nvPr/>
        </p:nvSpPr>
        <p:spPr>
          <a:xfrm>
            <a:off x="9057885" y="504426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矢印コネクタ 17">
            <a:extLst>
              <a:ext uri="{FF2B5EF4-FFF2-40B4-BE49-F238E27FC236}">
                <a16:creationId xmlns:a16="http://schemas.microsoft.com/office/drawing/2014/main" id="{6B91E047-88F4-CD9A-D295-6EF75732B28B}"/>
              </a:ext>
            </a:extLst>
          </p:cNvPr>
          <p:cNvCxnSpPr>
            <a:cxnSpLocks/>
          </p:cNvCxnSpPr>
          <p:nvPr/>
        </p:nvCxnSpPr>
        <p:spPr>
          <a:xfrm>
            <a:off x="2180146" y="4698606"/>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8DACAB7A-5FFA-4B24-FF00-3A66E64E24C6}"/>
                  </a:ext>
                </a:extLst>
              </p:cNvPr>
              <p:cNvSpPr txBox="1"/>
              <p:nvPr/>
            </p:nvSpPr>
            <p:spPr>
              <a:xfrm>
                <a:off x="1972756" y="4244998"/>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19" name="テキスト ボックス 18">
                <a:extLst>
                  <a:ext uri="{FF2B5EF4-FFF2-40B4-BE49-F238E27FC236}">
                    <a16:creationId xmlns:a16="http://schemas.microsoft.com/office/drawing/2014/main" id="{8DACAB7A-5FFA-4B24-FF00-3A66E64E24C6}"/>
                  </a:ext>
                </a:extLst>
              </p:cNvPr>
              <p:cNvSpPr txBox="1">
                <a:spLocks noRot="1" noChangeAspect="1" noMove="1" noResize="1" noEditPoints="1" noAdjustHandles="1" noChangeArrowheads="1" noChangeShapeType="1" noTextEdit="1"/>
              </p:cNvSpPr>
              <p:nvPr/>
            </p:nvSpPr>
            <p:spPr>
              <a:xfrm>
                <a:off x="1972756" y="4244998"/>
                <a:ext cx="414780" cy="400174"/>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8B0C9A28-E904-1420-6872-359AD7378888}"/>
                  </a:ext>
                </a:extLst>
              </p:cNvPr>
              <p:cNvSpPr txBox="1"/>
              <p:nvPr/>
            </p:nvSpPr>
            <p:spPr>
              <a:xfrm>
                <a:off x="3899552" y="4514178"/>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2</m:t>
                          </m:r>
                        </m:sub>
                      </m:sSub>
                    </m:oMath>
                  </m:oMathPara>
                </a14:m>
                <a:endParaRPr kumimoji="1" lang="ja-JP" altLang="en-US" sz="2000" dirty="0"/>
              </a:p>
            </p:txBody>
          </p:sp>
        </mc:Choice>
        <mc:Fallback xmlns="">
          <p:sp>
            <p:nvSpPr>
              <p:cNvPr id="20" name="テキスト ボックス 19">
                <a:extLst>
                  <a:ext uri="{FF2B5EF4-FFF2-40B4-BE49-F238E27FC236}">
                    <a16:creationId xmlns:a16="http://schemas.microsoft.com/office/drawing/2014/main" id="{8B0C9A28-E904-1420-6872-359AD7378888}"/>
                  </a:ext>
                </a:extLst>
              </p:cNvPr>
              <p:cNvSpPr txBox="1">
                <a:spLocks noRot="1" noChangeAspect="1" noMove="1" noResize="1" noEditPoints="1" noAdjustHandles="1" noChangeArrowheads="1" noChangeShapeType="1" noTextEdit="1"/>
              </p:cNvSpPr>
              <p:nvPr/>
            </p:nvSpPr>
            <p:spPr>
              <a:xfrm>
                <a:off x="3899552" y="4514178"/>
                <a:ext cx="414780" cy="400174"/>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FEB2FF71-C760-29F3-FDB9-D501E85D369A}"/>
                  </a:ext>
                </a:extLst>
              </p:cNvPr>
              <p:cNvSpPr txBox="1"/>
              <p:nvPr/>
            </p:nvSpPr>
            <p:spPr>
              <a:xfrm>
                <a:off x="5791182" y="4071826"/>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3</m:t>
                          </m:r>
                        </m:sub>
                      </m:sSub>
                    </m:oMath>
                  </m:oMathPara>
                </a14:m>
                <a:endParaRPr kumimoji="1" lang="ja-JP" altLang="en-US" sz="2000" dirty="0"/>
              </a:p>
            </p:txBody>
          </p:sp>
        </mc:Choice>
        <mc:Fallback xmlns="">
          <p:sp>
            <p:nvSpPr>
              <p:cNvPr id="21" name="テキスト ボックス 20">
                <a:extLst>
                  <a:ext uri="{FF2B5EF4-FFF2-40B4-BE49-F238E27FC236}">
                    <a16:creationId xmlns:a16="http://schemas.microsoft.com/office/drawing/2014/main" id="{FEB2FF71-C760-29F3-FDB9-D501E85D369A}"/>
                  </a:ext>
                </a:extLst>
              </p:cNvPr>
              <p:cNvSpPr txBox="1">
                <a:spLocks noRot="1" noChangeAspect="1" noMove="1" noResize="1" noEditPoints="1" noAdjustHandles="1" noChangeArrowheads="1" noChangeShapeType="1" noTextEdit="1"/>
              </p:cNvSpPr>
              <p:nvPr/>
            </p:nvSpPr>
            <p:spPr>
              <a:xfrm>
                <a:off x="5791182" y="4071826"/>
                <a:ext cx="414780" cy="4001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517060B9-7B6E-7EDE-3C68-975EB3F4D482}"/>
                  </a:ext>
                </a:extLst>
              </p:cNvPr>
              <p:cNvSpPr txBox="1"/>
              <p:nvPr/>
            </p:nvSpPr>
            <p:spPr>
              <a:xfrm>
                <a:off x="7846794" y="414540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4</m:t>
                          </m:r>
                        </m:sub>
                      </m:sSub>
                    </m:oMath>
                  </m:oMathPara>
                </a14:m>
                <a:endParaRPr kumimoji="1" lang="ja-JP" altLang="en-US" sz="2000" dirty="0"/>
              </a:p>
            </p:txBody>
          </p:sp>
        </mc:Choice>
        <mc:Fallback xmlns="">
          <p:sp>
            <p:nvSpPr>
              <p:cNvPr id="22" name="テキスト ボックス 21">
                <a:extLst>
                  <a:ext uri="{FF2B5EF4-FFF2-40B4-BE49-F238E27FC236}">
                    <a16:creationId xmlns:a16="http://schemas.microsoft.com/office/drawing/2014/main" id="{517060B9-7B6E-7EDE-3C68-975EB3F4D482}"/>
                  </a:ext>
                </a:extLst>
              </p:cNvPr>
              <p:cNvSpPr txBox="1">
                <a:spLocks noRot="1" noChangeAspect="1" noMove="1" noResize="1" noEditPoints="1" noAdjustHandles="1" noChangeArrowheads="1" noChangeShapeType="1" noTextEdit="1"/>
              </p:cNvSpPr>
              <p:nvPr/>
            </p:nvSpPr>
            <p:spPr>
              <a:xfrm>
                <a:off x="7846794" y="4145400"/>
                <a:ext cx="414780" cy="400174"/>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03F9AFA6-42EC-696E-7966-53DC5234E822}"/>
                  </a:ext>
                </a:extLst>
              </p:cNvPr>
              <p:cNvSpPr txBox="1"/>
              <p:nvPr/>
            </p:nvSpPr>
            <p:spPr>
              <a:xfrm>
                <a:off x="6066317" y="5004315"/>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oMath>
                  </m:oMathPara>
                </a14:m>
                <a:endParaRPr kumimoji="1" lang="ja-JP" altLang="en-US" sz="2000" dirty="0"/>
              </a:p>
            </p:txBody>
          </p:sp>
        </mc:Choice>
        <mc:Fallback xmlns="">
          <p:sp>
            <p:nvSpPr>
              <p:cNvPr id="23" name="テキスト ボックス 22">
                <a:extLst>
                  <a:ext uri="{FF2B5EF4-FFF2-40B4-BE49-F238E27FC236}">
                    <a16:creationId xmlns:a16="http://schemas.microsoft.com/office/drawing/2014/main" id="{03F9AFA6-42EC-696E-7966-53DC5234E822}"/>
                  </a:ext>
                </a:extLst>
              </p:cNvPr>
              <p:cNvSpPr txBox="1">
                <a:spLocks noRot="1" noChangeAspect="1" noMove="1" noResize="1" noEditPoints="1" noAdjustHandles="1" noChangeArrowheads="1" noChangeShapeType="1" noTextEdit="1"/>
              </p:cNvSpPr>
              <p:nvPr/>
            </p:nvSpPr>
            <p:spPr>
              <a:xfrm>
                <a:off x="6066317" y="5004315"/>
                <a:ext cx="414780" cy="400174"/>
              </a:xfrm>
              <a:prstGeom prst="rect">
                <a:avLst/>
              </a:prstGeom>
              <a:blipFill>
                <a:blip r:embed="rId7"/>
                <a:stretch>
                  <a:fillRect/>
                </a:stretch>
              </a:blipFill>
            </p:spPr>
            <p:txBody>
              <a:bodyPr/>
              <a:lstStyle/>
              <a:p>
                <a:r>
                  <a:rPr lang="ja-JP" altLang="en-US">
                    <a:noFill/>
                  </a:rPr>
                  <a:t> </a:t>
                </a:r>
              </a:p>
            </p:txBody>
          </p:sp>
        </mc:Fallback>
      </mc:AlternateContent>
      <p:cxnSp>
        <p:nvCxnSpPr>
          <p:cNvPr id="24" name="直線矢印コネクタ 23">
            <a:extLst>
              <a:ext uri="{FF2B5EF4-FFF2-40B4-BE49-F238E27FC236}">
                <a16:creationId xmlns:a16="http://schemas.microsoft.com/office/drawing/2014/main" id="{DE34640F-B846-4774-2448-60738DF8FC76}"/>
              </a:ext>
            </a:extLst>
          </p:cNvPr>
          <p:cNvCxnSpPr>
            <a:cxnSpLocks/>
            <a:endCxn id="6" idx="2"/>
          </p:cNvCxnSpPr>
          <p:nvPr/>
        </p:nvCxnSpPr>
        <p:spPr>
          <a:xfrm flipV="1">
            <a:off x="2220756" y="4972262"/>
            <a:ext cx="830623" cy="36719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5CB27752-0D1E-D411-5C84-FB02E7934A4C}"/>
              </a:ext>
            </a:extLst>
          </p:cNvPr>
          <p:cNvCxnSpPr>
            <a:cxnSpLocks/>
          </p:cNvCxnSpPr>
          <p:nvPr/>
        </p:nvCxnSpPr>
        <p:spPr>
          <a:xfrm flipV="1">
            <a:off x="4142619" y="5433197"/>
            <a:ext cx="757162" cy="244878"/>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89D23718-724D-73ED-7F75-F1836C982558}"/>
              </a:ext>
            </a:extLst>
          </p:cNvPr>
          <p:cNvCxnSpPr>
            <a:cxnSpLocks/>
            <a:endCxn id="14" idx="1"/>
          </p:cNvCxnSpPr>
          <p:nvPr/>
        </p:nvCxnSpPr>
        <p:spPr>
          <a:xfrm flipV="1">
            <a:off x="6084508" y="5001199"/>
            <a:ext cx="912178" cy="11506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3665D99E-7D23-CB00-0BB2-1C2EA34D4219}"/>
              </a:ext>
            </a:extLst>
          </p:cNvPr>
          <p:cNvCxnSpPr>
            <a:cxnSpLocks/>
            <a:endCxn id="17" idx="2"/>
          </p:cNvCxnSpPr>
          <p:nvPr/>
        </p:nvCxnSpPr>
        <p:spPr>
          <a:xfrm flipV="1">
            <a:off x="8115485" y="5116262"/>
            <a:ext cx="942400" cy="202111"/>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9FA1A9D5-41B7-3B95-7840-B2F9DD68279B}"/>
              </a:ext>
            </a:extLst>
          </p:cNvPr>
          <p:cNvCxnSpPr>
            <a:cxnSpLocks/>
          </p:cNvCxnSpPr>
          <p:nvPr/>
        </p:nvCxnSpPr>
        <p:spPr>
          <a:xfrm flipH="1">
            <a:off x="5360071" y="5999255"/>
            <a:ext cx="845891" cy="151849"/>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BAE52833-2DDD-2C66-7AAB-314E3AAE6A1C}"/>
                  </a:ext>
                </a:extLst>
              </p:cNvPr>
              <p:cNvSpPr txBox="1"/>
              <p:nvPr/>
            </p:nvSpPr>
            <p:spPr>
              <a:xfrm>
                <a:off x="9335813" y="4645172"/>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29" name="テキスト ボックス 28">
                <a:extLst>
                  <a:ext uri="{FF2B5EF4-FFF2-40B4-BE49-F238E27FC236}">
                    <a16:creationId xmlns:a16="http://schemas.microsoft.com/office/drawing/2014/main" id="{BAE52833-2DDD-2C66-7AAB-314E3AAE6A1C}"/>
                  </a:ext>
                </a:extLst>
              </p:cNvPr>
              <p:cNvSpPr txBox="1">
                <a:spLocks noRot="1" noChangeAspect="1" noMove="1" noResize="1" noEditPoints="1" noAdjustHandles="1" noChangeArrowheads="1" noChangeShapeType="1" noTextEdit="1"/>
              </p:cNvSpPr>
              <p:nvPr/>
            </p:nvSpPr>
            <p:spPr>
              <a:xfrm>
                <a:off x="9335813" y="4645172"/>
                <a:ext cx="414780" cy="400174"/>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D8D17004-0715-36D8-121F-6B8611BADE93}"/>
                  </a:ext>
                </a:extLst>
              </p:cNvPr>
              <p:cNvSpPr txBox="1"/>
              <p:nvPr/>
            </p:nvSpPr>
            <p:spPr>
              <a:xfrm>
                <a:off x="1306544" y="5477616"/>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rgbClr val="7030A0"/>
                              </a:solidFill>
                              <a:latin typeface="Cambria Math" panose="02040503050406030204" pitchFamily="18" charset="0"/>
                            </a:rPr>
                          </m:ctrlPr>
                        </m:sSubSupPr>
                        <m:e>
                          <m:r>
                            <a:rPr lang="en-US" altLang="ja-JP" sz="2400" i="1">
                              <a:solidFill>
                                <a:srgbClr val="7030A0"/>
                              </a:solidFill>
                              <a:latin typeface="Cambria Math" panose="02040503050406030204" pitchFamily="18" charset="0"/>
                            </a:rPr>
                            <m:t>𝑀</m:t>
                          </m:r>
                        </m:e>
                        <m:sub>
                          <m:r>
                            <a:rPr lang="en-US" altLang="ja-JP" sz="2400" b="0" i="1" smtClean="0">
                              <a:solidFill>
                                <a:srgbClr val="7030A0"/>
                              </a:solidFill>
                              <a:latin typeface="Cambria Math" panose="02040503050406030204" pitchFamily="18" charset="0"/>
                            </a:rPr>
                            <m:t>5</m:t>
                          </m:r>
                        </m:sub>
                        <m:sup>
                          <m:r>
                            <a:rPr lang="en-US" altLang="ja-JP" sz="2400" i="1">
                              <a:solidFill>
                                <a:srgbClr val="7030A0"/>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30" name="テキスト ボックス 29">
                <a:extLst>
                  <a:ext uri="{FF2B5EF4-FFF2-40B4-BE49-F238E27FC236}">
                    <a16:creationId xmlns:a16="http://schemas.microsoft.com/office/drawing/2014/main" id="{D8D17004-0715-36D8-121F-6B8611BADE93}"/>
                  </a:ext>
                </a:extLst>
              </p:cNvPr>
              <p:cNvSpPr txBox="1">
                <a:spLocks noRot="1" noChangeAspect="1" noMove="1" noResize="1" noEditPoints="1" noAdjustHandles="1" noChangeArrowheads="1" noChangeShapeType="1" noTextEdit="1"/>
              </p:cNvSpPr>
              <p:nvPr/>
            </p:nvSpPr>
            <p:spPr>
              <a:xfrm>
                <a:off x="1306544" y="5477616"/>
                <a:ext cx="1257972" cy="469809"/>
              </a:xfrm>
              <a:prstGeom prst="rect">
                <a:avLst/>
              </a:prstGeom>
              <a:blipFill>
                <a:blip r:embed="rId9"/>
                <a:stretch>
                  <a:fillRect b="-2597"/>
                </a:stretch>
              </a:blipFill>
            </p:spPr>
            <p:txBody>
              <a:bodyPr/>
              <a:lstStyle/>
              <a:p>
                <a:r>
                  <a:rPr lang="ja-JP" altLang="en-US">
                    <a:noFill/>
                  </a:rPr>
                  <a:t> </a:t>
                </a:r>
              </a:p>
            </p:txBody>
          </p:sp>
        </mc:Fallback>
      </mc:AlternateContent>
      <p:cxnSp>
        <p:nvCxnSpPr>
          <p:cNvPr id="31" name="直線矢印コネクタ 30">
            <a:extLst>
              <a:ext uri="{FF2B5EF4-FFF2-40B4-BE49-F238E27FC236}">
                <a16:creationId xmlns:a16="http://schemas.microsoft.com/office/drawing/2014/main" id="{85415F2C-D43F-4944-5283-BB5EA2BD76A4}"/>
              </a:ext>
            </a:extLst>
          </p:cNvPr>
          <p:cNvCxnSpPr>
            <a:cxnSpLocks/>
          </p:cNvCxnSpPr>
          <p:nvPr/>
        </p:nvCxnSpPr>
        <p:spPr>
          <a:xfrm flipV="1">
            <a:off x="2255893" y="5052111"/>
            <a:ext cx="6801992" cy="248926"/>
          </a:xfrm>
          <a:prstGeom prst="straightConnector1">
            <a:avLst/>
          </a:prstGeom>
          <a:ln w="79375">
            <a:solidFill>
              <a:schemeClr val="accent1">
                <a:alpha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AA5337C6-7E22-7BC3-7BED-FCE4837F8F57}"/>
                  </a:ext>
                </a:extLst>
              </p:cNvPr>
              <p:cNvSpPr txBox="1"/>
              <p:nvPr/>
            </p:nvSpPr>
            <p:spPr>
              <a:xfrm>
                <a:off x="6975598" y="5441458"/>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b="0" i="1" smtClean="0">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m:oMathPara>
                </a14:m>
                <a:endParaRPr kumimoji="1" lang="ja-JP" altLang="en-US" sz="2400" dirty="0">
                  <a:solidFill>
                    <a:srgbClr val="7030A0"/>
                  </a:solidFill>
                </a:endParaRPr>
              </a:p>
            </p:txBody>
          </p:sp>
        </mc:Choice>
        <mc:Fallback xmlns="">
          <p:sp>
            <p:nvSpPr>
              <p:cNvPr id="32" name="テキスト ボックス 31">
                <a:extLst>
                  <a:ext uri="{FF2B5EF4-FFF2-40B4-BE49-F238E27FC236}">
                    <a16:creationId xmlns:a16="http://schemas.microsoft.com/office/drawing/2014/main" id="{AA5337C6-7E22-7BC3-7BED-FCE4837F8F57}"/>
                  </a:ext>
                </a:extLst>
              </p:cNvPr>
              <p:cNvSpPr txBox="1">
                <a:spLocks noRot="1" noChangeAspect="1" noMove="1" noResize="1" noEditPoints="1" noAdjustHandles="1" noChangeArrowheads="1" noChangeShapeType="1" noTextEdit="1"/>
              </p:cNvSpPr>
              <p:nvPr/>
            </p:nvSpPr>
            <p:spPr>
              <a:xfrm>
                <a:off x="6975598" y="5441458"/>
                <a:ext cx="1257972" cy="469809"/>
              </a:xfrm>
              <a:prstGeom prst="rect">
                <a:avLst/>
              </a:prstGeom>
              <a:blipFill>
                <a:blip r:embed="rId10"/>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07158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DB0D5-F1EE-4CAA-0D88-100215E77D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D1E993-1322-9867-BFCE-F88E85706760}"/>
              </a:ext>
            </a:extLst>
          </p:cNvPr>
          <p:cNvSpPr>
            <a:spLocks noGrp="1"/>
          </p:cNvSpPr>
          <p:nvPr>
            <p:ph type="title"/>
          </p:nvPr>
        </p:nvSpPr>
        <p:spPr/>
        <p:txBody>
          <a:bodyPr/>
          <a:lstStyle/>
          <a:p>
            <a:r>
              <a:rPr kumimoji="1" lang="ja-JP" altLang="en-US" dirty="0"/>
              <a:t>決定的アルゴリズムの競合比下界</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EEFC969-49DB-B408-14C0-AAE40DC98091}"/>
                  </a:ext>
                </a:extLst>
              </p:cNvPr>
              <p:cNvSpPr>
                <a:spLocks noGrp="1"/>
              </p:cNvSpPr>
              <p:nvPr>
                <p:ph idx="1"/>
              </p:nvPr>
            </p:nvSpPr>
            <p:spPr>
              <a:xfrm>
                <a:off x="838200" y="2715490"/>
                <a:ext cx="5036127" cy="3306620"/>
              </a:xfrm>
            </p:spPr>
            <p:txBody>
              <a:bodyPr>
                <a:normAutofit/>
              </a:bodyPr>
              <a:lstStyle/>
              <a:p>
                <a:r>
                  <a:rPr kumimoji="1" lang="en-US" altLang="ja-JP" sz="2400" dirty="0"/>
                  <a:t>Star </a:t>
                </a:r>
                <a:r>
                  <a:rPr kumimoji="1" lang="ja-JP" altLang="en-US" sz="2400" dirty="0"/>
                  <a:t>グラフによる距離空間</a:t>
                </a:r>
                <a:endParaRPr kumimoji="1" lang="en-US" altLang="ja-JP" sz="2400" b="0" i="1" dirty="0">
                  <a:latin typeface="Cambria Math" panose="02040503050406030204" pitchFamily="18" charset="0"/>
                </a:endParaRPr>
              </a:p>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oMath>
                </a14:m>
                <a:r>
                  <a:rPr kumimoji="1" lang="ja-JP" altLang="en-US" sz="2400" dirty="0"/>
                  <a:t> を中心の頂点に置く．</a:t>
                </a:r>
                <a:endParaRPr kumimoji="1" lang="en-US" altLang="ja-JP" sz="2400" dirty="0"/>
              </a:p>
              <a:p>
                <a:r>
                  <a:rPr kumimoji="1" lang="ja-JP" altLang="en-US" sz="2400" b="0" dirty="0"/>
                  <a:t>以降のリクエストは直前のリクエストの割り当て先に置く．</a:t>
                </a:r>
                <a:endParaRPr kumimoji="1" lang="en-US" altLang="ja-JP" sz="2400" b="0" dirty="0"/>
              </a:p>
              <a:p>
                <a:r>
                  <a:rPr lang="ja-JP" altLang="en-US" sz="2400" dirty="0"/>
                  <a:t>最適</a:t>
                </a:r>
                <a:r>
                  <a:rPr kumimoji="1" lang="ja-JP" altLang="en-US" sz="2400" b="0" dirty="0"/>
                  <a:t>コストは</a:t>
                </a:r>
                <a:r>
                  <a:rPr lang="en-US" altLang="ja-JP" sz="2400" dirty="0"/>
                  <a:t> 1 </a:t>
                </a:r>
                <a:r>
                  <a:rPr lang="ja-JP" altLang="en-US" sz="2400" dirty="0"/>
                  <a:t>．</a:t>
                </a:r>
                <a:endParaRPr lang="en-US" altLang="ja-JP" sz="2400" dirty="0"/>
              </a:p>
              <a:p>
                <a14:m>
                  <m:oMath xmlns:m="http://schemas.openxmlformats.org/officeDocument/2006/math">
                    <m:r>
                      <a:rPr kumimoji="1" lang="en-US" altLang="ja-JP" sz="2400" b="0" i="1" smtClean="0">
                        <a:latin typeface="Cambria Math" panose="02040503050406030204" pitchFamily="18" charset="0"/>
                      </a:rPr>
                      <m:t>𝐴𝐿𝐺</m:t>
                    </m:r>
                  </m:oMath>
                </a14:m>
                <a:r>
                  <a:rPr kumimoji="1" lang="ja-JP" altLang="en-US" sz="2400" b="0" dirty="0"/>
                  <a:t> のコストは</a:t>
                </a:r>
                <a:r>
                  <a:rPr lang="ja-JP" altLang="en-US" sz="2400" dirty="0"/>
                  <a:t> </a:t>
                </a:r>
                <a14:m>
                  <m:oMath xmlns:m="http://schemas.openxmlformats.org/officeDocument/2006/math">
                    <m:r>
                      <a:rPr lang="en-US" altLang="ja-JP" sz="2400" b="0" i="1" smtClean="0">
                        <a:latin typeface="Cambria Math" panose="02040503050406030204" pitchFamily="18" charset="0"/>
                      </a:rPr>
                      <m:t>1+2⋅</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−1</m:t>
                        </m:r>
                      </m:e>
                    </m:d>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−1</m:t>
                    </m:r>
                  </m:oMath>
                </a14:m>
                <a:r>
                  <a:rPr kumimoji="1" lang="en-US" altLang="ja-JP" sz="2400" b="0" dirty="0"/>
                  <a:t> </a:t>
                </a:r>
                <a:r>
                  <a:rPr kumimoji="1" lang="ja-JP" altLang="en-US" sz="2400" b="0" dirty="0"/>
                  <a:t>．</a:t>
                </a:r>
                <a:endParaRPr kumimoji="1" lang="en-US" altLang="ja-JP" sz="2400" b="0" dirty="0"/>
              </a:p>
              <a:p>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0EEFC969-49DB-B408-14C0-AAE40DC98091}"/>
                  </a:ext>
                </a:extLst>
              </p:cNvPr>
              <p:cNvSpPr>
                <a:spLocks noGrp="1" noRot="1" noChangeAspect="1" noMove="1" noResize="1" noEditPoints="1" noAdjustHandles="1" noChangeArrowheads="1" noChangeShapeType="1" noTextEdit="1"/>
              </p:cNvSpPr>
              <p:nvPr>
                <p:ph idx="1"/>
              </p:nvPr>
            </p:nvSpPr>
            <p:spPr>
              <a:xfrm>
                <a:off x="838200" y="2715490"/>
                <a:ext cx="5036127" cy="3306620"/>
              </a:xfrm>
              <a:blipFill>
                <a:blip r:embed="rId2"/>
                <a:stretch>
                  <a:fillRect l="-1695" t="-2762" r="-8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6D11F3F3-B585-0C72-BB40-5E5556632DBE}"/>
                  </a:ext>
                </a:extLst>
              </p:cNvPr>
              <p:cNvSpPr txBox="1"/>
              <p:nvPr/>
            </p:nvSpPr>
            <p:spPr>
              <a:xfrm>
                <a:off x="838200" y="1690688"/>
                <a:ext cx="10515600" cy="461665"/>
              </a:xfrm>
              <a:prstGeom prst="rect">
                <a:avLst/>
              </a:prstGeom>
              <a:noFill/>
            </p:spPr>
            <p:txBody>
              <a:bodyPr wrap="square" rtlCol="0">
                <a:spAutoFit/>
              </a:bodyPr>
              <a:lstStyle/>
              <a:p>
                <a:r>
                  <a:rPr kumimoji="1" lang="ja-JP" altLang="en-US" sz="2400" dirty="0"/>
                  <a:t>任意の決定的アルゴリズム </a:t>
                </a:r>
                <a14:m>
                  <m:oMath xmlns:m="http://schemas.openxmlformats.org/officeDocument/2006/math">
                    <m:r>
                      <a:rPr kumimoji="1" lang="en-US" altLang="ja-JP" sz="2400" b="0" i="1" smtClean="0">
                        <a:latin typeface="Cambria Math" panose="02040503050406030204" pitchFamily="18" charset="0"/>
                      </a:rPr>
                      <m:t>𝐴𝐿𝐺</m:t>
                    </m:r>
                  </m:oMath>
                </a14:m>
                <a:r>
                  <a:rPr kumimoji="1" lang="ja-JP" altLang="en-US" sz="2400" dirty="0"/>
                  <a:t> の競合比が </a:t>
                </a:r>
                <a14:m>
                  <m:oMath xmlns:m="http://schemas.openxmlformats.org/officeDocument/2006/math">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m:t>
                    </m:r>
                  </m:oMath>
                </a14:m>
                <a:r>
                  <a:rPr kumimoji="1" lang="en-US" altLang="ja-JP" sz="2400" b="0" dirty="0"/>
                  <a:t> </a:t>
                </a:r>
                <a:r>
                  <a:rPr kumimoji="1" lang="ja-JP" altLang="en-US" sz="2400" b="0" dirty="0"/>
                  <a:t>以上であることを示す．</a:t>
                </a:r>
                <a:endParaRPr kumimoji="1" lang="en-US" altLang="ja-JP" sz="2400" b="0" dirty="0"/>
              </a:p>
            </p:txBody>
          </p:sp>
        </mc:Choice>
        <mc:Fallback xmlns="">
          <p:sp>
            <p:nvSpPr>
              <p:cNvPr id="4" name="テキスト ボックス 3">
                <a:extLst>
                  <a:ext uri="{FF2B5EF4-FFF2-40B4-BE49-F238E27FC236}">
                    <a16:creationId xmlns:a16="http://schemas.microsoft.com/office/drawing/2014/main" id="{6D11F3F3-B585-0C72-BB40-5E5556632DBE}"/>
                  </a:ext>
                </a:extLst>
              </p:cNvPr>
              <p:cNvSpPr txBox="1">
                <a:spLocks noRot="1" noChangeAspect="1" noMove="1" noResize="1" noEditPoints="1" noAdjustHandles="1" noChangeArrowheads="1" noChangeShapeType="1" noTextEdit="1"/>
              </p:cNvSpPr>
              <p:nvPr/>
            </p:nvSpPr>
            <p:spPr>
              <a:xfrm>
                <a:off x="838200" y="1690688"/>
                <a:ext cx="10515600" cy="461665"/>
              </a:xfrm>
              <a:prstGeom prst="rect">
                <a:avLst/>
              </a:prstGeom>
              <a:blipFill>
                <a:blip r:embed="rId3"/>
                <a:stretch>
                  <a:fillRect l="-928" t="-7895" r="-58" b="-31579"/>
                </a:stretch>
              </a:blipFill>
            </p:spPr>
            <p:txBody>
              <a:bodyPr/>
              <a:lstStyle/>
              <a:p>
                <a:r>
                  <a:rPr lang="ja-JP" altLang="en-US">
                    <a:noFill/>
                  </a:rPr>
                  <a:t> </a:t>
                </a:r>
              </a:p>
            </p:txBody>
          </p:sp>
        </mc:Fallback>
      </mc:AlternateContent>
      <p:sp>
        <p:nvSpPr>
          <p:cNvPr id="5" name="楕円 4">
            <a:extLst>
              <a:ext uri="{FF2B5EF4-FFF2-40B4-BE49-F238E27FC236}">
                <a16:creationId xmlns:a16="http://schemas.microsoft.com/office/drawing/2014/main" id="{C804F5AC-D53A-4E36-5549-21DD70D25F31}"/>
              </a:ext>
            </a:extLst>
          </p:cNvPr>
          <p:cNvSpPr/>
          <p:nvPr/>
        </p:nvSpPr>
        <p:spPr>
          <a:xfrm>
            <a:off x="9086049" y="4291143"/>
            <a:ext cx="144000" cy="144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B18DF421-70B2-A5A4-B12E-56B4164B57A6}"/>
              </a:ext>
            </a:extLst>
          </p:cNvPr>
          <p:cNvSpPr/>
          <p:nvPr/>
        </p:nvSpPr>
        <p:spPr>
          <a:xfrm>
            <a:off x="9819973" y="305695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88AF65D7-380C-F2A8-B6A1-750C27B014AB}"/>
              </a:ext>
            </a:extLst>
          </p:cNvPr>
          <p:cNvSpPr/>
          <p:nvPr/>
        </p:nvSpPr>
        <p:spPr>
          <a:xfrm>
            <a:off x="8311309" y="305966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D618C421-FEE1-A7C0-D8FF-B4954F277D0A}"/>
              </a:ext>
            </a:extLst>
          </p:cNvPr>
          <p:cNvSpPr/>
          <p:nvPr/>
        </p:nvSpPr>
        <p:spPr>
          <a:xfrm>
            <a:off x="10589315" y="424955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955C157B-5B62-26E6-9CB4-EDC86020B553}"/>
              </a:ext>
            </a:extLst>
          </p:cNvPr>
          <p:cNvSpPr/>
          <p:nvPr/>
        </p:nvSpPr>
        <p:spPr>
          <a:xfrm>
            <a:off x="9942885" y="557244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C9385166-60CE-537B-5C93-D082910A202A}"/>
              </a:ext>
            </a:extLst>
          </p:cNvPr>
          <p:cNvSpPr/>
          <p:nvPr/>
        </p:nvSpPr>
        <p:spPr>
          <a:xfrm>
            <a:off x="8394265" y="554114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32B078D5-9D51-FC27-EF6E-BD3F6858D548}"/>
              </a:ext>
            </a:extLst>
          </p:cNvPr>
          <p:cNvSpPr/>
          <p:nvPr/>
        </p:nvSpPr>
        <p:spPr>
          <a:xfrm>
            <a:off x="7613765" y="4312231"/>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613CCF52-47EC-F011-2902-34404B173C9B}"/>
              </a:ext>
            </a:extLst>
          </p:cNvPr>
          <p:cNvCxnSpPr>
            <a:cxnSpLocks/>
            <a:stCxn id="7" idx="5"/>
            <a:endCxn id="5" idx="1"/>
          </p:cNvCxnSpPr>
          <p:nvPr/>
        </p:nvCxnSpPr>
        <p:spPr>
          <a:xfrm>
            <a:off x="8434221" y="3182579"/>
            <a:ext cx="672916" cy="11296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F27F262A-0DA1-1BB5-E497-3452A6C12275}"/>
              </a:ext>
            </a:extLst>
          </p:cNvPr>
          <p:cNvCxnSpPr>
            <a:cxnSpLocks/>
            <a:stCxn id="6" idx="3"/>
            <a:endCxn id="5" idx="7"/>
          </p:cNvCxnSpPr>
          <p:nvPr/>
        </p:nvCxnSpPr>
        <p:spPr>
          <a:xfrm flipH="1">
            <a:off x="9208961" y="3179865"/>
            <a:ext cx="632100" cy="11323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0A2D6816-BE7A-CD07-9E6F-73A875D02D48}"/>
              </a:ext>
            </a:extLst>
          </p:cNvPr>
          <p:cNvCxnSpPr>
            <a:cxnSpLocks/>
            <a:stCxn id="8" idx="3"/>
            <a:endCxn id="5" idx="6"/>
          </p:cNvCxnSpPr>
          <p:nvPr/>
        </p:nvCxnSpPr>
        <p:spPr>
          <a:xfrm flipH="1" flipV="1">
            <a:off x="9230049" y="4363143"/>
            <a:ext cx="1380354" cy="93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C1DE3E9B-DA6F-FDCB-0EAC-A55F7056DE1C}"/>
              </a:ext>
            </a:extLst>
          </p:cNvPr>
          <p:cNvCxnSpPr>
            <a:cxnSpLocks/>
            <a:stCxn id="11" idx="6"/>
            <a:endCxn id="5" idx="2"/>
          </p:cNvCxnSpPr>
          <p:nvPr/>
        </p:nvCxnSpPr>
        <p:spPr>
          <a:xfrm flipV="1">
            <a:off x="7757765" y="4363143"/>
            <a:ext cx="1328284" cy="210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815D635A-D467-2F14-6316-D52E62D4B34B}"/>
              </a:ext>
            </a:extLst>
          </p:cNvPr>
          <p:cNvCxnSpPr>
            <a:cxnSpLocks/>
            <a:stCxn id="5" idx="3"/>
            <a:endCxn id="10" idx="7"/>
          </p:cNvCxnSpPr>
          <p:nvPr/>
        </p:nvCxnSpPr>
        <p:spPr>
          <a:xfrm flipH="1">
            <a:off x="8517177" y="4414055"/>
            <a:ext cx="589960" cy="11481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BE4768E5-E02C-27CF-E654-4C98E688D09F}"/>
              </a:ext>
            </a:extLst>
          </p:cNvPr>
          <p:cNvCxnSpPr>
            <a:cxnSpLocks/>
            <a:stCxn id="5" idx="5"/>
            <a:endCxn id="9" idx="1"/>
          </p:cNvCxnSpPr>
          <p:nvPr/>
        </p:nvCxnSpPr>
        <p:spPr>
          <a:xfrm>
            <a:off x="9208961" y="4414055"/>
            <a:ext cx="755012" cy="11794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28A0707F-54C2-3173-1BEC-63D07CEBEBC0}"/>
                  </a:ext>
                </a:extLst>
              </p:cNvPr>
              <p:cNvSpPr txBox="1"/>
              <p:nvPr/>
            </p:nvSpPr>
            <p:spPr>
              <a:xfrm>
                <a:off x="9942885" y="2611332"/>
                <a:ext cx="56560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𝑠</m:t>
                          </m:r>
                        </m:e>
                        <m:sub>
                          <m:r>
                            <a:rPr lang="en-US" altLang="ja-JP" sz="2000" i="1">
                              <a:latin typeface="Cambria Math" panose="02040503050406030204" pitchFamily="18" charset="0"/>
                            </a:rPr>
                            <m:t>1</m:t>
                          </m:r>
                        </m:sub>
                      </m:sSub>
                    </m:oMath>
                  </m:oMathPara>
                </a14:m>
                <a:endParaRPr lang="ja-JP" altLang="en-US" sz="2000" dirty="0"/>
              </a:p>
            </p:txBody>
          </p:sp>
        </mc:Choice>
        <mc:Fallback xmlns="">
          <p:sp>
            <p:nvSpPr>
              <p:cNvPr id="38" name="テキスト ボックス 37">
                <a:extLst>
                  <a:ext uri="{FF2B5EF4-FFF2-40B4-BE49-F238E27FC236}">
                    <a16:creationId xmlns:a16="http://schemas.microsoft.com/office/drawing/2014/main" id="{28A0707F-54C2-3173-1BEC-63D07CEBEBC0}"/>
                  </a:ext>
                </a:extLst>
              </p:cNvPr>
              <p:cNvSpPr txBox="1">
                <a:spLocks noRot="1" noChangeAspect="1" noMove="1" noResize="1" noEditPoints="1" noAdjustHandles="1" noChangeArrowheads="1" noChangeShapeType="1" noTextEdit="1"/>
              </p:cNvSpPr>
              <p:nvPr/>
            </p:nvSpPr>
            <p:spPr>
              <a:xfrm>
                <a:off x="9942885" y="2611332"/>
                <a:ext cx="565608" cy="400110"/>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06870C83-8A73-2C4C-55C2-496FA23FCD3F}"/>
                  </a:ext>
                </a:extLst>
              </p:cNvPr>
              <p:cNvSpPr txBox="1"/>
              <p:nvPr/>
            </p:nvSpPr>
            <p:spPr>
              <a:xfrm>
                <a:off x="7817701" y="2618406"/>
                <a:ext cx="56560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i="1">
                              <a:latin typeface="Cambria Math" panose="02040503050406030204" pitchFamily="18" charset="0"/>
                            </a:rPr>
                            <m:t>𝑠</m:t>
                          </m:r>
                        </m:e>
                        <m:sub>
                          <m:r>
                            <a:rPr lang="en-US" altLang="ja-JP" sz="2000" b="0" i="1" smtClean="0">
                              <a:latin typeface="Cambria Math" panose="02040503050406030204" pitchFamily="18" charset="0"/>
                            </a:rPr>
                            <m:t>2</m:t>
                          </m:r>
                        </m:sub>
                      </m:sSub>
                    </m:oMath>
                  </m:oMathPara>
                </a14:m>
                <a:endParaRPr lang="ja-JP" altLang="en-US" sz="2000" dirty="0"/>
              </a:p>
            </p:txBody>
          </p:sp>
        </mc:Choice>
        <mc:Fallback xmlns="">
          <p:sp>
            <p:nvSpPr>
              <p:cNvPr id="39" name="テキスト ボックス 38">
                <a:extLst>
                  <a:ext uri="{FF2B5EF4-FFF2-40B4-BE49-F238E27FC236}">
                    <a16:creationId xmlns:a16="http://schemas.microsoft.com/office/drawing/2014/main" id="{06870C83-8A73-2C4C-55C2-496FA23FCD3F}"/>
                  </a:ext>
                </a:extLst>
              </p:cNvPr>
              <p:cNvSpPr txBox="1">
                <a:spLocks noRot="1" noChangeAspect="1" noMove="1" noResize="1" noEditPoints="1" noAdjustHandles="1" noChangeArrowheads="1" noChangeShapeType="1" noTextEdit="1"/>
              </p:cNvSpPr>
              <p:nvPr/>
            </p:nvSpPr>
            <p:spPr>
              <a:xfrm>
                <a:off x="7817701" y="2618406"/>
                <a:ext cx="565608" cy="400110"/>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1FC7F0C7-B2D3-BB67-246D-6F46776BCA19}"/>
                  </a:ext>
                </a:extLst>
              </p:cNvPr>
              <p:cNvSpPr txBox="1"/>
              <p:nvPr/>
            </p:nvSpPr>
            <p:spPr>
              <a:xfrm>
                <a:off x="6919807" y="4182145"/>
                <a:ext cx="56560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i="1">
                              <a:latin typeface="Cambria Math" panose="02040503050406030204" pitchFamily="18" charset="0"/>
                            </a:rPr>
                            <m:t>𝑠</m:t>
                          </m:r>
                        </m:e>
                        <m:sub>
                          <m:r>
                            <a:rPr lang="en-US" altLang="ja-JP" sz="2000" b="0" i="1" smtClean="0">
                              <a:latin typeface="Cambria Math" panose="02040503050406030204" pitchFamily="18" charset="0"/>
                            </a:rPr>
                            <m:t>3</m:t>
                          </m:r>
                        </m:sub>
                      </m:sSub>
                    </m:oMath>
                  </m:oMathPara>
                </a14:m>
                <a:endParaRPr lang="ja-JP" altLang="en-US" sz="2000" dirty="0"/>
              </a:p>
            </p:txBody>
          </p:sp>
        </mc:Choice>
        <mc:Fallback xmlns="">
          <p:sp>
            <p:nvSpPr>
              <p:cNvPr id="41" name="テキスト ボックス 40">
                <a:extLst>
                  <a:ext uri="{FF2B5EF4-FFF2-40B4-BE49-F238E27FC236}">
                    <a16:creationId xmlns:a16="http://schemas.microsoft.com/office/drawing/2014/main" id="{1FC7F0C7-B2D3-BB67-246D-6F46776BCA19}"/>
                  </a:ext>
                </a:extLst>
              </p:cNvPr>
              <p:cNvSpPr txBox="1">
                <a:spLocks noRot="1" noChangeAspect="1" noMove="1" noResize="1" noEditPoints="1" noAdjustHandles="1" noChangeArrowheads="1" noChangeShapeType="1" noTextEdit="1"/>
              </p:cNvSpPr>
              <p:nvPr/>
            </p:nvSpPr>
            <p:spPr>
              <a:xfrm>
                <a:off x="6919807" y="4182145"/>
                <a:ext cx="565608" cy="400110"/>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D1461D40-78DD-43A5-FA93-54421281996B}"/>
                  </a:ext>
                </a:extLst>
              </p:cNvPr>
              <p:cNvSpPr txBox="1"/>
              <p:nvPr/>
            </p:nvSpPr>
            <p:spPr>
              <a:xfrm>
                <a:off x="7900657" y="5716448"/>
                <a:ext cx="56560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i="1">
                              <a:latin typeface="Cambria Math" panose="02040503050406030204" pitchFamily="18" charset="0"/>
                            </a:rPr>
                            <m:t>𝑠</m:t>
                          </m:r>
                        </m:e>
                        <m:sub>
                          <m:r>
                            <a:rPr lang="en-US" altLang="ja-JP" sz="2000" b="0" i="1" smtClean="0">
                              <a:latin typeface="Cambria Math" panose="02040503050406030204" pitchFamily="18" charset="0"/>
                            </a:rPr>
                            <m:t>4</m:t>
                          </m:r>
                        </m:sub>
                      </m:sSub>
                    </m:oMath>
                  </m:oMathPara>
                </a14:m>
                <a:endParaRPr lang="ja-JP" altLang="en-US" sz="2000" dirty="0"/>
              </a:p>
            </p:txBody>
          </p:sp>
        </mc:Choice>
        <mc:Fallback xmlns="">
          <p:sp>
            <p:nvSpPr>
              <p:cNvPr id="42" name="テキスト ボックス 41">
                <a:extLst>
                  <a:ext uri="{FF2B5EF4-FFF2-40B4-BE49-F238E27FC236}">
                    <a16:creationId xmlns:a16="http://schemas.microsoft.com/office/drawing/2014/main" id="{D1461D40-78DD-43A5-FA93-54421281996B}"/>
                  </a:ext>
                </a:extLst>
              </p:cNvPr>
              <p:cNvSpPr txBox="1">
                <a:spLocks noRot="1" noChangeAspect="1" noMove="1" noResize="1" noEditPoints="1" noAdjustHandles="1" noChangeArrowheads="1" noChangeShapeType="1" noTextEdit="1"/>
              </p:cNvSpPr>
              <p:nvPr/>
            </p:nvSpPr>
            <p:spPr>
              <a:xfrm>
                <a:off x="7900657" y="5716448"/>
                <a:ext cx="565608" cy="400110"/>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8B544850-471E-4561-E82C-9B37887F659C}"/>
                  </a:ext>
                </a:extLst>
              </p:cNvPr>
              <p:cNvSpPr txBox="1"/>
              <p:nvPr/>
            </p:nvSpPr>
            <p:spPr>
              <a:xfrm>
                <a:off x="9944910" y="5716448"/>
                <a:ext cx="56560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i="1">
                              <a:latin typeface="Cambria Math" panose="02040503050406030204" pitchFamily="18" charset="0"/>
                            </a:rPr>
                            <m:t>𝑠</m:t>
                          </m:r>
                        </m:e>
                        <m:sub>
                          <m:r>
                            <a:rPr lang="en-US" altLang="ja-JP" sz="2000" b="0" i="1" smtClean="0">
                              <a:latin typeface="Cambria Math" panose="02040503050406030204" pitchFamily="18" charset="0"/>
                            </a:rPr>
                            <m:t>5</m:t>
                          </m:r>
                        </m:sub>
                      </m:sSub>
                    </m:oMath>
                  </m:oMathPara>
                </a14:m>
                <a:endParaRPr lang="ja-JP" altLang="en-US" sz="2000" dirty="0"/>
              </a:p>
            </p:txBody>
          </p:sp>
        </mc:Choice>
        <mc:Fallback xmlns="">
          <p:sp>
            <p:nvSpPr>
              <p:cNvPr id="43" name="テキスト ボックス 42">
                <a:extLst>
                  <a:ext uri="{FF2B5EF4-FFF2-40B4-BE49-F238E27FC236}">
                    <a16:creationId xmlns:a16="http://schemas.microsoft.com/office/drawing/2014/main" id="{8B544850-471E-4561-E82C-9B37887F659C}"/>
                  </a:ext>
                </a:extLst>
              </p:cNvPr>
              <p:cNvSpPr txBox="1">
                <a:spLocks noRot="1" noChangeAspect="1" noMove="1" noResize="1" noEditPoints="1" noAdjustHandles="1" noChangeArrowheads="1" noChangeShapeType="1" noTextEdit="1"/>
              </p:cNvSpPr>
              <p:nvPr/>
            </p:nvSpPr>
            <p:spPr>
              <a:xfrm>
                <a:off x="9944910" y="5716448"/>
                <a:ext cx="565608" cy="400110"/>
              </a:xfrm>
              <a:prstGeom prst="rect">
                <a:avLst/>
              </a:prstGeom>
              <a:blipFill>
                <a:blip r:embed="rId8"/>
                <a:stretch>
                  <a:fillRect b="-153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23758CEB-537F-4599-6838-4D310862782D}"/>
                  </a:ext>
                </a:extLst>
              </p:cNvPr>
              <p:cNvSpPr txBox="1"/>
              <p:nvPr/>
            </p:nvSpPr>
            <p:spPr>
              <a:xfrm>
                <a:off x="10855585" y="4157471"/>
                <a:ext cx="56560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i="1">
                              <a:latin typeface="Cambria Math" panose="02040503050406030204" pitchFamily="18" charset="0"/>
                            </a:rPr>
                            <m:t>𝑠</m:t>
                          </m:r>
                        </m:e>
                        <m:sub>
                          <m:r>
                            <a:rPr lang="en-US" altLang="ja-JP" sz="2000" b="0" i="1" smtClean="0">
                              <a:latin typeface="Cambria Math" panose="02040503050406030204" pitchFamily="18" charset="0"/>
                            </a:rPr>
                            <m:t>6</m:t>
                          </m:r>
                        </m:sub>
                      </m:sSub>
                    </m:oMath>
                  </m:oMathPara>
                </a14:m>
                <a:endParaRPr lang="ja-JP" altLang="en-US" sz="2000" dirty="0"/>
              </a:p>
            </p:txBody>
          </p:sp>
        </mc:Choice>
        <mc:Fallback xmlns="">
          <p:sp>
            <p:nvSpPr>
              <p:cNvPr id="44" name="テキスト ボックス 43">
                <a:extLst>
                  <a:ext uri="{FF2B5EF4-FFF2-40B4-BE49-F238E27FC236}">
                    <a16:creationId xmlns:a16="http://schemas.microsoft.com/office/drawing/2014/main" id="{23758CEB-537F-4599-6838-4D310862782D}"/>
                  </a:ext>
                </a:extLst>
              </p:cNvPr>
              <p:cNvSpPr txBox="1">
                <a:spLocks noRot="1" noChangeAspect="1" noMove="1" noResize="1" noEditPoints="1" noAdjustHandles="1" noChangeArrowheads="1" noChangeShapeType="1" noTextEdit="1"/>
              </p:cNvSpPr>
              <p:nvPr/>
            </p:nvSpPr>
            <p:spPr>
              <a:xfrm>
                <a:off x="10855585" y="4157471"/>
                <a:ext cx="565608" cy="400110"/>
              </a:xfrm>
              <a:prstGeom prst="rect">
                <a:avLst/>
              </a:prstGeom>
              <a:blipFill>
                <a:blip r:embed="rId9"/>
                <a:stretch>
                  <a:fillRect/>
                </a:stretch>
              </a:blipFill>
            </p:spPr>
            <p:txBody>
              <a:bodyPr/>
              <a:lstStyle/>
              <a:p>
                <a:r>
                  <a:rPr lang="ja-JP" altLang="en-US">
                    <a:noFill/>
                  </a:rPr>
                  <a:t> </a:t>
                </a:r>
              </a:p>
            </p:txBody>
          </p:sp>
        </mc:Fallback>
      </mc:AlternateContent>
      <p:cxnSp>
        <p:nvCxnSpPr>
          <p:cNvPr id="12" name="直線矢印コネクタ 11">
            <a:extLst>
              <a:ext uri="{FF2B5EF4-FFF2-40B4-BE49-F238E27FC236}">
                <a16:creationId xmlns:a16="http://schemas.microsoft.com/office/drawing/2014/main" id="{2432D27B-F9BA-952A-088E-74EF858FB848}"/>
              </a:ext>
            </a:extLst>
          </p:cNvPr>
          <p:cNvCxnSpPr>
            <a:cxnSpLocks/>
          </p:cNvCxnSpPr>
          <p:nvPr/>
        </p:nvCxnSpPr>
        <p:spPr>
          <a:xfrm>
            <a:off x="9158049" y="354254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9B21751E-A134-9342-1638-065EED567CDB}"/>
              </a:ext>
            </a:extLst>
          </p:cNvPr>
          <p:cNvCxnSpPr>
            <a:cxnSpLocks/>
          </p:cNvCxnSpPr>
          <p:nvPr/>
        </p:nvCxnSpPr>
        <p:spPr>
          <a:xfrm flipV="1">
            <a:off x="9332536" y="3283239"/>
            <a:ext cx="549341" cy="1028992"/>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F8B059C-22D8-4370-F866-9B25BCE698B5}"/>
              </a:ext>
            </a:extLst>
          </p:cNvPr>
          <p:cNvCxnSpPr>
            <a:cxnSpLocks/>
          </p:cNvCxnSpPr>
          <p:nvPr/>
        </p:nvCxnSpPr>
        <p:spPr>
          <a:xfrm>
            <a:off x="9511479" y="4251550"/>
            <a:ext cx="1077836" cy="0"/>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5F49D21E-B48E-CCEF-73F7-01CD9CAA33E2}"/>
              </a:ext>
            </a:extLst>
          </p:cNvPr>
          <p:cNvCxnSpPr>
            <a:cxnSpLocks/>
          </p:cNvCxnSpPr>
          <p:nvPr/>
        </p:nvCxnSpPr>
        <p:spPr>
          <a:xfrm flipH="1">
            <a:off x="9503032" y="3316672"/>
            <a:ext cx="490759" cy="946190"/>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01781FAC-2BE4-AFE8-063E-AB4EECFC182E}"/>
              </a:ext>
            </a:extLst>
          </p:cNvPr>
          <p:cNvCxnSpPr>
            <a:cxnSpLocks/>
          </p:cNvCxnSpPr>
          <p:nvPr/>
        </p:nvCxnSpPr>
        <p:spPr>
          <a:xfrm flipH="1">
            <a:off x="9427499" y="4507800"/>
            <a:ext cx="1132584" cy="0"/>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21352200-7C2B-14A3-0989-91D3C8C0233B}"/>
              </a:ext>
            </a:extLst>
          </p:cNvPr>
          <p:cNvCxnSpPr>
            <a:cxnSpLocks/>
          </p:cNvCxnSpPr>
          <p:nvPr/>
        </p:nvCxnSpPr>
        <p:spPr>
          <a:xfrm>
            <a:off x="9458735" y="4507800"/>
            <a:ext cx="642012" cy="1033348"/>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71472E32-4E23-789C-1D22-E8A394D4FFC2}"/>
              </a:ext>
            </a:extLst>
          </p:cNvPr>
          <p:cNvCxnSpPr>
            <a:cxnSpLocks/>
          </p:cNvCxnSpPr>
          <p:nvPr/>
        </p:nvCxnSpPr>
        <p:spPr>
          <a:xfrm flipH="1" flipV="1">
            <a:off x="9180680" y="4557581"/>
            <a:ext cx="632100" cy="1014867"/>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696DC1C6-5F7F-5041-45A2-95129220CDB2}"/>
              </a:ext>
            </a:extLst>
          </p:cNvPr>
          <p:cNvCxnSpPr>
            <a:cxnSpLocks/>
          </p:cNvCxnSpPr>
          <p:nvPr/>
        </p:nvCxnSpPr>
        <p:spPr>
          <a:xfrm flipH="1">
            <a:off x="8696165" y="4581970"/>
            <a:ext cx="490165" cy="1038088"/>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F7AA971E-D311-CD41-951F-5B45D886F739}"/>
              </a:ext>
            </a:extLst>
          </p:cNvPr>
          <p:cNvCxnSpPr>
            <a:cxnSpLocks/>
          </p:cNvCxnSpPr>
          <p:nvPr/>
        </p:nvCxnSpPr>
        <p:spPr>
          <a:xfrm flipV="1">
            <a:off x="8395111" y="4507800"/>
            <a:ext cx="532155" cy="1007845"/>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86965742-D18A-115D-0CE4-264A494D7FCF}"/>
              </a:ext>
            </a:extLst>
          </p:cNvPr>
          <p:cNvCxnSpPr>
            <a:cxnSpLocks/>
          </p:cNvCxnSpPr>
          <p:nvPr/>
        </p:nvCxnSpPr>
        <p:spPr>
          <a:xfrm flipH="1">
            <a:off x="7817701" y="4507800"/>
            <a:ext cx="1109565" cy="0"/>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0325C4E1-923A-F204-ACE9-09E0CE030500}"/>
              </a:ext>
            </a:extLst>
          </p:cNvPr>
          <p:cNvCxnSpPr>
            <a:cxnSpLocks/>
          </p:cNvCxnSpPr>
          <p:nvPr/>
        </p:nvCxnSpPr>
        <p:spPr>
          <a:xfrm>
            <a:off x="7757765" y="4182145"/>
            <a:ext cx="1109565" cy="0"/>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4FEC15A1-1D42-BC58-B533-A4CBF9F4084C}"/>
              </a:ext>
            </a:extLst>
          </p:cNvPr>
          <p:cNvCxnSpPr>
            <a:cxnSpLocks/>
          </p:cNvCxnSpPr>
          <p:nvPr/>
        </p:nvCxnSpPr>
        <p:spPr>
          <a:xfrm flipH="1" flipV="1">
            <a:off x="8311309" y="3248172"/>
            <a:ext cx="556021" cy="933973"/>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C7E47A51-AB5A-7057-EFB3-900961CDFE1A}"/>
              </a:ext>
            </a:extLst>
          </p:cNvPr>
          <p:cNvCxnSpPr>
            <a:cxnSpLocks/>
          </p:cNvCxnSpPr>
          <p:nvPr/>
        </p:nvCxnSpPr>
        <p:spPr>
          <a:xfrm flipH="1" flipV="1">
            <a:off x="8550697" y="3137508"/>
            <a:ext cx="556021" cy="933973"/>
          </a:xfrm>
          <a:prstGeom prst="straightConnector1">
            <a:avLst/>
          </a:prstGeom>
          <a:ln w="317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矢印コネクタ 81">
            <a:extLst>
              <a:ext uri="{FF2B5EF4-FFF2-40B4-BE49-F238E27FC236}">
                <a16:creationId xmlns:a16="http://schemas.microsoft.com/office/drawing/2014/main" id="{85878767-67AA-2E51-DAFC-5C11373D9DE2}"/>
              </a:ext>
            </a:extLst>
          </p:cNvPr>
          <p:cNvCxnSpPr>
            <a:cxnSpLocks/>
          </p:cNvCxnSpPr>
          <p:nvPr/>
        </p:nvCxnSpPr>
        <p:spPr>
          <a:xfrm>
            <a:off x="9900731" y="233108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D0D7C2C8-6E4C-2E07-3D9F-5F946FC40B59}"/>
              </a:ext>
            </a:extLst>
          </p:cNvPr>
          <p:cNvCxnSpPr>
            <a:cxnSpLocks/>
          </p:cNvCxnSpPr>
          <p:nvPr/>
        </p:nvCxnSpPr>
        <p:spPr>
          <a:xfrm>
            <a:off x="10661315" y="354254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矢印コネクタ 83">
            <a:extLst>
              <a:ext uri="{FF2B5EF4-FFF2-40B4-BE49-F238E27FC236}">
                <a16:creationId xmlns:a16="http://schemas.microsoft.com/office/drawing/2014/main" id="{CD2A89AC-E7F2-B640-237A-367A69C6C845}"/>
              </a:ext>
            </a:extLst>
          </p:cNvPr>
          <p:cNvCxnSpPr>
            <a:cxnSpLocks/>
          </p:cNvCxnSpPr>
          <p:nvPr/>
        </p:nvCxnSpPr>
        <p:spPr>
          <a:xfrm>
            <a:off x="10022068" y="482773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7D209765-19C7-0FFD-304C-D44043AE671F}"/>
              </a:ext>
            </a:extLst>
          </p:cNvPr>
          <p:cNvCxnSpPr>
            <a:cxnSpLocks/>
          </p:cNvCxnSpPr>
          <p:nvPr/>
        </p:nvCxnSpPr>
        <p:spPr>
          <a:xfrm>
            <a:off x="8471988" y="4808635"/>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409EC123-3144-5EB3-BAF0-14F6C1741EB0}"/>
              </a:ext>
            </a:extLst>
          </p:cNvPr>
          <p:cNvCxnSpPr>
            <a:cxnSpLocks/>
          </p:cNvCxnSpPr>
          <p:nvPr/>
        </p:nvCxnSpPr>
        <p:spPr>
          <a:xfrm>
            <a:off x="7685765" y="358413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スライド番号プレースホルダー 13">
            <a:extLst>
              <a:ext uri="{FF2B5EF4-FFF2-40B4-BE49-F238E27FC236}">
                <a16:creationId xmlns:a16="http://schemas.microsoft.com/office/drawing/2014/main" id="{0D5B1633-88AD-4255-7754-146F8057D557}"/>
              </a:ext>
            </a:extLst>
          </p:cNvPr>
          <p:cNvSpPr>
            <a:spLocks noGrp="1"/>
          </p:cNvSpPr>
          <p:nvPr>
            <p:ph type="sldNum" sz="quarter" idx="12"/>
          </p:nvPr>
        </p:nvSpPr>
        <p:spPr/>
        <p:txBody>
          <a:bodyPr/>
          <a:lstStyle/>
          <a:p>
            <a:fld id="{4B077F3A-4098-4199-8925-77865D1E3500}" type="slidenum">
              <a:rPr kumimoji="1" lang="ja-JP" altLang="en-US" smtClean="0"/>
              <a:t>18</a:t>
            </a:fld>
            <a:endParaRPr kumimoji="1" lang="ja-JP" altLang="en-US"/>
          </a:p>
        </p:txBody>
      </p:sp>
      <p:sp>
        <p:nvSpPr>
          <p:cNvPr id="15" name="テキスト ボックス 14">
            <a:extLst>
              <a:ext uri="{FF2B5EF4-FFF2-40B4-BE49-F238E27FC236}">
                <a16:creationId xmlns:a16="http://schemas.microsoft.com/office/drawing/2014/main" id="{579DE878-F05A-1AD4-8FE9-2FDA9BA27010}"/>
              </a:ext>
            </a:extLst>
          </p:cNvPr>
          <p:cNvSpPr txBox="1"/>
          <p:nvPr/>
        </p:nvSpPr>
        <p:spPr>
          <a:xfrm>
            <a:off x="710352" y="5761248"/>
            <a:ext cx="7473109" cy="461665"/>
          </a:xfrm>
          <a:prstGeom prst="rect">
            <a:avLst/>
          </a:prstGeom>
          <a:noFill/>
        </p:spPr>
        <p:txBody>
          <a:bodyPr wrap="square" rtlCol="0">
            <a:spAutoFit/>
          </a:bodyPr>
          <a:lstStyle/>
          <a:p>
            <a:r>
              <a:rPr kumimoji="1" lang="en-US" altLang="ja-JP" sz="2400" b="1" dirty="0"/>
              <a:t>Permutation </a:t>
            </a:r>
            <a:r>
              <a:rPr kumimoji="1" lang="ja-JP" altLang="en-US" sz="2400" b="1" dirty="0"/>
              <a:t>が最善の競合比を持つことが示された！</a:t>
            </a:r>
          </a:p>
        </p:txBody>
      </p:sp>
    </p:spTree>
    <p:extLst>
      <p:ext uri="{BB962C8B-B14F-4D97-AF65-F5344CB8AC3E}">
        <p14:creationId xmlns:p14="http://schemas.microsoft.com/office/powerpoint/2010/main" val="304380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
                                        </p:tgtEl>
                                        <p:attrNameLst>
                                          <p:attrName>style.visibility</p:attrName>
                                        </p:attrNameLst>
                                      </p:cBhvr>
                                      <p:to>
                                        <p:strVal val="visible"/>
                                      </p:to>
                                    </p:set>
                                    <p:animEffect transition="in" filter="fade">
                                      <p:cBhvr>
                                        <p:cTn id="17" dur="500"/>
                                        <p:tgtEl>
                                          <p:spTgt spid="8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10"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3"/>
                                        </p:tgtEl>
                                        <p:attrNameLst>
                                          <p:attrName>style.visibility</p:attrName>
                                        </p:attrNameLst>
                                      </p:cBhvr>
                                      <p:to>
                                        <p:strVal val="visible"/>
                                      </p:to>
                                    </p:set>
                                    <p:animEffect transition="in" filter="fade">
                                      <p:cBhvr>
                                        <p:cTn id="30" dur="500"/>
                                        <p:tgtEl>
                                          <p:spTgt spid="8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500"/>
                                        <p:tgtEl>
                                          <p:spTgt spid="54"/>
                                        </p:tgtEl>
                                      </p:cBhvr>
                                    </p:animEffect>
                                  </p:childTnLst>
                                </p:cTn>
                              </p:par>
                              <p:par>
                                <p:cTn id="36" presetID="10" presetClass="entr" presetSubtype="0" fill="hold" nodeType="with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fade">
                                      <p:cBhvr>
                                        <p:cTn id="38" dur="500"/>
                                        <p:tgtEl>
                                          <p:spTgt spid="5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4"/>
                                        </p:tgtEl>
                                        <p:attrNameLst>
                                          <p:attrName>style.visibility</p:attrName>
                                        </p:attrNameLst>
                                      </p:cBhvr>
                                      <p:to>
                                        <p:strVal val="visible"/>
                                      </p:to>
                                    </p:set>
                                    <p:animEffect transition="in" filter="fade">
                                      <p:cBhvr>
                                        <p:cTn id="43" dur="500"/>
                                        <p:tgtEl>
                                          <p:spTgt spid="8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59"/>
                                        </p:tgtEl>
                                        <p:attrNameLst>
                                          <p:attrName>style.visibility</p:attrName>
                                        </p:attrNameLst>
                                      </p:cBhvr>
                                      <p:to>
                                        <p:strVal val="visible"/>
                                      </p:to>
                                    </p:set>
                                    <p:animEffect transition="in" filter="fade">
                                      <p:cBhvr>
                                        <p:cTn id="48" dur="500"/>
                                        <p:tgtEl>
                                          <p:spTgt spid="59"/>
                                        </p:tgtEl>
                                      </p:cBhvr>
                                    </p:animEffect>
                                  </p:childTnLst>
                                </p:cTn>
                              </p:par>
                              <p:par>
                                <p:cTn id="49" presetID="10" presetClass="entr" presetSubtype="0" fill="hold" nodeType="with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5"/>
                                        </p:tgtEl>
                                        <p:attrNameLst>
                                          <p:attrName>style.visibility</p:attrName>
                                        </p:attrNameLst>
                                      </p:cBhvr>
                                      <p:to>
                                        <p:strVal val="visible"/>
                                      </p:to>
                                    </p:set>
                                    <p:animEffect transition="in" filter="fade">
                                      <p:cBhvr>
                                        <p:cTn id="56" dur="500"/>
                                        <p:tgtEl>
                                          <p:spTgt spid="8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7"/>
                                        </p:tgtEl>
                                        <p:attrNameLst>
                                          <p:attrName>style.visibility</p:attrName>
                                        </p:attrNameLst>
                                      </p:cBhvr>
                                      <p:to>
                                        <p:strVal val="visible"/>
                                      </p:to>
                                    </p:set>
                                    <p:animEffect transition="in" filter="fade">
                                      <p:cBhvr>
                                        <p:cTn id="61" dur="500"/>
                                        <p:tgtEl>
                                          <p:spTgt spid="67"/>
                                        </p:tgtEl>
                                      </p:cBhvr>
                                    </p:animEffect>
                                  </p:childTnLst>
                                </p:cTn>
                              </p:par>
                              <p:par>
                                <p:cTn id="62" presetID="10" presetClass="entr" presetSubtype="0" fill="hold" nodeType="withEffect">
                                  <p:stCondLst>
                                    <p:cond delay="0"/>
                                  </p:stCondLst>
                                  <p:childTnLst>
                                    <p:set>
                                      <p:cBhvr>
                                        <p:cTn id="63" dur="1" fill="hold">
                                          <p:stCondLst>
                                            <p:cond delay="0"/>
                                          </p:stCondLst>
                                        </p:cTn>
                                        <p:tgtEl>
                                          <p:spTgt spid="69"/>
                                        </p:tgtEl>
                                        <p:attrNameLst>
                                          <p:attrName>style.visibility</p:attrName>
                                        </p:attrNameLst>
                                      </p:cBhvr>
                                      <p:to>
                                        <p:strVal val="visible"/>
                                      </p:to>
                                    </p:set>
                                    <p:animEffect transition="in" filter="fade">
                                      <p:cBhvr>
                                        <p:cTn id="64" dur="500"/>
                                        <p:tgtEl>
                                          <p:spTgt spid="6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86"/>
                                        </p:tgtEl>
                                        <p:attrNameLst>
                                          <p:attrName>style.visibility</p:attrName>
                                        </p:attrNameLst>
                                      </p:cBhvr>
                                      <p:to>
                                        <p:strVal val="visible"/>
                                      </p:to>
                                    </p:set>
                                    <p:animEffect transition="in" filter="fade">
                                      <p:cBhvr>
                                        <p:cTn id="69" dur="500"/>
                                        <p:tgtEl>
                                          <p:spTgt spid="8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75"/>
                                        </p:tgtEl>
                                        <p:attrNameLst>
                                          <p:attrName>style.visibility</p:attrName>
                                        </p:attrNameLst>
                                      </p:cBhvr>
                                      <p:to>
                                        <p:strVal val="visible"/>
                                      </p:to>
                                    </p:set>
                                    <p:animEffect transition="in" filter="fade">
                                      <p:cBhvr>
                                        <p:cTn id="74" dur="500"/>
                                        <p:tgtEl>
                                          <p:spTgt spid="75"/>
                                        </p:tgtEl>
                                      </p:cBhvr>
                                    </p:animEffect>
                                  </p:childTnLst>
                                </p:cTn>
                              </p:par>
                              <p:par>
                                <p:cTn id="75" presetID="10" presetClass="entr" presetSubtype="0" fill="hold" nodeType="withEffect">
                                  <p:stCondLst>
                                    <p:cond delay="0"/>
                                  </p:stCondLst>
                                  <p:childTnLst>
                                    <p:set>
                                      <p:cBhvr>
                                        <p:cTn id="76" dur="1" fill="hold">
                                          <p:stCondLst>
                                            <p:cond delay="0"/>
                                          </p:stCondLst>
                                        </p:cTn>
                                        <p:tgtEl>
                                          <p:spTgt spid="78"/>
                                        </p:tgtEl>
                                        <p:attrNameLst>
                                          <p:attrName>style.visibility</p:attrName>
                                        </p:attrNameLst>
                                      </p:cBhvr>
                                      <p:to>
                                        <p:strVal val="visible"/>
                                      </p:to>
                                    </p:set>
                                    <p:animEffect transition="in" filter="fade">
                                      <p:cBhvr>
                                        <p:cTn id="77" dur="500"/>
                                        <p:tgtEl>
                                          <p:spTgt spid="7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81"/>
                                        </p:tgtEl>
                                        <p:attrNameLst>
                                          <p:attrName>style.visibility</p:attrName>
                                        </p:attrNameLst>
                                      </p:cBhvr>
                                      <p:to>
                                        <p:strVal val="visible"/>
                                      </p:to>
                                    </p:set>
                                    <p:animEffect transition="in" filter="fade">
                                      <p:cBhvr>
                                        <p:cTn id="82"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296B5B-0A70-5100-5F9A-A3CB710CA3F4}"/>
              </a:ext>
            </a:extLst>
          </p:cNvPr>
          <p:cNvSpPr>
            <a:spLocks noGrp="1"/>
          </p:cNvSpPr>
          <p:nvPr>
            <p:ph type="title"/>
          </p:nvPr>
        </p:nvSpPr>
        <p:spPr/>
        <p:txBody>
          <a:bodyPr/>
          <a:lstStyle/>
          <a:p>
            <a:r>
              <a:rPr kumimoji="1" lang="en-US" altLang="ja-JP" dirty="0"/>
              <a:t>OMM</a:t>
            </a:r>
            <a:r>
              <a:rPr kumimoji="1" lang="ja-JP" altLang="en-US" dirty="0"/>
              <a:t>の拡張</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E12A405A-6A47-727A-6E43-9C14AC1D02D3}"/>
                  </a:ext>
                </a:extLst>
              </p:cNvPr>
              <p:cNvSpPr txBox="1"/>
              <p:nvPr/>
            </p:nvSpPr>
            <p:spPr>
              <a:xfrm>
                <a:off x="838200" y="2188287"/>
                <a:ext cx="10515600" cy="1261884"/>
              </a:xfrm>
              <a:prstGeom prst="rect">
                <a:avLst/>
              </a:prstGeom>
              <a:solidFill>
                <a:schemeClr val="accent4">
                  <a:lumMod val="20000"/>
                  <a:lumOff val="80000"/>
                </a:schemeClr>
              </a:solidFill>
            </p:spPr>
            <p:txBody>
              <a:bodyPr wrap="square" rtlCol="0">
                <a:spAutoFit/>
              </a:bodyPr>
              <a:lstStyle/>
              <a:p>
                <a:r>
                  <a:rPr kumimoji="1" lang="ja-JP" altLang="en-US" sz="2400" b="1" dirty="0"/>
                  <a:t>パラメータ変更</a:t>
                </a:r>
                <a:r>
                  <a:rPr lang="ja-JP" altLang="en-US" sz="2400" b="1" dirty="0"/>
                  <a:t>　</a:t>
                </a:r>
                <a:r>
                  <a:rPr lang="ja-JP" altLang="en-US" sz="2200" dirty="0"/>
                  <a:t>競合比をサーバ数 </a:t>
                </a:r>
                <a14:m>
                  <m:oMath xmlns:m="http://schemas.openxmlformats.org/officeDocument/2006/math">
                    <m:r>
                      <a:rPr lang="en-US" altLang="ja-JP" sz="2200" b="0" i="1" smtClean="0">
                        <a:latin typeface="Cambria Math" panose="02040503050406030204" pitchFamily="18" charset="0"/>
                      </a:rPr>
                      <m:t>𝑛</m:t>
                    </m:r>
                  </m:oMath>
                </a14:m>
                <a:r>
                  <a:rPr lang="ja-JP" altLang="en-US" sz="2200" dirty="0"/>
                  <a:t> だけでない</a:t>
                </a:r>
                <a:r>
                  <a:rPr kumimoji="1" lang="ja-JP" altLang="en-US" sz="2200" dirty="0"/>
                  <a:t>パラメータで表す</a:t>
                </a:r>
                <a:endParaRPr kumimoji="1" lang="en-US" altLang="ja-JP" sz="2200" dirty="0"/>
              </a:p>
              <a:p>
                <a:endParaRPr lang="en-US" altLang="ja-JP" sz="800" dirty="0"/>
              </a:p>
              <a:p>
                <a:pPr marL="342900" indent="-342900">
                  <a:buFont typeface="Wingdings" panose="05000000000000000000" pitchFamily="2" charset="2"/>
                  <a:buChar char="Ø"/>
                </a:pPr>
                <a:r>
                  <a:rPr lang="en-US" altLang="ja-JP" sz="2200" dirty="0"/>
                  <a:t>[Nayyar and Raghvendra, 2017] </a:t>
                </a:r>
                <a:r>
                  <a:rPr lang="ja-JP" altLang="en-US" sz="2200" dirty="0"/>
                  <a:t>による </a:t>
                </a:r>
                <a:r>
                  <a:rPr lang="en-US" altLang="ja-JP" sz="2200" dirty="0"/>
                  <a:t>Robust-Matching </a:t>
                </a:r>
                <a:r>
                  <a:rPr lang="ja-JP" altLang="en-US" sz="2200" dirty="0"/>
                  <a:t>アルゴリズムの研究</a:t>
                </a:r>
                <a:endParaRPr lang="en-US" altLang="ja-JP" sz="2200" dirty="0"/>
              </a:p>
              <a:p>
                <a:pPr marL="342900" indent="-342900">
                  <a:buFont typeface="Wingdings" panose="05000000000000000000" pitchFamily="2" charset="2"/>
                  <a:buChar char="Ø"/>
                </a:pPr>
                <a:r>
                  <a:rPr lang="ja-JP" altLang="en-US" sz="2200" dirty="0"/>
                  <a:t>オンライン輸送問題（容量付き</a:t>
                </a:r>
                <a:r>
                  <a:rPr lang="en-US" altLang="ja-JP" sz="2200" dirty="0"/>
                  <a:t>OMM</a:t>
                </a:r>
                <a:r>
                  <a:rPr lang="ja-JP" altLang="en-US" sz="2200" dirty="0"/>
                  <a:t>）</a:t>
                </a:r>
                <a:endParaRPr lang="en-US" altLang="ja-JP" sz="2200" dirty="0"/>
              </a:p>
            </p:txBody>
          </p:sp>
        </mc:Choice>
        <mc:Fallback xmlns="">
          <p:sp>
            <p:nvSpPr>
              <p:cNvPr id="4" name="テキスト ボックス 3">
                <a:extLst>
                  <a:ext uri="{FF2B5EF4-FFF2-40B4-BE49-F238E27FC236}">
                    <a16:creationId xmlns:a16="http://schemas.microsoft.com/office/drawing/2014/main" id="{E12A405A-6A47-727A-6E43-9C14AC1D02D3}"/>
                  </a:ext>
                </a:extLst>
              </p:cNvPr>
              <p:cNvSpPr txBox="1">
                <a:spLocks noRot="1" noChangeAspect="1" noMove="1" noResize="1" noEditPoints="1" noAdjustHandles="1" noChangeArrowheads="1" noChangeShapeType="1" noTextEdit="1"/>
              </p:cNvSpPr>
              <p:nvPr/>
            </p:nvSpPr>
            <p:spPr>
              <a:xfrm>
                <a:off x="838200" y="2188287"/>
                <a:ext cx="10515600" cy="1261884"/>
              </a:xfrm>
              <a:prstGeom prst="rect">
                <a:avLst/>
              </a:prstGeom>
              <a:blipFill>
                <a:blip r:embed="rId2"/>
                <a:stretch>
                  <a:fillRect l="-928" t="-3382" b="-9179"/>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E1B92494-592B-9C01-790E-0285CA09345A}"/>
              </a:ext>
            </a:extLst>
          </p:cNvPr>
          <p:cNvSpPr txBox="1"/>
          <p:nvPr/>
        </p:nvSpPr>
        <p:spPr>
          <a:xfrm>
            <a:off x="838200" y="3524806"/>
            <a:ext cx="10515600" cy="1138773"/>
          </a:xfrm>
          <a:prstGeom prst="rect">
            <a:avLst/>
          </a:prstGeom>
          <a:solidFill>
            <a:schemeClr val="accent4">
              <a:lumMod val="20000"/>
              <a:lumOff val="80000"/>
            </a:schemeClr>
          </a:solidFill>
        </p:spPr>
        <p:txBody>
          <a:bodyPr wrap="square" rtlCol="0">
            <a:spAutoFit/>
          </a:bodyPr>
          <a:lstStyle/>
          <a:p>
            <a:r>
              <a:rPr lang="ja-JP" altLang="en-US" sz="2400" b="1" dirty="0"/>
              <a:t>特殊な距離空間　</a:t>
            </a:r>
            <a:r>
              <a:rPr lang="ja-JP" altLang="en-US" sz="2200" dirty="0"/>
              <a:t>特殊な距離空間上で更に競合比を改善する</a:t>
            </a:r>
            <a:endParaRPr lang="en-US" altLang="ja-JP" sz="2200" dirty="0"/>
          </a:p>
          <a:p>
            <a:pPr marL="342900" indent="-342900">
              <a:buFont typeface="Wingdings" panose="05000000000000000000" pitchFamily="2" charset="2"/>
              <a:buChar char="Ø"/>
            </a:pPr>
            <a:r>
              <a:rPr lang="ja-JP" altLang="en-US" sz="2200" dirty="0"/>
              <a:t>直線</a:t>
            </a:r>
            <a:endParaRPr kumimoji="1" lang="en-US" altLang="ja-JP" sz="2200" dirty="0"/>
          </a:p>
          <a:p>
            <a:pPr marL="342900" indent="-342900">
              <a:buFont typeface="Wingdings" panose="05000000000000000000" pitchFamily="2" charset="2"/>
              <a:buChar char="Ø"/>
            </a:pPr>
            <a:r>
              <a:rPr kumimoji="1" lang="en-US" altLang="ja-JP" sz="2200" dirty="0"/>
              <a:t>Doubling Metric</a:t>
            </a:r>
          </a:p>
        </p:txBody>
      </p:sp>
      <p:sp>
        <p:nvSpPr>
          <p:cNvPr id="6" name="テキスト ボックス 5">
            <a:extLst>
              <a:ext uri="{FF2B5EF4-FFF2-40B4-BE49-F238E27FC236}">
                <a16:creationId xmlns:a16="http://schemas.microsoft.com/office/drawing/2014/main" id="{0FCEAFA2-1746-E336-EE27-61F806379AA8}"/>
              </a:ext>
            </a:extLst>
          </p:cNvPr>
          <p:cNvSpPr txBox="1"/>
          <p:nvPr/>
        </p:nvSpPr>
        <p:spPr>
          <a:xfrm>
            <a:off x="838200" y="4755912"/>
            <a:ext cx="10515600" cy="1600438"/>
          </a:xfrm>
          <a:prstGeom prst="rect">
            <a:avLst/>
          </a:prstGeom>
          <a:solidFill>
            <a:schemeClr val="accent4">
              <a:lumMod val="20000"/>
              <a:lumOff val="80000"/>
            </a:schemeClr>
          </a:solidFill>
        </p:spPr>
        <p:txBody>
          <a:bodyPr wrap="square" rtlCol="0">
            <a:spAutoFit/>
          </a:bodyPr>
          <a:lstStyle/>
          <a:p>
            <a:r>
              <a:rPr lang="ja-JP" altLang="en-US" sz="2400" b="1" dirty="0"/>
              <a:t>リクエスト生成法　</a:t>
            </a:r>
            <a:r>
              <a:rPr lang="ja-JP" altLang="en-US" sz="2200" dirty="0"/>
              <a:t>リクエストの生成法を変更する</a:t>
            </a:r>
            <a:endParaRPr lang="en-US" altLang="ja-JP" sz="2200" dirty="0"/>
          </a:p>
          <a:p>
            <a:endParaRPr lang="en-US" altLang="ja-JP" sz="800" dirty="0"/>
          </a:p>
          <a:p>
            <a:pPr marL="342900" indent="-342900">
              <a:buFont typeface="Wingdings" panose="05000000000000000000" pitchFamily="2" charset="2"/>
              <a:buChar char="Ø"/>
            </a:pPr>
            <a:r>
              <a:rPr lang="ja-JP" altLang="en-US" sz="2200" dirty="0"/>
              <a:t>既知の分布から </a:t>
            </a:r>
            <a:r>
              <a:rPr lang="en-US" altLang="ja-JP" sz="2200" dirty="0" err="1"/>
              <a:t>i.i.d.</a:t>
            </a:r>
            <a:r>
              <a:rPr lang="en-US" altLang="ja-JP" sz="2200" dirty="0"/>
              <a:t> </a:t>
            </a:r>
            <a:r>
              <a:rPr lang="ja-JP" altLang="en-US" sz="2200" dirty="0"/>
              <a:t>に生成（</a:t>
            </a:r>
            <a:r>
              <a:rPr lang="en-US" altLang="ja-JP" sz="2200" dirty="0"/>
              <a:t>Stochastic OMM</a:t>
            </a:r>
            <a:r>
              <a:rPr lang="ja-JP" altLang="en-US" sz="2200" dirty="0"/>
              <a:t>）</a:t>
            </a:r>
            <a:endParaRPr lang="en-US" altLang="ja-JP" sz="2200" dirty="0"/>
          </a:p>
          <a:p>
            <a:pPr marL="342900" indent="-342900">
              <a:buFont typeface="Wingdings" panose="05000000000000000000" pitchFamily="2" charset="2"/>
              <a:buChar char="Ø"/>
            </a:pPr>
            <a:r>
              <a:rPr lang="ja-JP" altLang="en-US" sz="2200" dirty="0"/>
              <a:t>ランダム到着モデル</a:t>
            </a:r>
            <a:endParaRPr kumimoji="1" lang="en-US" altLang="ja-JP" sz="2200" dirty="0"/>
          </a:p>
          <a:p>
            <a:pPr marL="342900" indent="-342900">
              <a:buFont typeface="Wingdings" panose="05000000000000000000" pitchFamily="2" charset="2"/>
              <a:buChar char="Ø"/>
            </a:pPr>
            <a:r>
              <a:rPr lang="ja-JP" altLang="en-US" sz="2200" dirty="0"/>
              <a:t>予測付きモデル</a:t>
            </a:r>
            <a:endParaRPr kumimoji="1" lang="en-US" altLang="ja-JP" sz="2200" dirty="0"/>
          </a:p>
        </p:txBody>
      </p:sp>
      <p:sp>
        <p:nvSpPr>
          <p:cNvPr id="3" name="スライド番号プレースホルダー 2">
            <a:extLst>
              <a:ext uri="{FF2B5EF4-FFF2-40B4-BE49-F238E27FC236}">
                <a16:creationId xmlns:a16="http://schemas.microsoft.com/office/drawing/2014/main" id="{EA1114C0-E9AA-3CFC-B4D1-0EB1B8826E2E}"/>
              </a:ext>
            </a:extLst>
          </p:cNvPr>
          <p:cNvSpPr>
            <a:spLocks noGrp="1"/>
          </p:cNvSpPr>
          <p:nvPr>
            <p:ph type="sldNum" sz="quarter" idx="12"/>
          </p:nvPr>
        </p:nvSpPr>
        <p:spPr/>
        <p:txBody>
          <a:bodyPr/>
          <a:lstStyle/>
          <a:p>
            <a:fld id="{4B077F3A-4098-4199-8925-77865D1E3500}" type="slidenum">
              <a:rPr kumimoji="1" lang="ja-JP" altLang="en-US" smtClean="0"/>
              <a:t>19</a:t>
            </a:fld>
            <a:endParaRPr kumimoji="1" lang="ja-JP" altLang="en-US"/>
          </a:p>
        </p:txBody>
      </p:sp>
      <p:sp>
        <p:nvSpPr>
          <p:cNvPr id="7" name="テキスト ボックス 6">
            <a:extLst>
              <a:ext uri="{FF2B5EF4-FFF2-40B4-BE49-F238E27FC236}">
                <a16:creationId xmlns:a16="http://schemas.microsoft.com/office/drawing/2014/main" id="{4093BA27-AAB9-B718-805A-E368682D425D}"/>
              </a:ext>
            </a:extLst>
          </p:cNvPr>
          <p:cNvSpPr txBox="1"/>
          <p:nvPr/>
        </p:nvSpPr>
        <p:spPr>
          <a:xfrm>
            <a:off x="838200" y="1647369"/>
            <a:ext cx="10515600" cy="461665"/>
          </a:xfrm>
          <a:prstGeom prst="rect">
            <a:avLst/>
          </a:prstGeom>
          <a:solidFill>
            <a:schemeClr val="accent4">
              <a:lumMod val="20000"/>
              <a:lumOff val="80000"/>
            </a:schemeClr>
          </a:solidFill>
        </p:spPr>
        <p:txBody>
          <a:bodyPr wrap="square" rtlCol="0">
            <a:spAutoFit/>
          </a:bodyPr>
          <a:lstStyle/>
          <a:p>
            <a:r>
              <a:rPr lang="ja-JP" altLang="en-US" sz="2400" b="1" dirty="0"/>
              <a:t>乱択アルゴリズム　</a:t>
            </a:r>
            <a:r>
              <a:rPr lang="ja-JP" altLang="en-US" sz="2200" dirty="0"/>
              <a:t>乱数を用い，最悪時ではなく平均的な競合比で評価する</a:t>
            </a:r>
            <a:endParaRPr lang="en-US" altLang="ja-JP" sz="2200" dirty="0"/>
          </a:p>
        </p:txBody>
      </p:sp>
    </p:spTree>
    <p:extLst>
      <p:ext uri="{BB962C8B-B14F-4D97-AF65-F5344CB8AC3E}">
        <p14:creationId xmlns:p14="http://schemas.microsoft.com/office/powerpoint/2010/main" val="1792094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ED6FD-BAC0-F11E-7AFF-EEF6D9C773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8869B9-88E0-F290-3297-43CD1A14978D}"/>
              </a:ext>
            </a:extLst>
          </p:cNvPr>
          <p:cNvSpPr>
            <a:spLocks noGrp="1"/>
          </p:cNvSpPr>
          <p:nvPr>
            <p:ph type="title"/>
          </p:nvPr>
        </p:nvSpPr>
        <p:spPr/>
        <p:txBody>
          <a:bodyPr/>
          <a:lstStyle/>
          <a:p>
            <a:r>
              <a:rPr kumimoji="1" lang="en-US" altLang="ja-JP" dirty="0"/>
              <a:t>OMM</a:t>
            </a:r>
            <a:r>
              <a:rPr kumimoji="1" lang="ja-JP" altLang="en-US" dirty="0"/>
              <a:t>の拡張</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B81D1A91-D1FA-790F-4360-F9DDC5D1113A}"/>
                  </a:ext>
                </a:extLst>
              </p:cNvPr>
              <p:cNvSpPr txBox="1"/>
              <p:nvPr/>
            </p:nvSpPr>
            <p:spPr>
              <a:xfrm>
                <a:off x="838200" y="2188287"/>
                <a:ext cx="10515600" cy="1261884"/>
              </a:xfrm>
              <a:prstGeom prst="rect">
                <a:avLst/>
              </a:prstGeom>
              <a:solidFill>
                <a:schemeClr val="accent4">
                  <a:lumMod val="20000"/>
                  <a:lumOff val="80000"/>
                </a:schemeClr>
              </a:solidFill>
            </p:spPr>
            <p:txBody>
              <a:bodyPr wrap="square" rtlCol="0">
                <a:spAutoFit/>
              </a:bodyPr>
              <a:lstStyle/>
              <a:p>
                <a:r>
                  <a:rPr kumimoji="1" lang="ja-JP" altLang="en-US" sz="2400" b="1" dirty="0">
                    <a:solidFill>
                      <a:schemeClr val="tx1">
                        <a:alpha val="30000"/>
                      </a:schemeClr>
                    </a:solidFill>
                  </a:rPr>
                  <a:t>パラメータ変更</a:t>
                </a:r>
                <a:r>
                  <a:rPr lang="ja-JP" altLang="en-US" sz="2400" b="1" dirty="0">
                    <a:solidFill>
                      <a:schemeClr val="tx1">
                        <a:alpha val="30000"/>
                      </a:schemeClr>
                    </a:solidFill>
                  </a:rPr>
                  <a:t>　</a:t>
                </a:r>
                <a:r>
                  <a:rPr lang="ja-JP" altLang="en-US" sz="2200" dirty="0">
                    <a:solidFill>
                      <a:schemeClr val="tx1">
                        <a:alpha val="30000"/>
                      </a:schemeClr>
                    </a:solidFill>
                  </a:rPr>
                  <a:t>競合比をサーバ数 </a:t>
                </a:r>
                <a14:m>
                  <m:oMath xmlns:m="http://schemas.openxmlformats.org/officeDocument/2006/math">
                    <m:r>
                      <a:rPr lang="en-US" altLang="ja-JP" sz="2200" b="0" i="1" smtClean="0">
                        <a:solidFill>
                          <a:schemeClr val="tx1">
                            <a:alpha val="30000"/>
                          </a:schemeClr>
                        </a:solidFill>
                        <a:latin typeface="Cambria Math" panose="02040503050406030204" pitchFamily="18" charset="0"/>
                      </a:rPr>
                      <m:t>𝑛</m:t>
                    </m:r>
                  </m:oMath>
                </a14:m>
                <a:r>
                  <a:rPr lang="ja-JP" altLang="en-US" sz="2200" dirty="0">
                    <a:solidFill>
                      <a:schemeClr val="tx1">
                        <a:alpha val="30000"/>
                      </a:schemeClr>
                    </a:solidFill>
                  </a:rPr>
                  <a:t> だけでない</a:t>
                </a:r>
                <a:r>
                  <a:rPr kumimoji="1" lang="ja-JP" altLang="en-US" sz="2200" dirty="0">
                    <a:solidFill>
                      <a:schemeClr val="tx1">
                        <a:alpha val="30000"/>
                      </a:schemeClr>
                    </a:solidFill>
                  </a:rPr>
                  <a:t>パラメータで表す</a:t>
                </a:r>
                <a:endParaRPr kumimoji="1" lang="en-US" altLang="ja-JP" sz="2200" dirty="0">
                  <a:solidFill>
                    <a:schemeClr val="tx1">
                      <a:alpha val="30000"/>
                    </a:schemeClr>
                  </a:solidFill>
                </a:endParaRPr>
              </a:p>
              <a:p>
                <a:endParaRPr lang="en-US" altLang="ja-JP" sz="800" dirty="0">
                  <a:solidFill>
                    <a:schemeClr val="tx1">
                      <a:alpha val="30000"/>
                    </a:schemeClr>
                  </a:solidFill>
                </a:endParaRPr>
              </a:p>
              <a:p>
                <a:pPr marL="342900" indent="-342900">
                  <a:buFont typeface="Wingdings" panose="05000000000000000000" pitchFamily="2" charset="2"/>
                  <a:buChar char="Ø"/>
                </a:pPr>
                <a:r>
                  <a:rPr lang="en-US" altLang="ja-JP" sz="2200" dirty="0">
                    <a:solidFill>
                      <a:schemeClr val="tx1">
                        <a:alpha val="30000"/>
                      </a:schemeClr>
                    </a:solidFill>
                  </a:rPr>
                  <a:t>[Nayyar and Raghvendra, 2017] </a:t>
                </a:r>
                <a:r>
                  <a:rPr lang="ja-JP" altLang="en-US" sz="2200" dirty="0">
                    <a:solidFill>
                      <a:schemeClr val="tx1">
                        <a:alpha val="30000"/>
                      </a:schemeClr>
                    </a:solidFill>
                  </a:rPr>
                  <a:t>による </a:t>
                </a:r>
                <a:r>
                  <a:rPr lang="en-US" altLang="ja-JP" sz="2200" dirty="0">
                    <a:solidFill>
                      <a:schemeClr val="tx1">
                        <a:alpha val="30000"/>
                      </a:schemeClr>
                    </a:solidFill>
                  </a:rPr>
                  <a:t>Robust-Matching </a:t>
                </a:r>
                <a:r>
                  <a:rPr lang="ja-JP" altLang="en-US" sz="2200" dirty="0">
                    <a:solidFill>
                      <a:schemeClr val="tx1">
                        <a:alpha val="30000"/>
                      </a:schemeClr>
                    </a:solidFill>
                  </a:rPr>
                  <a:t>アルゴリズムの研究</a:t>
                </a:r>
                <a:endParaRPr lang="en-US" altLang="ja-JP" sz="2200" dirty="0">
                  <a:solidFill>
                    <a:schemeClr val="tx1">
                      <a:alpha val="30000"/>
                    </a:schemeClr>
                  </a:solidFill>
                </a:endParaRPr>
              </a:p>
              <a:p>
                <a:pPr marL="342900" indent="-342900">
                  <a:buFont typeface="Wingdings" panose="05000000000000000000" pitchFamily="2" charset="2"/>
                  <a:buChar char="Ø"/>
                </a:pPr>
                <a:r>
                  <a:rPr lang="ja-JP" altLang="en-US" sz="2200" b="1" dirty="0"/>
                  <a:t>オンライン輸送問題（容量付き</a:t>
                </a:r>
                <a:r>
                  <a:rPr lang="en-US" altLang="ja-JP" sz="2200" b="1" dirty="0"/>
                  <a:t>OMM</a:t>
                </a:r>
                <a:r>
                  <a:rPr lang="ja-JP" altLang="en-US" sz="2200" b="1" dirty="0"/>
                  <a:t>）</a:t>
                </a:r>
                <a:endParaRPr lang="en-US" altLang="ja-JP" sz="2200" b="1" dirty="0"/>
              </a:p>
            </p:txBody>
          </p:sp>
        </mc:Choice>
        <mc:Fallback xmlns="">
          <p:sp>
            <p:nvSpPr>
              <p:cNvPr id="4" name="テキスト ボックス 3">
                <a:extLst>
                  <a:ext uri="{FF2B5EF4-FFF2-40B4-BE49-F238E27FC236}">
                    <a16:creationId xmlns:a16="http://schemas.microsoft.com/office/drawing/2014/main" id="{B81D1A91-D1FA-790F-4360-F9DDC5D1113A}"/>
                  </a:ext>
                </a:extLst>
              </p:cNvPr>
              <p:cNvSpPr txBox="1">
                <a:spLocks noRot="1" noChangeAspect="1" noMove="1" noResize="1" noEditPoints="1" noAdjustHandles="1" noChangeArrowheads="1" noChangeShapeType="1" noTextEdit="1"/>
              </p:cNvSpPr>
              <p:nvPr/>
            </p:nvSpPr>
            <p:spPr>
              <a:xfrm>
                <a:off x="838200" y="2188287"/>
                <a:ext cx="10515600" cy="1261884"/>
              </a:xfrm>
              <a:prstGeom prst="rect">
                <a:avLst/>
              </a:prstGeom>
              <a:blipFill>
                <a:blip r:embed="rId2"/>
                <a:stretch>
                  <a:fillRect l="-928" t="-3382" b="-9179"/>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B29FF56C-97F5-4C76-B256-8D32E6D44F20}"/>
              </a:ext>
            </a:extLst>
          </p:cNvPr>
          <p:cNvSpPr txBox="1"/>
          <p:nvPr/>
        </p:nvSpPr>
        <p:spPr>
          <a:xfrm>
            <a:off x="838200" y="3524806"/>
            <a:ext cx="10515600" cy="1138773"/>
          </a:xfrm>
          <a:prstGeom prst="rect">
            <a:avLst/>
          </a:prstGeom>
          <a:solidFill>
            <a:schemeClr val="accent4">
              <a:lumMod val="20000"/>
              <a:lumOff val="80000"/>
            </a:schemeClr>
          </a:solidFill>
        </p:spPr>
        <p:txBody>
          <a:bodyPr wrap="square" rtlCol="0">
            <a:spAutoFit/>
          </a:bodyPr>
          <a:lstStyle/>
          <a:p>
            <a:r>
              <a:rPr lang="ja-JP" altLang="en-US" sz="2400" b="1" dirty="0">
                <a:solidFill>
                  <a:schemeClr val="tx1">
                    <a:alpha val="30000"/>
                  </a:schemeClr>
                </a:solidFill>
              </a:rPr>
              <a:t>特殊な距離空間　</a:t>
            </a:r>
            <a:r>
              <a:rPr lang="ja-JP" altLang="en-US" sz="2200" dirty="0">
                <a:solidFill>
                  <a:schemeClr val="tx1">
                    <a:alpha val="30000"/>
                  </a:schemeClr>
                </a:solidFill>
              </a:rPr>
              <a:t>特殊な距離空間上で更に競合比を改善する</a:t>
            </a:r>
            <a:endParaRPr lang="en-US" altLang="ja-JP" sz="2200" dirty="0">
              <a:solidFill>
                <a:schemeClr val="tx1">
                  <a:alpha val="30000"/>
                </a:schemeClr>
              </a:solidFill>
            </a:endParaRPr>
          </a:p>
          <a:p>
            <a:pPr marL="342900" indent="-342900">
              <a:buFont typeface="Wingdings" panose="05000000000000000000" pitchFamily="2" charset="2"/>
              <a:buChar char="Ø"/>
            </a:pPr>
            <a:r>
              <a:rPr lang="ja-JP" altLang="en-US" sz="2200" dirty="0">
                <a:solidFill>
                  <a:schemeClr val="tx1">
                    <a:alpha val="30000"/>
                  </a:schemeClr>
                </a:solidFill>
              </a:rPr>
              <a:t>直線</a:t>
            </a:r>
            <a:endParaRPr kumimoji="1" lang="en-US" altLang="ja-JP" sz="2200" dirty="0">
              <a:solidFill>
                <a:schemeClr val="tx1">
                  <a:alpha val="30000"/>
                </a:schemeClr>
              </a:solidFill>
            </a:endParaRPr>
          </a:p>
          <a:p>
            <a:pPr marL="342900" indent="-342900">
              <a:buFont typeface="Wingdings" panose="05000000000000000000" pitchFamily="2" charset="2"/>
              <a:buChar char="Ø"/>
            </a:pPr>
            <a:r>
              <a:rPr kumimoji="1" lang="en-US" altLang="ja-JP" sz="2200" dirty="0">
                <a:solidFill>
                  <a:schemeClr val="tx1">
                    <a:alpha val="30000"/>
                  </a:schemeClr>
                </a:solidFill>
              </a:rPr>
              <a:t>Doubling Metric</a:t>
            </a:r>
          </a:p>
        </p:txBody>
      </p:sp>
      <p:sp>
        <p:nvSpPr>
          <p:cNvPr id="6" name="テキスト ボックス 5">
            <a:extLst>
              <a:ext uri="{FF2B5EF4-FFF2-40B4-BE49-F238E27FC236}">
                <a16:creationId xmlns:a16="http://schemas.microsoft.com/office/drawing/2014/main" id="{B3A5AB18-66BE-5FFA-CE8F-5EAD4F97FD9C}"/>
              </a:ext>
            </a:extLst>
          </p:cNvPr>
          <p:cNvSpPr txBox="1"/>
          <p:nvPr/>
        </p:nvSpPr>
        <p:spPr>
          <a:xfrm>
            <a:off x="838200" y="4755912"/>
            <a:ext cx="10515600" cy="1600438"/>
          </a:xfrm>
          <a:prstGeom prst="rect">
            <a:avLst/>
          </a:prstGeom>
          <a:solidFill>
            <a:schemeClr val="accent4">
              <a:lumMod val="20000"/>
              <a:lumOff val="80000"/>
            </a:schemeClr>
          </a:solidFill>
        </p:spPr>
        <p:txBody>
          <a:bodyPr wrap="square" rtlCol="0">
            <a:spAutoFit/>
          </a:bodyPr>
          <a:lstStyle/>
          <a:p>
            <a:r>
              <a:rPr lang="ja-JP" altLang="en-US" sz="2400" b="1" dirty="0">
                <a:solidFill>
                  <a:schemeClr val="tx1">
                    <a:alpha val="30000"/>
                  </a:schemeClr>
                </a:solidFill>
              </a:rPr>
              <a:t>リクエスト生成法　</a:t>
            </a:r>
            <a:r>
              <a:rPr lang="ja-JP" altLang="en-US" sz="2200" dirty="0">
                <a:solidFill>
                  <a:schemeClr val="tx1">
                    <a:alpha val="30000"/>
                  </a:schemeClr>
                </a:solidFill>
              </a:rPr>
              <a:t>リクエストの生成法を変更する</a:t>
            </a:r>
            <a:endParaRPr lang="en-US" altLang="ja-JP" sz="2200" dirty="0">
              <a:solidFill>
                <a:schemeClr val="tx1">
                  <a:alpha val="30000"/>
                </a:schemeClr>
              </a:solidFill>
            </a:endParaRPr>
          </a:p>
          <a:p>
            <a:endParaRPr lang="en-US" altLang="ja-JP" sz="800" dirty="0">
              <a:solidFill>
                <a:schemeClr val="tx1">
                  <a:alpha val="30000"/>
                </a:schemeClr>
              </a:solidFill>
            </a:endParaRPr>
          </a:p>
          <a:p>
            <a:pPr marL="342900" indent="-342900">
              <a:buFont typeface="Wingdings" panose="05000000000000000000" pitchFamily="2" charset="2"/>
              <a:buChar char="Ø"/>
            </a:pPr>
            <a:r>
              <a:rPr lang="ja-JP" altLang="en-US" sz="2200" dirty="0">
                <a:solidFill>
                  <a:schemeClr val="tx1">
                    <a:alpha val="30000"/>
                  </a:schemeClr>
                </a:solidFill>
              </a:rPr>
              <a:t>既知の分布から </a:t>
            </a:r>
            <a:r>
              <a:rPr lang="en-US" altLang="ja-JP" sz="2200" dirty="0" err="1">
                <a:solidFill>
                  <a:schemeClr val="tx1">
                    <a:alpha val="30000"/>
                  </a:schemeClr>
                </a:solidFill>
              </a:rPr>
              <a:t>i.i.d.</a:t>
            </a:r>
            <a:r>
              <a:rPr lang="en-US" altLang="ja-JP" sz="2200" dirty="0">
                <a:solidFill>
                  <a:schemeClr val="tx1">
                    <a:alpha val="30000"/>
                  </a:schemeClr>
                </a:solidFill>
              </a:rPr>
              <a:t> </a:t>
            </a:r>
            <a:r>
              <a:rPr lang="ja-JP" altLang="en-US" sz="2200" dirty="0">
                <a:solidFill>
                  <a:schemeClr val="tx1">
                    <a:alpha val="30000"/>
                  </a:schemeClr>
                </a:solidFill>
              </a:rPr>
              <a:t>に生成（</a:t>
            </a:r>
            <a:r>
              <a:rPr lang="en-US" altLang="ja-JP" sz="2200" dirty="0">
                <a:solidFill>
                  <a:schemeClr val="tx1">
                    <a:alpha val="30000"/>
                  </a:schemeClr>
                </a:solidFill>
              </a:rPr>
              <a:t>Stochastic OMM</a:t>
            </a:r>
            <a:r>
              <a:rPr lang="ja-JP" altLang="en-US" sz="2200" dirty="0">
                <a:solidFill>
                  <a:schemeClr val="tx1">
                    <a:alpha val="30000"/>
                  </a:schemeClr>
                </a:solidFill>
              </a:rPr>
              <a:t>）</a:t>
            </a:r>
            <a:endParaRPr lang="en-US" altLang="ja-JP" sz="2200" dirty="0">
              <a:solidFill>
                <a:schemeClr val="tx1">
                  <a:alpha val="30000"/>
                </a:schemeClr>
              </a:solidFill>
            </a:endParaRPr>
          </a:p>
          <a:p>
            <a:pPr marL="342900" indent="-342900">
              <a:buFont typeface="Wingdings" panose="05000000000000000000" pitchFamily="2" charset="2"/>
              <a:buChar char="Ø"/>
            </a:pPr>
            <a:r>
              <a:rPr lang="ja-JP" altLang="en-US" sz="2200" dirty="0">
                <a:solidFill>
                  <a:schemeClr val="tx1">
                    <a:alpha val="30000"/>
                  </a:schemeClr>
                </a:solidFill>
              </a:rPr>
              <a:t>ランダム到着モデル</a:t>
            </a:r>
            <a:endParaRPr kumimoji="1" lang="en-US" altLang="ja-JP" sz="2200" dirty="0">
              <a:solidFill>
                <a:schemeClr val="tx1">
                  <a:alpha val="30000"/>
                </a:schemeClr>
              </a:solidFill>
            </a:endParaRPr>
          </a:p>
          <a:p>
            <a:pPr marL="342900" indent="-342900">
              <a:buFont typeface="Wingdings" panose="05000000000000000000" pitchFamily="2" charset="2"/>
              <a:buChar char="Ø"/>
            </a:pPr>
            <a:r>
              <a:rPr lang="ja-JP" altLang="en-US" sz="2200" dirty="0">
                <a:solidFill>
                  <a:schemeClr val="tx1">
                    <a:alpha val="30000"/>
                  </a:schemeClr>
                </a:solidFill>
              </a:rPr>
              <a:t>予測付きモデル</a:t>
            </a:r>
            <a:endParaRPr kumimoji="1" lang="en-US" altLang="ja-JP" sz="2200" dirty="0">
              <a:solidFill>
                <a:schemeClr val="tx1">
                  <a:alpha val="30000"/>
                </a:schemeClr>
              </a:solidFill>
            </a:endParaRPr>
          </a:p>
        </p:txBody>
      </p:sp>
      <p:sp>
        <p:nvSpPr>
          <p:cNvPr id="3" name="スライド番号プレースホルダー 2">
            <a:extLst>
              <a:ext uri="{FF2B5EF4-FFF2-40B4-BE49-F238E27FC236}">
                <a16:creationId xmlns:a16="http://schemas.microsoft.com/office/drawing/2014/main" id="{59C2173F-26BF-0E6D-9A40-E1739A26E12D}"/>
              </a:ext>
            </a:extLst>
          </p:cNvPr>
          <p:cNvSpPr>
            <a:spLocks noGrp="1"/>
          </p:cNvSpPr>
          <p:nvPr>
            <p:ph type="sldNum" sz="quarter" idx="12"/>
          </p:nvPr>
        </p:nvSpPr>
        <p:spPr/>
        <p:txBody>
          <a:bodyPr/>
          <a:lstStyle/>
          <a:p>
            <a:fld id="{4B077F3A-4098-4199-8925-77865D1E3500}" type="slidenum">
              <a:rPr kumimoji="1" lang="ja-JP" altLang="en-US" smtClean="0"/>
              <a:t>20</a:t>
            </a:fld>
            <a:endParaRPr kumimoji="1" lang="ja-JP" altLang="en-US"/>
          </a:p>
        </p:txBody>
      </p:sp>
      <p:sp>
        <p:nvSpPr>
          <p:cNvPr id="7" name="テキスト ボックス 6">
            <a:extLst>
              <a:ext uri="{FF2B5EF4-FFF2-40B4-BE49-F238E27FC236}">
                <a16:creationId xmlns:a16="http://schemas.microsoft.com/office/drawing/2014/main" id="{6C67441E-810A-5E14-2A72-3F565170BCD8}"/>
              </a:ext>
            </a:extLst>
          </p:cNvPr>
          <p:cNvSpPr txBox="1"/>
          <p:nvPr/>
        </p:nvSpPr>
        <p:spPr>
          <a:xfrm>
            <a:off x="838200" y="1647369"/>
            <a:ext cx="10515600" cy="461665"/>
          </a:xfrm>
          <a:prstGeom prst="rect">
            <a:avLst/>
          </a:prstGeom>
          <a:solidFill>
            <a:schemeClr val="accent4">
              <a:lumMod val="20000"/>
              <a:lumOff val="80000"/>
            </a:schemeClr>
          </a:solidFill>
        </p:spPr>
        <p:txBody>
          <a:bodyPr wrap="square" rtlCol="0">
            <a:spAutoFit/>
          </a:bodyPr>
          <a:lstStyle/>
          <a:p>
            <a:r>
              <a:rPr lang="ja-JP" altLang="en-US" sz="2400" b="1" dirty="0">
                <a:solidFill>
                  <a:schemeClr val="tx1">
                    <a:alpha val="30000"/>
                  </a:schemeClr>
                </a:solidFill>
              </a:rPr>
              <a:t>乱択アルゴリズム　</a:t>
            </a:r>
            <a:r>
              <a:rPr lang="ja-JP" altLang="en-US" sz="2200" dirty="0">
                <a:solidFill>
                  <a:schemeClr val="tx1">
                    <a:alpha val="30000"/>
                  </a:schemeClr>
                </a:solidFill>
              </a:rPr>
              <a:t>乱数を用い，最悪時ではなく平均的な競合比で評価する</a:t>
            </a:r>
            <a:endParaRPr lang="en-US" altLang="ja-JP" sz="2200" dirty="0">
              <a:solidFill>
                <a:schemeClr val="tx1">
                  <a:alpha val="30000"/>
                </a:schemeClr>
              </a:solidFill>
            </a:endParaRPr>
          </a:p>
        </p:txBody>
      </p:sp>
    </p:spTree>
    <p:extLst>
      <p:ext uri="{BB962C8B-B14F-4D97-AF65-F5344CB8AC3E}">
        <p14:creationId xmlns:p14="http://schemas.microsoft.com/office/powerpoint/2010/main" val="2523421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E81D00-AF2D-CE63-A5F5-3A21F84AC665}"/>
              </a:ext>
            </a:extLst>
          </p:cNvPr>
          <p:cNvSpPr>
            <a:spLocks noGrp="1"/>
          </p:cNvSpPr>
          <p:nvPr>
            <p:ph type="title"/>
          </p:nvPr>
        </p:nvSpPr>
        <p:spPr/>
        <p:txBody>
          <a:bodyPr/>
          <a:lstStyle/>
          <a:p>
            <a:r>
              <a:rPr kumimoji="1" lang="ja-JP" altLang="en-US" dirty="0"/>
              <a:t>オンライン輸送問題（容量付き</a:t>
            </a:r>
            <a:r>
              <a:rPr kumimoji="1" lang="en-US" altLang="ja-JP" dirty="0"/>
              <a:t>OMM</a:t>
            </a:r>
            <a:r>
              <a:rPr kumimoji="1" lang="ja-JP" altLang="en-US" dirty="0"/>
              <a:t>）</a:t>
            </a:r>
            <a:endParaRPr kumimoji="1" lang="ja-JP" altLang="en-US" sz="24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62A9034-D53D-2186-C6DD-CA54036D3EAA}"/>
                  </a:ext>
                </a:extLst>
              </p:cNvPr>
              <p:cNvSpPr>
                <a:spLocks noGrp="1"/>
              </p:cNvSpPr>
              <p:nvPr>
                <p:ph idx="1"/>
              </p:nvPr>
            </p:nvSpPr>
            <p:spPr>
              <a:xfrm>
                <a:off x="838200" y="1825625"/>
                <a:ext cx="10515600" cy="1728280"/>
              </a:xfrm>
              <a:solidFill>
                <a:schemeClr val="accent1">
                  <a:lumMod val="20000"/>
                  <a:lumOff val="80000"/>
                </a:schemeClr>
              </a:solidFill>
            </p:spPr>
            <p:txBody>
              <a:bodyPr anchor="ctr">
                <a:normAutofit/>
              </a:bodyPr>
              <a:lstStyle/>
              <a:p>
                <a:pPr marL="0" indent="0">
                  <a:buNone/>
                </a:pPr>
                <a:r>
                  <a:rPr kumimoji="1" lang="ja-JP" altLang="en-US" b="1" dirty="0"/>
                  <a:t>オンライン輸送問題</a:t>
                </a:r>
                <a:r>
                  <a:rPr kumimoji="1" lang="ja-JP" altLang="en-US" dirty="0"/>
                  <a:t>（</a:t>
                </a:r>
                <a:r>
                  <a:rPr kumimoji="1" lang="en-US" altLang="ja-JP" dirty="0"/>
                  <a:t>Online Transportation, </a:t>
                </a:r>
                <a:r>
                  <a:rPr kumimoji="1" lang="en-US" altLang="ja-JP" sz="1800" dirty="0"/>
                  <a:t>Online Metric b-Matching, etc.</a:t>
                </a:r>
                <a:r>
                  <a:rPr kumimoji="1" lang="ja-JP" altLang="en-US" dirty="0"/>
                  <a:t>）</a:t>
                </a:r>
                <a:endParaRPr kumimoji="1" lang="en-US" altLang="ja-JP" dirty="0"/>
              </a:p>
              <a:p>
                <a:pPr marL="0" indent="0">
                  <a:buNone/>
                </a:pPr>
                <a:endParaRPr lang="en-US" altLang="ja-JP" sz="800" dirty="0"/>
              </a:p>
              <a:p>
                <a:pPr marL="0" indent="0">
                  <a:buNone/>
                </a:pPr>
                <a:r>
                  <a:rPr kumimoji="1" lang="ja-JP" altLang="en-US" sz="2400" dirty="0"/>
                  <a:t>サーバ</a:t>
                </a:r>
                <a:r>
                  <a:rPr lang="ja-JP" altLang="en-US" sz="2400" dirty="0"/>
                  <a:t>が距離空間上の </a:t>
                </a:r>
                <a14:m>
                  <m:oMath xmlns:m="http://schemas.openxmlformats.org/officeDocument/2006/math">
                    <m:r>
                      <a:rPr lang="en-US" altLang="ja-JP" sz="2400" b="0" i="1" smtClean="0">
                        <a:latin typeface="Cambria Math" panose="02040503050406030204" pitchFamily="18" charset="0"/>
                      </a:rPr>
                      <m:t>𝑚</m:t>
                    </m:r>
                  </m:oMath>
                </a14:m>
                <a:r>
                  <a:rPr kumimoji="1" lang="ja-JP" altLang="en-US" sz="2400" dirty="0"/>
                  <a:t> 箇所に配置され，各サーバ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𝑖</m:t>
                        </m:r>
                      </m:sub>
                    </m:sSub>
                  </m:oMath>
                </a14:m>
                <a:r>
                  <a:rPr kumimoji="1" lang="ja-JP" altLang="en-US" sz="2400" dirty="0"/>
                  <a:t> は</a:t>
                </a:r>
                <a:r>
                  <a:rPr kumimoji="1" lang="ja-JP" altLang="en-US" sz="2400" b="1" dirty="0"/>
                  <a:t>容量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𝒄</m:t>
                        </m:r>
                      </m:e>
                      <m:sub>
                        <m:r>
                          <a:rPr kumimoji="1" lang="en-US" altLang="ja-JP" sz="2400" b="1" i="1" smtClean="0">
                            <a:latin typeface="Cambria Math" panose="02040503050406030204" pitchFamily="18" charset="0"/>
                          </a:rPr>
                          <m:t>𝒊</m:t>
                        </m:r>
                      </m:sub>
                    </m:sSub>
                  </m:oMath>
                </a14:m>
                <a:r>
                  <a:rPr kumimoji="1" lang="ja-JP" altLang="en-US" sz="2400" dirty="0"/>
                  <a:t> を持つ</a:t>
                </a:r>
                <a:endParaRPr kumimoji="1" lang="en-US" altLang="ja-JP" sz="2400" dirty="0"/>
              </a:p>
              <a:p>
                <a:pPr marL="0" indent="0">
                  <a:buNone/>
                </a:pPr>
                <a:r>
                  <a:rPr kumimoji="1" lang="en-US" altLang="ja-JP" sz="2400" dirty="0"/>
                  <a:t>1</a:t>
                </a:r>
                <a:r>
                  <a:rPr kumimoji="1" lang="ja-JP" altLang="en-US" sz="2400" dirty="0"/>
                  <a:t>つのサーバに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𝑐</m:t>
                        </m:r>
                      </m:e>
                      <m:sub>
                        <m:r>
                          <a:rPr kumimoji="1" lang="en-US" altLang="ja-JP" sz="2400" b="0" i="1" smtClean="0">
                            <a:latin typeface="Cambria Math" panose="02040503050406030204" pitchFamily="18" charset="0"/>
                          </a:rPr>
                          <m:t>𝑖</m:t>
                        </m:r>
                      </m:sub>
                    </m:sSub>
                  </m:oMath>
                </a14:m>
                <a:r>
                  <a:rPr kumimoji="1" lang="ja-JP" altLang="en-US" sz="2400" dirty="0"/>
                  <a:t> 個までのリクエストを割り当て</a:t>
                </a:r>
                <a:r>
                  <a:rPr lang="ja-JP" altLang="en-US" sz="2400" dirty="0"/>
                  <a:t>可能</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562A9034-D53D-2186-C6DD-CA54036D3EAA}"/>
                  </a:ext>
                </a:extLst>
              </p:cNvPr>
              <p:cNvSpPr>
                <a:spLocks noGrp="1" noRot="1" noChangeAspect="1" noMove="1" noResize="1" noEditPoints="1" noAdjustHandles="1" noChangeArrowheads="1" noChangeShapeType="1" noTextEdit="1"/>
              </p:cNvSpPr>
              <p:nvPr>
                <p:ph idx="1"/>
              </p:nvPr>
            </p:nvSpPr>
            <p:spPr>
              <a:xfrm>
                <a:off x="838200" y="1825625"/>
                <a:ext cx="10515600" cy="1728280"/>
              </a:xfrm>
              <a:blipFill>
                <a:blip r:embed="rId2"/>
                <a:stretch>
                  <a:fillRect l="-1217" t="-3521" b="-5986"/>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BA4C458B-3716-6775-98E7-9D1277E508DA}"/>
              </a:ext>
            </a:extLst>
          </p:cNvPr>
          <p:cNvSpPr>
            <a:spLocks noGrp="1"/>
          </p:cNvSpPr>
          <p:nvPr>
            <p:ph type="sldNum" sz="quarter" idx="12"/>
          </p:nvPr>
        </p:nvSpPr>
        <p:spPr/>
        <p:txBody>
          <a:bodyPr/>
          <a:lstStyle/>
          <a:p>
            <a:fld id="{4B077F3A-4098-4199-8925-77865D1E3500}" type="slidenum">
              <a:rPr kumimoji="1" lang="ja-JP" altLang="en-US" smtClean="0"/>
              <a:t>21</a:t>
            </a:fld>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2FF5D930-A69B-A7D2-12FC-12F8C1D274BA}"/>
                  </a:ext>
                </a:extLst>
              </p:cNvPr>
              <p:cNvSpPr txBox="1"/>
              <p:nvPr/>
            </p:nvSpPr>
            <p:spPr>
              <a:xfrm>
                <a:off x="838200" y="3836709"/>
                <a:ext cx="10515600" cy="2587888"/>
              </a:xfrm>
              <a:prstGeom prst="rect">
                <a:avLst/>
              </a:prstGeom>
              <a:noFill/>
            </p:spPr>
            <p:txBody>
              <a:bodyPr wrap="square" rtlCol="0">
                <a:spAutoFit/>
              </a:bodyPr>
              <a:lstStyle/>
              <a:p>
                <a:r>
                  <a:rPr lang="en-US" altLang="ja-JP" sz="2400" dirty="0"/>
                  <a:t>※OMM</a:t>
                </a:r>
                <a:r>
                  <a:rPr lang="ja-JP" altLang="en-US" sz="2400" dirty="0"/>
                  <a:t>を特殊ケースとして含む（容量がすべて１の場合）</a:t>
                </a:r>
                <a:endParaRPr lang="en-US" altLang="ja-JP" sz="2400" dirty="0"/>
              </a:p>
              <a:p>
                <a:endParaRPr lang="en-US" altLang="ja-JP" sz="2400" dirty="0"/>
              </a:p>
              <a:p>
                <a:r>
                  <a:rPr lang="ja-JP" altLang="en-US" sz="2400" dirty="0"/>
                  <a:t>「容量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𝑐</m:t>
                        </m:r>
                      </m:e>
                      <m:sub>
                        <m:r>
                          <a:rPr lang="en-US" altLang="ja-JP" sz="2400" i="1">
                            <a:latin typeface="Cambria Math" panose="02040503050406030204" pitchFamily="18" charset="0"/>
                          </a:rPr>
                          <m:t>𝑖</m:t>
                        </m:r>
                      </m:sub>
                    </m:sSub>
                  </m:oMath>
                </a14:m>
                <a:r>
                  <a:rPr lang="ja-JP" altLang="en-US" sz="2400" dirty="0"/>
                  <a:t> の </a:t>
                </a:r>
                <a:r>
                  <a:rPr lang="en-US" altLang="ja-JP" sz="2400" dirty="0"/>
                  <a:t>1 </a:t>
                </a:r>
                <a:r>
                  <a:rPr lang="ja-JP" altLang="en-US" sz="2400" dirty="0"/>
                  <a:t>つのサーバ」を「容量 </a:t>
                </a:r>
                <a:r>
                  <a:rPr lang="en-US" altLang="ja-JP" sz="2400" dirty="0"/>
                  <a:t>1 </a:t>
                </a:r>
                <a:r>
                  <a:rPr lang="ja-JP" altLang="en-US" sz="2400" dirty="0"/>
                  <a:t>のサーバが同一地点に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𝑐</m:t>
                        </m:r>
                      </m:e>
                      <m:sub>
                        <m:r>
                          <a:rPr lang="en-US" altLang="ja-JP" sz="2400" i="1">
                            <a:latin typeface="Cambria Math" panose="02040503050406030204" pitchFamily="18" charset="0"/>
                          </a:rPr>
                          <m:t>𝑖</m:t>
                        </m:r>
                      </m:sub>
                    </m:sSub>
                  </m:oMath>
                </a14:m>
                <a:r>
                  <a:rPr lang="ja-JP" altLang="en-US" sz="2400" dirty="0"/>
                  <a:t> 個」</a:t>
                </a:r>
                <a:endParaRPr lang="en-US" altLang="ja-JP" sz="2400" dirty="0"/>
              </a:p>
              <a:p>
                <a:r>
                  <a:rPr lang="ja-JP" altLang="en-US" sz="2400" dirty="0"/>
                  <a:t>と捉えることでサーバ数が </a:t>
                </a:r>
                <a14:m>
                  <m:oMath xmlns:m="http://schemas.openxmlformats.org/officeDocument/2006/math">
                    <m:r>
                      <a:rPr lang="en-US" altLang="ja-JP" sz="2400" i="1">
                        <a:latin typeface="Cambria Math" panose="02040503050406030204" pitchFamily="18" charset="0"/>
                      </a:rPr>
                      <m:t>𝑛</m:t>
                    </m:r>
                    <m:r>
                      <a:rPr lang="en-US" altLang="ja-JP" sz="2400" i="1">
                        <a:latin typeface="Cambria Math" panose="02040503050406030204" pitchFamily="18" charset="0"/>
                      </a:rPr>
                      <m:t>=</m:t>
                    </m:r>
                    <m:nary>
                      <m:naryPr>
                        <m:chr m:val="∑"/>
                        <m:ctrlPr>
                          <a:rPr lang="en-US" altLang="ja-JP" sz="2400" i="1">
                            <a:latin typeface="Cambria Math" panose="02040503050406030204" pitchFamily="18" charset="0"/>
                          </a:rPr>
                        </m:ctrlPr>
                      </m:naryPr>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𝑚</m:t>
                        </m:r>
                      </m:sup>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𝑐</m:t>
                            </m:r>
                          </m:e>
                          <m:sub>
                            <m:r>
                              <a:rPr lang="en-US" altLang="ja-JP" sz="2400" i="1">
                                <a:latin typeface="Cambria Math" panose="02040503050406030204" pitchFamily="18" charset="0"/>
                              </a:rPr>
                              <m:t>𝑖</m:t>
                            </m:r>
                          </m:sub>
                        </m:sSub>
                      </m:e>
                    </m:nary>
                  </m:oMath>
                </a14:m>
                <a:r>
                  <a:rPr lang="ja-JP" altLang="en-US" sz="2400" dirty="0"/>
                  <a:t> である </a:t>
                </a:r>
                <a:r>
                  <a:rPr lang="en-US" altLang="ja-JP" sz="2400" dirty="0"/>
                  <a:t>OMM </a:t>
                </a:r>
                <a:r>
                  <a:rPr lang="ja-JP" altLang="en-US" sz="2400" dirty="0"/>
                  <a:t>と捉えることが可能</a:t>
                </a:r>
                <a:endParaRPr lang="en-US" altLang="ja-JP" sz="2400" dirty="0"/>
              </a:p>
              <a:p>
                <a:endParaRPr lang="en-US" altLang="ja-JP" sz="2400" dirty="0"/>
              </a:p>
              <a:p>
                <a:r>
                  <a:rPr lang="ja-JP" altLang="en-US" sz="2400" dirty="0"/>
                  <a:t>しかし，総容量 </a:t>
                </a:r>
                <a14:m>
                  <m:oMath xmlns:m="http://schemas.openxmlformats.org/officeDocument/2006/math">
                    <m:r>
                      <a:rPr lang="en-US" altLang="ja-JP" sz="2400" i="1">
                        <a:latin typeface="Cambria Math" panose="02040503050406030204" pitchFamily="18" charset="0"/>
                      </a:rPr>
                      <m:t>𝑛</m:t>
                    </m:r>
                    <m:r>
                      <a:rPr lang="en-US" altLang="ja-JP" sz="2400" i="1">
                        <a:latin typeface="Cambria Math" panose="02040503050406030204" pitchFamily="18" charset="0"/>
                      </a:rPr>
                      <m:t>=</m:t>
                    </m:r>
                    <m:nary>
                      <m:naryPr>
                        <m:chr m:val="∑"/>
                        <m:ctrlPr>
                          <a:rPr lang="en-US" altLang="ja-JP" sz="2400" i="1">
                            <a:latin typeface="Cambria Math" panose="02040503050406030204" pitchFamily="18" charset="0"/>
                          </a:rPr>
                        </m:ctrlPr>
                      </m:naryPr>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𝑚</m:t>
                        </m:r>
                      </m:sup>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𝑐</m:t>
                            </m:r>
                          </m:e>
                          <m:sub>
                            <m:r>
                              <a:rPr lang="en-US" altLang="ja-JP" sz="2400" i="1">
                                <a:latin typeface="Cambria Math" panose="02040503050406030204" pitchFamily="18" charset="0"/>
                              </a:rPr>
                              <m:t>𝑖</m:t>
                            </m:r>
                          </m:sub>
                        </m:sSub>
                      </m:e>
                    </m:nary>
                  </m:oMath>
                </a14:m>
                <a:r>
                  <a:rPr lang="ja-JP" altLang="en-US" sz="2400" dirty="0"/>
                  <a:t> でなく</a:t>
                </a:r>
                <a:r>
                  <a:rPr lang="ja-JP" altLang="en-US" sz="2400" b="1" dirty="0"/>
                  <a:t>サーバ数 </a:t>
                </a:r>
                <a14:m>
                  <m:oMath xmlns:m="http://schemas.openxmlformats.org/officeDocument/2006/math">
                    <m:r>
                      <a:rPr lang="en-US" altLang="ja-JP" sz="2400" b="1" i="1">
                        <a:latin typeface="Cambria Math" panose="02040503050406030204" pitchFamily="18" charset="0"/>
                      </a:rPr>
                      <m:t>𝒎</m:t>
                    </m:r>
                  </m:oMath>
                </a14:m>
                <a:r>
                  <a:rPr lang="ja-JP" altLang="en-US" sz="2400" b="1" dirty="0"/>
                  <a:t> に関する競合比</a:t>
                </a:r>
                <a:r>
                  <a:rPr lang="ja-JP" altLang="en-US" sz="2400" dirty="0"/>
                  <a:t>を得たい！</a:t>
                </a:r>
                <a:endParaRPr lang="en-US" altLang="ja-JP" sz="2400" dirty="0"/>
              </a:p>
              <a:p>
                <a:endParaRPr kumimoji="1" lang="ja-JP" altLang="en-US" dirty="0"/>
              </a:p>
            </p:txBody>
          </p:sp>
        </mc:Choice>
        <mc:Fallback xmlns="">
          <p:sp>
            <p:nvSpPr>
              <p:cNvPr id="4" name="テキスト ボックス 3">
                <a:extLst>
                  <a:ext uri="{FF2B5EF4-FFF2-40B4-BE49-F238E27FC236}">
                    <a16:creationId xmlns:a16="http://schemas.microsoft.com/office/drawing/2014/main" id="{2FF5D930-A69B-A7D2-12FC-12F8C1D274BA}"/>
                  </a:ext>
                </a:extLst>
              </p:cNvPr>
              <p:cNvSpPr txBox="1">
                <a:spLocks noRot="1" noChangeAspect="1" noMove="1" noResize="1" noEditPoints="1" noAdjustHandles="1" noChangeArrowheads="1" noChangeShapeType="1" noTextEdit="1"/>
              </p:cNvSpPr>
              <p:nvPr/>
            </p:nvSpPr>
            <p:spPr>
              <a:xfrm>
                <a:off x="838200" y="3836709"/>
                <a:ext cx="10515600" cy="2587888"/>
              </a:xfrm>
              <a:prstGeom prst="rect">
                <a:avLst/>
              </a:prstGeom>
              <a:blipFill>
                <a:blip r:embed="rId3"/>
                <a:stretch>
                  <a:fillRect l="-928" t="-3529" b="-2258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19989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48895-A8DF-FEF1-5680-D3D69D5F1DAA}"/>
              </a:ext>
            </a:extLst>
          </p:cNvPr>
          <p:cNvSpPr>
            <a:spLocks noGrp="1"/>
          </p:cNvSpPr>
          <p:nvPr>
            <p:ph type="title"/>
          </p:nvPr>
        </p:nvSpPr>
        <p:spPr/>
        <p:txBody>
          <a:bodyPr/>
          <a:lstStyle/>
          <a:p>
            <a:r>
              <a:rPr kumimoji="1" lang="ja-JP" altLang="en-US" dirty="0"/>
              <a:t>先行研究と課題</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581E002-120B-29B7-2C6E-93C391C3BE0D}"/>
                  </a:ext>
                </a:extLst>
              </p:cNvPr>
              <p:cNvSpPr>
                <a:spLocks noGrp="1"/>
              </p:cNvSpPr>
              <p:nvPr>
                <p:ph idx="1"/>
              </p:nvPr>
            </p:nvSpPr>
            <p:spPr>
              <a:xfrm>
                <a:off x="838200" y="1622458"/>
                <a:ext cx="10515600" cy="3057460"/>
              </a:xfrm>
            </p:spPr>
            <p:txBody>
              <a:bodyPr>
                <a:normAutofit/>
              </a:bodyPr>
              <a:lstStyle/>
              <a:p>
                <a:r>
                  <a:rPr lang="ja-JP" altLang="en-US" sz="2400" dirty="0"/>
                  <a:t>貪欲法の競合比は </a:t>
                </a:r>
                <a14:m>
                  <m:oMath xmlns:m="http://schemas.openxmlformats.org/officeDocument/2006/math">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2</m:t>
                        </m:r>
                      </m:e>
                      <m:sup>
                        <m:r>
                          <a:rPr lang="en-US" altLang="ja-JP" sz="2400" i="1" smtClean="0">
                            <a:solidFill>
                              <a:srgbClr val="C00000"/>
                            </a:solidFill>
                            <a:latin typeface="Cambria Math" panose="02040503050406030204" pitchFamily="18" charset="0"/>
                          </a:rPr>
                          <m:t>𝑚</m:t>
                        </m:r>
                      </m:sup>
                    </m:sSup>
                    <m:r>
                      <a:rPr lang="en-US" altLang="ja-JP" sz="2400" i="1">
                        <a:latin typeface="Cambria Math" panose="02040503050406030204" pitchFamily="18" charset="0"/>
                      </a:rPr>
                      <m:t>−1</m:t>
                    </m:r>
                  </m:oMath>
                </a14:m>
                <a:r>
                  <a:rPr lang="en-US" altLang="ja-JP" sz="2400" dirty="0"/>
                  <a:t> </a:t>
                </a:r>
                <a:r>
                  <a:rPr lang="en-US" altLang="ja-JP" sz="1800" dirty="0"/>
                  <a:t>[Kalyanasundaram and Pruhs, 2000], [Harada et al., 2024]</a:t>
                </a:r>
              </a:p>
              <a:p>
                <a:r>
                  <a:rPr lang="en-US" altLang="ja-JP" sz="2400" dirty="0"/>
                  <a:t>Permutation </a:t>
                </a:r>
                <a:r>
                  <a:rPr lang="ja-JP" altLang="en-US" sz="2400" dirty="0"/>
                  <a:t>の競合比は </a:t>
                </a:r>
                <a14:m>
                  <m:oMath xmlns:m="http://schemas.openxmlformats.org/officeDocument/2006/math">
                    <m:r>
                      <m:rPr>
                        <m:sty m:val="p"/>
                      </m:rPr>
                      <a:rPr lang="en-US" altLang="ja-JP" sz="2400">
                        <a:latin typeface="Cambria Math" panose="02040503050406030204" pitchFamily="18" charset="0"/>
                      </a:rPr>
                      <m:t>Ω</m:t>
                    </m:r>
                    <m:d>
                      <m:dPr>
                        <m:ctrlPr>
                          <a:rPr lang="en-US" altLang="ja-JP" sz="2400" i="1">
                            <a:latin typeface="Cambria Math" panose="02040503050406030204" pitchFamily="18" charset="0"/>
                          </a:rPr>
                        </m:ctrlPr>
                      </m:dPr>
                      <m:e>
                        <m:r>
                          <a:rPr lang="en-US" altLang="ja-JP" sz="2400" i="1" smtClean="0">
                            <a:solidFill>
                              <a:srgbClr val="C00000"/>
                            </a:solidFill>
                            <a:latin typeface="Cambria Math" panose="02040503050406030204" pitchFamily="18" charset="0"/>
                          </a:rPr>
                          <m:t>𝑛</m:t>
                        </m:r>
                      </m:e>
                    </m:d>
                  </m:oMath>
                </a14:m>
                <a:r>
                  <a:rPr lang="en-US" altLang="ja-JP" sz="2400" dirty="0"/>
                  <a:t> </a:t>
                </a:r>
                <a:r>
                  <a:rPr lang="en-US" altLang="ja-JP" sz="1800" dirty="0"/>
                  <a:t>[Kalyanasundaram and Pruhs, 2000], [Nicoletti, 2024]</a:t>
                </a:r>
              </a:p>
              <a:p>
                <a:r>
                  <a:rPr lang="ja-JP" altLang="en-US" sz="2400" dirty="0"/>
                  <a:t>自明な競合比下界 </a:t>
                </a:r>
                <a14:m>
                  <m:oMath xmlns:m="http://schemas.openxmlformats.org/officeDocument/2006/math">
                    <m:r>
                      <a:rPr lang="en-US" altLang="ja-JP" sz="2400" b="0" i="1" smtClean="0">
                        <a:latin typeface="Cambria Math" panose="02040503050406030204" pitchFamily="18" charset="0"/>
                      </a:rPr>
                      <m:t>2</m:t>
                    </m:r>
                    <m:r>
                      <a:rPr lang="en-US" altLang="ja-JP" sz="2400" b="0" i="1" smtClean="0">
                        <a:solidFill>
                          <a:srgbClr val="C00000"/>
                        </a:solidFill>
                        <a:latin typeface="Cambria Math" panose="02040503050406030204" pitchFamily="18" charset="0"/>
                      </a:rPr>
                      <m:t>𝑚</m:t>
                    </m:r>
                    <m:r>
                      <a:rPr lang="en-US" altLang="ja-JP" sz="2400" b="0" i="1" smtClean="0">
                        <a:latin typeface="Cambria Math" panose="02040503050406030204" pitchFamily="18" charset="0"/>
                      </a:rPr>
                      <m:t>−1</m:t>
                    </m:r>
                  </m:oMath>
                </a14:m>
                <a:endParaRPr lang="en-US" altLang="ja-JP" sz="2400" dirty="0"/>
              </a:p>
              <a:p>
                <a:pPr marL="0" indent="0">
                  <a:buNone/>
                </a:pPr>
                <a:endParaRPr lang="en-US" altLang="ja-JP" sz="800" dirty="0"/>
              </a:p>
              <a:p>
                <a:pPr marL="0" indent="0">
                  <a:buNone/>
                </a:pPr>
                <a:r>
                  <a:rPr lang="en-US" altLang="ja-JP" b="1" dirty="0"/>
                  <a:t>OMM</a:t>
                </a:r>
                <a:r>
                  <a:rPr lang="ja-JP" altLang="en-US" b="1" dirty="0"/>
                  <a:t>に対する有名な二つのアルゴリズムはどちらも今一つ</a:t>
                </a:r>
                <a:endParaRPr lang="en-US" altLang="ja-JP" b="1" dirty="0"/>
              </a:p>
              <a:p>
                <a:pPr>
                  <a:buFont typeface="Wingdings" panose="05000000000000000000" pitchFamily="2" charset="2"/>
                  <a:buChar char="Ø"/>
                </a:pPr>
                <a:r>
                  <a:rPr lang="en-US" altLang="ja-JP" sz="2400" dirty="0"/>
                  <a:t>OMM</a:t>
                </a:r>
                <a:r>
                  <a:rPr lang="ja-JP" altLang="en-US" sz="2400" dirty="0"/>
                  <a:t>に対して最善の </a:t>
                </a:r>
                <a:r>
                  <a:rPr lang="en-US" altLang="ja-JP" sz="2400" dirty="0"/>
                  <a:t>Permutation </a:t>
                </a:r>
                <a:r>
                  <a:rPr lang="ja-JP" altLang="en-US" sz="2400" dirty="0"/>
                  <a:t>は容量が増えると競合比が悪化</a:t>
                </a:r>
                <a:endParaRPr lang="en-US" altLang="ja-JP" sz="2400" dirty="0"/>
              </a:p>
              <a:p>
                <a:pPr>
                  <a:buFont typeface="Wingdings" panose="05000000000000000000" pitchFamily="2" charset="2"/>
                  <a:buChar char="Ø"/>
                </a:pPr>
                <a:r>
                  <a:rPr lang="ja-JP" altLang="en-US" sz="2400" dirty="0"/>
                  <a:t>貪欲法はサーバ数のみに依存する競合比を持つが，下界とのギャップ大</a:t>
                </a:r>
                <a:endParaRPr lang="en-US" altLang="ja-JP" sz="2400" dirty="0"/>
              </a:p>
            </p:txBody>
          </p:sp>
        </mc:Choice>
        <mc:Fallback xmlns="">
          <p:sp>
            <p:nvSpPr>
              <p:cNvPr id="3" name="コンテンツ プレースホルダー 2">
                <a:extLst>
                  <a:ext uri="{FF2B5EF4-FFF2-40B4-BE49-F238E27FC236}">
                    <a16:creationId xmlns:a16="http://schemas.microsoft.com/office/drawing/2014/main" id="{0581E002-120B-29B7-2C6E-93C391C3BE0D}"/>
                  </a:ext>
                </a:extLst>
              </p:cNvPr>
              <p:cNvSpPr>
                <a:spLocks noGrp="1" noRot="1" noChangeAspect="1" noMove="1" noResize="1" noEditPoints="1" noAdjustHandles="1" noChangeArrowheads="1" noChangeShapeType="1" noTextEdit="1"/>
              </p:cNvSpPr>
              <p:nvPr>
                <p:ph idx="1"/>
              </p:nvPr>
            </p:nvSpPr>
            <p:spPr>
              <a:xfrm>
                <a:off x="838200" y="1622458"/>
                <a:ext cx="10515600" cy="3057460"/>
              </a:xfrm>
              <a:blipFill>
                <a:blip r:embed="rId2"/>
                <a:stretch>
                  <a:fillRect l="-1217" t="-2590" b="-2988"/>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A81C5481-EA35-73CD-35B9-B52B5B8E4E9C}"/>
              </a:ext>
            </a:extLst>
          </p:cNvPr>
          <p:cNvSpPr>
            <a:spLocks noGrp="1"/>
          </p:cNvSpPr>
          <p:nvPr>
            <p:ph type="sldNum" sz="quarter" idx="12"/>
          </p:nvPr>
        </p:nvSpPr>
        <p:spPr/>
        <p:txBody>
          <a:bodyPr/>
          <a:lstStyle/>
          <a:p>
            <a:fld id="{4B077F3A-4098-4199-8925-77865D1E3500}" type="slidenum">
              <a:rPr kumimoji="1" lang="ja-JP" altLang="en-US" smtClean="0"/>
              <a:t>22</a:t>
            </a:fld>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9DBCA758-7DD9-6B0C-6CEF-BBA516EADFD4}"/>
                  </a:ext>
                </a:extLst>
              </p:cNvPr>
              <p:cNvSpPr txBox="1"/>
              <p:nvPr/>
            </p:nvSpPr>
            <p:spPr>
              <a:xfrm>
                <a:off x="9076774" y="293425"/>
                <a:ext cx="2653408" cy="1200329"/>
              </a:xfrm>
              <a:prstGeom prst="rect">
                <a:avLst/>
              </a:prstGeom>
              <a:noFill/>
            </p:spPr>
            <p:txBody>
              <a:bodyPr wrap="square" rtlCol="0">
                <a:spAutoFit/>
              </a:bodyPr>
              <a:lstStyle/>
              <a:p>
                <a14:m>
                  <m:oMath xmlns:m="http://schemas.openxmlformats.org/officeDocument/2006/math">
                    <m:r>
                      <a:rPr lang="en-US" altLang="ja-JP" sz="2400" b="0" i="1" smtClean="0">
                        <a:latin typeface="Cambria Math" panose="02040503050406030204" pitchFamily="18" charset="0"/>
                      </a:rPr>
                      <m:t>𝑚</m:t>
                    </m:r>
                  </m:oMath>
                </a14:m>
                <a:r>
                  <a:rPr lang="ja-JP" altLang="en-US" sz="2400" i="1" dirty="0">
                    <a:latin typeface="Cambria Math" panose="02040503050406030204" pitchFamily="18" charset="0"/>
                  </a:rPr>
                  <a:t>：サーバ数</a:t>
                </a:r>
                <a:endParaRPr lang="en-US" altLang="ja-JP" sz="2400" i="1" dirty="0">
                  <a:latin typeface="Cambria Math" panose="02040503050406030204" pitchFamily="18" charset="0"/>
                </a:endParaRPr>
              </a:p>
              <a:p>
                <a14:m>
                  <m:oMath xmlns:m="http://schemas.openxmlformats.org/officeDocument/2006/math">
                    <m:r>
                      <a:rPr lang="en-US" altLang="ja-JP" sz="2400" i="1">
                        <a:latin typeface="Cambria Math" panose="02040503050406030204" pitchFamily="18" charset="0"/>
                      </a:rPr>
                      <m:t>𝑛</m:t>
                    </m:r>
                  </m:oMath>
                </a14:m>
                <a:r>
                  <a:rPr kumimoji="1" lang="ja-JP" altLang="en-US" sz="2400" dirty="0"/>
                  <a:t>：総容量</a:t>
                </a:r>
                <a:endParaRPr kumimoji="1" lang="en-US" altLang="ja-JP" sz="2400" dirty="0"/>
              </a:p>
              <a:p>
                <a:r>
                  <a:rPr lang="en-US" altLang="ja-JP" sz="2400" dirty="0"/>
                  <a:t>※</a:t>
                </a:r>
                <a:r>
                  <a:rPr lang="ja-JP" altLang="en-US" sz="2400" dirty="0"/>
                  <a:t>一般に </a:t>
                </a:r>
                <a14:m>
                  <m:oMath xmlns:m="http://schemas.openxmlformats.org/officeDocument/2006/math">
                    <m:r>
                      <a:rPr lang="en-US" altLang="ja-JP" sz="2400" b="0" i="1" smtClean="0">
                        <a:latin typeface="Cambria Math" panose="02040503050406030204" pitchFamily="18" charset="0"/>
                      </a:rPr>
                      <m:t>𝑚</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𝑛</m:t>
                    </m:r>
                  </m:oMath>
                </a14:m>
                <a:endParaRPr kumimoji="1" lang="ja-JP" altLang="en-US" sz="2400" dirty="0"/>
              </a:p>
            </p:txBody>
          </p:sp>
        </mc:Choice>
        <mc:Fallback xmlns="">
          <p:sp>
            <p:nvSpPr>
              <p:cNvPr id="5" name="テキスト ボックス 4">
                <a:extLst>
                  <a:ext uri="{FF2B5EF4-FFF2-40B4-BE49-F238E27FC236}">
                    <a16:creationId xmlns:a16="http://schemas.microsoft.com/office/drawing/2014/main" id="{9DBCA758-7DD9-6B0C-6CEF-BBA516EADFD4}"/>
                  </a:ext>
                </a:extLst>
              </p:cNvPr>
              <p:cNvSpPr txBox="1">
                <a:spLocks noRot="1" noChangeAspect="1" noMove="1" noResize="1" noEditPoints="1" noAdjustHandles="1" noChangeArrowheads="1" noChangeShapeType="1" noTextEdit="1"/>
              </p:cNvSpPr>
              <p:nvPr/>
            </p:nvSpPr>
            <p:spPr>
              <a:xfrm>
                <a:off x="9076774" y="293425"/>
                <a:ext cx="2653408" cy="1200329"/>
              </a:xfrm>
              <a:prstGeom prst="rect">
                <a:avLst/>
              </a:prstGeom>
              <a:blipFill>
                <a:blip r:embed="rId3"/>
                <a:stretch>
                  <a:fillRect l="-3678" t="-3046" b="-121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68B637DB-C363-CC68-D6F5-B65763D6C20E}"/>
                  </a:ext>
                </a:extLst>
              </p:cNvPr>
              <p:cNvSpPr txBox="1"/>
              <p:nvPr/>
            </p:nvSpPr>
            <p:spPr>
              <a:xfrm>
                <a:off x="1171083" y="5071858"/>
                <a:ext cx="9849833" cy="892552"/>
              </a:xfrm>
              <a:prstGeom prst="rect">
                <a:avLst/>
              </a:prstGeom>
              <a:solidFill>
                <a:schemeClr val="accent2">
                  <a:lumMod val="20000"/>
                  <a:lumOff val="80000"/>
                </a:schemeClr>
              </a:solidFill>
              <a:ln w="28575">
                <a:solidFill>
                  <a:schemeClr val="accent2">
                    <a:lumMod val="75000"/>
                  </a:schemeClr>
                </a:solidFill>
              </a:ln>
            </p:spPr>
            <p:txBody>
              <a:bodyPr wrap="square" rtlCol="0">
                <a:spAutoFit/>
              </a:bodyPr>
              <a:lstStyle/>
              <a:p>
                <a:r>
                  <a:rPr kumimoji="1" lang="ja-JP" altLang="en-US" sz="2800" b="1" i="1" u="sng" dirty="0">
                    <a:latin typeface="Cambria Math" panose="02040503050406030204" pitchFamily="18" charset="0"/>
                  </a:rPr>
                  <a:t>予想 </a:t>
                </a:r>
                <a:r>
                  <a:rPr lang="en-US" altLang="ja-JP" b="1" u="sng" dirty="0"/>
                  <a:t>[Kalyanasundaram and </a:t>
                </a:r>
                <a:r>
                  <a:rPr lang="en-US" altLang="ja-JP" b="1" u="sng" dirty="0" err="1"/>
                  <a:t>Pruhs</a:t>
                </a:r>
                <a:r>
                  <a:rPr lang="en-US" altLang="ja-JP" b="1" u="sng" dirty="0"/>
                  <a:t>, 1998]</a:t>
                </a:r>
                <a:r>
                  <a:rPr lang="ja-JP" altLang="en-US" b="1" dirty="0"/>
                  <a:t>　</a:t>
                </a:r>
                <a:r>
                  <a:rPr lang="ja-JP" altLang="en-US" sz="2400" dirty="0"/>
                  <a:t>オンライン輸送問題</a:t>
                </a:r>
                <a:r>
                  <a:rPr kumimoji="1" lang="ja-JP" altLang="en-US" sz="2400" dirty="0"/>
                  <a:t>に対して競合比が</a:t>
                </a:r>
                <a:endParaRPr kumimoji="1" lang="en-US" altLang="ja-JP" sz="2400" dirty="0"/>
              </a:p>
              <a:p>
                <a:r>
                  <a:rPr kumimoji="1" lang="ja-JP" altLang="en-US" sz="2400" dirty="0"/>
                  <a:t> </a:t>
                </a:r>
                <a14:m>
                  <m:oMath xmlns:m="http://schemas.openxmlformats.org/officeDocument/2006/math">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𝑚</m:t>
                    </m:r>
                    <m:r>
                      <a:rPr kumimoji="1" lang="en-US" altLang="ja-JP" sz="2400" b="0" i="1" smtClean="0">
                        <a:latin typeface="Cambria Math" panose="02040503050406030204" pitchFamily="18" charset="0"/>
                      </a:rPr>
                      <m:t>−1</m:t>
                    </m:r>
                  </m:oMath>
                </a14:m>
                <a:r>
                  <a:rPr kumimoji="1" lang="ja-JP" altLang="en-US" sz="2400" dirty="0"/>
                  <a:t> 以下となる決定的アルゴリズムは存在するか？</a:t>
                </a:r>
              </a:p>
            </p:txBody>
          </p:sp>
        </mc:Choice>
        <mc:Fallback xmlns="">
          <p:sp>
            <p:nvSpPr>
              <p:cNvPr id="6" name="テキスト ボックス 5">
                <a:extLst>
                  <a:ext uri="{FF2B5EF4-FFF2-40B4-BE49-F238E27FC236}">
                    <a16:creationId xmlns:a16="http://schemas.microsoft.com/office/drawing/2014/main" id="{68B637DB-C363-CC68-D6F5-B65763D6C20E}"/>
                  </a:ext>
                </a:extLst>
              </p:cNvPr>
              <p:cNvSpPr txBox="1">
                <a:spLocks noRot="1" noChangeAspect="1" noMove="1" noResize="1" noEditPoints="1" noAdjustHandles="1" noChangeArrowheads="1" noChangeShapeType="1" noTextEdit="1"/>
              </p:cNvSpPr>
              <p:nvPr/>
            </p:nvSpPr>
            <p:spPr>
              <a:xfrm>
                <a:off x="1171083" y="5071858"/>
                <a:ext cx="9849833" cy="892552"/>
              </a:xfrm>
              <a:prstGeom prst="rect">
                <a:avLst/>
              </a:prstGeom>
              <a:blipFill>
                <a:blip r:embed="rId4"/>
                <a:stretch>
                  <a:fillRect l="-1110" t="-4636" r="-185" b="-13907"/>
                </a:stretch>
              </a:blipFill>
              <a:ln w="28575">
                <a:solidFill>
                  <a:schemeClr val="accent2">
                    <a:lumMod val="75000"/>
                  </a:schemeClr>
                </a:solidFill>
              </a:ln>
            </p:spPr>
            <p:txBody>
              <a:bodyPr/>
              <a:lstStyle/>
              <a:p>
                <a:r>
                  <a:rPr lang="ja-JP" altLang="en-US">
                    <a:noFill/>
                  </a:rPr>
                  <a:t> </a:t>
                </a:r>
              </a:p>
            </p:txBody>
          </p:sp>
        </mc:Fallback>
      </mc:AlternateContent>
    </p:spTree>
    <p:extLst>
      <p:ext uri="{BB962C8B-B14F-4D97-AF65-F5344CB8AC3E}">
        <p14:creationId xmlns:p14="http://schemas.microsoft.com/office/powerpoint/2010/main" val="2412037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E3B486-AF74-9FE9-0E50-0D00404E41A5}"/>
              </a:ext>
            </a:extLst>
          </p:cNvPr>
          <p:cNvSpPr>
            <a:spLocks noGrp="1"/>
          </p:cNvSpPr>
          <p:nvPr>
            <p:ph type="title"/>
          </p:nvPr>
        </p:nvSpPr>
        <p:spPr/>
        <p:txBody>
          <a:bodyPr/>
          <a:lstStyle/>
          <a:p>
            <a:r>
              <a:rPr kumimoji="1" lang="ja-JP" altLang="en-US" dirty="0"/>
              <a:t>研究成果</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9F0B0B9-04C8-62B7-2944-8C4FDBA0995F}"/>
                  </a:ext>
                </a:extLst>
              </p:cNvPr>
              <p:cNvSpPr>
                <a:spLocks noGrp="1"/>
              </p:cNvSpPr>
              <p:nvPr>
                <p:ph idx="1"/>
              </p:nvPr>
            </p:nvSpPr>
            <p:spPr>
              <a:xfrm>
                <a:off x="838199" y="2575836"/>
                <a:ext cx="10515600" cy="782191"/>
              </a:xfrm>
            </p:spPr>
            <p:txBody>
              <a:bodyPr/>
              <a:lstStyle/>
              <a:p>
                <a:pPr marL="0" indent="0">
                  <a:buNone/>
                </a:pPr>
                <a:r>
                  <a:rPr lang="en-US" altLang="ja-JP" sz="2400" dirty="0"/>
                  <a:t>Robust-Matching </a:t>
                </a:r>
                <a:r>
                  <a:rPr lang="ja-JP" altLang="en-US" sz="2400" dirty="0"/>
                  <a:t>が達成した </a:t>
                </a:r>
                <a14:m>
                  <m:oMath xmlns:m="http://schemas.openxmlformats.org/officeDocument/2006/math">
                    <m:r>
                      <a:rPr lang="en-US" altLang="ja-JP" sz="2400" i="1">
                        <a:latin typeface="Cambria Math" panose="02040503050406030204" pitchFamily="18" charset="0"/>
                      </a:rPr>
                      <m:t>𝑂</m:t>
                    </m:r>
                    <m:r>
                      <a:rPr lang="en-US" altLang="ja-JP" sz="2400" i="1">
                        <a:latin typeface="Cambria Math" panose="02040503050406030204" pitchFamily="18" charset="0"/>
                      </a:rPr>
                      <m:t>(</m:t>
                    </m:r>
                    <m:r>
                      <a:rPr lang="en-US" altLang="ja-JP" sz="2400" i="1">
                        <a:latin typeface="Cambria Math" panose="02040503050406030204" pitchFamily="18" charset="0"/>
                      </a:rPr>
                      <m:t>𝑚</m:t>
                    </m:r>
                    <m:r>
                      <a:rPr lang="en-US" altLang="ja-JP" sz="2400" i="1">
                        <a:latin typeface="Cambria Math" panose="02040503050406030204" pitchFamily="18" charset="0"/>
                      </a:rPr>
                      <m:t> </m:t>
                    </m:r>
                    <m:sSup>
                      <m:sSupPr>
                        <m:ctrlPr>
                          <a:rPr lang="en-US" altLang="ja-JP" sz="2400" i="1">
                            <a:latin typeface="Cambria Math" panose="02040503050406030204" pitchFamily="18" charset="0"/>
                          </a:rPr>
                        </m:ctrlPr>
                      </m:sSupPr>
                      <m:e>
                        <m:r>
                          <m:rPr>
                            <m:sty m:val="p"/>
                          </m:rPr>
                          <a:rPr lang="en-US" altLang="ja-JP" sz="2400">
                            <a:latin typeface="Cambria Math" panose="02040503050406030204" pitchFamily="18" charset="0"/>
                          </a:rPr>
                          <m:t>log</m:t>
                        </m:r>
                      </m:e>
                      <m:sup>
                        <m:r>
                          <a:rPr lang="en-US" altLang="ja-JP" sz="2400" i="1">
                            <a:latin typeface="Cambria Math" panose="02040503050406030204" pitchFamily="18" charset="0"/>
                          </a:rPr>
                          <m:t>2</m:t>
                        </m:r>
                      </m:sup>
                    </m:sSup>
                    <m:r>
                      <a:rPr lang="en-US" altLang="ja-JP" sz="2400" i="1">
                        <a:latin typeface="Cambria Math" panose="02040503050406030204" pitchFamily="18" charset="0"/>
                      </a:rPr>
                      <m:t> </m:t>
                    </m:r>
                    <m:r>
                      <a:rPr lang="en-US" altLang="ja-JP" sz="2400" i="1">
                        <a:latin typeface="Cambria Math" panose="02040503050406030204" pitchFamily="18" charset="0"/>
                      </a:rPr>
                      <m:t>𝑛</m:t>
                    </m:r>
                    <m:r>
                      <a:rPr lang="en-US" altLang="ja-JP" sz="2400" i="1">
                        <a:latin typeface="Cambria Math" panose="02040503050406030204" pitchFamily="18" charset="0"/>
                      </a:rPr>
                      <m:t>)</m:t>
                    </m:r>
                  </m:oMath>
                </a14:m>
                <a:r>
                  <a:rPr lang="en-US" altLang="ja-JP" sz="2400" dirty="0"/>
                  <a:t> </a:t>
                </a:r>
                <a:r>
                  <a:rPr lang="en-US" altLang="ja-JP" sz="1800" dirty="0"/>
                  <a:t>[Nayyar and Raghvendra, 2017]</a:t>
                </a:r>
                <a:r>
                  <a:rPr lang="en-US" altLang="ja-JP" sz="2400" dirty="0"/>
                  <a:t> </a:t>
                </a:r>
                <a:r>
                  <a:rPr lang="ja-JP" altLang="en-US" sz="2400" dirty="0"/>
                  <a:t>以来進展がなかったが</a:t>
                </a:r>
                <a:r>
                  <a:rPr lang="en-US" altLang="ja-JP" sz="2400" dirty="0"/>
                  <a:t>…</a:t>
                </a:r>
                <a:endParaRPr lang="ja-JP" altLang="en-US" sz="2400" dirty="0"/>
              </a:p>
              <a:p>
                <a:pPr marL="0" indent="0">
                  <a:buNone/>
                </a:pPr>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69F0B0B9-04C8-62B7-2944-8C4FDBA0995F}"/>
                  </a:ext>
                </a:extLst>
              </p:cNvPr>
              <p:cNvSpPr>
                <a:spLocks noGrp="1" noRot="1" noChangeAspect="1" noMove="1" noResize="1" noEditPoints="1" noAdjustHandles="1" noChangeArrowheads="1" noChangeShapeType="1" noTextEdit="1"/>
              </p:cNvSpPr>
              <p:nvPr>
                <p:ph idx="1"/>
              </p:nvPr>
            </p:nvSpPr>
            <p:spPr>
              <a:xfrm>
                <a:off x="838199" y="2575836"/>
                <a:ext cx="10515600" cy="782191"/>
              </a:xfrm>
              <a:blipFill>
                <a:blip r:embed="rId2"/>
                <a:stretch>
                  <a:fillRect l="-870" t="-11719" r="-116" b="-16406"/>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7471A76E-E9D5-84AE-0BEF-B01FF35D8D69}"/>
              </a:ext>
            </a:extLst>
          </p:cNvPr>
          <p:cNvSpPr>
            <a:spLocks noGrp="1"/>
          </p:cNvSpPr>
          <p:nvPr>
            <p:ph type="sldNum" sz="quarter" idx="12"/>
          </p:nvPr>
        </p:nvSpPr>
        <p:spPr/>
        <p:txBody>
          <a:bodyPr/>
          <a:lstStyle/>
          <a:p>
            <a:fld id="{4B077F3A-4098-4199-8925-77865D1E3500}" type="slidenum">
              <a:rPr kumimoji="1" lang="ja-JP" altLang="en-US" smtClean="0"/>
              <a:t>23</a:t>
            </a:fld>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3A0124BB-38BB-B4F1-A167-ED0A93A6F494}"/>
                  </a:ext>
                </a:extLst>
              </p:cNvPr>
              <p:cNvSpPr txBox="1"/>
              <p:nvPr/>
            </p:nvSpPr>
            <p:spPr>
              <a:xfrm>
                <a:off x="1171083" y="1555775"/>
                <a:ext cx="9849833" cy="892552"/>
              </a:xfrm>
              <a:prstGeom prst="rect">
                <a:avLst/>
              </a:prstGeom>
              <a:solidFill>
                <a:schemeClr val="accent2">
                  <a:lumMod val="20000"/>
                  <a:lumOff val="80000"/>
                </a:schemeClr>
              </a:solidFill>
              <a:ln w="28575">
                <a:solidFill>
                  <a:schemeClr val="accent2">
                    <a:lumMod val="75000"/>
                  </a:schemeClr>
                </a:solidFill>
              </a:ln>
            </p:spPr>
            <p:txBody>
              <a:bodyPr wrap="square" rtlCol="0">
                <a:spAutoFit/>
              </a:bodyPr>
              <a:lstStyle/>
              <a:p>
                <a:r>
                  <a:rPr kumimoji="1" lang="ja-JP" altLang="en-US" sz="2800" b="1" i="1" u="sng" dirty="0">
                    <a:latin typeface="Cambria Math" panose="02040503050406030204" pitchFamily="18" charset="0"/>
                  </a:rPr>
                  <a:t>予想 </a:t>
                </a:r>
                <a:r>
                  <a:rPr lang="en-US" altLang="ja-JP" b="1" u="sng" dirty="0"/>
                  <a:t>[Kalyanasundaram and </a:t>
                </a:r>
                <a:r>
                  <a:rPr lang="en-US" altLang="ja-JP" b="1" u="sng" dirty="0" err="1"/>
                  <a:t>Pruhs</a:t>
                </a:r>
                <a:r>
                  <a:rPr lang="en-US" altLang="ja-JP" b="1" u="sng" dirty="0"/>
                  <a:t>, 1998]</a:t>
                </a:r>
                <a:r>
                  <a:rPr lang="ja-JP" altLang="en-US" b="1" dirty="0"/>
                  <a:t>　</a:t>
                </a:r>
                <a:r>
                  <a:rPr lang="ja-JP" altLang="en-US" sz="2400" dirty="0"/>
                  <a:t>オンライン輸送問題</a:t>
                </a:r>
                <a:r>
                  <a:rPr kumimoji="1" lang="ja-JP" altLang="en-US" sz="2400" dirty="0"/>
                  <a:t>に対して競合比が</a:t>
                </a:r>
                <a:endParaRPr kumimoji="1" lang="en-US" altLang="ja-JP" sz="2400" dirty="0"/>
              </a:p>
              <a:p>
                <a:r>
                  <a:rPr kumimoji="1" lang="ja-JP" altLang="en-US" sz="2400" dirty="0"/>
                  <a:t> </a:t>
                </a:r>
                <a14:m>
                  <m:oMath xmlns:m="http://schemas.openxmlformats.org/officeDocument/2006/math">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𝑚</m:t>
                    </m:r>
                    <m:r>
                      <a:rPr kumimoji="1" lang="en-US" altLang="ja-JP" sz="2400" b="0" i="1" smtClean="0">
                        <a:latin typeface="Cambria Math" panose="02040503050406030204" pitchFamily="18" charset="0"/>
                      </a:rPr>
                      <m:t>−1</m:t>
                    </m:r>
                  </m:oMath>
                </a14:m>
                <a:r>
                  <a:rPr kumimoji="1" lang="ja-JP" altLang="en-US" sz="2400" dirty="0"/>
                  <a:t> 以下となる決定的アルゴリズムは存在するか？</a:t>
                </a:r>
              </a:p>
            </p:txBody>
          </p:sp>
        </mc:Choice>
        <mc:Fallback xmlns="">
          <p:sp>
            <p:nvSpPr>
              <p:cNvPr id="5" name="テキスト ボックス 4">
                <a:extLst>
                  <a:ext uri="{FF2B5EF4-FFF2-40B4-BE49-F238E27FC236}">
                    <a16:creationId xmlns:a16="http://schemas.microsoft.com/office/drawing/2014/main" id="{3A0124BB-38BB-B4F1-A167-ED0A93A6F494}"/>
                  </a:ext>
                </a:extLst>
              </p:cNvPr>
              <p:cNvSpPr txBox="1">
                <a:spLocks noRot="1" noChangeAspect="1" noMove="1" noResize="1" noEditPoints="1" noAdjustHandles="1" noChangeArrowheads="1" noChangeShapeType="1" noTextEdit="1"/>
              </p:cNvSpPr>
              <p:nvPr/>
            </p:nvSpPr>
            <p:spPr>
              <a:xfrm>
                <a:off x="1171083" y="1555775"/>
                <a:ext cx="9849833" cy="892552"/>
              </a:xfrm>
              <a:prstGeom prst="rect">
                <a:avLst/>
              </a:prstGeom>
              <a:blipFill>
                <a:blip r:embed="rId3"/>
                <a:stretch>
                  <a:fillRect l="-1110" t="-3947" r="-185" b="-13158"/>
                </a:stretch>
              </a:blipFill>
              <a:ln w="28575">
                <a:solidFill>
                  <a:schemeClr val="accent2">
                    <a:lumMod val="75000"/>
                  </a:schemeClr>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コンテンツ プレースホルダー 2">
                <a:extLst>
                  <a:ext uri="{FF2B5EF4-FFF2-40B4-BE49-F238E27FC236}">
                    <a16:creationId xmlns:a16="http://schemas.microsoft.com/office/drawing/2014/main" id="{188CD7E4-38BF-680B-DDAE-FE60DAA39E9E}"/>
                  </a:ext>
                </a:extLst>
              </p:cNvPr>
              <p:cNvSpPr txBox="1">
                <a:spLocks/>
              </p:cNvSpPr>
              <p:nvPr/>
            </p:nvSpPr>
            <p:spPr>
              <a:xfrm>
                <a:off x="838199" y="3441308"/>
                <a:ext cx="10515600" cy="951218"/>
              </a:xfrm>
              <a:prstGeom prst="rect">
                <a:avLst/>
              </a:prstGeom>
              <a:solidFill>
                <a:schemeClr val="accent6">
                  <a:lumMod val="20000"/>
                  <a:lumOff val="80000"/>
                </a:schemeClr>
              </a:solidFill>
              <a:ln w="25400">
                <a:solidFill>
                  <a:schemeClr val="accent6">
                    <a:lumMod val="75000"/>
                  </a:schemeClr>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400" b="1" u="sng" dirty="0"/>
                  <a:t>定理 </a:t>
                </a:r>
                <a:r>
                  <a:rPr lang="en-US" altLang="ja-JP" sz="2000" b="1" u="sng" dirty="0"/>
                  <a:t>[Harada and Itoh, 2025]</a:t>
                </a:r>
              </a:p>
              <a:p>
                <a:pPr marL="0" indent="0">
                  <a:buFont typeface="Arial" panose="020B0604020202020204" pitchFamily="34" charset="0"/>
                  <a:buNone/>
                </a:pPr>
                <a:r>
                  <a:rPr lang="ja-JP" altLang="en-US" sz="2400" dirty="0"/>
                  <a:t>競合比が </a:t>
                </a:r>
                <a14:m>
                  <m:oMath xmlns:m="http://schemas.openxmlformats.org/officeDocument/2006/math">
                    <m:r>
                      <a:rPr lang="en-US" altLang="ja-JP" sz="2400" i="1" smtClean="0">
                        <a:latin typeface="Cambria Math" panose="02040503050406030204" pitchFamily="18" charset="0"/>
                      </a:rPr>
                      <m:t>8</m:t>
                    </m:r>
                    <m:r>
                      <a:rPr lang="en-US" altLang="ja-JP" sz="2400" i="1" smtClean="0">
                        <a:latin typeface="Cambria Math" panose="02040503050406030204" pitchFamily="18" charset="0"/>
                      </a:rPr>
                      <m:t>𝑚</m:t>
                    </m:r>
                    <m:r>
                      <a:rPr lang="en-US" altLang="ja-JP" sz="2400" i="1" smtClean="0">
                        <a:latin typeface="Cambria Math" panose="02040503050406030204" pitchFamily="18" charset="0"/>
                      </a:rPr>
                      <m:t>−5</m:t>
                    </m:r>
                  </m:oMath>
                </a14:m>
                <a:r>
                  <a:rPr lang="ja-JP" altLang="en-US" sz="2400" dirty="0"/>
                  <a:t> 以下となる決定的アルゴリズムが存在する</a:t>
                </a:r>
                <a:endParaRPr lang="en-US" altLang="ja-JP" sz="2400" dirty="0"/>
              </a:p>
            </p:txBody>
          </p:sp>
        </mc:Choice>
        <mc:Fallback xmlns="">
          <p:sp>
            <p:nvSpPr>
              <p:cNvPr id="6" name="コンテンツ プレースホルダー 2">
                <a:extLst>
                  <a:ext uri="{FF2B5EF4-FFF2-40B4-BE49-F238E27FC236}">
                    <a16:creationId xmlns:a16="http://schemas.microsoft.com/office/drawing/2014/main" id="{188CD7E4-38BF-680B-DDAE-FE60DAA39E9E}"/>
                  </a:ext>
                </a:extLst>
              </p:cNvPr>
              <p:cNvSpPr txBox="1">
                <a:spLocks noRot="1" noChangeAspect="1" noMove="1" noResize="1" noEditPoints="1" noAdjustHandles="1" noChangeArrowheads="1" noChangeShapeType="1" noTextEdit="1"/>
              </p:cNvSpPr>
              <p:nvPr/>
            </p:nvSpPr>
            <p:spPr>
              <a:xfrm>
                <a:off x="838199" y="3441308"/>
                <a:ext cx="10515600" cy="951218"/>
              </a:xfrm>
              <a:prstGeom prst="rect">
                <a:avLst/>
              </a:prstGeom>
              <a:blipFill>
                <a:blip r:embed="rId4"/>
                <a:stretch>
                  <a:fillRect l="-752" t="-2500" b="-10625"/>
                </a:stretch>
              </a:blipFill>
              <a:ln w="25400">
                <a:solidFill>
                  <a:schemeClr val="accent6">
                    <a:lumMod val="75000"/>
                  </a:schemeClr>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D9630C3-CBAD-EC4D-0910-E88E441BCDF4}"/>
                  </a:ext>
                </a:extLst>
              </p:cNvPr>
              <p:cNvSpPr txBox="1"/>
              <p:nvPr/>
            </p:nvSpPr>
            <p:spPr>
              <a:xfrm>
                <a:off x="838200" y="4547360"/>
                <a:ext cx="10515600" cy="461665"/>
              </a:xfrm>
              <a:prstGeom prst="rect">
                <a:avLst/>
              </a:prstGeom>
              <a:noFill/>
            </p:spPr>
            <p:txBody>
              <a:bodyPr wrap="square" rtlCol="0">
                <a:spAutoFit/>
              </a:bodyPr>
              <a:lstStyle/>
              <a:p>
                <a:pPr marL="342900" indent="-342900">
                  <a:buFont typeface="Wingdings" panose="05000000000000000000" pitchFamily="2" charset="2"/>
                  <a:buChar char="ü"/>
                </a:pPr>
                <a:r>
                  <a:rPr lang="ja-JP" altLang="en-US" sz="2400" dirty="0"/>
                  <a:t>下界 </a:t>
                </a:r>
                <a14:m>
                  <m:oMath xmlns:m="http://schemas.openxmlformats.org/officeDocument/2006/math">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𝑚</m:t>
                    </m:r>
                    <m:r>
                      <a:rPr lang="en-US" altLang="ja-JP" sz="2400" b="0" i="1" smtClean="0">
                        <a:latin typeface="Cambria Math" panose="02040503050406030204" pitchFamily="18" charset="0"/>
                      </a:rPr>
                      <m:t>−1</m:t>
                    </m:r>
                  </m:oMath>
                </a14:m>
                <a:r>
                  <a:rPr kumimoji="1" lang="ja-JP" altLang="en-US" sz="2400" dirty="0"/>
                  <a:t> </a:t>
                </a:r>
                <a:r>
                  <a:rPr lang="ja-JP" altLang="en-US" sz="2400" dirty="0"/>
                  <a:t>に初めて</a:t>
                </a:r>
                <a:r>
                  <a:rPr kumimoji="1" lang="ja-JP" altLang="en-US" sz="2400" dirty="0"/>
                  <a:t>定数倍の範囲で近づき，オーダーの意味で最善</a:t>
                </a:r>
              </a:p>
            </p:txBody>
          </p:sp>
        </mc:Choice>
        <mc:Fallback xmlns="">
          <p:sp>
            <p:nvSpPr>
              <p:cNvPr id="8" name="テキスト ボックス 7">
                <a:extLst>
                  <a:ext uri="{FF2B5EF4-FFF2-40B4-BE49-F238E27FC236}">
                    <a16:creationId xmlns:a16="http://schemas.microsoft.com/office/drawing/2014/main" id="{CD9630C3-CBAD-EC4D-0910-E88E441BCDF4}"/>
                  </a:ext>
                </a:extLst>
              </p:cNvPr>
              <p:cNvSpPr txBox="1">
                <a:spLocks noRot="1" noChangeAspect="1" noMove="1" noResize="1" noEditPoints="1" noAdjustHandles="1" noChangeArrowheads="1" noChangeShapeType="1" noTextEdit="1"/>
              </p:cNvSpPr>
              <p:nvPr/>
            </p:nvSpPr>
            <p:spPr>
              <a:xfrm>
                <a:off x="838200" y="4547360"/>
                <a:ext cx="10515600" cy="461665"/>
              </a:xfrm>
              <a:prstGeom prst="rect">
                <a:avLst/>
              </a:prstGeom>
              <a:blipFill>
                <a:blip r:embed="rId5"/>
                <a:stretch>
                  <a:fillRect l="-812" t="-10526" b="-31579"/>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99ED5585-528F-CE58-2018-0DDFD92FA2D6}"/>
              </a:ext>
            </a:extLst>
          </p:cNvPr>
          <p:cNvSpPr txBox="1"/>
          <p:nvPr/>
        </p:nvSpPr>
        <p:spPr>
          <a:xfrm>
            <a:off x="838199" y="5025849"/>
            <a:ext cx="10515600" cy="830997"/>
          </a:xfrm>
          <a:prstGeom prst="rect">
            <a:avLst/>
          </a:prstGeom>
          <a:noFill/>
        </p:spPr>
        <p:txBody>
          <a:bodyPr wrap="square" rtlCol="0">
            <a:spAutoFit/>
          </a:bodyPr>
          <a:lstStyle/>
          <a:p>
            <a:r>
              <a:rPr kumimoji="1" lang="en-US" altLang="ja-JP" sz="2400" dirty="0"/>
              <a:t>[Harada and Itoh, 2025] </a:t>
            </a:r>
            <a:r>
              <a:rPr kumimoji="1" lang="ja-JP" altLang="en-US" sz="2400" dirty="0"/>
              <a:t>はアルゴリズムは単純だが，解析が複雑だった．</a:t>
            </a:r>
            <a:endParaRPr kumimoji="1" lang="en-US" altLang="ja-JP" sz="2400" dirty="0"/>
          </a:p>
          <a:p>
            <a:r>
              <a:rPr lang="en-US" altLang="ja-JP" sz="2400" dirty="0"/>
              <a:t>[Arndt et al., 2026] </a:t>
            </a:r>
            <a:r>
              <a:rPr lang="ja-JP" altLang="en-US" sz="2400" dirty="0"/>
              <a:t>が解析を大幅に単純化した．</a:t>
            </a:r>
            <a:endParaRPr kumimoji="1" lang="ja-JP" altLang="en-US" sz="2400" dirty="0"/>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49F7CDB4-7EBF-89F7-2630-5A8E357A74FD}"/>
                  </a:ext>
                </a:extLst>
              </p:cNvPr>
              <p:cNvSpPr txBox="1"/>
              <p:nvPr/>
            </p:nvSpPr>
            <p:spPr>
              <a:xfrm>
                <a:off x="838198" y="5994856"/>
                <a:ext cx="7957009" cy="369332"/>
              </a:xfrm>
              <a:prstGeom prst="rect">
                <a:avLst/>
              </a:prstGeom>
              <a:noFill/>
            </p:spPr>
            <p:txBody>
              <a:bodyPr wrap="square" rtlCol="0">
                <a:spAutoFit/>
              </a:bodyPr>
              <a:lstStyle/>
              <a:p>
                <a:r>
                  <a:rPr lang="ja-JP" altLang="en-US" dirty="0"/>
                  <a:t>（後日談，未発表）</a:t>
                </a:r>
                <a:r>
                  <a:rPr kumimoji="1" lang="ja-JP" altLang="en-US" dirty="0"/>
                  <a:t>実は </a:t>
                </a:r>
                <a:r>
                  <a:rPr kumimoji="1" lang="en-US" altLang="ja-JP" dirty="0"/>
                  <a:t>Robust-Matching </a:t>
                </a:r>
                <a:r>
                  <a:rPr kumimoji="1" lang="ja-JP" altLang="en-US" dirty="0"/>
                  <a:t>も </a:t>
                </a:r>
                <a14:m>
                  <m:oMath xmlns:m="http://schemas.openxmlformats.org/officeDocument/2006/math">
                    <m:r>
                      <a:rPr kumimoji="1" lang="en-US" altLang="ja-JP" b="0" i="1" smtClean="0">
                        <a:latin typeface="Cambria Math" panose="02040503050406030204" pitchFamily="18" charset="0"/>
                      </a:rPr>
                      <m:t>𝑂</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m:t>
                    </m:r>
                    <m:r>
                      <a:rPr kumimoji="1" lang="en-US" altLang="ja-JP" b="0" i="1" smtClean="0">
                        <a:latin typeface="Cambria Math" panose="02040503050406030204" pitchFamily="18" charset="0"/>
                      </a:rPr>
                      <m:t>)</m:t>
                    </m:r>
                  </m:oMath>
                </a14:m>
                <a:r>
                  <a:rPr kumimoji="1" lang="en-US" altLang="ja-JP" dirty="0"/>
                  <a:t>-</a:t>
                </a:r>
                <a:r>
                  <a:rPr kumimoji="1" lang="ja-JP" altLang="en-US" dirty="0"/>
                  <a:t>競合的</a:t>
                </a:r>
                <a:r>
                  <a:rPr kumimoji="1" lang="ja-JP" altLang="en-US"/>
                  <a:t>な可能性が高い</a:t>
                </a:r>
                <a:endParaRPr kumimoji="1" lang="ja-JP" altLang="en-US" dirty="0"/>
              </a:p>
            </p:txBody>
          </p:sp>
        </mc:Choice>
        <mc:Fallback xmlns="">
          <p:sp>
            <p:nvSpPr>
              <p:cNvPr id="10" name="テキスト ボックス 9">
                <a:extLst>
                  <a:ext uri="{FF2B5EF4-FFF2-40B4-BE49-F238E27FC236}">
                    <a16:creationId xmlns:a16="http://schemas.microsoft.com/office/drawing/2014/main" id="{49F7CDB4-7EBF-89F7-2630-5A8E357A74FD}"/>
                  </a:ext>
                </a:extLst>
              </p:cNvPr>
              <p:cNvSpPr txBox="1">
                <a:spLocks noRot="1" noChangeAspect="1" noMove="1" noResize="1" noEditPoints="1" noAdjustHandles="1" noChangeArrowheads="1" noChangeShapeType="1" noTextEdit="1"/>
              </p:cNvSpPr>
              <p:nvPr/>
            </p:nvSpPr>
            <p:spPr>
              <a:xfrm>
                <a:off x="838198" y="5994856"/>
                <a:ext cx="7957009" cy="369332"/>
              </a:xfrm>
              <a:prstGeom prst="rect">
                <a:avLst/>
              </a:prstGeom>
              <a:blipFill>
                <a:blip r:embed="rId6"/>
                <a:stretch>
                  <a:fillRect l="-613" t="-11475" b="-2786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15071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A85514-4A23-5162-C07F-D0EC644F095A}"/>
              </a:ext>
            </a:extLst>
          </p:cNvPr>
          <p:cNvSpPr>
            <a:spLocks noGrp="1"/>
          </p:cNvSpPr>
          <p:nvPr>
            <p:ph type="title"/>
          </p:nvPr>
        </p:nvSpPr>
        <p:spPr/>
        <p:txBody>
          <a:bodyPr/>
          <a:lstStyle/>
          <a:p>
            <a:r>
              <a:rPr kumimoji="1" lang="ja-JP" altLang="en-US" dirty="0"/>
              <a:t>アルゴリズム設計の流れ</a:t>
            </a:r>
          </a:p>
        </p:txBody>
      </p:sp>
      <p:sp>
        <p:nvSpPr>
          <p:cNvPr id="4" name="スライド番号プレースホルダー 3">
            <a:extLst>
              <a:ext uri="{FF2B5EF4-FFF2-40B4-BE49-F238E27FC236}">
                <a16:creationId xmlns:a16="http://schemas.microsoft.com/office/drawing/2014/main" id="{AA4ACC2F-1481-85F5-8742-8A2EB7F2CB49}"/>
              </a:ext>
            </a:extLst>
          </p:cNvPr>
          <p:cNvSpPr>
            <a:spLocks noGrp="1"/>
          </p:cNvSpPr>
          <p:nvPr>
            <p:ph type="sldNum" sz="quarter" idx="12"/>
          </p:nvPr>
        </p:nvSpPr>
        <p:spPr/>
        <p:txBody>
          <a:bodyPr/>
          <a:lstStyle/>
          <a:p>
            <a:fld id="{62D2EF3D-F703-49E9-AB6E-69446C0165D0}" type="slidenum">
              <a:rPr kumimoji="1" lang="ja-JP" altLang="en-US" smtClean="0"/>
              <a:t>24</a:t>
            </a:fld>
            <a:endParaRPr kumimoji="1" lang="ja-JP" altLang="en-US"/>
          </a:p>
        </p:txBody>
      </p:sp>
      <p:sp>
        <p:nvSpPr>
          <p:cNvPr id="7" name="テキスト ボックス 6">
            <a:extLst>
              <a:ext uri="{FF2B5EF4-FFF2-40B4-BE49-F238E27FC236}">
                <a16:creationId xmlns:a16="http://schemas.microsoft.com/office/drawing/2014/main" id="{4FDE18D0-CE5C-3DC9-3D33-C5C5CFE5D7F2}"/>
              </a:ext>
            </a:extLst>
          </p:cNvPr>
          <p:cNvSpPr txBox="1"/>
          <p:nvPr/>
        </p:nvSpPr>
        <p:spPr>
          <a:xfrm>
            <a:off x="838200" y="1690688"/>
            <a:ext cx="9361602" cy="461665"/>
          </a:xfrm>
          <a:prstGeom prst="rect">
            <a:avLst/>
          </a:prstGeom>
          <a:noFill/>
        </p:spPr>
        <p:txBody>
          <a:bodyPr wrap="square" rtlCol="0">
            <a:spAutoFit/>
          </a:bodyPr>
          <a:lstStyle/>
          <a:p>
            <a:r>
              <a:rPr kumimoji="1" lang="ja-JP" altLang="en-US" sz="2400" dirty="0"/>
              <a:t>一般の距離空間をより単純な「木距離」に対する問題に帰着させる</a:t>
            </a:r>
          </a:p>
        </p:txBody>
      </p:sp>
      <p:sp>
        <p:nvSpPr>
          <p:cNvPr id="9" name="テキスト ボックス 8">
            <a:extLst>
              <a:ext uri="{FF2B5EF4-FFF2-40B4-BE49-F238E27FC236}">
                <a16:creationId xmlns:a16="http://schemas.microsoft.com/office/drawing/2014/main" id="{AAB6F90B-2017-70B6-2251-38A92AB9C4AC}"/>
              </a:ext>
            </a:extLst>
          </p:cNvPr>
          <p:cNvSpPr txBox="1"/>
          <p:nvPr/>
        </p:nvSpPr>
        <p:spPr>
          <a:xfrm>
            <a:off x="838200" y="2493031"/>
            <a:ext cx="10515600" cy="523220"/>
          </a:xfrm>
          <a:prstGeom prst="rect">
            <a:avLst/>
          </a:prstGeom>
          <a:solidFill>
            <a:schemeClr val="accent2">
              <a:lumMod val="20000"/>
              <a:lumOff val="80000"/>
            </a:schemeClr>
          </a:solidFill>
        </p:spPr>
        <p:txBody>
          <a:bodyPr wrap="square" rtlCol="0">
            <a:spAutoFit/>
          </a:bodyPr>
          <a:lstStyle/>
          <a:p>
            <a:r>
              <a:rPr lang="en-US" altLang="ja-JP" sz="2800" dirty="0"/>
              <a:t>STEP 1</a:t>
            </a:r>
            <a:r>
              <a:rPr lang="ja-JP" altLang="en-US" sz="2800" dirty="0"/>
              <a:t>：</a:t>
            </a:r>
            <a:r>
              <a:rPr lang="ja-JP" altLang="en-US" sz="2800" b="1" dirty="0"/>
              <a:t>重み無し木</a:t>
            </a:r>
            <a:r>
              <a:rPr lang="ja-JP" altLang="en-US" sz="2800" dirty="0"/>
              <a:t>に対する単純な</a:t>
            </a:r>
            <a:r>
              <a:rPr lang="ja-JP" altLang="en-US" sz="2800" b="1" dirty="0"/>
              <a:t>深さ優先探索</a:t>
            </a:r>
            <a:r>
              <a:rPr lang="ja-JP" altLang="en-US" sz="2800" dirty="0"/>
              <a:t>アルゴリズム</a:t>
            </a:r>
            <a:endParaRPr kumimoji="1" lang="ja-JP" altLang="en-US" sz="2800" dirty="0"/>
          </a:p>
        </p:txBody>
      </p:sp>
      <p:sp>
        <p:nvSpPr>
          <p:cNvPr id="11" name="テキスト ボックス 10">
            <a:extLst>
              <a:ext uri="{FF2B5EF4-FFF2-40B4-BE49-F238E27FC236}">
                <a16:creationId xmlns:a16="http://schemas.microsoft.com/office/drawing/2014/main" id="{D1432ECD-9714-DEF3-2707-3CABF94488C3}"/>
              </a:ext>
            </a:extLst>
          </p:cNvPr>
          <p:cNvSpPr txBox="1"/>
          <p:nvPr/>
        </p:nvSpPr>
        <p:spPr>
          <a:xfrm>
            <a:off x="838200" y="3876963"/>
            <a:ext cx="10515600" cy="523220"/>
          </a:xfrm>
          <a:prstGeom prst="rect">
            <a:avLst/>
          </a:prstGeom>
          <a:solidFill>
            <a:schemeClr val="accent2">
              <a:lumMod val="20000"/>
              <a:lumOff val="80000"/>
            </a:schemeClr>
          </a:solidFill>
        </p:spPr>
        <p:txBody>
          <a:bodyPr wrap="square" rtlCol="0">
            <a:spAutoFit/>
          </a:bodyPr>
          <a:lstStyle/>
          <a:p>
            <a:r>
              <a:rPr lang="en-US" altLang="ja-JP" sz="2800" dirty="0"/>
              <a:t>STEP 2</a:t>
            </a:r>
            <a:r>
              <a:rPr lang="ja-JP" altLang="en-US" sz="2800" dirty="0"/>
              <a:t>：</a:t>
            </a:r>
            <a:r>
              <a:rPr lang="ja-JP" altLang="en-US" sz="2800" b="1" dirty="0"/>
              <a:t>重みが</a:t>
            </a:r>
            <a:r>
              <a:rPr lang="en-US" altLang="ja-JP" sz="2800" b="1" dirty="0"/>
              <a:t>2</a:t>
            </a:r>
            <a:r>
              <a:rPr lang="ja-JP" altLang="en-US" sz="2800" b="1" dirty="0"/>
              <a:t>の冪</a:t>
            </a:r>
            <a:r>
              <a:rPr lang="ja-JP" altLang="en-US" sz="2800" dirty="0"/>
              <a:t>であるような木に対するアルゴリズム</a:t>
            </a:r>
            <a:endParaRPr kumimoji="1" lang="ja-JP" altLang="en-US" sz="2800" dirty="0"/>
          </a:p>
        </p:txBody>
      </p:sp>
      <p:sp>
        <p:nvSpPr>
          <p:cNvPr id="12" name="テキスト ボックス 11">
            <a:extLst>
              <a:ext uri="{FF2B5EF4-FFF2-40B4-BE49-F238E27FC236}">
                <a16:creationId xmlns:a16="http://schemas.microsoft.com/office/drawing/2014/main" id="{00D73281-5574-6D71-C1E0-78FDE092AC44}"/>
              </a:ext>
            </a:extLst>
          </p:cNvPr>
          <p:cNvSpPr txBox="1"/>
          <p:nvPr/>
        </p:nvSpPr>
        <p:spPr>
          <a:xfrm>
            <a:off x="838200" y="5260895"/>
            <a:ext cx="10515600" cy="523220"/>
          </a:xfrm>
          <a:prstGeom prst="rect">
            <a:avLst/>
          </a:prstGeom>
          <a:solidFill>
            <a:schemeClr val="accent2">
              <a:lumMod val="20000"/>
              <a:lumOff val="80000"/>
            </a:schemeClr>
          </a:solidFill>
        </p:spPr>
        <p:txBody>
          <a:bodyPr wrap="square" rtlCol="0">
            <a:spAutoFit/>
          </a:bodyPr>
          <a:lstStyle/>
          <a:p>
            <a:r>
              <a:rPr lang="en-US" altLang="ja-JP" sz="2800" dirty="0"/>
              <a:t>STEP 3</a:t>
            </a:r>
            <a:r>
              <a:rPr lang="ja-JP" altLang="en-US" sz="2800" dirty="0"/>
              <a:t>：</a:t>
            </a:r>
            <a:r>
              <a:rPr lang="ja-JP" altLang="en-US" sz="2800" b="1" dirty="0"/>
              <a:t>一般の距離空間</a:t>
            </a:r>
            <a:r>
              <a:rPr lang="ja-JP" altLang="en-US" sz="2800" dirty="0"/>
              <a:t>に対するアルゴリズム</a:t>
            </a:r>
            <a:endParaRPr kumimoji="1" lang="ja-JP" altLang="en-US" sz="2800" dirty="0"/>
          </a:p>
        </p:txBody>
      </p:sp>
      <p:cxnSp>
        <p:nvCxnSpPr>
          <p:cNvPr id="16" name="直線矢印コネクタ 15">
            <a:extLst>
              <a:ext uri="{FF2B5EF4-FFF2-40B4-BE49-F238E27FC236}">
                <a16:creationId xmlns:a16="http://schemas.microsoft.com/office/drawing/2014/main" id="{9A677D87-BB0D-8D14-212D-00F5EEF0F582}"/>
              </a:ext>
            </a:extLst>
          </p:cNvPr>
          <p:cNvCxnSpPr/>
          <p:nvPr/>
        </p:nvCxnSpPr>
        <p:spPr>
          <a:xfrm>
            <a:off x="1376313" y="3016251"/>
            <a:ext cx="0" cy="860712"/>
          </a:xfrm>
          <a:prstGeom prst="straightConnector1">
            <a:avLst/>
          </a:prstGeom>
          <a:ln w="85725">
            <a:tailEnd type="triangle"/>
          </a:ln>
        </p:spPr>
        <p:style>
          <a:lnRef idx="1">
            <a:schemeClr val="dk1"/>
          </a:lnRef>
          <a:fillRef idx="0">
            <a:schemeClr val="dk1"/>
          </a:fillRef>
          <a:effectRef idx="0">
            <a:schemeClr val="dk1"/>
          </a:effectRef>
          <a:fontRef idx="minor">
            <a:schemeClr val="tx1"/>
          </a:fontRef>
        </p:style>
      </p:cxnSp>
      <p:cxnSp>
        <p:nvCxnSpPr>
          <p:cNvPr id="17" name="直線矢印コネクタ 16">
            <a:extLst>
              <a:ext uri="{FF2B5EF4-FFF2-40B4-BE49-F238E27FC236}">
                <a16:creationId xmlns:a16="http://schemas.microsoft.com/office/drawing/2014/main" id="{0A671209-2926-0B42-034A-24F9D6511AC7}"/>
              </a:ext>
            </a:extLst>
          </p:cNvPr>
          <p:cNvCxnSpPr/>
          <p:nvPr/>
        </p:nvCxnSpPr>
        <p:spPr>
          <a:xfrm>
            <a:off x="1376313" y="4400183"/>
            <a:ext cx="0" cy="860712"/>
          </a:xfrm>
          <a:prstGeom prst="straightConnector1">
            <a:avLst/>
          </a:prstGeom>
          <a:ln w="85725">
            <a:tailEnd type="triangle"/>
          </a:ln>
        </p:spPr>
        <p:style>
          <a:lnRef idx="1">
            <a:schemeClr val="dk1"/>
          </a:lnRef>
          <a:fillRef idx="0">
            <a:schemeClr val="dk1"/>
          </a:fillRef>
          <a:effectRef idx="0">
            <a:schemeClr val="dk1"/>
          </a:effectRef>
          <a:fontRef idx="minor">
            <a:schemeClr val="tx1"/>
          </a:fontRef>
        </p:style>
      </p:cxnSp>
      <p:sp>
        <p:nvSpPr>
          <p:cNvPr id="18" name="テキスト ボックス 17">
            <a:extLst>
              <a:ext uri="{FF2B5EF4-FFF2-40B4-BE49-F238E27FC236}">
                <a16:creationId xmlns:a16="http://schemas.microsoft.com/office/drawing/2014/main" id="{C6146093-6429-60A5-3D09-D898ACAFE9CC}"/>
              </a:ext>
            </a:extLst>
          </p:cNvPr>
          <p:cNvSpPr txBox="1"/>
          <p:nvPr/>
        </p:nvSpPr>
        <p:spPr>
          <a:xfrm>
            <a:off x="1687397" y="3228945"/>
            <a:ext cx="5674935" cy="400110"/>
          </a:xfrm>
          <a:prstGeom prst="rect">
            <a:avLst/>
          </a:prstGeom>
          <a:noFill/>
        </p:spPr>
        <p:txBody>
          <a:bodyPr wrap="square" rtlCol="0">
            <a:spAutoFit/>
          </a:bodyPr>
          <a:lstStyle/>
          <a:p>
            <a:r>
              <a:rPr kumimoji="1" lang="ja-JP" altLang="en-US" sz="2000" dirty="0"/>
              <a:t>重みの階層ごとに再帰的に使用</a:t>
            </a:r>
          </a:p>
        </p:txBody>
      </p:sp>
      <p:sp>
        <p:nvSpPr>
          <p:cNvPr id="19" name="テキスト ボックス 18">
            <a:extLst>
              <a:ext uri="{FF2B5EF4-FFF2-40B4-BE49-F238E27FC236}">
                <a16:creationId xmlns:a16="http://schemas.microsoft.com/office/drawing/2014/main" id="{34904D90-BDCD-10B7-B13E-A0499280C69A}"/>
              </a:ext>
            </a:extLst>
          </p:cNvPr>
          <p:cNvSpPr txBox="1"/>
          <p:nvPr/>
        </p:nvSpPr>
        <p:spPr>
          <a:xfrm>
            <a:off x="1687396" y="4630484"/>
            <a:ext cx="5674935" cy="400110"/>
          </a:xfrm>
          <a:prstGeom prst="rect">
            <a:avLst/>
          </a:prstGeom>
          <a:noFill/>
        </p:spPr>
        <p:txBody>
          <a:bodyPr wrap="square" rtlCol="0">
            <a:spAutoFit/>
          </a:bodyPr>
          <a:lstStyle/>
          <a:p>
            <a:r>
              <a:rPr lang="ja-JP" altLang="en-US" sz="2000" dirty="0"/>
              <a:t>最小全域木による埋め込み＋重みの丸め</a:t>
            </a:r>
            <a:endParaRPr kumimoji="1" lang="ja-JP" altLang="en-US" sz="2000" dirty="0"/>
          </a:p>
        </p:txBody>
      </p:sp>
    </p:spTree>
    <p:extLst>
      <p:ext uri="{BB962C8B-B14F-4D97-AF65-F5344CB8AC3E}">
        <p14:creationId xmlns:p14="http://schemas.microsoft.com/office/powerpoint/2010/main" val="3612241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ABD5E-D754-23EE-54A8-3F3F6C6B686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A2D8D0-D2E1-7691-B2C1-3457AA8EEF5B}"/>
              </a:ext>
            </a:extLst>
          </p:cNvPr>
          <p:cNvSpPr>
            <a:spLocks noGrp="1"/>
          </p:cNvSpPr>
          <p:nvPr>
            <p:ph type="title"/>
          </p:nvPr>
        </p:nvSpPr>
        <p:spPr/>
        <p:txBody>
          <a:bodyPr/>
          <a:lstStyle/>
          <a:p>
            <a:r>
              <a:rPr kumimoji="1" lang="ja-JP" altLang="en-US" dirty="0"/>
              <a:t>重み無し木</a:t>
            </a:r>
            <a:r>
              <a:rPr lang="ja-JP" altLang="en-US" dirty="0"/>
              <a:t>に対する</a:t>
            </a:r>
            <a:r>
              <a:rPr kumimoji="1" lang="ja-JP" altLang="en-US" dirty="0"/>
              <a:t>アルゴリズム１</a:t>
            </a:r>
          </a:p>
        </p:txBody>
      </p:sp>
      <p:sp>
        <p:nvSpPr>
          <p:cNvPr id="4" name="スライド番号プレースホルダー 3">
            <a:extLst>
              <a:ext uri="{FF2B5EF4-FFF2-40B4-BE49-F238E27FC236}">
                <a16:creationId xmlns:a16="http://schemas.microsoft.com/office/drawing/2014/main" id="{54F1EEFC-C56E-150A-8291-E210704234AF}"/>
              </a:ext>
            </a:extLst>
          </p:cNvPr>
          <p:cNvSpPr>
            <a:spLocks noGrp="1"/>
          </p:cNvSpPr>
          <p:nvPr>
            <p:ph type="sldNum" sz="quarter" idx="12"/>
          </p:nvPr>
        </p:nvSpPr>
        <p:spPr/>
        <p:txBody>
          <a:bodyPr/>
          <a:lstStyle/>
          <a:p>
            <a:fld id="{62D2EF3D-F703-49E9-AB6E-69446C0165D0}" type="slidenum">
              <a:rPr kumimoji="1" lang="ja-JP" altLang="en-US" smtClean="0"/>
              <a:t>25</a:t>
            </a:fld>
            <a:endParaRPr kumimoji="1" lang="ja-JP" altLang="en-US"/>
          </a:p>
        </p:txBody>
      </p:sp>
      <p:sp>
        <p:nvSpPr>
          <p:cNvPr id="6" name="テキスト ボックス 5">
            <a:extLst>
              <a:ext uri="{FF2B5EF4-FFF2-40B4-BE49-F238E27FC236}">
                <a16:creationId xmlns:a16="http://schemas.microsoft.com/office/drawing/2014/main" id="{F92F5F7F-8248-B434-3DDA-24426C8FAB19}"/>
              </a:ext>
            </a:extLst>
          </p:cNvPr>
          <p:cNvSpPr txBox="1"/>
          <p:nvPr/>
        </p:nvSpPr>
        <p:spPr>
          <a:xfrm>
            <a:off x="838200" y="1495568"/>
            <a:ext cx="5826310" cy="1200329"/>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任意の頂点を根として選ぶ</a:t>
            </a:r>
            <a:endParaRPr lang="en-US" altLang="ja-JP" sz="2400" dirty="0"/>
          </a:p>
          <a:p>
            <a:pPr marL="342900" indent="-342900">
              <a:buFont typeface="Arial" panose="020B0604020202020204" pitchFamily="34" charset="0"/>
              <a:buChar char="•"/>
            </a:pPr>
            <a:r>
              <a:rPr kumimoji="1" lang="en-US" altLang="ja-JP" sz="2400" dirty="0"/>
              <a:t>2</a:t>
            </a:r>
            <a:r>
              <a:rPr kumimoji="1" lang="ja-JP" altLang="en-US" sz="2400" dirty="0"/>
              <a:t>人以上子を持つ頂点に対して，子に任意に番号を振る</a:t>
            </a:r>
          </a:p>
        </p:txBody>
      </p:sp>
      <p:grpSp>
        <p:nvGrpSpPr>
          <p:cNvPr id="83" name="グループ化 82">
            <a:extLst>
              <a:ext uri="{FF2B5EF4-FFF2-40B4-BE49-F238E27FC236}">
                <a16:creationId xmlns:a16="http://schemas.microsoft.com/office/drawing/2014/main" id="{7DC8A6DF-87EA-8D65-8C50-233E34ABC112}"/>
              </a:ext>
            </a:extLst>
          </p:cNvPr>
          <p:cNvGrpSpPr/>
          <p:nvPr/>
        </p:nvGrpSpPr>
        <p:grpSpPr>
          <a:xfrm>
            <a:off x="6744580" y="1552527"/>
            <a:ext cx="4609220" cy="5139281"/>
            <a:chOff x="6744580" y="1279568"/>
            <a:chExt cx="4609220" cy="5139281"/>
          </a:xfrm>
        </p:grpSpPr>
        <p:cxnSp>
          <p:nvCxnSpPr>
            <p:cNvPr id="84" name="直線コネクタ 83">
              <a:extLst>
                <a:ext uri="{FF2B5EF4-FFF2-40B4-BE49-F238E27FC236}">
                  <a16:creationId xmlns:a16="http://schemas.microsoft.com/office/drawing/2014/main" id="{E21D3D2A-B74A-5D99-5051-EB2C442CE815}"/>
                </a:ext>
              </a:extLst>
            </p:cNvPr>
            <p:cNvCxnSpPr>
              <a:cxnSpLocks/>
            </p:cNvCxnSpPr>
            <p:nvPr/>
          </p:nvCxnSpPr>
          <p:spPr>
            <a:xfrm flipV="1">
              <a:off x="11239228" y="4474803"/>
              <a:ext cx="0"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27A3E0E-779A-D2A6-B43C-531430984680}"/>
                </a:ext>
              </a:extLst>
            </p:cNvPr>
            <p:cNvCxnSpPr>
              <a:cxnSpLocks/>
              <a:endCxn id="154" idx="3"/>
            </p:cNvCxnSpPr>
            <p:nvPr/>
          </p:nvCxnSpPr>
          <p:spPr>
            <a:xfrm flipV="1">
              <a:off x="7736707" y="1463936"/>
              <a:ext cx="1370239" cy="12099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9B3719FE-3573-90EC-3626-80C09DF09A68}"/>
                </a:ext>
              </a:extLst>
            </p:cNvPr>
            <p:cNvCxnSpPr>
              <a:cxnSpLocks/>
              <a:stCxn id="89" idx="0"/>
              <a:endCxn id="154" idx="4"/>
            </p:cNvCxnSpPr>
            <p:nvPr/>
          </p:nvCxnSpPr>
          <p:spPr>
            <a:xfrm flipV="1">
              <a:off x="9183313" y="1495568"/>
              <a:ext cx="1" cy="11783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9CF2C3A3-78EF-9DA1-5CC5-041920F5D9BF}"/>
                </a:ext>
              </a:extLst>
            </p:cNvPr>
            <p:cNvCxnSpPr>
              <a:cxnSpLocks/>
              <a:stCxn id="90" idx="1"/>
              <a:endCxn id="154" idx="5"/>
            </p:cNvCxnSpPr>
            <p:nvPr/>
          </p:nvCxnSpPr>
          <p:spPr>
            <a:xfrm flipH="1" flipV="1">
              <a:off x="9259682" y="1463936"/>
              <a:ext cx="1366743" cy="12521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楕円 87">
              <a:extLst>
                <a:ext uri="{FF2B5EF4-FFF2-40B4-BE49-F238E27FC236}">
                  <a16:creationId xmlns:a16="http://schemas.microsoft.com/office/drawing/2014/main" id="{39BA5360-10CB-E963-35BF-EAF0C41AD325}"/>
                </a:ext>
              </a:extLst>
            </p:cNvPr>
            <p:cNvSpPr/>
            <p:nvPr/>
          </p:nvSpPr>
          <p:spPr>
            <a:xfrm>
              <a:off x="7550883" y="2642287"/>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楕円 88">
              <a:extLst>
                <a:ext uri="{FF2B5EF4-FFF2-40B4-BE49-F238E27FC236}">
                  <a16:creationId xmlns:a16="http://schemas.microsoft.com/office/drawing/2014/main" id="{10EA26D1-54B8-C900-837F-E83CB364B079}"/>
                </a:ext>
              </a:extLst>
            </p:cNvPr>
            <p:cNvSpPr/>
            <p:nvPr/>
          </p:nvSpPr>
          <p:spPr>
            <a:xfrm>
              <a:off x="9075313" y="2673919"/>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楕円 89">
              <a:extLst>
                <a:ext uri="{FF2B5EF4-FFF2-40B4-BE49-F238E27FC236}">
                  <a16:creationId xmlns:a16="http://schemas.microsoft.com/office/drawing/2014/main" id="{1E70AF79-0923-7CE7-7484-AA3EF39D592E}"/>
                </a:ext>
              </a:extLst>
            </p:cNvPr>
            <p:cNvSpPr/>
            <p:nvPr/>
          </p:nvSpPr>
          <p:spPr>
            <a:xfrm>
              <a:off x="10594793" y="2684491"/>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1" name="直線コネクタ 90">
              <a:extLst>
                <a:ext uri="{FF2B5EF4-FFF2-40B4-BE49-F238E27FC236}">
                  <a16:creationId xmlns:a16="http://schemas.microsoft.com/office/drawing/2014/main" id="{16AD146B-97AF-C361-53A3-BE77AE396CF7}"/>
                </a:ext>
              </a:extLst>
            </p:cNvPr>
            <p:cNvCxnSpPr>
              <a:cxnSpLocks/>
            </p:cNvCxnSpPr>
            <p:nvPr/>
          </p:nvCxnSpPr>
          <p:spPr>
            <a:xfrm flipV="1">
              <a:off x="7139393" y="2826655"/>
              <a:ext cx="442482"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E320BC58-B72A-A8CD-038B-48E0E6CCAD5D}"/>
                </a:ext>
              </a:extLst>
            </p:cNvPr>
            <p:cNvCxnSpPr>
              <a:cxnSpLocks/>
            </p:cNvCxnSpPr>
            <p:nvPr/>
          </p:nvCxnSpPr>
          <p:spPr>
            <a:xfrm flipH="1" flipV="1">
              <a:off x="7736707" y="2816469"/>
              <a:ext cx="465331"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0AC08EDF-9E4E-91D2-F67A-1CC067155878}"/>
                </a:ext>
              </a:extLst>
            </p:cNvPr>
            <p:cNvCxnSpPr>
              <a:cxnSpLocks/>
            </p:cNvCxnSpPr>
            <p:nvPr/>
          </p:nvCxnSpPr>
          <p:spPr>
            <a:xfrm flipV="1">
              <a:off x="7659291" y="2858287"/>
              <a:ext cx="0" cy="1361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7F2B47D7-C65C-212F-2384-02EE1AAE9D4F}"/>
                </a:ext>
              </a:extLst>
            </p:cNvPr>
            <p:cNvCxnSpPr>
              <a:cxnSpLocks/>
            </p:cNvCxnSpPr>
            <p:nvPr/>
          </p:nvCxnSpPr>
          <p:spPr>
            <a:xfrm flipV="1">
              <a:off x="8639522" y="2868473"/>
              <a:ext cx="465331"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F6287E29-1FED-535B-6AD8-E5A5C9997C48}"/>
                </a:ext>
              </a:extLst>
            </p:cNvPr>
            <p:cNvCxnSpPr>
              <a:cxnSpLocks/>
            </p:cNvCxnSpPr>
            <p:nvPr/>
          </p:nvCxnSpPr>
          <p:spPr>
            <a:xfrm flipH="1" flipV="1">
              <a:off x="9252651" y="2865321"/>
              <a:ext cx="474453" cy="13966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04C74CA1-5B38-85AD-EF3B-E557852AB044}"/>
                </a:ext>
              </a:extLst>
            </p:cNvPr>
            <p:cNvCxnSpPr>
              <a:cxnSpLocks/>
            </p:cNvCxnSpPr>
            <p:nvPr/>
          </p:nvCxnSpPr>
          <p:spPr>
            <a:xfrm flipV="1">
              <a:off x="9182269" y="2900105"/>
              <a:ext cx="0" cy="1361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361E2C40-7617-16AA-E1CD-AC1310FA34FA}"/>
                </a:ext>
              </a:extLst>
            </p:cNvPr>
            <p:cNvCxnSpPr>
              <a:cxnSpLocks/>
            </p:cNvCxnSpPr>
            <p:nvPr/>
          </p:nvCxnSpPr>
          <p:spPr>
            <a:xfrm flipV="1">
              <a:off x="10177686" y="2868473"/>
              <a:ext cx="442482"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54B247EA-F80A-AE4F-10C5-D5783E687A72}"/>
                </a:ext>
              </a:extLst>
            </p:cNvPr>
            <p:cNvCxnSpPr>
              <a:cxnSpLocks/>
            </p:cNvCxnSpPr>
            <p:nvPr/>
          </p:nvCxnSpPr>
          <p:spPr>
            <a:xfrm flipH="1" flipV="1">
              <a:off x="10775000" y="2858287"/>
              <a:ext cx="465331"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104F02AD-D00A-85D3-2A35-99DDFAB55E25}"/>
                </a:ext>
              </a:extLst>
            </p:cNvPr>
            <p:cNvCxnSpPr>
              <a:cxnSpLocks/>
            </p:cNvCxnSpPr>
            <p:nvPr/>
          </p:nvCxnSpPr>
          <p:spPr>
            <a:xfrm flipV="1">
              <a:off x="10697584" y="2900105"/>
              <a:ext cx="0" cy="1361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楕円 99">
              <a:extLst>
                <a:ext uri="{FF2B5EF4-FFF2-40B4-BE49-F238E27FC236}">
                  <a16:creationId xmlns:a16="http://schemas.microsoft.com/office/drawing/2014/main" id="{1522F041-46C5-413B-EC52-33A9A270C76A}"/>
                </a:ext>
              </a:extLst>
            </p:cNvPr>
            <p:cNvSpPr/>
            <p:nvPr/>
          </p:nvSpPr>
          <p:spPr>
            <a:xfrm>
              <a:off x="7020162" y="4220137"/>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1" name="直線コネクタ 100">
              <a:extLst>
                <a:ext uri="{FF2B5EF4-FFF2-40B4-BE49-F238E27FC236}">
                  <a16:creationId xmlns:a16="http://schemas.microsoft.com/office/drawing/2014/main" id="{DCE29A0C-FAD6-6CE6-5B58-00D5BB72D1A8}"/>
                </a:ext>
              </a:extLst>
            </p:cNvPr>
            <p:cNvCxnSpPr>
              <a:cxnSpLocks/>
            </p:cNvCxnSpPr>
            <p:nvPr/>
          </p:nvCxnSpPr>
          <p:spPr>
            <a:xfrm flipV="1">
              <a:off x="6967792" y="4436137"/>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91E174AA-7257-D34E-144D-AEC4411C87F8}"/>
                </a:ext>
              </a:extLst>
            </p:cNvPr>
            <p:cNvCxnSpPr>
              <a:cxnSpLocks/>
            </p:cNvCxnSpPr>
            <p:nvPr/>
          </p:nvCxnSpPr>
          <p:spPr>
            <a:xfrm flipH="1" flipV="1">
              <a:off x="7139393" y="4436137"/>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楕円 102">
              <a:extLst>
                <a:ext uri="{FF2B5EF4-FFF2-40B4-BE49-F238E27FC236}">
                  <a16:creationId xmlns:a16="http://schemas.microsoft.com/office/drawing/2014/main" id="{A7556150-6172-9EBF-8FA0-E901BD2B48B5}"/>
                </a:ext>
              </a:extLst>
            </p:cNvPr>
            <p:cNvSpPr/>
            <p:nvPr/>
          </p:nvSpPr>
          <p:spPr>
            <a:xfrm>
              <a:off x="7551290" y="4220137"/>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4" name="直線コネクタ 103">
              <a:extLst>
                <a:ext uri="{FF2B5EF4-FFF2-40B4-BE49-F238E27FC236}">
                  <a16:creationId xmlns:a16="http://schemas.microsoft.com/office/drawing/2014/main" id="{E5DCC2D6-AFFD-D53D-A923-E706A408FA4B}"/>
                </a:ext>
              </a:extLst>
            </p:cNvPr>
            <p:cNvCxnSpPr>
              <a:cxnSpLocks/>
            </p:cNvCxnSpPr>
            <p:nvPr/>
          </p:nvCxnSpPr>
          <p:spPr>
            <a:xfrm flipH="1" flipV="1">
              <a:off x="7670521" y="4436137"/>
              <a:ext cx="16947"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楕円 104">
              <a:extLst>
                <a:ext uri="{FF2B5EF4-FFF2-40B4-BE49-F238E27FC236}">
                  <a16:creationId xmlns:a16="http://schemas.microsoft.com/office/drawing/2014/main" id="{B2903AA8-9E35-F779-3B81-1816450570D7}"/>
                </a:ext>
              </a:extLst>
            </p:cNvPr>
            <p:cNvSpPr/>
            <p:nvPr/>
          </p:nvSpPr>
          <p:spPr>
            <a:xfrm>
              <a:off x="8098410" y="4220137"/>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 name="直線コネクタ 105">
              <a:extLst>
                <a:ext uri="{FF2B5EF4-FFF2-40B4-BE49-F238E27FC236}">
                  <a16:creationId xmlns:a16="http://schemas.microsoft.com/office/drawing/2014/main" id="{E32E4BF1-8312-E968-E844-29B3A2593364}"/>
                </a:ext>
              </a:extLst>
            </p:cNvPr>
            <p:cNvCxnSpPr>
              <a:cxnSpLocks/>
            </p:cNvCxnSpPr>
            <p:nvPr/>
          </p:nvCxnSpPr>
          <p:spPr>
            <a:xfrm flipH="1" flipV="1">
              <a:off x="8210607" y="4436137"/>
              <a:ext cx="17768"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楕円 106">
              <a:extLst>
                <a:ext uri="{FF2B5EF4-FFF2-40B4-BE49-F238E27FC236}">
                  <a16:creationId xmlns:a16="http://schemas.microsoft.com/office/drawing/2014/main" id="{D319A42F-A6FE-D383-0216-3C10CB8FF805}"/>
                </a:ext>
              </a:extLst>
            </p:cNvPr>
            <p:cNvSpPr/>
            <p:nvPr/>
          </p:nvSpPr>
          <p:spPr>
            <a:xfrm>
              <a:off x="8553920" y="4240509"/>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8" name="直線コネクタ 107">
              <a:extLst>
                <a:ext uri="{FF2B5EF4-FFF2-40B4-BE49-F238E27FC236}">
                  <a16:creationId xmlns:a16="http://schemas.microsoft.com/office/drawing/2014/main" id="{0C06A69F-67CA-3758-58D8-055219B2686B}"/>
                </a:ext>
              </a:extLst>
            </p:cNvPr>
            <p:cNvCxnSpPr>
              <a:cxnSpLocks/>
            </p:cNvCxnSpPr>
            <p:nvPr/>
          </p:nvCxnSpPr>
          <p:spPr>
            <a:xfrm flipV="1">
              <a:off x="8501550" y="4456509"/>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線コネクタ 108">
              <a:extLst>
                <a:ext uri="{FF2B5EF4-FFF2-40B4-BE49-F238E27FC236}">
                  <a16:creationId xmlns:a16="http://schemas.microsoft.com/office/drawing/2014/main" id="{7B374B86-1215-DA86-2C20-06FB18801133}"/>
                </a:ext>
              </a:extLst>
            </p:cNvPr>
            <p:cNvCxnSpPr>
              <a:cxnSpLocks/>
            </p:cNvCxnSpPr>
            <p:nvPr/>
          </p:nvCxnSpPr>
          <p:spPr>
            <a:xfrm flipH="1" flipV="1">
              <a:off x="8673151" y="4456509"/>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楕円 109">
              <a:extLst>
                <a:ext uri="{FF2B5EF4-FFF2-40B4-BE49-F238E27FC236}">
                  <a16:creationId xmlns:a16="http://schemas.microsoft.com/office/drawing/2014/main" id="{DCE6F7FC-DAE0-B38F-81D7-309623A57BF8}"/>
                </a:ext>
              </a:extLst>
            </p:cNvPr>
            <p:cNvSpPr/>
            <p:nvPr/>
          </p:nvSpPr>
          <p:spPr>
            <a:xfrm>
              <a:off x="9080646"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1" name="直線コネクタ 110">
              <a:extLst>
                <a:ext uri="{FF2B5EF4-FFF2-40B4-BE49-F238E27FC236}">
                  <a16:creationId xmlns:a16="http://schemas.microsoft.com/office/drawing/2014/main" id="{8A337398-FB36-2EC1-B011-47E1AAC56EBB}"/>
                </a:ext>
              </a:extLst>
            </p:cNvPr>
            <p:cNvCxnSpPr>
              <a:cxnSpLocks/>
            </p:cNvCxnSpPr>
            <p:nvPr/>
          </p:nvCxnSpPr>
          <p:spPr>
            <a:xfrm flipH="1" flipV="1">
              <a:off x="9185430" y="4467769"/>
              <a:ext cx="10188"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楕円 111">
              <a:extLst>
                <a:ext uri="{FF2B5EF4-FFF2-40B4-BE49-F238E27FC236}">
                  <a16:creationId xmlns:a16="http://schemas.microsoft.com/office/drawing/2014/main" id="{6498052D-D191-DB5E-C292-086A953E3D0D}"/>
                </a:ext>
              </a:extLst>
            </p:cNvPr>
            <p:cNvSpPr/>
            <p:nvPr/>
          </p:nvSpPr>
          <p:spPr>
            <a:xfrm>
              <a:off x="9630815"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3" name="直線コネクタ 112">
              <a:extLst>
                <a:ext uri="{FF2B5EF4-FFF2-40B4-BE49-F238E27FC236}">
                  <a16:creationId xmlns:a16="http://schemas.microsoft.com/office/drawing/2014/main" id="{F9B91886-9793-DE80-3874-ECB358379C2C}"/>
                </a:ext>
              </a:extLst>
            </p:cNvPr>
            <p:cNvCxnSpPr>
              <a:cxnSpLocks/>
            </p:cNvCxnSpPr>
            <p:nvPr/>
          </p:nvCxnSpPr>
          <p:spPr>
            <a:xfrm flipV="1">
              <a:off x="9578445" y="4477955"/>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4FF04CA-77FD-48E5-CB57-357546A0E24A}"/>
                </a:ext>
              </a:extLst>
            </p:cNvPr>
            <p:cNvCxnSpPr>
              <a:cxnSpLocks/>
            </p:cNvCxnSpPr>
            <p:nvPr/>
          </p:nvCxnSpPr>
          <p:spPr>
            <a:xfrm flipH="1" flipV="1">
              <a:off x="9750046" y="4477955"/>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楕円 114">
              <a:extLst>
                <a:ext uri="{FF2B5EF4-FFF2-40B4-BE49-F238E27FC236}">
                  <a16:creationId xmlns:a16="http://schemas.microsoft.com/office/drawing/2014/main" id="{6AB2F375-F7B2-D40F-CAA5-5F7D1567392B}"/>
                </a:ext>
              </a:extLst>
            </p:cNvPr>
            <p:cNvSpPr/>
            <p:nvPr/>
          </p:nvSpPr>
          <p:spPr>
            <a:xfrm>
              <a:off x="10086305"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6" name="直線コネクタ 115">
              <a:extLst>
                <a:ext uri="{FF2B5EF4-FFF2-40B4-BE49-F238E27FC236}">
                  <a16:creationId xmlns:a16="http://schemas.microsoft.com/office/drawing/2014/main" id="{6A94471D-CE67-BF4B-22E9-A3F99570A0A8}"/>
                </a:ext>
              </a:extLst>
            </p:cNvPr>
            <p:cNvCxnSpPr>
              <a:cxnSpLocks/>
            </p:cNvCxnSpPr>
            <p:nvPr/>
          </p:nvCxnSpPr>
          <p:spPr>
            <a:xfrm flipV="1">
              <a:off x="10205536" y="4477955"/>
              <a:ext cx="0"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楕円 116">
              <a:extLst>
                <a:ext uri="{FF2B5EF4-FFF2-40B4-BE49-F238E27FC236}">
                  <a16:creationId xmlns:a16="http://schemas.microsoft.com/office/drawing/2014/main" id="{02A35B14-98C1-DFD3-E9ED-49CBED6A8F1B}"/>
                </a:ext>
              </a:extLst>
            </p:cNvPr>
            <p:cNvSpPr/>
            <p:nvPr/>
          </p:nvSpPr>
          <p:spPr>
            <a:xfrm>
              <a:off x="10594793"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8" name="直線コネクタ 117">
              <a:extLst>
                <a:ext uri="{FF2B5EF4-FFF2-40B4-BE49-F238E27FC236}">
                  <a16:creationId xmlns:a16="http://schemas.microsoft.com/office/drawing/2014/main" id="{E066EEDB-3916-76F2-AD54-D46202104C3C}"/>
                </a:ext>
              </a:extLst>
            </p:cNvPr>
            <p:cNvCxnSpPr>
              <a:cxnSpLocks/>
            </p:cNvCxnSpPr>
            <p:nvPr/>
          </p:nvCxnSpPr>
          <p:spPr>
            <a:xfrm flipV="1">
              <a:off x="10542423" y="4477955"/>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61BE46E5-4411-F48F-6E9E-E28B822F36D6}"/>
                </a:ext>
              </a:extLst>
            </p:cNvPr>
            <p:cNvCxnSpPr>
              <a:cxnSpLocks/>
            </p:cNvCxnSpPr>
            <p:nvPr/>
          </p:nvCxnSpPr>
          <p:spPr>
            <a:xfrm flipH="1" flipV="1">
              <a:off x="10714024" y="4477955"/>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楕円 119">
              <a:extLst>
                <a:ext uri="{FF2B5EF4-FFF2-40B4-BE49-F238E27FC236}">
                  <a16:creationId xmlns:a16="http://schemas.microsoft.com/office/drawing/2014/main" id="{C0B50ADE-38B2-F44D-E308-CDCCF9957C51}"/>
                </a:ext>
              </a:extLst>
            </p:cNvPr>
            <p:cNvSpPr/>
            <p:nvPr/>
          </p:nvSpPr>
          <p:spPr>
            <a:xfrm>
              <a:off x="11126569"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楕円 120">
              <a:extLst>
                <a:ext uri="{FF2B5EF4-FFF2-40B4-BE49-F238E27FC236}">
                  <a16:creationId xmlns:a16="http://schemas.microsoft.com/office/drawing/2014/main" id="{E81F7236-7D70-5FFE-B499-BBE2B7D299C7}"/>
                </a:ext>
              </a:extLst>
            </p:cNvPr>
            <p:cNvSpPr/>
            <p:nvPr/>
          </p:nvSpPr>
          <p:spPr>
            <a:xfrm>
              <a:off x="6853397"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楕円 121">
              <a:extLst>
                <a:ext uri="{FF2B5EF4-FFF2-40B4-BE49-F238E27FC236}">
                  <a16:creationId xmlns:a16="http://schemas.microsoft.com/office/drawing/2014/main" id="{D3EE811B-346A-B954-3F75-7C68148F8709}"/>
                </a:ext>
              </a:extLst>
            </p:cNvPr>
            <p:cNvSpPr/>
            <p:nvPr/>
          </p:nvSpPr>
          <p:spPr>
            <a:xfrm>
              <a:off x="7180532"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3" name="楕円 122">
              <a:extLst>
                <a:ext uri="{FF2B5EF4-FFF2-40B4-BE49-F238E27FC236}">
                  <a16:creationId xmlns:a16="http://schemas.microsoft.com/office/drawing/2014/main" id="{1E5E5513-0C16-0295-FEC4-4420AAE745EF}"/>
                </a:ext>
              </a:extLst>
            </p:cNvPr>
            <p:cNvSpPr/>
            <p:nvPr/>
          </p:nvSpPr>
          <p:spPr>
            <a:xfrm>
              <a:off x="7587566"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楕円 123">
              <a:extLst>
                <a:ext uri="{FF2B5EF4-FFF2-40B4-BE49-F238E27FC236}">
                  <a16:creationId xmlns:a16="http://schemas.microsoft.com/office/drawing/2014/main" id="{E059E6F3-8E62-C7F1-3389-938B88881678}"/>
                </a:ext>
              </a:extLst>
            </p:cNvPr>
            <p:cNvSpPr/>
            <p:nvPr/>
          </p:nvSpPr>
          <p:spPr>
            <a:xfrm>
              <a:off x="8118723"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楕円 124">
              <a:extLst>
                <a:ext uri="{FF2B5EF4-FFF2-40B4-BE49-F238E27FC236}">
                  <a16:creationId xmlns:a16="http://schemas.microsoft.com/office/drawing/2014/main" id="{5448898E-EAFC-C947-AAE7-582898CE0142}"/>
                </a:ext>
              </a:extLst>
            </p:cNvPr>
            <p:cNvSpPr/>
            <p:nvPr/>
          </p:nvSpPr>
          <p:spPr>
            <a:xfrm>
              <a:off x="8404759"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楕円 125">
              <a:extLst>
                <a:ext uri="{FF2B5EF4-FFF2-40B4-BE49-F238E27FC236}">
                  <a16:creationId xmlns:a16="http://schemas.microsoft.com/office/drawing/2014/main" id="{2D5B6BB3-0461-42D4-59E8-D49D646A0880}"/>
                </a:ext>
              </a:extLst>
            </p:cNvPr>
            <p:cNvSpPr/>
            <p:nvPr/>
          </p:nvSpPr>
          <p:spPr>
            <a:xfrm>
              <a:off x="8719916"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7" name="楕円 126">
              <a:extLst>
                <a:ext uri="{FF2B5EF4-FFF2-40B4-BE49-F238E27FC236}">
                  <a16:creationId xmlns:a16="http://schemas.microsoft.com/office/drawing/2014/main" id="{ABD31F70-5F82-935E-CFDF-F2631973BC9F}"/>
                </a:ext>
              </a:extLst>
            </p:cNvPr>
            <p:cNvSpPr/>
            <p:nvPr/>
          </p:nvSpPr>
          <p:spPr>
            <a:xfrm>
              <a:off x="9097117"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楕円 127">
              <a:extLst>
                <a:ext uri="{FF2B5EF4-FFF2-40B4-BE49-F238E27FC236}">
                  <a16:creationId xmlns:a16="http://schemas.microsoft.com/office/drawing/2014/main" id="{A5471127-1315-61B9-B7BA-94F21F0C9C25}"/>
                </a:ext>
              </a:extLst>
            </p:cNvPr>
            <p:cNvSpPr/>
            <p:nvPr/>
          </p:nvSpPr>
          <p:spPr>
            <a:xfrm>
              <a:off x="9481681"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9" name="楕円 128">
              <a:extLst>
                <a:ext uri="{FF2B5EF4-FFF2-40B4-BE49-F238E27FC236}">
                  <a16:creationId xmlns:a16="http://schemas.microsoft.com/office/drawing/2014/main" id="{76EB62DC-6D9D-1183-1825-FB7B9B8921A7}"/>
                </a:ext>
              </a:extLst>
            </p:cNvPr>
            <p:cNvSpPr/>
            <p:nvPr/>
          </p:nvSpPr>
          <p:spPr>
            <a:xfrm>
              <a:off x="9796052"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0" name="楕円 129">
              <a:extLst>
                <a:ext uri="{FF2B5EF4-FFF2-40B4-BE49-F238E27FC236}">
                  <a16:creationId xmlns:a16="http://schemas.microsoft.com/office/drawing/2014/main" id="{48279AE0-C1AD-D900-EC15-C2FC60C0EFFC}"/>
                </a:ext>
              </a:extLst>
            </p:cNvPr>
            <p:cNvSpPr/>
            <p:nvPr/>
          </p:nvSpPr>
          <p:spPr>
            <a:xfrm>
              <a:off x="10097536"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楕円 130">
              <a:extLst>
                <a:ext uri="{FF2B5EF4-FFF2-40B4-BE49-F238E27FC236}">
                  <a16:creationId xmlns:a16="http://schemas.microsoft.com/office/drawing/2014/main" id="{92F9DE5F-856E-0FF0-D545-1063BAB10B7F}"/>
                </a:ext>
              </a:extLst>
            </p:cNvPr>
            <p:cNvSpPr/>
            <p:nvPr/>
          </p:nvSpPr>
          <p:spPr>
            <a:xfrm>
              <a:off x="10428572"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楕円 131">
              <a:extLst>
                <a:ext uri="{FF2B5EF4-FFF2-40B4-BE49-F238E27FC236}">
                  <a16:creationId xmlns:a16="http://schemas.microsoft.com/office/drawing/2014/main" id="{0A8235E7-3597-863A-DD68-153A50E2E233}"/>
                </a:ext>
              </a:extLst>
            </p:cNvPr>
            <p:cNvSpPr/>
            <p:nvPr/>
          </p:nvSpPr>
          <p:spPr>
            <a:xfrm>
              <a:off x="10755163"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楕円 132">
              <a:extLst>
                <a:ext uri="{FF2B5EF4-FFF2-40B4-BE49-F238E27FC236}">
                  <a16:creationId xmlns:a16="http://schemas.microsoft.com/office/drawing/2014/main" id="{82DD06D4-2F39-7C34-7B27-95A26F431545}"/>
                </a:ext>
              </a:extLst>
            </p:cNvPr>
            <p:cNvSpPr/>
            <p:nvPr/>
          </p:nvSpPr>
          <p:spPr>
            <a:xfrm>
              <a:off x="11137800"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テキスト ボックス 133">
              <a:extLst>
                <a:ext uri="{FF2B5EF4-FFF2-40B4-BE49-F238E27FC236}">
                  <a16:creationId xmlns:a16="http://schemas.microsoft.com/office/drawing/2014/main" id="{13852582-3878-FAA6-68F3-F9F0D20A83D5}"/>
                </a:ext>
              </a:extLst>
            </p:cNvPr>
            <p:cNvSpPr txBox="1"/>
            <p:nvPr/>
          </p:nvSpPr>
          <p:spPr>
            <a:xfrm>
              <a:off x="7443523" y="2328459"/>
              <a:ext cx="433633" cy="307777"/>
            </a:xfrm>
            <a:prstGeom prst="rect">
              <a:avLst/>
            </a:prstGeom>
            <a:noFill/>
          </p:spPr>
          <p:txBody>
            <a:bodyPr wrap="square" rtlCol="0">
              <a:spAutoFit/>
            </a:bodyPr>
            <a:lstStyle/>
            <a:p>
              <a:pPr algn="ctr"/>
              <a:r>
                <a:rPr kumimoji="1" lang="ja-JP" altLang="en-US" sz="1400" dirty="0"/>
                <a:t>１</a:t>
              </a:r>
            </a:p>
          </p:txBody>
        </p:sp>
        <p:sp>
          <p:nvSpPr>
            <p:cNvPr id="135" name="テキスト ボックス 134">
              <a:extLst>
                <a:ext uri="{FF2B5EF4-FFF2-40B4-BE49-F238E27FC236}">
                  <a16:creationId xmlns:a16="http://schemas.microsoft.com/office/drawing/2014/main" id="{4119E15D-D59B-4B50-CAAD-8C52F671A921}"/>
                </a:ext>
              </a:extLst>
            </p:cNvPr>
            <p:cNvSpPr txBox="1"/>
            <p:nvPr/>
          </p:nvSpPr>
          <p:spPr>
            <a:xfrm>
              <a:off x="8765497" y="2328459"/>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36" name="テキスト ボックス 135">
              <a:extLst>
                <a:ext uri="{FF2B5EF4-FFF2-40B4-BE49-F238E27FC236}">
                  <a16:creationId xmlns:a16="http://schemas.microsoft.com/office/drawing/2014/main" id="{6748903A-B237-DC15-C8E9-195A63F44FAE}"/>
                </a:ext>
              </a:extLst>
            </p:cNvPr>
            <p:cNvSpPr txBox="1"/>
            <p:nvPr/>
          </p:nvSpPr>
          <p:spPr>
            <a:xfrm>
              <a:off x="10497207" y="2328459"/>
              <a:ext cx="433633" cy="307777"/>
            </a:xfrm>
            <a:prstGeom prst="rect">
              <a:avLst/>
            </a:prstGeom>
            <a:noFill/>
          </p:spPr>
          <p:txBody>
            <a:bodyPr wrap="square" rtlCol="0">
              <a:spAutoFit/>
            </a:bodyPr>
            <a:lstStyle/>
            <a:p>
              <a:pPr algn="ctr"/>
              <a:r>
                <a:rPr lang="ja-JP" altLang="en-US" sz="1400" dirty="0"/>
                <a:t>３</a:t>
              </a:r>
              <a:endParaRPr kumimoji="1" lang="ja-JP" altLang="en-US" sz="1400" dirty="0"/>
            </a:p>
          </p:txBody>
        </p:sp>
        <p:sp>
          <p:nvSpPr>
            <p:cNvPr id="137" name="テキスト ボックス 136">
              <a:extLst>
                <a:ext uri="{FF2B5EF4-FFF2-40B4-BE49-F238E27FC236}">
                  <a16:creationId xmlns:a16="http://schemas.microsoft.com/office/drawing/2014/main" id="{60788CA5-7A5C-5CB0-8B86-A24BE19755BF}"/>
                </a:ext>
              </a:extLst>
            </p:cNvPr>
            <p:cNvSpPr txBox="1"/>
            <p:nvPr/>
          </p:nvSpPr>
          <p:spPr>
            <a:xfrm>
              <a:off x="6820338" y="3871773"/>
              <a:ext cx="433633" cy="307777"/>
            </a:xfrm>
            <a:prstGeom prst="rect">
              <a:avLst/>
            </a:prstGeom>
            <a:noFill/>
          </p:spPr>
          <p:txBody>
            <a:bodyPr wrap="square" rtlCol="0">
              <a:spAutoFit/>
            </a:bodyPr>
            <a:lstStyle/>
            <a:p>
              <a:pPr algn="ctr"/>
              <a:r>
                <a:rPr kumimoji="1" lang="ja-JP" altLang="en-US" sz="1400" dirty="0"/>
                <a:t>１</a:t>
              </a:r>
            </a:p>
          </p:txBody>
        </p:sp>
        <p:sp>
          <p:nvSpPr>
            <p:cNvPr id="138" name="テキスト ボックス 137">
              <a:extLst>
                <a:ext uri="{FF2B5EF4-FFF2-40B4-BE49-F238E27FC236}">
                  <a16:creationId xmlns:a16="http://schemas.microsoft.com/office/drawing/2014/main" id="{69468F3E-A82E-E99C-587C-31DD3803E59A}"/>
                </a:ext>
              </a:extLst>
            </p:cNvPr>
            <p:cNvSpPr txBox="1"/>
            <p:nvPr/>
          </p:nvSpPr>
          <p:spPr>
            <a:xfrm>
              <a:off x="7264810" y="3871773"/>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39" name="テキスト ボックス 138">
              <a:extLst>
                <a:ext uri="{FF2B5EF4-FFF2-40B4-BE49-F238E27FC236}">
                  <a16:creationId xmlns:a16="http://schemas.microsoft.com/office/drawing/2014/main" id="{5A8618ED-0D66-07E4-2653-10DA580B3BA8}"/>
                </a:ext>
              </a:extLst>
            </p:cNvPr>
            <p:cNvSpPr txBox="1"/>
            <p:nvPr/>
          </p:nvSpPr>
          <p:spPr>
            <a:xfrm>
              <a:off x="7784045" y="3871773"/>
              <a:ext cx="433633" cy="307777"/>
            </a:xfrm>
            <a:prstGeom prst="rect">
              <a:avLst/>
            </a:prstGeom>
            <a:noFill/>
          </p:spPr>
          <p:txBody>
            <a:bodyPr wrap="square" rtlCol="0">
              <a:spAutoFit/>
            </a:bodyPr>
            <a:lstStyle/>
            <a:p>
              <a:pPr algn="ctr"/>
              <a:r>
                <a:rPr kumimoji="1" lang="ja-JP" altLang="en-US" sz="1400" dirty="0"/>
                <a:t>３</a:t>
              </a:r>
            </a:p>
          </p:txBody>
        </p:sp>
        <p:sp>
          <p:nvSpPr>
            <p:cNvPr id="140" name="テキスト ボックス 139">
              <a:extLst>
                <a:ext uri="{FF2B5EF4-FFF2-40B4-BE49-F238E27FC236}">
                  <a16:creationId xmlns:a16="http://schemas.microsoft.com/office/drawing/2014/main" id="{E655E75D-3504-D72F-6441-17D15746C0B7}"/>
                </a:ext>
              </a:extLst>
            </p:cNvPr>
            <p:cNvSpPr txBox="1"/>
            <p:nvPr/>
          </p:nvSpPr>
          <p:spPr>
            <a:xfrm>
              <a:off x="8303280" y="3871773"/>
              <a:ext cx="433633" cy="307777"/>
            </a:xfrm>
            <a:prstGeom prst="rect">
              <a:avLst/>
            </a:prstGeom>
            <a:noFill/>
          </p:spPr>
          <p:txBody>
            <a:bodyPr wrap="square" rtlCol="0">
              <a:spAutoFit/>
            </a:bodyPr>
            <a:lstStyle/>
            <a:p>
              <a:pPr algn="ctr"/>
              <a:r>
                <a:rPr kumimoji="1" lang="ja-JP" altLang="en-US" sz="1400" dirty="0"/>
                <a:t>１</a:t>
              </a:r>
            </a:p>
          </p:txBody>
        </p:sp>
        <p:sp>
          <p:nvSpPr>
            <p:cNvPr id="141" name="テキスト ボックス 140">
              <a:extLst>
                <a:ext uri="{FF2B5EF4-FFF2-40B4-BE49-F238E27FC236}">
                  <a16:creationId xmlns:a16="http://schemas.microsoft.com/office/drawing/2014/main" id="{E51CE2D2-777C-DAE4-60DB-759A02A548B9}"/>
                </a:ext>
              </a:extLst>
            </p:cNvPr>
            <p:cNvSpPr txBox="1"/>
            <p:nvPr/>
          </p:nvSpPr>
          <p:spPr>
            <a:xfrm>
              <a:off x="8844541" y="3871773"/>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42" name="テキスト ボックス 141">
              <a:extLst>
                <a:ext uri="{FF2B5EF4-FFF2-40B4-BE49-F238E27FC236}">
                  <a16:creationId xmlns:a16="http://schemas.microsoft.com/office/drawing/2014/main" id="{2A7DC138-6DF5-945A-0083-A6E3935671EA}"/>
                </a:ext>
              </a:extLst>
            </p:cNvPr>
            <p:cNvSpPr txBox="1"/>
            <p:nvPr/>
          </p:nvSpPr>
          <p:spPr>
            <a:xfrm>
              <a:off x="9271908" y="3871773"/>
              <a:ext cx="433633" cy="307777"/>
            </a:xfrm>
            <a:prstGeom prst="rect">
              <a:avLst/>
            </a:prstGeom>
            <a:noFill/>
          </p:spPr>
          <p:txBody>
            <a:bodyPr wrap="square" rtlCol="0">
              <a:spAutoFit/>
            </a:bodyPr>
            <a:lstStyle/>
            <a:p>
              <a:pPr algn="ctr"/>
              <a:r>
                <a:rPr lang="ja-JP" altLang="en-US" sz="1400" dirty="0"/>
                <a:t>３</a:t>
              </a:r>
              <a:endParaRPr kumimoji="1" lang="ja-JP" altLang="en-US" sz="1400" dirty="0"/>
            </a:p>
          </p:txBody>
        </p:sp>
        <p:sp>
          <p:nvSpPr>
            <p:cNvPr id="143" name="テキスト ボックス 142">
              <a:extLst>
                <a:ext uri="{FF2B5EF4-FFF2-40B4-BE49-F238E27FC236}">
                  <a16:creationId xmlns:a16="http://schemas.microsoft.com/office/drawing/2014/main" id="{F246CE6E-AEBA-DAC4-4A04-17633609397C}"/>
                </a:ext>
              </a:extLst>
            </p:cNvPr>
            <p:cNvSpPr txBox="1"/>
            <p:nvPr/>
          </p:nvSpPr>
          <p:spPr>
            <a:xfrm>
              <a:off x="9857306" y="3871773"/>
              <a:ext cx="433633" cy="307777"/>
            </a:xfrm>
            <a:prstGeom prst="rect">
              <a:avLst/>
            </a:prstGeom>
            <a:noFill/>
          </p:spPr>
          <p:txBody>
            <a:bodyPr wrap="square" rtlCol="0">
              <a:spAutoFit/>
            </a:bodyPr>
            <a:lstStyle/>
            <a:p>
              <a:pPr algn="ctr"/>
              <a:r>
                <a:rPr kumimoji="1" lang="ja-JP" altLang="en-US" sz="1400" dirty="0"/>
                <a:t>１</a:t>
              </a:r>
            </a:p>
          </p:txBody>
        </p:sp>
        <p:sp>
          <p:nvSpPr>
            <p:cNvPr id="144" name="テキスト ボックス 143">
              <a:extLst>
                <a:ext uri="{FF2B5EF4-FFF2-40B4-BE49-F238E27FC236}">
                  <a16:creationId xmlns:a16="http://schemas.microsoft.com/office/drawing/2014/main" id="{173EDFA2-EB3C-6236-3DE3-75742766B74C}"/>
                </a:ext>
              </a:extLst>
            </p:cNvPr>
            <p:cNvSpPr txBox="1"/>
            <p:nvPr/>
          </p:nvSpPr>
          <p:spPr>
            <a:xfrm>
              <a:off x="10321530" y="3871773"/>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45" name="テキスト ボックス 144">
              <a:extLst>
                <a:ext uri="{FF2B5EF4-FFF2-40B4-BE49-F238E27FC236}">
                  <a16:creationId xmlns:a16="http://schemas.microsoft.com/office/drawing/2014/main" id="{3AE5ED1D-EE11-AA57-20BB-0E7153E22C2A}"/>
                </a:ext>
              </a:extLst>
            </p:cNvPr>
            <p:cNvSpPr txBox="1"/>
            <p:nvPr/>
          </p:nvSpPr>
          <p:spPr>
            <a:xfrm>
              <a:off x="10796794" y="3871773"/>
              <a:ext cx="433633" cy="307777"/>
            </a:xfrm>
            <a:prstGeom prst="rect">
              <a:avLst/>
            </a:prstGeom>
            <a:noFill/>
          </p:spPr>
          <p:txBody>
            <a:bodyPr wrap="square" rtlCol="0">
              <a:spAutoFit/>
            </a:bodyPr>
            <a:lstStyle/>
            <a:p>
              <a:pPr algn="ctr"/>
              <a:r>
                <a:rPr lang="ja-JP" altLang="en-US" sz="1400" dirty="0"/>
                <a:t>３</a:t>
              </a:r>
              <a:endParaRPr kumimoji="1" lang="ja-JP" altLang="en-US" sz="1400" dirty="0"/>
            </a:p>
          </p:txBody>
        </p:sp>
        <p:sp>
          <p:nvSpPr>
            <p:cNvPr id="146" name="テキスト ボックス 145">
              <a:extLst>
                <a:ext uri="{FF2B5EF4-FFF2-40B4-BE49-F238E27FC236}">
                  <a16:creationId xmlns:a16="http://schemas.microsoft.com/office/drawing/2014/main" id="{15FC9DA3-1A76-45FD-EB00-E0521E291D3B}"/>
                </a:ext>
              </a:extLst>
            </p:cNvPr>
            <p:cNvSpPr txBox="1"/>
            <p:nvPr/>
          </p:nvSpPr>
          <p:spPr>
            <a:xfrm>
              <a:off x="6744580" y="6111072"/>
              <a:ext cx="433633" cy="307777"/>
            </a:xfrm>
            <a:prstGeom prst="rect">
              <a:avLst/>
            </a:prstGeom>
            <a:noFill/>
          </p:spPr>
          <p:txBody>
            <a:bodyPr wrap="square" rtlCol="0">
              <a:spAutoFit/>
            </a:bodyPr>
            <a:lstStyle/>
            <a:p>
              <a:pPr algn="ctr"/>
              <a:r>
                <a:rPr kumimoji="1" lang="ja-JP" altLang="en-US" sz="1400" dirty="0"/>
                <a:t>１</a:t>
              </a:r>
            </a:p>
          </p:txBody>
        </p:sp>
        <p:sp>
          <p:nvSpPr>
            <p:cNvPr id="147" name="テキスト ボックス 146">
              <a:extLst>
                <a:ext uri="{FF2B5EF4-FFF2-40B4-BE49-F238E27FC236}">
                  <a16:creationId xmlns:a16="http://schemas.microsoft.com/office/drawing/2014/main" id="{3B8929F5-F841-6C06-1DA0-73E59BF1FDB9}"/>
                </a:ext>
              </a:extLst>
            </p:cNvPr>
            <p:cNvSpPr txBox="1"/>
            <p:nvPr/>
          </p:nvSpPr>
          <p:spPr>
            <a:xfrm>
              <a:off x="7075427"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48" name="テキスト ボックス 147">
              <a:extLst>
                <a:ext uri="{FF2B5EF4-FFF2-40B4-BE49-F238E27FC236}">
                  <a16:creationId xmlns:a16="http://schemas.microsoft.com/office/drawing/2014/main" id="{49313286-A5D4-BD6F-22A1-C01DBCEDF0E5}"/>
                </a:ext>
              </a:extLst>
            </p:cNvPr>
            <p:cNvSpPr txBox="1"/>
            <p:nvPr/>
          </p:nvSpPr>
          <p:spPr>
            <a:xfrm>
              <a:off x="8264173" y="6111072"/>
              <a:ext cx="433633" cy="307777"/>
            </a:xfrm>
            <a:prstGeom prst="rect">
              <a:avLst/>
            </a:prstGeom>
            <a:noFill/>
          </p:spPr>
          <p:txBody>
            <a:bodyPr wrap="square" rtlCol="0">
              <a:spAutoFit/>
            </a:bodyPr>
            <a:lstStyle/>
            <a:p>
              <a:pPr algn="ctr"/>
              <a:r>
                <a:rPr kumimoji="1" lang="ja-JP" altLang="en-US" sz="1400" dirty="0"/>
                <a:t>１</a:t>
              </a:r>
            </a:p>
          </p:txBody>
        </p:sp>
        <p:sp>
          <p:nvSpPr>
            <p:cNvPr id="149" name="テキスト ボックス 148">
              <a:extLst>
                <a:ext uri="{FF2B5EF4-FFF2-40B4-BE49-F238E27FC236}">
                  <a16:creationId xmlns:a16="http://schemas.microsoft.com/office/drawing/2014/main" id="{3B2BAD33-8F30-3124-57B0-1F187CE25A81}"/>
                </a:ext>
              </a:extLst>
            </p:cNvPr>
            <p:cNvSpPr txBox="1"/>
            <p:nvPr/>
          </p:nvSpPr>
          <p:spPr>
            <a:xfrm>
              <a:off x="8641680"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50" name="テキスト ボックス 149">
              <a:extLst>
                <a:ext uri="{FF2B5EF4-FFF2-40B4-BE49-F238E27FC236}">
                  <a16:creationId xmlns:a16="http://schemas.microsoft.com/office/drawing/2014/main" id="{4FB92F57-AB3C-0E81-C300-CF59EE4684E6}"/>
                </a:ext>
              </a:extLst>
            </p:cNvPr>
            <p:cNvSpPr txBox="1"/>
            <p:nvPr/>
          </p:nvSpPr>
          <p:spPr>
            <a:xfrm>
              <a:off x="9313117" y="6111072"/>
              <a:ext cx="433633" cy="307777"/>
            </a:xfrm>
            <a:prstGeom prst="rect">
              <a:avLst/>
            </a:prstGeom>
            <a:noFill/>
          </p:spPr>
          <p:txBody>
            <a:bodyPr wrap="square" rtlCol="0">
              <a:spAutoFit/>
            </a:bodyPr>
            <a:lstStyle/>
            <a:p>
              <a:pPr algn="ctr"/>
              <a:r>
                <a:rPr kumimoji="1" lang="ja-JP" altLang="en-US" sz="1400" dirty="0"/>
                <a:t>１</a:t>
              </a:r>
            </a:p>
          </p:txBody>
        </p:sp>
        <p:sp>
          <p:nvSpPr>
            <p:cNvPr id="151" name="テキスト ボックス 150">
              <a:extLst>
                <a:ext uri="{FF2B5EF4-FFF2-40B4-BE49-F238E27FC236}">
                  <a16:creationId xmlns:a16="http://schemas.microsoft.com/office/drawing/2014/main" id="{3643EEC5-E69F-05AE-FF74-267E938FB1DB}"/>
                </a:ext>
              </a:extLst>
            </p:cNvPr>
            <p:cNvSpPr txBox="1"/>
            <p:nvPr/>
          </p:nvSpPr>
          <p:spPr>
            <a:xfrm>
              <a:off x="9699284"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52" name="テキスト ボックス 151">
              <a:extLst>
                <a:ext uri="{FF2B5EF4-FFF2-40B4-BE49-F238E27FC236}">
                  <a16:creationId xmlns:a16="http://schemas.microsoft.com/office/drawing/2014/main" id="{ABAA9780-9E0C-58EB-7962-020F3EADB0A8}"/>
                </a:ext>
              </a:extLst>
            </p:cNvPr>
            <p:cNvSpPr txBox="1"/>
            <p:nvPr/>
          </p:nvSpPr>
          <p:spPr>
            <a:xfrm>
              <a:off x="10321616" y="6111072"/>
              <a:ext cx="433633" cy="307777"/>
            </a:xfrm>
            <a:prstGeom prst="rect">
              <a:avLst/>
            </a:prstGeom>
            <a:noFill/>
          </p:spPr>
          <p:txBody>
            <a:bodyPr wrap="square" rtlCol="0">
              <a:spAutoFit/>
            </a:bodyPr>
            <a:lstStyle/>
            <a:p>
              <a:pPr algn="ctr"/>
              <a:r>
                <a:rPr kumimoji="1" lang="ja-JP" altLang="en-US" sz="1400" dirty="0"/>
                <a:t>１</a:t>
              </a:r>
            </a:p>
          </p:txBody>
        </p:sp>
        <p:sp>
          <p:nvSpPr>
            <p:cNvPr id="153" name="テキスト ボックス 152">
              <a:extLst>
                <a:ext uri="{FF2B5EF4-FFF2-40B4-BE49-F238E27FC236}">
                  <a16:creationId xmlns:a16="http://schemas.microsoft.com/office/drawing/2014/main" id="{B6B4C21F-0FC3-7417-462F-8EA6FB67BCE0}"/>
                </a:ext>
              </a:extLst>
            </p:cNvPr>
            <p:cNvSpPr txBox="1"/>
            <p:nvPr/>
          </p:nvSpPr>
          <p:spPr>
            <a:xfrm>
              <a:off x="10652463"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54" name="楕円 153">
              <a:extLst>
                <a:ext uri="{FF2B5EF4-FFF2-40B4-BE49-F238E27FC236}">
                  <a16:creationId xmlns:a16="http://schemas.microsoft.com/office/drawing/2014/main" id="{8CD254F7-C1AA-361F-87BB-A3445A2E6199}"/>
                </a:ext>
              </a:extLst>
            </p:cNvPr>
            <p:cNvSpPr/>
            <p:nvPr/>
          </p:nvSpPr>
          <p:spPr>
            <a:xfrm>
              <a:off x="9075314" y="127956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9" name="テキスト ボックス 158">
            <a:extLst>
              <a:ext uri="{FF2B5EF4-FFF2-40B4-BE49-F238E27FC236}">
                <a16:creationId xmlns:a16="http://schemas.microsoft.com/office/drawing/2014/main" id="{61C5ABA5-515E-D258-6C45-5DE04E28AEB6}"/>
              </a:ext>
            </a:extLst>
          </p:cNvPr>
          <p:cNvSpPr txBox="1"/>
          <p:nvPr/>
        </p:nvSpPr>
        <p:spPr>
          <a:xfrm>
            <a:off x="10177686" y="1400440"/>
            <a:ext cx="1453972" cy="369332"/>
          </a:xfrm>
          <a:prstGeom prst="rect">
            <a:avLst/>
          </a:prstGeom>
          <a:noFill/>
        </p:spPr>
        <p:txBody>
          <a:bodyPr wrap="square" rtlCol="0">
            <a:spAutoFit/>
          </a:bodyPr>
          <a:lstStyle/>
          <a:p>
            <a:r>
              <a:rPr kumimoji="1" lang="ja-JP" altLang="en-US" dirty="0"/>
              <a:t>：利用可能</a:t>
            </a:r>
          </a:p>
        </p:txBody>
      </p:sp>
      <p:sp>
        <p:nvSpPr>
          <p:cNvPr id="160" name="テキスト ボックス 159">
            <a:extLst>
              <a:ext uri="{FF2B5EF4-FFF2-40B4-BE49-F238E27FC236}">
                <a16:creationId xmlns:a16="http://schemas.microsoft.com/office/drawing/2014/main" id="{67E675DF-C718-A5D1-94B7-C3FA3A1E2312}"/>
              </a:ext>
            </a:extLst>
          </p:cNvPr>
          <p:cNvSpPr txBox="1"/>
          <p:nvPr/>
        </p:nvSpPr>
        <p:spPr>
          <a:xfrm>
            <a:off x="10177686" y="1787442"/>
            <a:ext cx="1837135" cy="369332"/>
          </a:xfrm>
          <a:prstGeom prst="rect">
            <a:avLst/>
          </a:prstGeom>
          <a:noFill/>
        </p:spPr>
        <p:txBody>
          <a:bodyPr wrap="square" rtlCol="0">
            <a:spAutoFit/>
          </a:bodyPr>
          <a:lstStyle/>
          <a:p>
            <a:r>
              <a:rPr kumimoji="1" lang="ja-JP" altLang="en-US" dirty="0"/>
              <a:t>：利用不可</a:t>
            </a:r>
          </a:p>
        </p:txBody>
      </p:sp>
      <p:sp>
        <p:nvSpPr>
          <p:cNvPr id="161" name="楕円 160">
            <a:extLst>
              <a:ext uri="{FF2B5EF4-FFF2-40B4-BE49-F238E27FC236}">
                <a16:creationId xmlns:a16="http://schemas.microsoft.com/office/drawing/2014/main" id="{77AE08ED-2A65-51A8-6ED7-2704F427AE75}"/>
              </a:ext>
            </a:extLst>
          </p:cNvPr>
          <p:cNvSpPr/>
          <p:nvPr/>
        </p:nvSpPr>
        <p:spPr>
          <a:xfrm>
            <a:off x="10012965" y="185574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2" name="楕円 161">
            <a:extLst>
              <a:ext uri="{FF2B5EF4-FFF2-40B4-BE49-F238E27FC236}">
                <a16:creationId xmlns:a16="http://schemas.microsoft.com/office/drawing/2014/main" id="{A7735B51-C913-080C-D39C-BAC0200AE805}"/>
              </a:ext>
            </a:extLst>
          </p:cNvPr>
          <p:cNvSpPr/>
          <p:nvPr/>
        </p:nvSpPr>
        <p:spPr>
          <a:xfrm>
            <a:off x="10024917" y="146967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3" name="テキスト ボックス 162">
                <a:extLst>
                  <a:ext uri="{FF2B5EF4-FFF2-40B4-BE49-F238E27FC236}">
                    <a16:creationId xmlns:a16="http://schemas.microsoft.com/office/drawing/2014/main" id="{90CE8860-85E9-8459-71BB-3002A302D683}"/>
                  </a:ext>
                </a:extLst>
              </p:cNvPr>
              <p:cNvSpPr txBox="1"/>
              <p:nvPr/>
            </p:nvSpPr>
            <p:spPr>
              <a:xfrm>
                <a:off x="836460" y="2882851"/>
                <a:ext cx="5648945" cy="1354217"/>
              </a:xfrm>
              <a:prstGeom prst="rect">
                <a:avLst/>
              </a:prstGeom>
              <a:noFill/>
            </p:spPr>
            <p:txBody>
              <a:bodyPr wrap="square" rtlCol="0">
                <a:spAutoFit/>
              </a:bodyPr>
              <a:lstStyle/>
              <a:p>
                <a:pPr>
                  <a:spcAft>
                    <a:spcPts val="1200"/>
                  </a:spcAft>
                </a:pPr>
                <a:r>
                  <a:rPr lang="ja-JP" altLang="en-US" sz="2400" dirty="0"/>
                  <a:t>新しいリクエストが頂点</a:t>
                </a:r>
                <a:r>
                  <a:rPr lang="en-US" altLang="ja-JP" sz="2400" dirty="0"/>
                  <a:t> </a:t>
                </a:r>
                <a14:m>
                  <m:oMath xmlns:m="http://schemas.openxmlformats.org/officeDocument/2006/math">
                    <m:r>
                      <a:rPr lang="en-US" altLang="ja-JP" sz="2400" b="0" i="1" smtClean="0">
                        <a:latin typeface="Cambria Math" panose="02040503050406030204" pitchFamily="18" charset="0"/>
                      </a:rPr>
                      <m:t>𝑣</m:t>
                    </m:r>
                  </m:oMath>
                </a14:m>
                <a:r>
                  <a:rPr lang="en-US" altLang="ja-JP" sz="2400" dirty="0"/>
                  <a:t> </a:t>
                </a:r>
                <a:r>
                  <a:rPr lang="ja-JP" altLang="en-US" sz="2400" dirty="0"/>
                  <a:t>に生起</a:t>
                </a:r>
                <a:r>
                  <a:rPr lang="en-US" altLang="ja-JP" sz="2400" dirty="0"/>
                  <a:t>:</a:t>
                </a:r>
                <a:r>
                  <a:rPr lang="ja-JP" altLang="en-US" sz="2400" dirty="0"/>
                  <a:t> </a:t>
                </a:r>
                <a:endParaRPr lang="en-US" altLang="ja-JP" sz="2400" dirty="0"/>
              </a:p>
              <a:p>
                <a:pPr>
                  <a:spcAft>
                    <a:spcPts val="1200"/>
                  </a:spcAft>
                </a:pPr>
                <a14:m>
                  <m:oMath xmlns:m="http://schemas.openxmlformats.org/officeDocument/2006/math">
                    <m:r>
                      <a:rPr lang="en-US" altLang="ja-JP" sz="2400" b="0" i="1" smtClean="0">
                        <a:latin typeface="Cambria Math" panose="02040503050406030204" pitchFamily="18" charset="0"/>
                      </a:rPr>
                      <m:t>𝑣</m:t>
                    </m:r>
                  </m:oMath>
                </a14:m>
                <a:r>
                  <a:rPr lang="en-US" altLang="ja-JP" sz="2400" dirty="0"/>
                  <a:t> </a:t>
                </a:r>
                <a:r>
                  <a:rPr lang="ja-JP" altLang="en-US" sz="2400" dirty="0"/>
                  <a:t>から</a:t>
                </a:r>
                <a:r>
                  <a:rPr lang="ja-JP" altLang="en-US" sz="2400" b="1" dirty="0"/>
                  <a:t>深さ優先探索</a:t>
                </a:r>
                <a:r>
                  <a:rPr lang="ja-JP" altLang="en-US" sz="2400" dirty="0"/>
                  <a:t>を行い，初めて見つかった利用可能なサーバに割り当てる</a:t>
                </a:r>
                <a:endParaRPr lang="en-US" altLang="ja-JP" sz="2400" dirty="0"/>
              </a:p>
            </p:txBody>
          </p:sp>
        </mc:Choice>
        <mc:Fallback xmlns="">
          <p:sp>
            <p:nvSpPr>
              <p:cNvPr id="163" name="テキスト ボックス 162">
                <a:extLst>
                  <a:ext uri="{FF2B5EF4-FFF2-40B4-BE49-F238E27FC236}">
                    <a16:creationId xmlns:a16="http://schemas.microsoft.com/office/drawing/2014/main" id="{90CE8860-85E9-8459-71BB-3002A302D683}"/>
                  </a:ext>
                </a:extLst>
              </p:cNvPr>
              <p:cNvSpPr txBox="1">
                <a:spLocks noRot="1" noChangeAspect="1" noMove="1" noResize="1" noEditPoints="1" noAdjustHandles="1" noChangeArrowheads="1" noChangeShapeType="1" noTextEdit="1"/>
              </p:cNvSpPr>
              <p:nvPr/>
            </p:nvSpPr>
            <p:spPr>
              <a:xfrm>
                <a:off x="836460" y="2882851"/>
                <a:ext cx="5648945" cy="1354217"/>
              </a:xfrm>
              <a:prstGeom prst="rect">
                <a:avLst/>
              </a:prstGeom>
              <a:blipFill>
                <a:blip r:embed="rId2"/>
                <a:stretch>
                  <a:fillRect l="-1618" t="-4955" r="-971" b="-103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119211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576C-B276-35A4-C985-7E491B09818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1263B49-DFD8-71AB-8B54-C152CEF1107B}"/>
              </a:ext>
            </a:extLst>
          </p:cNvPr>
          <p:cNvSpPr>
            <a:spLocks noGrp="1"/>
          </p:cNvSpPr>
          <p:nvPr>
            <p:ph type="title"/>
          </p:nvPr>
        </p:nvSpPr>
        <p:spPr/>
        <p:txBody>
          <a:bodyPr/>
          <a:lstStyle/>
          <a:p>
            <a:r>
              <a:rPr kumimoji="1" lang="ja-JP" altLang="en-US" dirty="0"/>
              <a:t>重み無し木</a:t>
            </a:r>
            <a:r>
              <a:rPr lang="ja-JP" altLang="en-US" dirty="0"/>
              <a:t>に対する</a:t>
            </a:r>
            <a:r>
              <a:rPr kumimoji="1" lang="ja-JP" altLang="en-US" dirty="0"/>
              <a:t>アルゴリズム</a:t>
            </a:r>
            <a:r>
              <a:rPr lang="ja-JP" altLang="en-US" dirty="0"/>
              <a:t>２</a:t>
            </a:r>
            <a:endParaRPr kumimoji="1" lang="ja-JP" altLang="en-US" dirty="0"/>
          </a:p>
        </p:txBody>
      </p:sp>
      <p:sp>
        <p:nvSpPr>
          <p:cNvPr id="4" name="スライド番号プレースホルダー 3">
            <a:extLst>
              <a:ext uri="{FF2B5EF4-FFF2-40B4-BE49-F238E27FC236}">
                <a16:creationId xmlns:a16="http://schemas.microsoft.com/office/drawing/2014/main" id="{F8C7BA64-8724-1C0D-F2CF-17E43FA455C7}"/>
              </a:ext>
            </a:extLst>
          </p:cNvPr>
          <p:cNvSpPr>
            <a:spLocks noGrp="1"/>
          </p:cNvSpPr>
          <p:nvPr>
            <p:ph type="sldNum" sz="quarter" idx="12"/>
          </p:nvPr>
        </p:nvSpPr>
        <p:spPr/>
        <p:txBody>
          <a:bodyPr/>
          <a:lstStyle/>
          <a:p>
            <a:fld id="{62D2EF3D-F703-49E9-AB6E-69446C0165D0}" type="slidenum">
              <a:rPr kumimoji="1" lang="ja-JP" altLang="en-US" smtClean="0"/>
              <a:t>26</a:t>
            </a:fld>
            <a:endParaRPr kumimoji="1" lang="ja-JP" altLang="en-US"/>
          </a:p>
        </p:txBody>
      </p:sp>
      <p:grpSp>
        <p:nvGrpSpPr>
          <p:cNvPr id="83" name="グループ化 82">
            <a:extLst>
              <a:ext uri="{FF2B5EF4-FFF2-40B4-BE49-F238E27FC236}">
                <a16:creationId xmlns:a16="http://schemas.microsoft.com/office/drawing/2014/main" id="{A6CBD237-7784-CF4C-3EDF-AFD11B71C198}"/>
              </a:ext>
            </a:extLst>
          </p:cNvPr>
          <p:cNvGrpSpPr/>
          <p:nvPr/>
        </p:nvGrpSpPr>
        <p:grpSpPr>
          <a:xfrm>
            <a:off x="6744580" y="1552527"/>
            <a:ext cx="4609220" cy="5139281"/>
            <a:chOff x="6744580" y="1279568"/>
            <a:chExt cx="4609220" cy="5139281"/>
          </a:xfrm>
        </p:grpSpPr>
        <p:cxnSp>
          <p:nvCxnSpPr>
            <p:cNvPr id="84" name="直線コネクタ 83">
              <a:extLst>
                <a:ext uri="{FF2B5EF4-FFF2-40B4-BE49-F238E27FC236}">
                  <a16:creationId xmlns:a16="http://schemas.microsoft.com/office/drawing/2014/main" id="{B7EC8F88-785E-98F8-72A4-9B9F85057FD2}"/>
                </a:ext>
              </a:extLst>
            </p:cNvPr>
            <p:cNvCxnSpPr>
              <a:cxnSpLocks/>
            </p:cNvCxnSpPr>
            <p:nvPr/>
          </p:nvCxnSpPr>
          <p:spPr>
            <a:xfrm flipV="1">
              <a:off x="11239228" y="4474803"/>
              <a:ext cx="0"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79B5F155-8C75-2AD0-B762-75C7AF03721F}"/>
                </a:ext>
              </a:extLst>
            </p:cNvPr>
            <p:cNvCxnSpPr>
              <a:cxnSpLocks/>
              <a:endCxn id="154" idx="3"/>
            </p:cNvCxnSpPr>
            <p:nvPr/>
          </p:nvCxnSpPr>
          <p:spPr>
            <a:xfrm flipV="1">
              <a:off x="7736707" y="1463936"/>
              <a:ext cx="1370239" cy="12099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0FE066F5-19BE-76A3-A329-A76263427A1C}"/>
                </a:ext>
              </a:extLst>
            </p:cNvPr>
            <p:cNvCxnSpPr>
              <a:cxnSpLocks/>
              <a:stCxn id="89" idx="0"/>
              <a:endCxn id="154" idx="4"/>
            </p:cNvCxnSpPr>
            <p:nvPr/>
          </p:nvCxnSpPr>
          <p:spPr>
            <a:xfrm flipV="1">
              <a:off x="9183313" y="1495568"/>
              <a:ext cx="1" cy="11783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59FB5B35-3AA4-D457-8B02-78AA37F0E65A}"/>
                </a:ext>
              </a:extLst>
            </p:cNvPr>
            <p:cNvCxnSpPr>
              <a:cxnSpLocks/>
              <a:stCxn id="90" idx="1"/>
              <a:endCxn id="154" idx="5"/>
            </p:cNvCxnSpPr>
            <p:nvPr/>
          </p:nvCxnSpPr>
          <p:spPr>
            <a:xfrm flipH="1" flipV="1">
              <a:off x="9259682" y="1463936"/>
              <a:ext cx="1366743" cy="12521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楕円 87">
              <a:extLst>
                <a:ext uri="{FF2B5EF4-FFF2-40B4-BE49-F238E27FC236}">
                  <a16:creationId xmlns:a16="http://schemas.microsoft.com/office/drawing/2014/main" id="{FDA13B79-1500-FB79-E1B1-CD8A4B1F7AF5}"/>
                </a:ext>
              </a:extLst>
            </p:cNvPr>
            <p:cNvSpPr/>
            <p:nvPr/>
          </p:nvSpPr>
          <p:spPr>
            <a:xfrm>
              <a:off x="7550883" y="2642287"/>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楕円 88">
              <a:extLst>
                <a:ext uri="{FF2B5EF4-FFF2-40B4-BE49-F238E27FC236}">
                  <a16:creationId xmlns:a16="http://schemas.microsoft.com/office/drawing/2014/main" id="{9C79260A-C9EB-5240-FB13-6F4136981C06}"/>
                </a:ext>
              </a:extLst>
            </p:cNvPr>
            <p:cNvSpPr/>
            <p:nvPr/>
          </p:nvSpPr>
          <p:spPr>
            <a:xfrm>
              <a:off x="9075313" y="2673919"/>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楕円 89">
              <a:extLst>
                <a:ext uri="{FF2B5EF4-FFF2-40B4-BE49-F238E27FC236}">
                  <a16:creationId xmlns:a16="http://schemas.microsoft.com/office/drawing/2014/main" id="{927D1DC5-B976-BC91-B7B2-2335660C780C}"/>
                </a:ext>
              </a:extLst>
            </p:cNvPr>
            <p:cNvSpPr/>
            <p:nvPr/>
          </p:nvSpPr>
          <p:spPr>
            <a:xfrm>
              <a:off x="10594793" y="2684491"/>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1" name="直線コネクタ 90">
              <a:extLst>
                <a:ext uri="{FF2B5EF4-FFF2-40B4-BE49-F238E27FC236}">
                  <a16:creationId xmlns:a16="http://schemas.microsoft.com/office/drawing/2014/main" id="{D8A6B26F-CDFE-BDCB-ECE5-EE23635BFA8A}"/>
                </a:ext>
              </a:extLst>
            </p:cNvPr>
            <p:cNvCxnSpPr>
              <a:cxnSpLocks/>
            </p:cNvCxnSpPr>
            <p:nvPr/>
          </p:nvCxnSpPr>
          <p:spPr>
            <a:xfrm flipV="1">
              <a:off x="7139393" y="2826655"/>
              <a:ext cx="442482"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6F0CC855-E8FC-9FC6-18F1-7BE563748E14}"/>
                </a:ext>
              </a:extLst>
            </p:cNvPr>
            <p:cNvCxnSpPr>
              <a:cxnSpLocks/>
            </p:cNvCxnSpPr>
            <p:nvPr/>
          </p:nvCxnSpPr>
          <p:spPr>
            <a:xfrm flipH="1" flipV="1">
              <a:off x="7736707" y="2816469"/>
              <a:ext cx="465331"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1C360D43-676E-3927-7FB1-5D18E94D3165}"/>
                </a:ext>
              </a:extLst>
            </p:cNvPr>
            <p:cNvCxnSpPr>
              <a:cxnSpLocks/>
            </p:cNvCxnSpPr>
            <p:nvPr/>
          </p:nvCxnSpPr>
          <p:spPr>
            <a:xfrm flipV="1">
              <a:off x="7659291" y="2858287"/>
              <a:ext cx="0" cy="1361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59FFD834-BC8B-6D6A-C179-A361CDB519AF}"/>
                </a:ext>
              </a:extLst>
            </p:cNvPr>
            <p:cNvCxnSpPr>
              <a:cxnSpLocks/>
            </p:cNvCxnSpPr>
            <p:nvPr/>
          </p:nvCxnSpPr>
          <p:spPr>
            <a:xfrm flipV="1">
              <a:off x="8639522" y="2868473"/>
              <a:ext cx="465331"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F350D1F6-740F-7D23-8BAD-8279C27581E8}"/>
                </a:ext>
              </a:extLst>
            </p:cNvPr>
            <p:cNvCxnSpPr>
              <a:cxnSpLocks/>
            </p:cNvCxnSpPr>
            <p:nvPr/>
          </p:nvCxnSpPr>
          <p:spPr>
            <a:xfrm flipH="1" flipV="1">
              <a:off x="9252651" y="2865321"/>
              <a:ext cx="474453" cy="13966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BF396C69-88E0-C40B-248C-7658E309625E}"/>
                </a:ext>
              </a:extLst>
            </p:cNvPr>
            <p:cNvCxnSpPr>
              <a:cxnSpLocks/>
            </p:cNvCxnSpPr>
            <p:nvPr/>
          </p:nvCxnSpPr>
          <p:spPr>
            <a:xfrm flipV="1">
              <a:off x="9182269" y="2900105"/>
              <a:ext cx="0" cy="1361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FD81F703-93DE-796D-A60E-69F6E82D374C}"/>
                </a:ext>
              </a:extLst>
            </p:cNvPr>
            <p:cNvCxnSpPr>
              <a:cxnSpLocks/>
            </p:cNvCxnSpPr>
            <p:nvPr/>
          </p:nvCxnSpPr>
          <p:spPr>
            <a:xfrm flipV="1">
              <a:off x="10177686" y="2868473"/>
              <a:ext cx="442482"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874181CB-C6D2-B0DF-79C7-9C1D05E1F939}"/>
                </a:ext>
              </a:extLst>
            </p:cNvPr>
            <p:cNvCxnSpPr>
              <a:cxnSpLocks/>
            </p:cNvCxnSpPr>
            <p:nvPr/>
          </p:nvCxnSpPr>
          <p:spPr>
            <a:xfrm flipH="1" flipV="1">
              <a:off x="10775000" y="2858287"/>
              <a:ext cx="465331"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F1618D8C-CA98-0F36-A3F0-854544A71670}"/>
                </a:ext>
              </a:extLst>
            </p:cNvPr>
            <p:cNvCxnSpPr>
              <a:cxnSpLocks/>
            </p:cNvCxnSpPr>
            <p:nvPr/>
          </p:nvCxnSpPr>
          <p:spPr>
            <a:xfrm flipV="1">
              <a:off x="10697584" y="2900105"/>
              <a:ext cx="0" cy="1361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楕円 99">
              <a:extLst>
                <a:ext uri="{FF2B5EF4-FFF2-40B4-BE49-F238E27FC236}">
                  <a16:creationId xmlns:a16="http://schemas.microsoft.com/office/drawing/2014/main" id="{7F1B903E-6684-27F9-EE02-B75E6D2D44B9}"/>
                </a:ext>
              </a:extLst>
            </p:cNvPr>
            <p:cNvSpPr/>
            <p:nvPr/>
          </p:nvSpPr>
          <p:spPr>
            <a:xfrm>
              <a:off x="7020162" y="4220137"/>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1" name="直線コネクタ 100">
              <a:extLst>
                <a:ext uri="{FF2B5EF4-FFF2-40B4-BE49-F238E27FC236}">
                  <a16:creationId xmlns:a16="http://schemas.microsoft.com/office/drawing/2014/main" id="{E72B6FBA-4188-E89E-53B6-656414DC534F}"/>
                </a:ext>
              </a:extLst>
            </p:cNvPr>
            <p:cNvCxnSpPr>
              <a:cxnSpLocks/>
            </p:cNvCxnSpPr>
            <p:nvPr/>
          </p:nvCxnSpPr>
          <p:spPr>
            <a:xfrm flipV="1">
              <a:off x="6967792" y="4436137"/>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172D2781-2388-7ED7-9D43-487ED9E4E577}"/>
                </a:ext>
              </a:extLst>
            </p:cNvPr>
            <p:cNvCxnSpPr>
              <a:cxnSpLocks/>
            </p:cNvCxnSpPr>
            <p:nvPr/>
          </p:nvCxnSpPr>
          <p:spPr>
            <a:xfrm flipH="1" flipV="1">
              <a:off x="7139393" y="4436137"/>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楕円 102">
              <a:extLst>
                <a:ext uri="{FF2B5EF4-FFF2-40B4-BE49-F238E27FC236}">
                  <a16:creationId xmlns:a16="http://schemas.microsoft.com/office/drawing/2014/main" id="{DA8555A5-CD65-A6AF-DD59-217B1E37BD3C}"/>
                </a:ext>
              </a:extLst>
            </p:cNvPr>
            <p:cNvSpPr/>
            <p:nvPr/>
          </p:nvSpPr>
          <p:spPr>
            <a:xfrm>
              <a:off x="7551290" y="4220137"/>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4" name="直線コネクタ 103">
              <a:extLst>
                <a:ext uri="{FF2B5EF4-FFF2-40B4-BE49-F238E27FC236}">
                  <a16:creationId xmlns:a16="http://schemas.microsoft.com/office/drawing/2014/main" id="{949F5B59-C198-EB8A-9342-E32426FEEFC0}"/>
                </a:ext>
              </a:extLst>
            </p:cNvPr>
            <p:cNvCxnSpPr>
              <a:cxnSpLocks/>
            </p:cNvCxnSpPr>
            <p:nvPr/>
          </p:nvCxnSpPr>
          <p:spPr>
            <a:xfrm flipH="1" flipV="1">
              <a:off x="7670521" y="4436137"/>
              <a:ext cx="16947"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楕円 104">
              <a:extLst>
                <a:ext uri="{FF2B5EF4-FFF2-40B4-BE49-F238E27FC236}">
                  <a16:creationId xmlns:a16="http://schemas.microsoft.com/office/drawing/2014/main" id="{5705A088-EA89-3EE5-A3FB-7B736E90B70F}"/>
                </a:ext>
              </a:extLst>
            </p:cNvPr>
            <p:cNvSpPr/>
            <p:nvPr/>
          </p:nvSpPr>
          <p:spPr>
            <a:xfrm>
              <a:off x="8098410" y="4220137"/>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 name="直線コネクタ 105">
              <a:extLst>
                <a:ext uri="{FF2B5EF4-FFF2-40B4-BE49-F238E27FC236}">
                  <a16:creationId xmlns:a16="http://schemas.microsoft.com/office/drawing/2014/main" id="{17A36A4B-3636-5596-09DD-CA5E84F6958F}"/>
                </a:ext>
              </a:extLst>
            </p:cNvPr>
            <p:cNvCxnSpPr>
              <a:cxnSpLocks/>
            </p:cNvCxnSpPr>
            <p:nvPr/>
          </p:nvCxnSpPr>
          <p:spPr>
            <a:xfrm flipH="1" flipV="1">
              <a:off x="8210607" y="4436137"/>
              <a:ext cx="17768"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楕円 106">
              <a:extLst>
                <a:ext uri="{FF2B5EF4-FFF2-40B4-BE49-F238E27FC236}">
                  <a16:creationId xmlns:a16="http://schemas.microsoft.com/office/drawing/2014/main" id="{66DC1EA4-B955-355F-DD5E-57013113F8C7}"/>
                </a:ext>
              </a:extLst>
            </p:cNvPr>
            <p:cNvSpPr/>
            <p:nvPr/>
          </p:nvSpPr>
          <p:spPr>
            <a:xfrm>
              <a:off x="8553920" y="4240509"/>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8" name="直線コネクタ 107">
              <a:extLst>
                <a:ext uri="{FF2B5EF4-FFF2-40B4-BE49-F238E27FC236}">
                  <a16:creationId xmlns:a16="http://schemas.microsoft.com/office/drawing/2014/main" id="{D83DF564-0983-6B08-0C8B-5CBC973BB7F2}"/>
                </a:ext>
              </a:extLst>
            </p:cNvPr>
            <p:cNvCxnSpPr>
              <a:cxnSpLocks/>
            </p:cNvCxnSpPr>
            <p:nvPr/>
          </p:nvCxnSpPr>
          <p:spPr>
            <a:xfrm flipV="1">
              <a:off x="8501550" y="4456509"/>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線コネクタ 108">
              <a:extLst>
                <a:ext uri="{FF2B5EF4-FFF2-40B4-BE49-F238E27FC236}">
                  <a16:creationId xmlns:a16="http://schemas.microsoft.com/office/drawing/2014/main" id="{3B0DA0B5-5013-CEE4-130E-1EBDE464F8AE}"/>
                </a:ext>
              </a:extLst>
            </p:cNvPr>
            <p:cNvCxnSpPr>
              <a:cxnSpLocks/>
            </p:cNvCxnSpPr>
            <p:nvPr/>
          </p:nvCxnSpPr>
          <p:spPr>
            <a:xfrm flipH="1" flipV="1">
              <a:off x="8673151" y="4456509"/>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楕円 109">
              <a:extLst>
                <a:ext uri="{FF2B5EF4-FFF2-40B4-BE49-F238E27FC236}">
                  <a16:creationId xmlns:a16="http://schemas.microsoft.com/office/drawing/2014/main" id="{9AF42130-0CA1-D45B-53F2-557B664AB3E0}"/>
                </a:ext>
              </a:extLst>
            </p:cNvPr>
            <p:cNvSpPr/>
            <p:nvPr/>
          </p:nvSpPr>
          <p:spPr>
            <a:xfrm>
              <a:off x="9080646"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1" name="直線コネクタ 110">
              <a:extLst>
                <a:ext uri="{FF2B5EF4-FFF2-40B4-BE49-F238E27FC236}">
                  <a16:creationId xmlns:a16="http://schemas.microsoft.com/office/drawing/2014/main" id="{9375FA7F-A6A7-2B74-DB34-3A0C670CEDBE}"/>
                </a:ext>
              </a:extLst>
            </p:cNvPr>
            <p:cNvCxnSpPr>
              <a:cxnSpLocks/>
            </p:cNvCxnSpPr>
            <p:nvPr/>
          </p:nvCxnSpPr>
          <p:spPr>
            <a:xfrm flipH="1" flipV="1">
              <a:off x="9185430" y="4467769"/>
              <a:ext cx="10188"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楕円 111">
              <a:extLst>
                <a:ext uri="{FF2B5EF4-FFF2-40B4-BE49-F238E27FC236}">
                  <a16:creationId xmlns:a16="http://schemas.microsoft.com/office/drawing/2014/main" id="{4528485F-35B4-6B10-7789-B3D4F23100AB}"/>
                </a:ext>
              </a:extLst>
            </p:cNvPr>
            <p:cNvSpPr/>
            <p:nvPr/>
          </p:nvSpPr>
          <p:spPr>
            <a:xfrm>
              <a:off x="9630815"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3" name="直線コネクタ 112">
              <a:extLst>
                <a:ext uri="{FF2B5EF4-FFF2-40B4-BE49-F238E27FC236}">
                  <a16:creationId xmlns:a16="http://schemas.microsoft.com/office/drawing/2014/main" id="{55E642F8-1033-B7B8-1EDF-786DE69FD506}"/>
                </a:ext>
              </a:extLst>
            </p:cNvPr>
            <p:cNvCxnSpPr>
              <a:cxnSpLocks/>
            </p:cNvCxnSpPr>
            <p:nvPr/>
          </p:nvCxnSpPr>
          <p:spPr>
            <a:xfrm flipV="1">
              <a:off x="9578445" y="4477955"/>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F180DB1C-78EC-A040-36BA-CBB581EFF8F6}"/>
                </a:ext>
              </a:extLst>
            </p:cNvPr>
            <p:cNvCxnSpPr>
              <a:cxnSpLocks/>
            </p:cNvCxnSpPr>
            <p:nvPr/>
          </p:nvCxnSpPr>
          <p:spPr>
            <a:xfrm flipH="1" flipV="1">
              <a:off x="9750046" y="4477955"/>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楕円 114">
              <a:extLst>
                <a:ext uri="{FF2B5EF4-FFF2-40B4-BE49-F238E27FC236}">
                  <a16:creationId xmlns:a16="http://schemas.microsoft.com/office/drawing/2014/main" id="{DB93F588-AFB2-4474-2EAE-C6AABD8A931B}"/>
                </a:ext>
              </a:extLst>
            </p:cNvPr>
            <p:cNvSpPr/>
            <p:nvPr/>
          </p:nvSpPr>
          <p:spPr>
            <a:xfrm>
              <a:off x="10086305"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6" name="直線コネクタ 115">
              <a:extLst>
                <a:ext uri="{FF2B5EF4-FFF2-40B4-BE49-F238E27FC236}">
                  <a16:creationId xmlns:a16="http://schemas.microsoft.com/office/drawing/2014/main" id="{F417AA26-3B17-2081-5E6C-F1EF0B677627}"/>
                </a:ext>
              </a:extLst>
            </p:cNvPr>
            <p:cNvCxnSpPr>
              <a:cxnSpLocks/>
            </p:cNvCxnSpPr>
            <p:nvPr/>
          </p:nvCxnSpPr>
          <p:spPr>
            <a:xfrm flipV="1">
              <a:off x="10205536" y="4477955"/>
              <a:ext cx="0"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楕円 116">
              <a:extLst>
                <a:ext uri="{FF2B5EF4-FFF2-40B4-BE49-F238E27FC236}">
                  <a16:creationId xmlns:a16="http://schemas.microsoft.com/office/drawing/2014/main" id="{478041AE-DB49-05ED-B12A-C15DDE933AF2}"/>
                </a:ext>
              </a:extLst>
            </p:cNvPr>
            <p:cNvSpPr/>
            <p:nvPr/>
          </p:nvSpPr>
          <p:spPr>
            <a:xfrm>
              <a:off x="10594793"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8" name="直線コネクタ 117">
              <a:extLst>
                <a:ext uri="{FF2B5EF4-FFF2-40B4-BE49-F238E27FC236}">
                  <a16:creationId xmlns:a16="http://schemas.microsoft.com/office/drawing/2014/main" id="{BAB4484C-DB1D-64DF-351C-3A1D781D4E56}"/>
                </a:ext>
              </a:extLst>
            </p:cNvPr>
            <p:cNvCxnSpPr>
              <a:cxnSpLocks/>
            </p:cNvCxnSpPr>
            <p:nvPr/>
          </p:nvCxnSpPr>
          <p:spPr>
            <a:xfrm flipV="1">
              <a:off x="10542423" y="4477955"/>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0238AC8B-B670-2F38-D425-88590CB59698}"/>
                </a:ext>
              </a:extLst>
            </p:cNvPr>
            <p:cNvCxnSpPr>
              <a:cxnSpLocks/>
            </p:cNvCxnSpPr>
            <p:nvPr/>
          </p:nvCxnSpPr>
          <p:spPr>
            <a:xfrm flipH="1" flipV="1">
              <a:off x="10714024" y="4477955"/>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楕円 119">
              <a:extLst>
                <a:ext uri="{FF2B5EF4-FFF2-40B4-BE49-F238E27FC236}">
                  <a16:creationId xmlns:a16="http://schemas.microsoft.com/office/drawing/2014/main" id="{1BBAE45A-AEB0-D227-E3B7-11289F6665AB}"/>
                </a:ext>
              </a:extLst>
            </p:cNvPr>
            <p:cNvSpPr/>
            <p:nvPr/>
          </p:nvSpPr>
          <p:spPr>
            <a:xfrm>
              <a:off x="11126569"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楕円 120">
              <a:extLst>
                <a:ext uri="{FF2B5EF4-FFF2-40B4-BE49-F238E27FC236}">
                  <a16:creationId xmlns:a16="http://schemas.microsoft.com/office/drawing/2014/main" id="{7CB2412D-4E1B-4249-0F2B-A7751F7CBC54}"/>
                </a:ext>
              </a:extLst>
            </p:cNvPr>
            <p:cNvSpPr/>
            <p:nvPr/>
          </p:nvSpPr>
          <p:spPr>
            <a:xfrm>
              <a:off x="6853397"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楕円 121">
              <a:extLst>
                <a:ext uri="{FF2B5EF4-FFF2-40B4-BE49-F238E27FC236}">
                  <a16:creationId xmlns:a16="http://schemas.microsoft.com/office/drawing/2014/main" id="{EC912D17-6DB8-38A6-66C3-9302D3719005}"/>
                </a:ext>
              </a:extLst>
            </p:cNvPr>
            <p:cNvSpPr/>
            <p:nvPr/>
          </p:nvSpPr>
          <p:spPr>
            <a:xfrm>
              <a:off x="7180532"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3" name="楕円 122">
              <a:extLst>
                <a:ext uri="{FF2B5EF4-FFF2-40B4-BE49-F238E27FC236}">
                  <a16:creationId xmlns:a16="http://schemas.microsoft.com/office/drawing/2014/main" id="{69EB6614-CA27-94AE-3832-3580943BA787}"/>
                </a:ext>
              </a:extLst>
            </p:cNvPr>
            <p:cNvSpPr/>
            <p:nvPr/>
          </p:nvSpPr>
          <p:spPr>
            <a:xfrm>
              <a:off x="7587566"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楕円 123">
              <a:extLst>
                <a:ext uri="{FF2B5EF4-FFF2-40B4-BE49-F238E27FC236}">
                  <a16:creationId xmlns:a16="http://schemas.microsoft.com/office/drawing/2014/main" id="{92D3F92A-D1F5-198E-571B-C3BBEF2AFFD2}"/>
                </a:ext>
              </a:extLst>
            </p:cNvPr>
            <p:cNvSpPr/>
            <p:nvPr/>
          </p:nvSpPr>
          <p:spPr>
            <a:xfrm>
              <a:off x="8118723"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楕円 124">
              <a:extLst>
                <a:ext uri="{FF2B5EF4-FFF2-40B4-BE49-F238E27FC236}">
                  <a16:creationId xmlns:a16="http://schemas.microsoft.com/office/drawing/2014/main" id="{1521F909-7A2F-F112-3593-387F0449AD2A}"/>
                </a:ext>
              </a:extLst>
            </p:cNvPr>
            <p:cNvSpPr/>
            <p:nvPr/>
          </p:nvSpPr>
          <p:spPr>
            <a:xfrm>
              <a:off x="8404759"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楕円 125">
              <a:extLst>
                <a:ext uri="{FF2B5EF4-FFF2-40B4-BE49-F238E27FC236}">
                  <a16:creationId xmlns:a16="http://schemas.microsoft.com/office/drawing/2014/main" id="{48516076-16E3-36C9-6D8D-0CECE3B8A99B}"/>
                </a:ext>
              </a:extLst>
            </p:cNvPr>
            <p:cNvSpPr/>
            <p:nvPr/>
          </p:nvSpPr>
          <p:spPr>
            <a:xfrm>
              <a:off x="8719916"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7" name="楕円 126">
              <a:extLst>
                <a:ext uri="{FF2B5EF4-FFF2-40B4-BE49-F238E27FC236}">
                  <a16:creationId xmlns:a16="http://schemas.microsoft.com/office/drawing/2014/main" id="{DB2A8EC0-2148-433F-5A8A-82F131A46C2E}"/>
                </a:ext>
              </a:extLst>
            </p:cNvPr>
            <p:cNvSpPr/>
            <p:nvPr/>
          </p:nvSpPr>
          <p:spPr>
            <a:xfrm>
              <a:off x="9097117"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楕円 127">
              <a:extLst>
                <a:ext uri="{FF2B5EF4-FFF2-40B4-BE49-F238E27FC236}">
                  <a16:creationId xmlns:a16="http://schemas.microsoft.com/office/drawing/2014/main" id="{CA989549-49CB-98A0-BA38-5003F28C87ED}"/>
                </a:ext>
              </a:extLst>
            </p:cNvPr>
            <p:cNvSpPr/>
            <p:nvPr/>
          </p:nvSpPr>
          <p:spPr>
            <a:xfrm>
              <a:off x="9481681"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9" name="楕円 128">
              <a:extLst>
                <a:ext uri="{FF2B5EF4-FFF2-40B4-BE49-F238E27FC236}">
                  <a16:creationId xmlns:a16="http://schemas.microsoft.com/office/drawing/2014/main" id="{07A58C5E-BBDF-E9AD-BE01-28BCA7572F6E}"/>
                </a:ext>
              </a:extLst>
            </p:cNvPr>
            <p:cNvSpPr/>
            <p:nvPr/>
          </p:nvSpPr>
          <p:spPr>
            <a:xfrm>
              <a:off x="9796052"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0" name="楕円 129">
              <a:extLst>
                <a:ext uri="{FF2B5EF4-FFF2-40B4-BE49-F238E27FC236}">
                  <a16:creationId xmlns:a16="http://schemas.microsoft.com/office/drawing/2014/main" id="{F68B275D-FE57-A892-10EE-3BDEE17CE0AE}"/>
                </a:ext>
              </a:extLst>
            </p:cNvPr>
            <p:cNvSpPr/>
            <p:nvPr/>
          </p:nvSpPr>
          <p:spPr>
            <a:xfrm>
              <a:off x="10097536"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楕円 130">
              <a:extLst>
                <a:ext uri="{FF2B5EF4-FFF2-40B4-BE49-F238E27FC236}">
                  <a16:creationId xmlns:a16="http://schemas.microsoft.com/office/drawing/2014/main" id="{CF665C6D-6DEC-6290-4CEE-D466A68A9365}"/>
                </a:ext>
              </a:extLst>
            </p:cNvPr>
            <p:cNvSpPr/>
            <p:nvPr/>
          </p:nvSpPr>
          <p:spPr>
            <a:xfrm>
              <a:off x="10428572"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楕円 131">
              <a:extLst>
                <a:ext uri="{FF2B5EF4-FFF2-40B4-BE49-F238E27FC236}">
                  <a16:creationId xmlns:a16="http://schemas.microsoft.com/office/drawing/2014/main" id="{33DA01FB-2AAA-CC6D-D9D4-F8FD9E28C653}"/>
                </a:ext>
              </a:extLst>
            </p:cNvPr>
            <p:cNvSpPr/>
            <p:nvPr/>
          </p:nvSpPr>
          <p:spPr>
            <a:xfrm>
              <a:off x="10755163"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楕円 132">
              <a:extLst>
                <a:ext uri="{FF2B5EF4-FFF2-40B4-BE49-F238E27FC236}">
                  <a16:creationId xmlns:a16="http://schemas.microsoft.com/office/drawing/2014/main" id="{022B3155-6F8D-0030-AB02-A5A1898CB9F5}"/>
                </a:ext>
              </a:extLst>
            </p:cNvPr>
            <p:cNvSpPr/>
            <p:nvPr/>
          </p:nvSpPr>
          <p:spPr>
            <a:xfrm>
              <a:off x="11137800"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テキスト ボックス 133">
              <a:extLst>
                <a:ext uri="{FF2B5EF4-FFF2-40B4-BE49-F238E27FC236}">
                  <a16:creationId xmlns:a16="http://schemas.microsoft.com/office/drawing/2014/main" id="{CA5CB2E0-004E-55C1-5DE2-F2CA08DD6B6A}"/>
                </a:ext>
              </a:extLst>
            </p:cNvPr>
            <p:cNvSpPr txBox="1"/>
            <p:nvPr/>
          </p:nvSpPr>
          <p:spPr>
            <a:xfrm>
              <a:off x="7443523" y="2328459"/>
              <a:ext cx="433633" cy="307777"/>
            </a:xfrm>
            <a:prstGeom prst="rect">
              <a:avLst/>
            </a:prstGeom>
            <a:noFill/>
          </p:spPr>
          <p:txBody>
            <a:bodyPr wrap="square" rtlCol="0">
              <a:spAutoFit/>
            </a:bodyPr>
            <a:lstStyle/>
            <a:p>
              <a:pPr algn="ctr"/>
              <a:r>
                <a:rPr kumimoji="1" lang="ja-JP" altLang="en-US" sz="1400" dirty="0"/>
                <a:t>１</a:t>
              </a:r>
            </a:p>
          </p:txBody>
        </p:sp>
        <p:sp>
          <p:nvSpPr>
            <p:cNvPr id="135" name="テキスト ボックス 134">
              <a:extLst>
                <a:ext uri="{FF2B5EF4-FFF2-40B4-BE49-F238E27FC236}">
                  <a16:creationId xmlns:a16="http://schemas.microsoft.com/office/drawing/2014/main" id="{25685F0F-E09E-7B62-1A7D-0C77F76834A6}"/>
                </a:ext>
              </a:extLst>
            </p:cNvPr>
            <p:cNvSpPr txBox="1"/>
            <p:nvPr/>
          </p:nvSpPr>
          <p:spPr>
            <a:xfrm>
              <a:off x="8765497" y="2328459"/>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36" name="テキスト ボックス 135">
              <a:extLst>
                <a:ext uri="{FF2B5EF4-FFF2-40B4-BE49-F238E27FC236}">
                  <a16:creationId xmlns:a16="http://schemas.microsoft.com/office/drawing/2014/main" id="{8B834846-7B99-F038-701E-8300AC948E2F}"/>
                </a:ext>
              </a:extLst>
            </p:cNvPr>
            <p:cNvSpPr txBox="1"/>
            <p:nvPr/>
          </p:nvSpPr>
          <p:spPr>
            <a:xfrm>
              <a:off x="10497207" y="2328459"/>
              <a:ext cx="433633" cy="307777"/>
            </a:xfrm>
            <a:prstGeom prst="rect">
              <a:avLst/>
            </a:prstGeom>
            <a:noFill/>
          </p:spPr>
          <p:txBody>
            <a:bodyPr wrap="square" rtlCol="0">
              <a:spAutoFit/>
            </a:bodyPr>
            <a:lstStyle/>
            <a:p>
              <a:pPr algn="ctr"/>
              <a:r>
                <a:rPr lang="ja-JP" altLang="en-US" sz="1400" dirty="0"/>
                <a:t>３</a:t>
              </a:r>
              <a:endParaRPr kumimoji="1" lang="ja-JP" altLang="en-US" sz="1400" dirty="0"/>
            </a:p>
          </p:txBody>
        </p:sp>
        <p:sp>
          <p:nvSpPr>
            <p:cNvPr id="137" name="テキスト ボックス 136">
              <a:extLst>
                <a:ext uri="{FF2B5EF4-FFF2-40B4-BE49-F238E27FC236}">
                  <a16:creationId xmlns:a16="http://schemas.microsoft.com/office/drawing/2014/main" id="{6C0DE9B5-ADFC-3D05-EB54-736791A6BA03}"/>
                </a:ext>
              </a:extLst>
            </p:cNvPr>
            <p:cNvSpPr txBox="1"/>
            <p:nvPr/>
          </p:nvSpPr>
          <p:spPr>
            <a:xfrm>
              <a:off x="6820338" y="3871773"/>
              <a:ext cx="433633" cy="307777"/>
            </a:xfrm>
            <a:prstGeom prst="rect">
              <a:avLst/>
            </a:prstGeom>
            <a:noFill/>
          </p:spPr>
          <p:txBody>
            <a:bodyPr wrap="square" rtlCol="0">
              <a:spAutoFit/>
            </a:bodyPr>
            <a:lstStyle/>
            <a:p>
              <a:pPr algn="ctr"/>
              <a:r>
                <a:rPr kumimoji="1" lang="ja-JP" altLang="en-US" sz="1400" dirty="0"/>
                <a:t>１</a:t>
              </a:r>
            </a:p>
          </p:txBody>
        </p:sp>
        <p:sp>
          <p:nvSpPr>
            <p:cNvPr id="138" name="テキスト ボックス 137">
              <a:extLst>
                <a:ext uri="{FF2B5EF4-FFF2-40B4-BE49-F238E27FC236}">
                  <a16:creationId xmlns:a16="http://schemas.microsoft.com/office/drawing/2014/main" id="{5CC8E48C-0C1A-CD5B-0A63-F6681C877D66}"/>
                </a:ext>
              </a:extLst>
            </p:cNvPr>
            <p:cNvSpPr txBox="1"/>
            <p:nvPr/>
          </p:nvSpPr>
          <p:spPr>
            <a:xfrm>
              <a:off x="7264810" y="3871773"/>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39" name="テキスト ボックス 138">
              <a:extLst>
                <a:ext uri="{FF2B5EF4-FFF2-40B4-BE49-F238E27FC236}">
                  <a16:creationId xmlns:a16="http://schemas.microsoft.com/office/drawing/2014/main" id="{294E10FA-75FA-7ED1-7312-D0A01900875D}"/>
                </a:ext>
              </a:extLst>
            </p:cNvPr>
            <p:cNvSpPr txBox="1"/>
            <p:nvPr/>
          </p:nvSpPr>
          <p:spPr>
            <a:xfrm>
              <a:off x="7784045" y="3871773"/>
              <a:ext cx="433633" cy="307777"/>
            </a:xfrm>
            <a:prstGeom prst="rect">
              <a:avLst/>
            </a:prstGeom>
            <a:noFill/>
          </p:spPr>
          <p:txBody>
            <a:bodyPr wrap="square" rtlCol="0">
              <a:spAutoFit/>
            </a:bodyPr>
            <a:lstStyle/>
            <a:p>
              <a:pPr algn="ctr"/>
              <a:r>
                <a:rPr kumimoji="1" lang="ja-JP" altLang="en-US" sz="1400" dirty="0"/>
                <a:t>３</a:t>
              </a:r>
            </a:p>
          </p:txBody>
        </p:sp>
        <p:sp>
          <p:nvSpPr>
            <p:cNvPr id="140" name="テキスト ボックス 139">
              <a:extLst>
                <a:ext uri="{FF2B5EF4-FFF2-40B4-BE49-F238E27FC236}">
                  <a16:creationId xmlns:a16="http://schemas.microsoft.com/office/drawing/2014/main" id="{20F78979-4B7A-61A9-AD7F-79BC9471BB5B}"/>
                </a:ext>
              </a:extLst>
            </p:cNvPr>
            <p:cNvSpPr txBox="1"/>
            <p:nvPr/>
          </p:nvSpPr>
          <p:spPr>
            <a:xfrm>
              <a:off x="8303280" y="3871773"/>
              <a:ext cx="433633" cy="307777"/>
            </a:xfrm>
            <a:prstGeom prst="rect">
              <a:avLst/>
            </a:prstGeom>
            <a:noFill/>
          </p:spPr>
          <p:txBody>
            <a:bodyPr wrap="square" rtlCol="0">
              <a:spAutoFit/>
            </a:bodyPr>
            <a:lstStyle/>
            <a:p>
              <a:pPr algn="ctr"/>
              <a:r>
                <a:rPr kumimoji="1" lang="ja-JP" altLang="en-US" sz="1400" dirty="0"/>
                <a:t>１</a:t>
              </a:r>
            </a:p>
          </p:txBody>
        </p:sp>
        <p:sp>
          <p:nvSpPr>
            <p:cNvPr id="141" name="テキスト ボックス 140">
              <a:extLst>
                <a:ext uri="{FF2B5EF4-FFF2-40B4-BE49-F238E27FC236}">
                  <a16:creationId xmlns:a16="http://schemas.microsoft.com/office/drawing/2014/main" id="{72A371B3-D317-046C-F474-508B150BE17B}"/>
                </a:ext>
              </a:extLst>
            </p:cNvPr>
            <p:cNvSpPr txBox="1"/>
            <p:nvPr/>
          </p:nvSpPr>
          <p:spPr>
            <a:xfrm>
              <a:off x="8844541" y="3871773"/>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42" name="テキスト ボックス 141">
              <a:extLst>
                <a:ext uri="{FF2B5EF4-FFF2-40B4-BE49-F238E27FC236}">
                  <a16:creationId xmlns:a16="http://schemas.microsoft.com/office/drawing/2014/main" id="{6585583F-C25E-AC52-E920-4AB49460A66C}"/>
                </a:ext>
              </a:extLst>
            </p:cNvPr>
            <p:cNvSpPr txBox="1"/>
            <p:nvPr/>
          </p:nvSpPr>
          <p:spPr>
            <a:xfrm>
              <a:off x="9271908" y="3871773"/>
              <a:ext cx="433633" cy="307777"/>
            </a:xfrm>
            <a:prstGeom prst="rect">
              <a:avLst/>
            </a:prstGeom>
            <a:noFill/>
          </p:spPr>
          <p:txBody>
            <a:bodyPr wrap="square" rtlCol="0">
              <a:spAutoFit/>
            </a:bodyPr>
            <a:lstStyle/>
            <a:p>
              <a:pPr algn="ctr"/>
              <a:r>
                <a:rPr lang="ja-JP" altLang="en-US" sz="1400" dirty="0"/>
                <a:t>３</a:t>
              </a:r>
              <a:endParaRPr kumimoji="1" lang="ja-JP" altLang="en-US" sz="1400" dirty="0"/>
            </a:p>
          </p:txBody>
        </p:sp>
        <p:sp>
          <p:nvSpPr>
            <p:cNvPr id="143" name="テキスト ボックス 142">
              <a:extLst>
                <a:ext uri="{FF2B5EF4-FFF2-40B4-BE49-F238E27FC236}">
                  <a16:creationId xmlns:a16="http://schemas.microsoft.com/office/drawing/2014/main" id="{062A8268-0088-DCA1-76AF-F1F395F1BAAD}"/>
                </a:ext>
              </a:extLst>
            </p:cNvPr>
            <p:cNvSpPr txBox="1"/>
            <p:nvPr/>
          </p:nvSpPr>
          <p:spPr>
            <a:xfrm>
              <a:off x="9857306" y="3871773"/>
              <a:ext cx="433633" cy="307777"/>
            </a:xfrm>
            <a:prstGeom prst="rect">
              <a:avLst/>
            </a:prstGeom>
            <a:noFill/>
          </p:spPr>
          <p:txBody>
            <a:bodyPr wrap="square" rtlCol="0">
              <a:spAutoFit/>
            </a:bodyPr>
            <a:lstStyle/>
            <a:p>
              <a:pPr algn="ctr"/>
              <a:r>
                <a:rPr kumimoji="1" lang="ja-JP" altLang="en-US" sz="1400" dirty="0"/>
                <a:t>１</a:t>
              </a:r>
            </a:p>
          </p:txBody>
        </p:sp>
        <p:sp>
          <p:nvSpPr>
            <p:cNvPr id="144" name="テキスト ボックス 143">
              <a:extLst>
                <a:ext uri="{FF2B5EF4-FFF2-40B4-BE49-F238E27FC236}">
                  <a16:creationId xmlns:a16="http://schemas.microsoft.com/office/drawing/2014/main" id="{52CC944F-14CB-FF51-C01B-880D1FDE9791}"/>
                </a:ext>
              </a:extLst>
            </p:cNvPr>
            <p:cNvSpPr txBox="1"/>
            <p:nvPr/>
          </p:nvSpPr>
          <p:spPr>
            <a:xfrm>
              <a:off x="10321530" y="3871773"/>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45" name="テキスト ボックス 144">
              <a:extLst>
                <a:ext uri="{FF2B5EF4-FFF2-40B4-BE49-F238E27FC236}">
                  <a16:creationId xmlns:a16="http://schemas.microsoft.com/office/drawing/2014/main" id="{E5F22547-A965-14A5-0D09-935CF7442843}"/>
                </a:ext>
              </a:extLst>
            </p:cNvPr>
            <p:cNvSpPr txBox="1"/>
            <p:nvPr/>
          </p:nvSpPr>
          <p:spPr>
            <a:xfrm>
              <a:off x="10796794" y="3871773"/>
              <a:ext cx="433633" cy="307777"/>
            </a:xfrm>
            <a:prstGeom prst="rect">
              <a:avLst/>
            </a:prstGeom>
            <a:noFill/>
          </p:spPr>
          <p:txBody>
            <a:bodyPr wrap="square" rtlCol="0">
              <a:spAutoFit/>
            </a:bodyPr>
            <a:lstStyle/>
            <a:p>
              <a:pPr algn="ctr"/>
              <a:r>
                <a:rPr lang="ja-JP" altLang="en-US" sz="1400" dirty="0"/>
                <a:t>３</a:t>
              </a:r>
              <a:endParaRPr kumimoji="1" lang="ja-JP" altLang="en-US" sz="1400" dirty="0"/>
            </a:p>
          </p:txBody>
        </p:sp>
        <p:sp>
          <p:nvSpPr>
            <p:cNvPr id="146" name="テキスト ボックス 145">
              <a:extLst>
                <a:ext uri="{FF2B5EF4-FFF2-40B4-BE49-F238E27FC236}">
                  <a16:creationId xmlns:a16="http://schemas.microsoft.com/office/drawing/2014/main" id="{A665F39B-B57A-E41D-DE31-E1860D725170}"/>
                </a:ext>
              </a:extLst>
            </p:cNvPr>
            <p:cNvSpPr txBox="1"/>
            <p:nvPr/>
          </p:nvSpPr>
          <p:spPr>
            <a:xfrm>
              <a:off x="6744580" y="6111072"/>
              <a:ext cx="433633" cy="307777"/>
            </a:xfrm>
            <a:prstGeom prst="rect">
              <a:avLst/>
            </a:prstGeom>
            <a:noFill/>
          </p:spPr>
          <p:txBody>
            <a:bodyPr wrap="square" rtlCol="0">
              <a:spAutoFit/>
            </a:bodyPr>
            <a:lstStyle/>
            <a:p>
              <a:pPr algn="ctr"/>
              <a:r>
                <a:rPr kumimoji="1" lang="ja-JP" altLang="en-US" sz="1400" dirty="0"/>
                <a:t>１</a:t>
              </a:r>
            </a:p>
          </p:txBody>
        </p:sp>
        <p:sp>
          <p:nvSpPr>
            <p:cNvPr id="147" name="テキスト ボックス 146">
              <a:extLst>
                <a:ext uri="{FF2B5EF4-FFF2-40B4-BE49-F238E27FC236}">
                  <a16:creationId xmlns:a16="http://schemas.microsoft.com/office/drawing/2014/main" id="{6581D8B9-07BE-43ED-4BB5-EE9CE95DC20B}"/>
                </a:ext>
              </a:extLst>
            </p:cNvPr>
            <p:cNvSpPr txBox="1"/>
            <p:nvPr/>
          </p:nvSpPr>
          <p:spPr>
            <a:xfrm>
              <a:off x="7075427"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48" name="テキスト ボックス 147">
              <a:extLst>
                <a:ext uri="{FF2B5EF4-FFF2-40B4-BE49-F238E27FC236}">
                  <a16:creationId xmlns:a16="http://schemas.microsoft.com/office/drawing/2014/main" id="{E2B8BA2F-530E-1FC0-AD49-07B106E68082}"/>
                </a:ext>
              </a:extLst>
            </p:cNvPr>
            <p:cNvSpPr txBox="1"/>
            <p:nvPr/>
          </p:nvSpPr>
          <p:spPr>
            <a:xfrm>
              <a:off x="8264173" y="6111072"/>
              <a:ext cx="433633" cy="307777"/>
            </a:xfrm>
            <a:prstGeom prst="rect">
              <a:avLst/>
            </a:prstGeom>
            <a:noFill/>
          </p:spPr>
          <p:txBody>
            <a:bodyPr wrap="square" rtlCol="0">
              <a:spAutoFit/>
            </a:bodyPr>
            <a:lstStyle/>
            <a:p>
              <a:pPr algn="ctr"/>
              <a:r>
                <a:rPr kumimoji="1" lang="ja-JP" altLang="en-US" sz="1400" dirty="0"/>
                <a:t>１</a:t>
              </a:r>
            </a:p>
          </p:txBody>
        </p:sp>
        <p:sp>
          <p:nvSpPr>
            <p:cNvPr id="149" name="テキスト ボックス 148">
              <a:extLst>
                <a:ext uri="{FF2B5EF4-FFF2-40B4-BE49-F238E27FC236}">
                  <a16:creationId xmlns:a16="http://schemas.microsoft.com/office/drawing/2014/main" id="{DC4D1A59-E67F-BFF0-9DAD-9EA5D02A2651}"/>
                </a:ext>
              </a:extLst>
            </p:cNvPr>
            <p:cNvSpPr txBox="1"/>
            <p:nvPr/>
          </p:nvSpPr>
          <p:spPr>
            <a:xfrm>
              <a:off x="8641680"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50" name="テキスト ボックス 149">
              <a:extLst>
                <a:ext uri="{FF2B5EF4-FFF2-40B4-BE49-F238E27FC236}">
                  <a16:creationId xmlns:a16="http://schemas.microsoft.com/office/drawing/2014/main" id="{D9BBE44F-27D0-8A29-A339-B6E72CA43C87}"/>
                </a:ext>
              </a:extLst>
            </p:cNvPr>
            <p:cNvSpPr txBox="1"/>
            <p:nvPr/>
          </p:nvSpPr>
          <p:spPr>
            <a:xfrm>
              <a:off x="9313117" y="6111072"/>
              <a:ext cx="433633" cy="307777"/>
            </a:xfrm>
            <a:prstGeom prst="rect">
              <a:avLst/>
            </a:prstGeom>
            <a:noFill/>
          </p:spPr>
          <p:txBody>
            <a:bodyPr wrap="square" rtlCol="0">
              <a:spAutoFit/>
            </a:bodyPr>
            <a:lstStyle/>
            <a:p>
              <a:pPr algn="ctr"/>
              <a:r>
                <a:rPr kumimoji="1" lang="ja-JP" altLang="en-US" sz="1400" dirty="0"/>
                <a:t>１</a:t>
              </a:r>
            </a:p>
          </p:txBody>
        </p:sp>
        <p:sp>
          <p:nvSpPr>
            <p:cNvPr id="151" name="テキスト ボックス 150">
              <a:extLst>
                <a:ext uri="{FF2B5EF4-FFF2-40B4-BE49-F238E27FC236}">
                  <a16:creationId xmlns:a16="http://schemas.microsoft.com/office/drawing/2014/main" id="{33FF0D79-E43F-E04D-3F84-E2CDC4E61921}"/>
                </a:ext>
              </a:extLst>
            </p:cNvPr>
            <p:cNvSpPr txBox="1"/>
            <p:nvPr/>
          </p:nvSpPr>
          <p:spPr>
            <a:xfrm>
              <a:off x="9699284"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52" name="テキスト ボックス 151">
              <a:extLst>
                <a:ext uri="{FF2B5EF4-FFF2-40B4-BE49-F238E27FC236}">
                  <a16:creationId xmlns:a16="http://schemas.microsoft.com/office/drawing/2014/main" id="{D8694C34-2659-67F1-D893-0D4B6661C678}"/>
                </a:ext>
              </a:extLst>
            </p:cNvPr>
            <p:cNvSpPr txBox="1"/>
            <p:nvPr/>
          </p:nvSpPr>
          <p:spPr>
            <a:xfrm>
              <a:off x="10321616" y="6111072"/>
              <a:ext cx="433633" cy="307777"/>
            </a:xfrm>
            <a:prstGeom prst="rect">
              <a:avLst/>
            </a:prstGeom>
            <a:noFill/>
          </p:spPr>
          <p:txBody>
            <a:bodyPr wrap="square" rtlCol="0">
              <a:spAutoFit/>
            </a:bodyPr>
            <a:lstStyle/>
            <a:p>
              <a:pPr algn="ctr"/>
              <a:r>
                <a:rPr kumimoji="1" lang="ja-JP" altLang="en-US" sz="1400" dirty="0"/>
                <a:t>１</a:t>
              </a:r>
            </a:p>
          </p:txBody>
        </p:sp>
        <p:sp>
          <p:nvSpPr>
            <p:cNvPr id="153" name="テキスト ボックス 152">
              <a:extLst>
                <a:ext uri="{FF2B5EF4-FFF2-40B4-BE49-F238E27FC236}">
                  <a16:creationId xmlns:a16="http://schemas.microsoft.com/office/drawing/2014/main" id="{39930E1E-421C-FB93-2A4D-3E2B65658C12}"/>
                </a:ext>
              </a:extLst>
            </p:cNvPr>
            <p:cNvSpPr txBox="1"/>
            <p:nvPr/>
          </p:nvSpPr>
          <p:spPr>
            <a:xfrm>
              <a:off x="10652463"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54" name="楕円 153">
              <a:extLst>
                <a:ext uri="{FF2B5EF4-FFF2-40B4-BE49-F238E27FC236}">
                  <a16:creationId xmlns:a16="http://schemas.microsoft.com/office/drawing/2014/main" id="{2BECEE54-CA4D-DBBB-6FDD-383AA282BDAE}"/>
                </a:ext>
              </a:extLst>
            </p:cNvPr>
            <p:cNvSpPr/>
            <p:nvPr/>
          </p:nvSpPr>
          <p:spPr>
            <a:xfrm>
              <a:off x="9075314" y="127956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9" name="テキスト ボックス 158">
            <a:extLst>
              <a:ext uri="{FF2B5EF4-FFF2-40B4-BE49-F238E27FC236}">
                <a16:creationId xmlns:a16="http://schemas.microsoft.com/office/drawing/2014/main" id="{CD80622D-ABA7-766A-BEA7-8D93FC1B1BBF}"/>
              </a:ext>
            </a:extLst>
          </p:cNvPr>
          <p:cNvSpPr txBox="1"/>
          <p:nvPr/>
        </p:nvSpPr>
        <p:spPr>
          <a:xfrm>
            <a:off x="10177686" y="1400440"/>
            <a:ext cx="1453972" cy="369332"/>
          </a:xfrm>
          <a:prstGeom prst="rect">
            <a:avLst/>
          </a:prstGeom>
          <a:noFill/>
        </p:spPr>
        <p:txBody>
          <a:bodyPr wrap="square" rtlCol="0">
            <a:spAutoFit/>
          </a:bodyPr>
          <a:lstStyle/>
          <a:p>
            <a:r>
              <a:rPr kumimoji="1" lang="ja-JP" altLang="en-US" dirty="0"/>
              <a:t>：利用可能</a:t>
            </a:r>
          </a:p>
        </p:txBody>
      </p:sp>
      <p:sp>
        <p:nvSpPr>
          <p:cNvPr id="160" name="テキスト ボックス 159">
            <a:extLst>
              <a:ext uri="{FF2B5EF4-FFF2-40B4-BE49-F238E27FC236}">
                <a16:creationId xmlns:a16="http://schemas.microsoft.com/office/drawing/2014/main" id="{66B5A539-9B2B-A419-E686-A364D1CDD72E}"/>
              </a:ext>
            </a:extLst>
          </p:cNvPr>
          <p:cNvSpPr txBox="1"/>
          <p:nvPr/>
        </p:nvSpPr>
        <p:spPr>
          <a:xfrm>
            <a:off x="10177686" y="1787442"/>
            <a:ext cx="1837135" cy="369332"/>
          </a:xfrm>
          <a:prstGeom prst="rect">
            <a:avLst/>
          </a:prstGeom>
          <a:noFill/>
        </p:spPr>
        <p:txBody>
          <a:bodyPr wrap="square" rtlCol="0">
            <a:spAutoFit/>
          </a:bodyPr>
          <a:lstStyle/>
          <a:p>
            <a:r>
              <a:rPr kumimoji="1" lang="ja-JP" altLang="en-US" dirty="0"/>
              <a:t>：利用不可</a:t>
            </a:r>
          </a:p>
        </p:txBody>
      </p:sp>
      <p:sp>
        <p:nvSpPr>
          <p:cNvPr id="161" name="楕円 160">
            <a:extLst>
              <a:ext uri="{FF2B5EF4-FFF2-40B4-BE49-F238E27FC236}">
                <a16:creationId xmlns:a16="http://schemas.microsoft.com/office/drawing/2014/main" id="{480BFD2E-D8F8-35F8-422C-2CF48C6AD2EB}"/>
              </a:ext>
            </a:extLst>
          </p:cNvPr>
          <p:cNvSpPr/>
          <p:nvPr/>
        </p:nvSpPr>
        <p:spPr>
          <a:xfrm>
            <a:off x="10012965" y="185574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2" name="楕円 161">
            <a:extLst>
              <a:ext uri="{FF2B5EF4-FFF2-40B4-BE49-F238E27FC236}">
                <a16:creationId xmlns:a16="http://schemas.microsoft.com/office/drawing/2014/main" id="{D574CF8B-4C12-6F9F-8287-F550E54A1A7D}"/>
              </a:ext>
            </a:extLst>
          </p:cNvPr>
          <p:cNvSpPr/>
          <p:nvPr/>
        </p:nvSpPr>
        <p:spPr>
          <a:xfrm>
            <a:off x="10024917" y="146967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3" name="テキスト ボックス 162">
                <a:extLst>
                  <a:ext uri="{FF2B5EF4-FFF2-40B4-BE49-F238E27FC236}">
                    <a16:creationId xmlns:a16="http://schemas.microsoft.com/office/drawing/2014/main" id="{B85544CC-62CE-DBDD-D617-BC2975A7EF7E}"/>
                  </a:ext>
                </a:extLst>
              </p:cNvPr>
              <p:cNvSpPr txBox="1"/>
              <p:nvPr/>
            </p:nvSpPr>
            <p:spPr>
              <a:xfrm>
                <a:off x="836460" y="2882851"/>
                <a:ext cx="5648945" cy="2739211"/>
              </a:xfrm>
              <a:prstGeom prst="rect">
                <a:avLst/>
              </a:prstGeom>
              <a:noFill/>
            </p:spPr>
            <p:txBody>
              <a:bodyPr wrap="square" rtlCol="0">
                <a:spAutoFit/>
              </a:bodyPr>
              <a:lstStyle/>
              <a:p>
                <a:pPr>
                  <a:spcAft>
                    <a:spcPts val="1200"/>
                  </a:spcAft>
                </a:pPr>
                <a:r>
                  <a:rPr lang="ja-JP" altLang="en-US" sz="2400" dirty="0"/>
                  <a:t>新しいリクエストが頂点</a:t>
                </a:r>
                <a:r>
                  <a:rPr lang="en-US" altLang="ja-JP" sz="2400" dirty="0"/>
                  <a:t> </a:t>
                </a:r>
                <a14:m>
                  <m:oMath xmlns:m="http://schemas.openxmlformats.org/officeDocument/2006/math">
                    <m:r>
                      <a:rPr lang="en-US" altLang="ja-JP" sz="2400" i="1">
                        <a:latin typeface="Cambria Math" panose="02040503050406030204" pitchFamily="18" charset="0"/>
                      </a:rPr>
                      <m:t>𝑣</m:t>
                    </m:r>
                  </m:oMath>
                </a14:m>
                <a:r>
                  <a:rPr lang="en-US" altLang="ja-JP" sz="2400" dirty="0"/>
                  <a:t> </a:t>
                </a:r>
                <a:r>
                  <a:rPr lang="ja-JP" altLang="en-US" sz="2400" dirty="0"/>
                  <a:t>に生起</a:t>
                </a:r>
                <a:r>
                  <a:rPr lang="en-US" altLang="ja-JP" sz="2400" dirty="0"/>
                  <a:t>:</a:t>
                </a:r>
                <a:r>
                  <a:rPr lang="ja-JP" altLang="en-US" sz="2400" dirty="0"/>
                  <a:t> </a:t>
                </a:r>
                <a:endParaRPr lang="en-US" altLang="ja-JP" sz="2400" dirty="0"/>
              </a:p>
              <a:p>
                <a:pPr>
                  <a:spcAft>
                    <a:spcPts val="600"/>
                  </a:spcAft>
                </a:pPr>
                <a:r>
                  <a:rPr kumimoji="1" lang="en-US" altLang="ja-JP" sz="2400" b="1" dirty="0"/>
                  <a:t>IF</a:t>
                </a:r>
                <a:r>
                  <a:rPr kumimoji="1" lang="en-US" altLang="ja-JP" sz="2400" b="0" dirty="0"/>
                  <a:t> </a:t>
                </a:r>
                <a14:m>
                  <m:oMath xmlns:m="http://schemas.openxmlformats.org/officeDocument/2006/math">
                    <m:r>
                      <a:rPr kumimoji="1" lang="en-US" altLang="ja-JP" b="0" i="1" smtClean="0">
                        <a:latin typeface="Cambria Math" panose="02040503050406030204" pitchFamily="18" charset="0"/>
                      </a:rPr>
                      <m:t>∃</m:t>
                    </m:r>
                  </m:oMath>
                </a14:m>
                <a:r>
                  <a:rPr kumimoji="1" lang="en-US" altLang="ja-JP" dirty="0"/>
                  <a:t> </a:t>
                </a:r>
                <a14:m>
                  <m:oMath xmlns:m="http://schemas.openxmlformats.org/officeDocument/2006/math">
                    <m:r>
                      <a:rPr kumimoji="1" lang="en-US" altLang="ja-JP" b="0" i="1" smtClean="0">
                        <a:latin typeface="Cambria Math" panose="02040503050406030204" pitchFamily="18" charset="0"/>
                      </a:rPr>
                      <m:t>𝑣</m:t>
                    </m:r>
                  </m:oMath>
                </a14:m>
                <a:r>
                  <a:rPr kumimoji="1" lang="en-US" altLang="ja-JP" dirty="0"/>
                  <a:t> </a:t>
                </a:r>
                <a:r>
                  <a:rPr kumimoji="1" lang="ja-JP" altLang="en-US" dirty="0"/>
                  <a:t>の子孫かつ利用可能なサーバ</a:t>
                </a:r>
                <a:r>
                  <a:rPr kumimoji="1" lang="en-US" altLang="ja-JP" dirty="0"/>
                  <a:t>, </a:t>
                </a:r>
                <a:r>
                  <a:rPr kumimoji="1" lang="ja-JP" altLang="en-US" sz="2400" dirty="0"/>
                  <a:t> </a:t>
                </a:r>
                <a:r>
                  <a:rPr lang="en-US" altLang="ja-JP" sz="2400" b="1" dirty="0"/>
                  <a:t>THEN</a:t>
                </a:r>
              </a:p>
              <a:p>
                <a:pPr lvl="1">
                  <a:spcAft>
                    <a:spcPts val="600"/>
                  </a:spcAft>
                </a:pPr>
                <a:r>
                  <a:rPr lang="ja-JP" altLang="en-US" sz="2000" dirty="0"/>
                  <a:t>そのサーバに割り当てる．複数のサーバが利用可能なときは，番号の若い子を辿る</a:t>
                </a:r>
                <a:r>
                  <a:rPr lang="en-US" altLang="ja-JP" sz="2000" dirty="0"/>
                  <a:t>.</a:t>
                </a:r>
              </a:p>
              <a:p>
                <a:r>
                  <a:rPr lang="en-US" altLang="ja-JP" sz="2400" b="1" dirty="0"/>
                  <a:t>ELSE</a:t>
                </a:r>
              </a:p>
              <a:p>
                <a:pPr lvl="1"/>
                <a:r>
                  <a:rPr kumimoji="1" lang="ja-JP" altLang="en-US" sz="2000" dirty="0"/>
                  <a:t>子孫に利用可能なサーバが現れるまで親を辿ってから，上記と同じことをする．</a:t>
                </a:r>
                <a:endParaRPr kumimoji="1" lang="en-US" altLang="ja-JP" sz="2000" dirty="0"/>
              </a:p>
            </p:txBody>
          </p:sp>
        </mc:Choice>
        <mc:Fallback xmlns="">
          <p:sp>
            <p:nvSpPr>
              <p:cNvPr id="163" name="テキスト ボックス 162">
                <a:extLst>
                  <a:ext uri="{FF2B5EF4-FFF2-40B4-BE49-F238E27FC236}">
                    <a16:creationId xmlns:a16="http://schemas.microsoft.com/office/drawing/2014/main" id="{B85544CC-62CE-DBDD-D617-BC2975A7EF7E}"/>
                  </a:ext>
                </a:extLst>
              </p:cNvPr>
              <p:cNvSpPr txBox="1">
                <a:spLocks noRot="1" noChangeAspect="1" noMove="1" noResize="1" noEditPoints="1" noAdjustHandles="1" noChangeArrowheads="1" noChangeShapeType="1" noTextEdit="1"/>
              </p:cNvSpPr>
              <p:nvPr/>
            </p:nvSpPr>
            <p:spPr>
              <a:xfrm>
                <a:off x="836460" y="2882851"/>
                <a:ext cx="5648945" cy="2739211"/>
              </a:xfrm>
              <a:prstGeom prst="rect">
                <a:avLst/>
              </a:prstGeom>
              <a:blipFill>
                <a:blip r:embed="rId2"/>
                <a:stretch>
                  <a:fillRect l="-1618" t="-2450" b="-3118"/>
                </a:stretch>
              </a:blipFill>
            </p:spPr>
            <p:txBody>
              <a:bodyPr/>
              <a:lstStyle/>
              <a:p>
                <a:r>
                  <a:rPr lang="ja-JP" altLang="en-US">
                    <a:noFill/>
                  </a:rPr>
                  <a:t> </a:t>
                </a:r>
              </a:p>
            </p:txBody>
          </p:sp>
        </mc:Fallback>
      </mc:AlternateContent>
      <p:grpSp>
        <p:nvGrpSpPr>
          <p:cNvPr id="8" name="グループ化 7">
            <a:extLst>
              <a:ext uri="{FF2B5EF4-FFF2-40B4-BE49-F238E27FC236}">
                <a16:creationId xmlns:a16="http://schemas.microsoft.com/office/drawing/2014/main" id="{9F7BCD47-1477-352B-E4CB-31091BD169A2}"/>
              </a:ext>
            </a:extLst>
          </p:cNvPr>
          <p:cNvGrpSpPr/>
          <p:nvPr/>
        </p:nvGrpSpPr>
        <p:grpSpPr>
          <a:xfrm>
            <a:off x="8142298" y="3681827"/>
            <a:ext cx="439646" cy="770682"/>
            <a:chOff x="8142298" y="3681827"/>
            <a:chExt cx="439646" cy="770682"/>
          </a:xfrm>
        </p:grpSpPr>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6F67BFE1-47AF-B0FE-B3AA-43E05AFC29C0}"/>
                    </a:ext>
                  </a:extLst>
                </p:cNvPr>
                <p:cNvSpPr txBox="1"/>
                <p:nvPr/>
              </p:nvSpPr>
              <p:spPr>
                <a:xfrm>
                  <a:off x="8142298" y="3681827"/>
                  <a:ext cx="439646"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chemeClr val="accent1"/>
                            </a:solidFill>
                            <a:latin typeface="Cambria Math" panose="02040503050406030204" pitchFamily="18" charset="0"/>
                          </a:rPr>
                          <m:t>𝑟</m:t>
                        </m:r>
                      </m:oMath>
                    </m:oMathPara>
                  </a14:m>
                  <a:endParaRPr kumimoji="1" lang="ja-JP" altLang="en-US" dirty="0"/>
                </a:p>
              </p:txBody>
            </p:sp>
          </mc:Choice>
          <mc:Fallback xmlns="">
            <p:sp>
              <p:nvSpPr>
                <p:cNvPr id="3" name="テキスト ボックス 2">
                  <a:extLst>
                    <a:ext uri="{FF2B5EF4-FFF2-40B4-BE49-F238E27FC236}">
                      <a16:creationId xmlns:a16="http://schemas.microsoft.com/office/drawing/2014/main" id="{6F67BFE1-47AF-B0FE-B3AA-43E05AFC29C0}"/>
                    </a:ext>
                  </a:extLst>
                </p:cNvPr>
                <p:cNvSpPr txBox="1">
                  <a:spLocks noRot="1" noChangeAspect="1" noMove="1" noResize="1" noEditPoints="1" noAdjustHandles="1" noChangeArrowheads="1" noChangeShapeType="1" noTextEdit="1"/>
                </p:cNvSpPr>
                <p:nvPr/>
              </p:nvSpPr>
              <p:spPr>
                <a:xfrm>
                  <a:off x="8142298" y="3681827"/>
                  <a:ext cx="439646" cy="369397"/>
                </a:xfrm>
                <a:prstGeom prst="rect">
                  <a:avLst/>
                </a:prstGeom>
                <a:blipFill>
                  <a:blip r:embed="rId3"/>
                  <a:stretch>
                    <a:fillRect/>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FF6B1124-8E80-6194-B1EB-AC88F5F4A86F}"/>
                </a:ext>
              </a:extLst>
            </p:cNvPr>
            <p:cNvCxnSpPr/>
            <p:nvPr/>
          </p:nvCxnSpPr>
          <p:spPr>
            <a:xfrm flipH="1">
              <a:off x="8217678" y="4043190"/>
              <a:ext cx="80518" cy="409319"/>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 name="直線矢印コネクタ 8">
            <a:extLst>
              <a:ext uri="{FF2B5EF4-FFF2-40B4-BE49-F238E27FC236}">
                <a16:creationId xmlns:a16="http://schemas.microsoft.com/office/drawing/2014/main" id="{0B54D6AF-327D-0C42-45ED-38D9738263F3}"/>
              </a:ext>
            </a:extLst>
          </p:cNvPr>
          <p:cNvCxnSpPr>
            <a:cxnSpLocks/>
            <a:endCxn id="124" idx="1"/>
          </p:cNvCxnSpPr>
          <p:nvPr/>
        </p:nvCxnSpPr>
        <p:spPr>
          <a:xfrm>
            <a:off x="8141718" y="4738115"/>
            <a:ext cx="8637" cy="1392464"/>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D4D82B8F-B02B-62F0-7CA8-624927D1ABDB}"/>
              </a:ext>
            </a:extLst>
          </p:cNvPr>
          <p:cNvSpPr txBox="1"/>
          <p:nvPr/>
        </p:nvSpPr>
        <p:spPr>
          <a:xfrm>
            <a:off x="838200" y="1495568"/>
            <a:ext cx="5826310" cy="1200329"/>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任意の頂点を根として選ぶ</a:t>
            </a:r>
            <a:endParaRPr lang="en-US" altLang="ja-JP" sz="2400" dirty="0"/>
          </a:p>
          <a:p>
            <a:pPr marL="342900" indent="-342900">
              <a:buFont typeface="Arial" panose="020B0604020202020204" pitchFamily="34" charset="0"/>
              <a:buChar char="•"/>
            </a:pPr>
            <a:r>
              <a:rPr kumimoji="1" lang="en-US" altLang="ja-JP" sz="2400" dirty="0"/>
              <a:t>2</a:t>
            </a:r>
            <a:r>
              <a:rPr kumimoji="1" lang="ja-JP" altLang="en-US" sz="2400" dirty="0"/>
              <a:t>人以上子を持つ頂点に対して，子に任意に番号を振る</a:t>
            </a:r>
          </a:p>
        </p:txBody>
      </p:sp>
    </p:spTree>
    <p:extLst>
      <p:ext uri="{BB962C8B-B14F-4D97-AF65-F5344CB8AC3E}">
        <p14:creationId xmlns:p14="http://schemas.microsoft.com/office/powerpoint/2010/main" val="652350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ACB5-5743-2D4E-1871-80053FAF4C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B81801-2F1A-410C-B2BF-1E58A5E90B11}"/>
              </a:ext>
            </a:extLst>
          </p:cNvPr>
          <p:cNvSpPr>
            <a:spLocks noGrp="1"/>
          </p:cNvSpPr>
          <p:nvPr>
            <p:ph type="title"/>
          </p:nvPr>
        </p:nvSpPr>
        <p:spPr/>
        <p:txBody>
          <a:bodyPr/>
          <a:lstStyle/>
          <a:p>
            <a:r>
              <a:rPr kumimoji="1" lang="ja-JP" altLang="en-US" dirty="0"/>
              <a:t>重み無し木</a:t>
            </a:r>
            <a:r>
              <a:rPr lang="ja-JP" altLang="en-US" dirty="0"/>
              <a:t>に対する</a:t>
            </a:r>
            <a:r>
              <a:rPr kumimoji="1" lang="ja-JP" altLang="en-US" dirty="0"/>
              <a:t>アルゴリズム</a:t>
            </a:r>
            <a:r>
              <a:rPr lang="ja-JP" altLang="en-US" dirty="0"/>
              <a:t>３</a:t>
            </a:r>
            <a:endParaRPr kumimoji="1" lang="ja-JP" altLang="en-US" dirty="0"/>
          </a:p>
        </p:txBody>
      </p:sp>
      <p:sp>
        <p:nvSpPr>
          <p:cNvPr id="4" name="スライド番号プレースホルダー 3">
            <a:extLst>
              <a:ext uri="{FF2B5EF4-FFF2-40B4-BE49-F238E27FC236}">
                <a16:creationId xmlns:a16="http://schemas.microsoft.com/office/drawing/2014/main" id="{256ED334-39AF-BA1C-1254-B853F2477FCC}"/>
              </a:ext>
            </a:extLst>
          </p:cNvPr>
          <p:cNvSpPr>
            <a:spLocks noGrp="1"/>
          </p:cNvSpPr>
          <p:nvPr>
            <p:ph type="sldNum" sz="quarter" idx="12"/>
          </p:nvPr>
        </p:nvSpPr>
        <p:spPr/>
        <p:txBody>
          <a:bodyPr/>
          <a:lstStyle/>
          <a:p>
            <a:fld id="{62D2EF3D-F703-49E9-AB6E-69446C0165D0}" type="slidenum">
              <a:rPr kumimoji="1" lang="ja-JP" altLang="en-US" smtClean="0"/>
              <a:t>27</a:t>
            </a:fld>
            <a:endParaRPr kumimoji="1" lang="ja-JP" altLang="en-US"/>
          </a:p>
        </p:txBody>
      </p:sp>
      <p:grpSp>
        <p:nvGrpSpPr>
          <p:cNvPr id="83" name="グループ化 82">
            <a:extLst>
              <a:ext uri="{FF2B5EF4-FFF2-40B4-BE49-F238E27FC236}">
                <a16:creationId xmlns:a16="http://schemas.microsoft.com/office/drawing/2014/main" id="{9A10E71C-51AC-BF22-BA19-6C124CB26D41}"/>
              </a:ext>
            </a:extLst>
          </p:cNvPr>
          <p:cNvGrpSpPr/>
          <p:nvPr/>
        </p:nvGrpSpPr>
        <p:grpSpPr>
          <a:xfrm>
            <a:off x="6744580" y="1552527"/>
            <a:ext cx="4609220" cy="5139281"/>
            <a:chOff x="6744580" y="1279568"/>
            <a:chExt cx="4609220" cy="5139281"/>
          </a:xfrm>
        </p:grpSpPr>
        <p:cxnSp>
          <p:nvCxnSpPr>
            <p:cNvPr id="84" name="直線コネクタ 83">
              <a:extLst>
                <a:ext uri="{FF2B5EF4-FFF2-40B4-BE49-F238E27FC236}">
                  <a16:creationId xmlns:a16="http://schemas.microsoft.com/office/drawing/2014/main" id="{6C9C9E6E-9FB3-8109-F6F4-86ACBD60CA64}"/>
                </a:ext>
              </a:extLst>
            </p:cNvPr>
            <p:cNvCxnSpPr>
              <a:cxnSpLocks/>
            </p:cNvCxnSpPr>
            <p:nvPr/>
          </p:nvCxnSpPr>
          <p:spPr>
            <a:xfrm flipV="1">
              <a:off x="11239228" y="4474803"/>
              <a:ext cx="0"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BCEE109E-00C6-B8FD-B75B-75ADC6E267B0}"/>
                </a:ext>
              </a:extLst>
            </p:cNvPr>
            <p:cNvCxnSpPr>
              <a:cxnSpLocks/>
              <a:endCxn id="154" idx="3"/>
            </p:cNvCxnSpPr>
            <p:nvPr/>
          </p:nvCxnSpPr>
          <p:spPr>
            <a:xfrm flipV="1">
              <a:off x="7736707" y="1463936"/>
              <a:ext cx="1370239" cy="12099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2E8A3F5-7708-ABAD-2E22-2779F0A8DD3C}"/>
                </a:ext>
              </a:extLst>
            </p:cNvPr>
            <p:cNvCxnSpPr>
              <a:cxnSpLocks/>
              <a:stCxn id="89" idx="0"/>
              <a:endCxn id="154" idx="4"/>
            </p:cNvCxnSpPr>
            <p:nvPr/>
          </p:nvCxnSpPr>
          <p:spPr>
            <a:xfrm flipV="1">
              <a:off x="9183313" y="1495568"/>
              <a:ext cx="1" cy="11783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2FFDCF23-684C-605B-531C-29BFE8E92F06}"/>
                </a:ext>
              </a:extLst>
            </p:cNvPr>
            <p:cNvCxnSpPr>
              <a:cxnSpLocks/>
              <a:stCxn id="90" idx="1"/>
              <a:endCxn id="154" idx="5"/>
            </p:cNvCxnSpPr>
            <p:nvPr/>
          </p:nvCxnSpPr>
          <p:spPr>
            <a:xfrm flipH="1" flipV="1">
              <a:off x="9259682" y="1463936"/>
              <a:ext cx="1366743" cy="12521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楕円 87">
              <a:extLst>
                <a:ext uri="{FF2B5EF4-FFF2-40B4-BE49-F238E27FC236}">
                  <a16:creationId xmlns:a16="http://schemas.microsoft.com/office/drawing/2014/main" id="{C21443A7-E175-B3CC-DF3B-4E20867283DE}"/>
                </a:ext>
              </a:extLst>
            </p:cNvPr>
            <p:cNvSpPr/>
            <p:nvPr/>
          </p:nvSpPr>
          <p:spPr>
            <a:xfrm>
              <a:off x="7550883" y="2642287"/>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楕円 88">
              <a:extLst>
                <a:ext uri="{FF2B5EF4-FFF2-40B4-BE49-F238E27FC236}">
                  <a16:creationId xmlns:a16="http://schemas.microsoft.com/office/drawing/2014/main" id="{B31ABE91-3F6C-C56F-2B57-167F7277F7F6}"/>
                </a:ext>
              </a:extLst>
            </p:cNvPr>
            <p:cNvSpPr/>
            <p:nvPr/>
          </p:nvSpPr>
          <p:spPr>
            <a:xfrm>
              <a:off x="9075313" y="2673919"/>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楕円 89">
              <a:extLst>
                <a:ext uri="{FF2B5EF4-FFF2-40B4-BE49-F238E27FC236}">
                  <a16:creationId xmlns:a16="http://schemas.microsoft.com/office/drawing/2014/main" id="{DFBB4651-6DD1-18C5-C945-B002C2BC2271}"/>
                </a:ext>
              </a:extLst>
            </p:cNvPr>
            <p:cNvSpPr/>
            <p:nvPr/>
          </p:nvSpPr>
          <p:spPr>
            <a:xfrm>
              <a:off x="10594793" y="2684491"/>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1" name="直線コネクタ 90">
              <a:extLst>
                <a:ext uri="{FF2B5EF4-FFF2-40B4-BE49-F238E27FC236}">
                  <a16:creationId xmlns:a16="http://schemas.microsoft.com/office/drawing/2014/main" id="{CE882172-297D-D736-5DCA-A630CCD3B412}"/>
                </a:ext>
              </a:extLst>
            </p:cNvPr>
            <p:cNvCxnSpPr>
              <a:cxnSpLocks/>
            </p:cNvCxnSpPr>
            <p:nvPr/>
          </p:nvCxnSpPr>
          <p:spPr>
            <a:xfrm flipV="1">
              <a:off x="7139393" y="2826655"/>
              <a:ext cx="442482"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C51ACE5D-C296-6ACA-217E-2142F66C3BB3}"/>
                </a:ext>
              </a:extLst>
            </p:cNvPr>
            <p:cNvCxnSpPr>
              <a:cxnSpLocks/>
            </p:cNvCxnSpPr>
            <p:nvPr/>
          </p:nvCxnSpPr>
          <p:spPr>
            <a:xfrm flipH="1" flipV="1">
              <a:off x="7736707" y="2816469"/>
              <a:ext cx="465331"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BE746EF8-6995-2155-31E1-9A01B5678C25}"/>
                </a:ext>
              </a:extLst>
            </p:cNvPr>
            <p:cNvCxnSpPr>
              <a:cxnSpLocks/>
            </p:cNvCxnSpPr>
            <p:nvPr/>
          </p:nvCxnSpPr>
          <p:spPr>
            <a:xfrm flipV="1">
              <a:off x="7659291" y="2858287"/>
              <a:ext cx="0" cy="1361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DCEC10B0-BCAD-999C-7F3C-E70A081734CC}"/>
                </a:ext>
              </a:extLst>
            </p:cNvPr>
            <p:cNvCxnSpPr>
              <a:cxnSpLocks/>
            </p:cNvCxnSpPr>
            <p:nvPr/>
          </p:nvCxnSpPr>
          <p:spPr>
            <a:xfrm flipV="1">
              <a:off x="8639522" y="2868473"/>
              <a:ext cx="465331"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CC4F64BE-28F5-7287-3E48-D9BA5D3BE11F}"/>
                </a:ext>
              </a:extLst>
            </p:cNvPr>
            <p:cNvCxnSpPr>
              <a:cxnSpLocks/>
            </p:cNvCxnSpPr>
            <p:nvPr/>
          </p:nvCxnSpPr>
          <p:spPr>
            <a:xfrm flipH="1" flipV="1">
              <a:off x="9252651" y="2865321"/>
              <a:ext cx="474453" cy="13966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98359985-193D-9FA3-08B6-40036AC22688}"/>
                </a:ext>
              </a:extLst>
            </p:cNvPr>
            <p:cNvCxnSpPr>
              <a:cxnSpLocks/>
            </p:cNvCxnSpPr>
            <p:nvPr/>
          </p:nvCxnSpPr>
          <p:spPr>
            <a:xfrm flipV="1">
              <a:off x="9182269" y="2900105"/>
              <a:ext cx="0" cy="1361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AEACA6CB-BC66-E162-3073-F574AB0BDF41}"/>
                </a:ext>
              </a:extLst>
            </p:cNvPr>
            <p:cNvCxnSpPr>
              <a:cxnSpLocks/>
            </p:cNvCxnSpPr>
            <p:nvPr/>
          </p:nvCxnSpPr>
          <p:spPr>
            <a:xfrm flipV="1">
              <a:off x="10177686" y="2868473"/>
              <a:ext cx="442482"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00E3912A-CF2F-CE6B-BA9C-6BD419976C62}"/>
                </a:ext>
              </a:extLst>
            </p:cNvPr>
            <p:cNvCxnSpPr>
              <a:cxnSpLocks/>
            </p:cNvCxnSpPr>
            <p:nvPr/>
          </p:nvCxnSpPr>
          <p:spPr>
            <a:xfrm flipH="1" flipV="1">
              <a:off x="10775000" y="2858287"/>
              <a:ext cx="465331"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8C9CB583-7B21-3EC3-A7E3-9AA913458F73}"/>
                </a:ext>
              </a:extLst>
            </p:cNvPr>
            <p:cNvCxnSpPr>
              <a:cxnSpLocks/>
            </p:cNvCxnSpPr>
            <p:nvPr/>
          </p:nvCxnSpPr>
          <p:spPr>
            <a:xfrm flipV="1">
              <a:off x="10697584" y="2900105"/>
              <a:ext cx="0" cy="1361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楕円 99">
              <a:extLst>
                <a:ext uri="{FF2B5EF4-FFF2-40B4-BE49-F238E27FC236}">
                  <a16:creationId xmlns:a16="http://schemas.microsoft.com/office/drawing/2014/main" id="{672A21D2-EF23-7021-6984-BF888B7631FE}"/>
                </a:ext>
              </a:extLst>
            </p:cNvPr>
            <p:cNvSpPr/>
            <p:nvPr/>
          </p:nvSpPr>
          <p:spPr>
            <a:xfrm>
              <a:off x="7020162" y="4220137"/>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1" name="直線コネクタ 100">
              <a:extLst>
                <a:ext uri="{FF2B5EF4-FFF2-40B4-BE49-F238E27FC236}">
                  <a16:creationId xmlns:a16="http://schemas.microsoft.com/office/drawing/2014/main" id="{B7099DF5-7148-8142-E66A-CAB9D3FAE530}"/>
                </a:ext>
              </a:extLst>
            </p:cNvPr>
            <p:cNvCxnSpPr>
              <a:cxnSpLocks/>
            </p:cNvCxnSpPr>
            <p:nvPr/>
          </p:nvCxnSpPr>
          <p:spPr>
            <a:xfrm flipV="1">
              <a:off x="6967792" y="4436137"/>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02E99A4D-9253-B3F0-BEAD-FDC09442EB03}"/>
                </a:ext>
              </a:extLst>
            </p:cNvPr>
            <p:cNvCxnSpPr>
              <a:cxnSpLocks/>
            </p:cNvCxnSpPr>
            <p:nvPr/>
          </p:nvCxnSpPr>
          <p:spPr>
            <a:xfrm flipH="1" flipV="1">
              <a:off x="7139393" y="4436137"/>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楕円 102">
              <a:extLst>
                <a:ext uri="{FF2B5EF4-FFF2-40B4-BE49-F238E27FC236}">
                  <a16:creationId xmlns:a16="http://schemas.microsoft.com/office/drawing/2014/main" id="{9151D67D-6463-A510-DECF-DF55AE9F4679}"/>
                </a:ext>
              </a:extLst>
            </p:cNvPr>
            <p:cNvSpPr/>
            <p:nvPr/>
          </p:nvSpPr>
          <p:spPr>
            <a:xfrm>
              <a:off x="7551290" y="4220137"/>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4" name="直線コネクタ 103">
              <a:extLst>
                <a:ext uri="{FF2B5EF4-FFF2-40B4-BE49-F238E27FC236}">
                  <a16:creationId xmlns:a16="http://schemas.microsoft.com/office/drawing/2014/main" id="{D94A3CD4-4490-1D0C-4026-823BBF603F2A}"/>
                </a:ext>
              </a:extLst>
            </p:cNvPr>
            <p:cNvCxnSpPr>
              <a:cxnSpLocks/>
            </p:cNvCxnSpPr>
            <p:nvPr/>
          </p:nvCxnSpPr>
          <p:spPr>
            <a:xfrm flipH="1" flipV="1">
              <a:off x="7670521" y="4436137"/>
              <a:ext cx="16947"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楕円 104">
              <a:extLst>
                <a:ext uri="{FF2B5EF4-FFF2-40B4-BE49-F238E27FC236}">
                  <a16:creationId xmlns:a16="http://schemas.microsoft.com/office/drawing/2014/main" id="{AEF3E7B8-AFEE-5739-6FD4-1366726F37AF}"/>
                </a:ext>
              </a:extLst>
            </p:cNvPr>
            <p:cNvSpPr/>
            <p:nvPr/>
          </p:nvSpPr>
          <p:spPr>
            <a:xfrm>
              <a:off x="8098410" y="4220137"/>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 name="直線コネクタ 105">
              <a:extLst>
                <a:ext uri="{FF2B5EF4-FFF2-40B4-BE49-F238E27FC236}">
                  <a16:creationId xmlns:a16="http://schemas.microsoft.com/office/drawing/2014/main" id="{DB3F676F-5502-993A-706C-4227A6E2B84F}"/>
                </a:ext>
              </a:extLst>
            </p:cNvPr>
            <p:cNvCxnSpPr>
              <a:cxnSpLocks/>
            </p:cNvCxnSpPr>
            <p:nvPr/>
          </p:nvCxnSpPr>
          <p:spPr>
            <a:xfrm flipH="1" flipV="1">
              <a:off x="8210607" y="4436137"/>
              <a:ext cx="17768"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楕円 106">
              <a:extLst>
                <a:ext uri="{FF2B5EF4-FFF2-40B4-BE49-F238E27FC236}">
                  <a16:creationId xmlns:a16="http://schemas.microsoft.com/office/drawing/2014/main" id="{1D68E1A6-C55D-5913-FC60-04F40D623B61}"/>
                </a:ext>
              </a:extLst>
            </p:cNvPr>
            <p:cNvSpPr/>
            <p:nvPr/>
          </p:nvSpPr>
          <p:spPr>
            <a:xfrm>
              <a:off x="8553920" y="4240509"/>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8" name="直線コネクタ 107">
              <a:extLst>
                <a:ext uri="{FF2B5EF4-FFF2-40B4-BE49-F238E27FC236}">
                  <a16:creationId xmlns:a16="http://schemas.microsoft.com/office/drawing/2014/main" id="{A40B7968-72D8-0E82-C515-6851460BD9AE}"/>
                </a:ext>
              </a:extLst>
            </p:cNvPr>
            <p:cNvCxnSpPr>
              <a:cxnSpLocks/>
            </p:cNvCxnSpPr>
            <p:nvPr/>
          </p:nvCxnSpPr>
          <p:spPr>
            <a:xfrm flipV="1">
              <a:off x="8501550" y="4456509"/>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線コネクタ 108">
              <a:extLst>
                <a:ext uri="{FF2B5EF4-FFF2-40B4-BE49-F238E27FC236}">
                  <a16:creationId xmlns:a16="http://schemas.microsoft.com/office/drawing/2014/main" id="{49FD0A04-B42F-B432-9300-0C5C4D9D9437}"/>
                </a:ext>
              </a:extLst>
            </p:cNvPr>
            <p:cNvCxnSpPr>
              <a:cxnSpLocks/>
            </p:cNvCxnSpPr>
            <p:nvPr/>
          </p:nvCxnSpPr>
          <p:spPr>
            <a:xfrm flipH="1" flipV="1">
              <a:off x="8673151" y="4456509"/>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楕円 109">
              <a:extLst>
                <a:ext uri="{FF2B5EF4-FFF2-40B4-BE49-F238E27FC236}">
                  <a16:creationId xmlns:a16="http://schemas.microsoft.com/office/drawing/2014/main" id="{AC3ED63B-AB92-8FA2-F4BC-44EF89B83ACF}"/>
                </a:ext>
              </a:extLst>
            </p:cNvPr>
            <p:cNvSpPr/>
            <p:nvPr/>
          </p:nvSpPr>
          <p:spPr>
            <a:xfrm>
              <a:off x="9080646"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1" name="直線コネクタ 110">
              <a:extLst>
                <a:ext uri="{FF2B5EF4-FFF2-40B4-BE49-F238E27FC236}">
                  <a16:creationId xmlns:a16="http://schemas.microsoft.com/office/drawing/2014/main" id="{998AF92F-5186-0888-82EE-A5791C838C94}"/>
                </a:ext>
              </a:extLst>
            </p:cNvPr>
            <p:cNvCxnSpPr>
              <a:cxnSpLocks/>
            </p:cNvCxnSpPr>
            <p:nvPr/>
          </p:nvCxnSpPr>
          <p:spPr>
            <a:xfrm flipH="1" flipV="1">
              <a:off x="9185430" y="4467769"/>
              <a:ext cx="10188" cy="14036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楕円 111">
              <a:extLst>
                <a:ext uri="{FF2B5EF4-FFF2-40B4-BE49-F238E27FC236}">
                  <a16:creationId xmlns:a16="http://schemas.microsoft.com/office/drawing/2014/main" id="{CE1902E4-2C1D-6A98-C987-3EC31897E06A}"/>
                </a:ext>
              </a:extLst>
            </p:cNvPr>
            <p:cNvSpPr/>
            <p:nvPr/>
          </p:nvSpPr>
          <p:spPr>
            <a:xfrm>
              <a:off x="9630815"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3" name="直線コネクタ 112">
              <a:extLst>
                <a:ext uri="{FF2B5EF4-FFF2-40B4-BE49-F238E27FC236}">
                  <a16:creationId xmlns:a16="http://schemas.microsoft.com/office/drawing/2014/main" id="{8DC41329-C0A3-595D-E32E-4BFA184D102F}"/>
                </a:ext>
              </a:extLst>
            </p:cNvPr>
            <p:cNvCxnSpPr>
              <a:cxnSpLocks/>
            </p:cNvCxnSpPr>
            <p:nvPr/>
          </p:nvCxnSpPr>
          <p:spPr>
            <a:xfrm flipV="1">
              <a:off x="9578445" y="4477955"/>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7F828DAC-B994-423B-90C8-19A12370226F}"/>
                </a:ext>
              </a:extLst>
            </p:cNvPr>
            <p:cNvCxnSpPr>
              <a:cxnSpLocks/>
            </p:cNvCxnSpPr>
            <p:nvPr/>
          </p:nvCxnSpPr>
          <p:spPr>
            <a:xfrm flipH="1" flipV="1">
              <a:off x="9750046" y="4477955"/>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楕円 114">
              <a:extLst>
                <a:ext uri="{FF2B5EF4-FFF2-40B4-BE49-F238E27FC236}">
                  <a16:creationId xmlns:a16="http://schemas.microsoft.com/office/drawing/2014/main" id="{B3C5A270-2ABE-7105-58B6-DD4AAEFE0F32}"/>
                </a:ext>
              </a:extLst>
            </p:cNvPr>
            <p:cNvSpPr/>
            <p:nvPr/>
          </p:nvSpPr>
          <p:spPr>
            <a:xfrm>
              <a:off x="10086305"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6" name="直線コネクタ 115">
              <a:extLst>
                <a:ext uri="{FF2B5EF4-FFF2-40B4-BE49-F238E27FC236}">
                  <a16:creationId xmlns:a16="http://schemas.microsoft.com/office/drawing/2014/main" id="{40AD3585-CED4-769C-5C23-B1CB1A928AA9}"/>
                </a:ext>
              </a:extLst>
            </p:cNvPr>
            <p:cNvCxnSpPr>
              <a:cxnSpLocks/>
            </p:cNvCxnSpPr>
            <p:nvPr/>
          </p:nvCxnSpPr>
          <p:spPr>
            <a:xfrm flipV="1">
              <a:off x="10205536" y="4477955"/>
              <a:ext cx="0"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楕円 116">
              <a:extLst>
                <a:ext uri="{FF2B5EF4-FFF2-40B4-BE49-F238E27FC236}">
                  <a16:creationId xmlns:a16="http://schemas.microsoft.com/office/drawing/2014/main" id="{12B6E96F-C5E7-DF81-DD03-C291F0887AA7}"/>
                </a:ext>
              </a:extLst>
            </p:cNvPr>
            <p:cNvSpPr/>
            <p:nvPr/>
          </p:nvSpPr>
          <p:spPr>
            <a:xfrm>
              <a:off x="10594793"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8" name="直線コネクタ 117">
              <a:extLst>
                <a:ext uri="{FF2B5EF4-FFF2-40B4-BE49-F238E27FC236}">
                  <a16:creationId xmlns:a16="http://schemas.microsoft.com/office/drawing/2014/main" id="{BBD25AF2-2CBC-3EF4-02B7-87AF9B2202D3}"/>
                </a:ext>
              </a:extLst>
            </p:cNvPr>
            <p:cNvCxnSpPr>
              <a:cxnSpLocks/>
            </p:cNvCxnSpPr>
            <p:nvPr/>
          </p:nvCxnSpPr>
          <p:spPr>
            <a:xfrm flipV="1">
              <a:off x="10542423" y="4477955"/>
              <a:ext cx="143583"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86628392-1508-E093-4EA7-6598D4E56EB1}"/>
                </a:ext>
              </a:extLst>
            </p:cNvPr>
            <p:cNvCxnSpPr>
              <a:cxnSpLocks/>
            </p:cNvCxnSpPr>
            <p:nvPr/>
          </p:nvCxnSpPr>
          <p:spPr>
            <a:xfrm flipH="1" flipV="1">
              <a:off x="10714024" y="4477955"/>
              <a:ext cx="149139" cy="1393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楕円 119">
              <a:extLst>
                <a:ext uri="{FF2B5EF4-FFF2-40B4-BE49-F238E27FC236}">
                  <a16:creationId xmlns:a16="http://schemas.microsoft.com/office/drawing/2014/main" id="{24664632-E15F-DFEB-1F87-F3E9C59E3639}"/>
                </a:ext>
              </a:extLst>
            </p:cNvPr>
            <p:cNvSpPr/>
            <p:nvPr/>
          </p:nvSpPr>
          <p:spPr>
            <a:xfrm>
              <a:off x="11126569" y="426195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楕円 120">
              <a:extLst>
                <a:ext uri="{FF2B5EF4-FFF2-40B4-BE49-F238E27FC236}">
                  <a16:creationId xmlns:a16="http://schemas.microsoft.com/office/drawing/2014/main" id="{62F9DB92-00FB-CA3D-665F-195AAC68C798}"/>
                </a:ext>
              </a:extLst>
            </p:cNvPr>
            <p:cNvSpPr/>
            <p:nvPr/>
          </p:nvSpPr>
          <p:spPr>
            <a:xfrm>
              <a:off x="6853397"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楕円 121">
              <a:extLst>
                <a:ext uri="{FF2B5EF4-FFF2-40B4-BE49-F238E27FC236}">
                  <a16:creationId xmlns:a16="http://schemas.microsoft.com/office/drawing/2014/main" id="{E8B30E0C-C817-A646-3D49-1DEC9E5C405F}"/>
                </a:ext>
              </a:extLst>
            </p:cNvPr>
            <p:cNvSpPr/>
            <p:nvPr/>
          </p:nvSpPr>
          <p:spPr>
            <a:xfrm>
              <a:off x="7180532"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3" name="楕円 122">
              <a:extLst>
                <a:ext uri="{FF2B5EF4-FFF2-40B4-BE49-F238E27FC236}">
                  <a16:creationId xmlns:a16="http://schemas.microsoft.com/office/drawing/2014/main" id="{FDC5DF98-35EC-7E64-6380-4DC121F751BC}"/>
                </a:ext>
              </a:extLst>
            </p:cNvPr>
            <p:cNvSpPr/>
            <p:nvPr/>
          </p:nvSpPr>
          <p:spPr>
            <a:xfrm>
              <a:off x="7587566"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楕円 123">
              <a:extLst>
                <a:ext uri="{FF2B5EF4-FFF2-40B4-BE49-F238E27FC236}">
                  <a16:creationId xmlns:a16="http://schemas.microsoft.com/office/drawing/2014/main" id="{A8EB17F4-2241-4E23-99C4-6BDDF90F53F4}"/>
                </a:ext>
              </a:extLst>
            </p:cNvPr>
            <p:cNvSpPr/>
            <p:nvPr/>
          </p:nvSpPr>
          <p:spPr>
            <a:xfrm>
              <a:off x="8118723"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楕円 124">
              <a:extLst>
                <a:ext uri="{FF2B5EF4-FFF2-40B4-BE49-F238E27FC236}">
                  <a16:creationId xmlns:a16="http://schemas.microsoft.com/office/drawing/2014/main" id="{A29E4311-F207-DE76-153B-122638A35DEF}"/>
                </a:ext>
              </a:extLst>
            </p:cNvPr>
            <p:cNvSpPr/>
            <p:nvPr/>
          </p:nvSpPr>
          <p:spPr>
            <a:xfrm>
              <a:off x="8404759"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楕円 125">
              <a:extLst>
                <a:ext uri="{FF2B5EF4-FFF2-40B4-BE49-F238E27FC236}">
                  <a16:creationId xmlns:a16="http://schemas.microsoft.com/office/drawing/2014/main" id="{27227C86-ADE4-CF00-F867-EBE415460940}"/>
                </a:ext>
              </a:extLst>
            </p:cNvPr>
            <p:cNvSpPr/>
            <p:nvPr/>
          </p:nvSpPr>
          <p:spPr>
            <a:xfrm>
              <a:off x="8719916"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7" name="楕円 126">
              <a:extLst>
                <a:ext uri="{FF2B5EF4-FFF2-40B4-BE49-F238E27FC236}">
                  <a16:creationId xmlns:a16="http://schemas.microsoft.com/office/drawing/2014/main" id="{6F3D61C0-DEDF-E8A3-D880-4C23047E84B1}"/>
                </a:ext>
              </a:extLst>
            </p:cNvPr>
            <p:cNvSpPr/>
            <p:nvPr/>
          </p:nvSpPr>
          <p:spPr>
            <a:xfrm>
              <a:off x="9097117"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楕円 127">
              <a:extLst>
                <a:ext uri="{FF2B5EF4-FFF2-40B4-BE49-F238E27FC236}">
                  <a16:creationId xmlns:a16="http://schemas.microsoft.com/office/drawing/2014/main" id="{2429AAE6-5C5E-50BA-6538-DC0CA7DB73C6}"/>
                </a:ext>
              </a:extLst>
            </p:cNvPr>
            <p:cNvSpPr/>
            <p:nvPr/>
          </p:nvSpPr>
          <p:spPr>
            <a:xfrm>
              <a:off x="9481681"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9" name="楕円 128">
              <a:extLst>
                <a:ext uri="{FF2B5EF4-FFF2-40B4-BE49-F238E27FC236}">
                  <a16:creationId xmlns:a16="http://schemas.microsoft.com/office/drawing/2014/main" id="{C4326214-E569-E054-68E1-B6672F562ED0}"/>
                </a:ext>
              </a:extLst>
            </p:cNvPr>
            <p:cNvSpPr/>
            <p:nvPr/>
          </p:nvSpPr>
          <p:spPr>
            <a:xfrm>
              <a:off x="9796052" y="582598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0" name="楕円 129">
              <a:extLst>
                <a:ext uri="{FF2B5EF4-FFF2-40B4-BE49-F238E27FC236}">
                  <a16:creationId xmlns:a16="http://schemas.microsoft.com/office/drawing/2014/main" id="{D7E1F92B-8011-8931-E016-2214180E4D17}"/>
                </a:ext>
              </a:extLst>
            </p:cNvPr>
            <p:cNvSpPr/>
            <p:nvPr/>
          </p:nvSpPr>
          <p:spPr>
            <a:xfrm>
              <a:off x="10097536"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楕円 130">
              <a:extLst>
                <a:ext uri="{FF2B5EF4-FFF2-40B4-BE49-F238E27FC236}">
                  <a16:creationId xmlns:a16="http://schemas.microsoft.com/office/drawing/2014/main" id="{2957D19F-E36D-187A-999E-BEC6A78312A1}"/>
                </a:ext>
              </a:extLst>
            </p:cNvPr>
            <p:cNvSpPr/>
            <p:nvPr/>
          </p:nvSpPr>
          <p:spPr>
            <a:xfrm>
              <a:off x="10428572"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楕円 131">
              <a:extLst>
                <a:ext uri="{FF2B5EF4-FFF2-40B4-BE49-F238E27FC236}">
                  <a16:creationId xmlns:a16="http://schemas.microsoft.com/office/drawing/2014/main" id="{9D02BC88-C8F3-2672-E0C1-4A42FD8ABC19}"/>
                </a:ext>
              </a:extLst>
            </p:cNvPr>
            <p:cNvSpPr/>
            <p:nvPr/>
          </p:nvSpPr>
          <p:spPr>
            <a:xfrm>
              <a:off x="10755163"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楕円 132">
              <a:extLst>
                <a:ext uri="{FF2B5EF4-FFF2-40B4-BE49-F238E27FC236}">
                  <a16:creationId xmlns:a16="http://schemas.microsoft.com/office/drawing/2014/main" id="{7C202289-2BB5-CA5F-9142-4B174722926B}"/>
                </a:ext>
              </a:extLst>
            </p:cNvPr>
            <p:cNvSpPr/>
            <p:nvPr/>
          </p:nvSpPr>
          <p:spPr>
            <a:xfrm>
              <a:off x="11137800" y="582598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テキスト ボックス 133">
              <a:extLst>
                <a:ext uri="{FF2B5EF4-FFF2-40B4-BE49-F238E27FC236}">
                  <a16:creationId xmlns:a16="http://schemas.microsoft.com/office/drawing/2014/main" id="{BE5AEA35-B572-5D72-8CA5-C07719F4094E}"/>
                </a:ext>
              </a:extLst>
            </p:cNvPr>
            <p:cNvSpPr txBox="1"/>
            <p:nvPr/>
          </p:nvSpPr>
          <p:spPr>
            <a:xfrm>
              <a:off x="7443523" y="2328459"/>
              <a:ext cx="433633" cy="307777"/>
            </a:xfrm>
            <a:prstGeom prst="rect">
              <a:avLst/>
            </a:prstGeom>
            <a:noFill/>
          </p:spPr>
          <p:txBody>
            <a:bodyPr wrap="square" rtlCol="0">
              <a:spAutoFit/>
            </a:bodyPr>
            <a:lstStyle/>
            <a:p>
              <a:pPr algn="ctr"/>
              <a:r>
                <a:rPr kumimoji="1" lang="ja-JP" altLang="en-US" sz="1400" dirty="0"/>
                <a:t>１</a:t>
              </a:r>
            </a:p>
          </p:txBody>
        </p:sp>
        <p:sp>
          <p:nvSpPr>
            <p:cNvPr id="135" name="テキスト ボックス 134">
              <a:extLst>
                <a:ext uri="{FF2B5EF4-FFF2-40B4-BE49-F238E27FC236}">
                  <a16:creationId xmlns:a16="http://schemas.microsoft.com/office/drawing/2014/main" id="{942FC30B-A73E-B8B8-8023-BF053A17F095}"/>
                </a:ext>
              </a:extLst>
            </p:cNvPr>
            <p:cNvSpPr txBox="1"/>
            <p:nvPr/>
          </p:nvSpPr>
          <p:spPr>
            <a:xfrm>
              <a:off x="8765497" y="2328459"/>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36" name="テキスト ボックス 135">
              <a:extLst>
                <a:ext uri="{FF2B5EF4-FFF2-40B4-BE49-F238E27FC236}">
                  <a16:creationId xmlns:a16="http://schemas.microsoft.com/office/drawing/2014/main" id="{8C1C5088-AF83-E821-6C4A-AE2A217CE1E8}"/>
                </a:ext>
              </a:extLst>
            </p:cNvPr>
            <p:cNvSpPr txBox="1"/>
            <p:nvPr/>
          </p:nvSpPr>
          <p:spPr>
            <a:xfrm>
              <a:off x="10497207" y="2328459"/>
              <a:ext cx="433633" cy="307777"/>
            </a:xfrm>
            <a:prstGeom prst="rect">
              <a:avLst/>
            </a:prstGeom>
            <a:noFill/>
          </p:spPr>
          <p:txBody>
            <a:bodyPr wrap="square" rtlCol="0">
              <a:spAutoFit/>
            </a:bodyPr>
            <a:lstStyle/>
            <a:p>
              <a:pPr algn="ctr"/>
              <a:r>
                <a:rPr lang="ja-JP" altLang="en-US" sz="1400" dirty="0"/>
                <a:t>３</a:t>
              </a:r>
              <a:endParaRPr kumimoji="1" lang="ja-JP" altLang="en-US" sz="1400" dirty="0"/>
            </a:p>
          </p:txBody>
        </p:sp>
        <p:sp>
          <p:nvSpPr>
            <p:cNvPr id="137" name="テキスト ボックス 136">
              <a:extLst>
                <a:ext uri="{FF2B5EF4-FFF2-40B4-BE49-F238E27FC236}">
                  <a16:creationId xmlns:a16="http://schemas.microsoft.com/office/drawing/2014/main" id="{BAE4F4F6-2EF3-C285-0E8B-9038718785F9}"/>
                </a:ext>
              </a:extLst>
            </p:cNvPr>
            <p:cNvSpPr txBox="1"/>
            <p:nvPr/>
          </p:nvSpPr>
          <p:spPr>
            <a:xfrm>
              <a:off x="6820338" y="3871773"/>
              <a:ext cx="433633" cy="307777"/>
            </a:xfrm>
            <a:prstGeom prst="rect">
              <a:avLst/>
            </a:prstGeom>
            <a:noFill/>
          </p:spPr>
          <p:txBody>
            <a:bodyPr wrap="square" rtlCol="0">
              <a:spAutoFit/>
            </a:bodyPr>
            <a:lstStyle/>
            <a:p>
              <a:pPr algn="ctr"/>
              <a:r>
                <a:rPr kumimoji="1" lang="ja-JP" altLang="en-US" sz="1400" dirty="0"/>
                <a:t>１</a:t>
              </a:r>
            </a:p>
          </p:txBody>
        </p:sp>
        <p:sp>
          <p:nvSpPr>
            <p:cNvPr id="138" name="テキスト ボックス 137">
              <a:extLst>
                <a:ext uri="{FF2B5EF4-FFF2-40B4-BE49-F238E27FC236}">
                  <a16:creationId xmlns:a16="http://schemas.microsoft.com/office/drawing/2014/main" id="{DCA9B19E-42E3-5126-5A56-8E8D61643FD4}"/>
                </a:ext>
              </a:extLst>
            </p:cNvPr>
            <p:cNvSpPr txBox="1"/>
            <p:nvPr/>
          </p:nvSpPr>
          <p:spPr>
            <a:xfrm>
              <a:off x="7264810" y="3871773"/>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39" name="テキスト ボックス 138">
              <a:extLst>
                <a:ext uri="{FF2B5EF4-FFF2-40B4-BE49-F238E27FC236}">
                  <a16:creationId xmlns:a16="http://schemas.microsoft.com/office/drawing/2014/main" id="{6A744050-62FD-9B78-5D49-9D9A7CA68C2F}"/>
                </a:ext>
              </a:extLst>
            </p:cNvPr>
            <p:cNvSpPr txBox="1"/>
            <p:nvPr/>
          </p:nvSpPr>
          <p:spPr>
            <a:xfrm>
              <a:off x="7784045" y="3871773"/>
              <a:ext cx="433633" cy="307777"/>
            </a:xfrm>
            <a:prstGeom prst="rect">
              <a:avLst/>
            </a:prstGeom>
            <a:noFill/>
          </p:spPr>
          <p:txBody>
            <a:bodyPr wrap="square" rtlCol="0">
              <a:spAutoFit/>
            </a:bodyPr>
            <a:lstStyle/>
            <a:p>
              <a:pPr algn="ctr"/>
              <a:r>
                <a:rPr kumimoji="1" lang="ja-JP" altLang="en-US" sz="1400" dirty="0"/>
                <a:t>３</a:t>
              </a:r>
            </a:p>
          </p:txBody>
        </p:sp>
        <p:sp>
          <p:nvSpPr>
            <p:cNvPr id="140" name="テキスト ボックス 139">
              <a:extLst>
                <a:ext uri="{FF2B5EF4-FFF2-40B4-BE49-F238E27FC236}">
                  <a16:creationId xmlns:a16="http://schemas.microsoft.com/office/drawing/2014/main" id="{8D3A164D-6F2B-D1DE-EE45-B735E6DC90E6}"/>
                </a:ext>
              </a:extLst>
            </p:cNvPr>
            <p:cNvSpPr txBox="1"/>
            <p:nvPr/>
          </p:nvSpPr>
          <p:spPr>
            <a:xfrm>
              <a:off x="8303280" y="3871773"/>
              <a:ext cx="433633" cy="307777"/>
            </a:xfrm>
            <a:prstGeom prst="rect">
              <a:avLst/>
            </a:prstGeom>
            <a:noFill/>
          </p:spPr>
          <p:txBody>
            <a:bodyPr wrap="square" rtlCol="0">
              <a:spAutoFit/>
            </a:bodyPr>
            <a:lstStyle/>
            <a:p>
              <a:pPr algn="ctr"/>
              <a:r>
                <a:rPr kumimoji="1" lang="ja-JP" altLang="en-US" sz="1400" dirty="0"/>
                <a:t>１</a:t>
              </a:r>
            </a:p>
          </p:txBody>
        </p:sp>
        <p:sp>
          <p:nvSpPr>
            <p:cNvPr id="141" name="テキスト ボックス 140">
              <a:extLst>
                <a:ext uri="{FF2B5EF4-FFF2-40B4-BE49-F238E27FC236}">
                  <a16:creationId xmlns:a16="http://schemas.microsoft.com/office/drawing/2014/main" id="{16BFC861-491D-2FD3-7A0B-03B967F63E07}"/>
                </a:ext>
              </a:extLst>
            </p:cNvPr>
            <p:cNvSpPr txBox="1"/>
            <p:nvPr/>
          </p:nvSpPr>
          <p:spPr>
            <a:xfrm>
              <a:off x="8844541" y="3871773"/>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42" name="テキスト ボックス 141">
              <a:extLst>
                <a:ext uri="{FF2B5EF4-FFF2-40B4-BE49-F238E27FC236}">
                  <a16:creationId xmlns:a16="http://schemas.microsoft.com/office/drawing/2014/main" id="{FBD8A233-1F3F-A355-8BC9-C702DF225309}"/>
                </a:ext>
              </a:extLst>
            </p:cNvPr>
            <p:cNvSpPr txBox="1"/>
            <p:nvPr/>
          </p:nvSpPr>
          <p:spPr>
            <a:xfrm>
              <a:off x="9271908" y="3871773"/>
              <a:ext cx="433633" cy="307777"/>
            </a:xfrm>
            <a:prstGeom prst="rect">
              <a:avLst/>
            </a:prstGeom>
            <a:noFill/>
          </p:spPr>
          <p:txBody>
            <a:bodyPr wrap="square" rtlCol="0">
              <a:spAutoFit/>
            </a:bodyPr>
            <a:lstStyle/>
            <a:p>
              <a:pPr algn="ctr"/>
              <a:r>
                <a:rPr lang="ja-JP" altLang="en-US" sz="1400" dirty="0"/>
                <a:t>３</a:t>
              </a:r>
              <a:endParaRPr kumimoji="1" lang="ja-JP" altLang="en-US" sz="1400" dirty="0"/>
            </a:p>
          </p:txBody>
        </p:sp>
        <p:sp>
          <p:nvSpPr>
            <p:cNvPr id="143" name="テキスト ボックス 142">
              <a:extLst>
                <a:ext uri="{FF2B5EF4-FFF2-40B4-BE49-F238E27FC236}">
                  <a16:creationId xmlns:a16="http://schemas.microsoft.com/office/drawing/2014/main" id="{BB1EC38C-F3A5-8582-778F-61BDB3D34595}"/>
                </a:ext>
              </a:extLst>
            </p:cNvPr>
            <p:cNvSpPr txBox="1"/>
            <p:nvPr/>
          </p:nvSpPr>
          <p:spPr>
            <a:xfrm>
              <a:off x="9857306" y="3871773"/>
              <a:ext cx="433633" cy="307777"/>
            </a:xfrm>
            <a:prstGeom prst="rect">
              <a:avLst/>
            </a:prstGeom>
            <a:noFill/>
          </p:spPr>
          <p:txBody>
            <a:bodyPr wrap="square" rtlCol="0">
              <a:spAutoFit/>
            </a:bodyPr>
            <a:lstStyle/>
            <a:p>
              <a:pPr algn="ctr"/>
              <a:r>
                <a:rPr kumimoji="1" lang="ja-JP" altLang="en-US" sz="1400" dirty="0"/>
                <a:t>１</a:t>
              </a:r>
            </a:p>
          </p:txBody>
        </p:sp>
        <p:sp>
          <p:nvSpPr>
            <p:cNvPr id="144" name="テキスト ボックス 143">
              <a:extLst>
                <a:ext uri="{FF2B5EF4-FFF2-40B4-BE49-F238E27FC236}">
                  <a16:creationId xmlns:a16="http://schemas.microsoft.com/office/drawing/2014/main" id="{87C8C41E-031A-E5B7-269F-6E7BA5410EF1}"/>
                </a:ext>
              </a:extLst>
            </p:cNvPr>
            <p:cNvSpPr txBox="1"/>
            <p:nvPr/>
          </p:nvSpPr>
          <p:spPr>
            <a:xfrm>
              <a:off x="10321530" y="3871773"/>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45" name="テキスト ボックス 144">
              <a:extLst>
                <a:ext uri="{FF2B5EF4-FFF2-40B4-BE49-F238E27FC236}">
                  <a16:creationId xmlns:a16="http://schemas.microsoft.com/office/drawing/2014/main" id="{EFA2F153-1B4B-38AA-FF31-BD975D9949B2}"/>
                </a:ext>
              </a:extLst>
            </p:cNvPr>
            <p:cNvSpPr txBox="1"/>
            <p:nvPr/>
          </p:nvSpPr>
          <p:spPr>
            <a:xfrm>
              <a:off x="10796794" y="3871773"/>
              <a:ext cx="433633" cy="307777"/>
            </a:xfrm>
            <a:prstGeom prst="rect">
              <a:avLst/>
            </a:prstGeom>
            <a:noFill/>
          </p:spPr>
          <p:txBody>
            <a:bodyPr wrap="square" rtlCol="0">
              <a:spAutoFit/>
            </a:bodyPr>
            <a:lstStyle/>
            <a:p>
              <a:pPr algn="ctr"/>
              <a:r>
                <a:rPr lang="ja-JP" altLang="en-US" sz="1400" dirty="0"/>
                <a:t>３</a:t>
              </a:r>
              <a:endParaRPr kumimoji="1" lang="ja-JP" altLang="en-US" sz="1400" dirty="0"/>
            </a:p>
          </p:txBody>
        </p:sp>
        <p:sp>
          <p:nvSpPr>
            <p:cNvPr id="146" name="テキスト ボックス 145">
              <a:extLst>
                <a:ext uri="{FF2B5EF4-FFF2-40B4-BE49-F238E27FC236}">
                  <a16:creationId xmlns:a16="http://schemas.microsoft.com/office/drawing/2014/main" id="{FC589E0E-7995-305F-9BE8-49D594E6CCB1}"/>
                </a:ext>
              </a:extLst>
            </p:cNvPr>
            <p:cNvSpPr txBox="1"/>
            <p:nvPr/>
          </p:nvSpPr>
          <p:spPr>
            <a:xfrm>
              <a:off x="6744580" y="6111072"/>
              <a:ext cx="433633" cy="307777"/>
            </a:xfrm>
            <a:prstGeom prst="rect">
              <a:avLst/>
            </a:prstGeom>
            <a:noFill/>
          </p:spPr>
          <p:txBody>
            <a:bodyPr wrap="square" rtlCol="0">
              <a:spAutoFit/>
            </a:bodyPr>
            <a:lstStyle/>
            <a:p>
              <a:pPr algn="ctr"/>
              <a:r>
                <a:rPr kumimoji="1" lang="ja-JP" altLang="en-US" sz="1400" dirty="0"/>
                <a:t>１</a:t>
              </a:r>
            </a:p>
          </p:txBody>
        </p:sp>
        <p:sp>
          <p:nvSpPr>
            <p:cNvPr id="147" name="テキスト ボックス 146">
              <a:extLst>
                <a:ext uri="{FF2B5EF4-FFF2-40B4-BE49-F238E27FC236}">
                  <a16:creationId xmlns:a16="http://schemas.microsoft.com/office/drawing/2014/main" id="{4483CE64-07FF-944F-0057-F1E9A2D417CB}"/>
                </a:ext>
              </a:extLst>
            </p:cNvPr>
            <p:cNvSpPr txBox="1"/>
            <p:nvPr/>
          </p:nvSpPr>
          <p:spPr>
            <a:xfrm>
              <a:off x="7075427"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48" name="テキスト ボックス 147">
              <a:extLst>
                <a:ext uri="{FF2B5EF4-FFF2-40B4-BE49-F238E27FC236}">
                  <a16:creationId xmlns:a16="http://schemas.microsoft.com/office/drawing/2014/main" id="{A4FC223B-2DCD-91FC-155D-1A216C213108}"/>
                </a:ext>
              </a:extLst>
            </p:cNvPr>
            <p:cNvSpPr txBox="1"/>
            <p:nvPr/>
          </p:nvSpPr>
          <p:spPr>
            <a:xfrm>
              <a:off x="8264173" y="6111072"/>
              <a:ext cx="433633" cy="307777"/>
            </a:xfrm>
            <a:prstGeom prst="rect">
              <a:avLst/>
            </a:prstGeom>
            <a:noFill/>
          </p:spPr>
          <p:txBody>
            <a:bodyPr wrap="square" rtlCol="0">
              <a:spAutoFit/>
            </a:bodyPr>
            <a:lstStyle/>
            <a:p>
              <a:pPr algn="ctr"/>
              <a:r>
                <a:rPr kumimoji="1" lang="ja-JP" altLang="en-US" sz="1400" dirty="0"/>
                <a:t>１</a:t>
              </a:r>
            </a:p>
          </p:txBody>
        </p:sp>
        <p:sp>
          <p:nvSpPr>
            <p:cNvPr id="149" name="テキスト ボックス 148">
              <a:extLst>
                <a:ext uri="{FF2B5EF4-FFF2-40B4-BE49-F238E27FC236}">
                  <a16:creationId xmlns:a16="http://schemas.microsoft.com/office/drawing/2014/main" id="{A5593FC2-9A9E-6448-0F74-BC845F69132E}"/>
                </a:ext>
              </a:extLst>
            </p:cNvPr>
            <p:cNvSpPr txBox="1"/>
            <p:nvPr/>
          </p:nvSpPr>
          <p:spPr>
            <a:xfrm>
              <a:off x="8641680"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50" name="テキスト ボックス 149">
              <a:extLst>
                <a:ext uri="{FF2B5EF4-FFF2-40B4-BE49-F238E27FC236}">
                  <a16:creationId xmlns:a16="http://schemas.microsoft.com/office/drawing/2014/main" id="{F907AE57-AFDA-9F1E-E101-FD89B18A94D6}"/>
                </a:ext>
              </a:extLst>
            </p:cNvPr>
            <p:cNvSpPr txBox="1"/>
            <p:nvPr/>
          </p:nvSpPr>
          <p:spPr>
            <a:xfrm>
              <a:off x="9313117" y="6111072"/>
              <a:ext cx="433633" cy="307777"/>
            </a:xfrm>
            <a:prstGeom prst="rect">
              <a:avLst/>
            </a:prstGeom>
            <a:noFill/>
          </p:spPr>
          <p:txBody>
            <a:bodyPr wrap="square" rtlCol="0">
              <a:spAutoFit/>
            </a:bodyPr>
            <a:lstStyle/>
            <a:p>
              <a:pPr algn="ctr"/>
              <a:r>
                <a:rPr kumimoji="1" lang="ja-JP" altLang="en-US" sz="1400" dirty="0"/>
                <a:t>１</a:t>
              </a:r>
            </a:p>
          </p:txBody>
        </p:sp>
        <p:sp>
          <p:nvSpPr>
            <p:cNvPr id="151" name="テキスト ボックス 150">
              <a:extLst>
                <a:ext uri="{FF2B5EF4-FFF2-40B4-BE49-F238E27FC236}">
                  <a16:creationId xmlns:a16="http://schemas.microsoft.com/office/drawing/2014/main" id="{065277D8-71FC-0188-7294-782F7151D491}"/>
                </a:ext>
              </a:extLst>
            </p:cNvPr>
            <p:cNvSpPr txBox="1"/>
            <p:nvPr/>
          </p:nvSpPr>
          <p:spPr>
            <a:xfrm>
              <a:off x="9699284"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52" name="テキスト ボックス 151">
              <a:extLst>
                <a:ext uri="{FF2B5EF4-FFF2-40B4-BE49-F238E27FC236}">
                  <a16:creationId xmlns:a16="http://schemas.microsoft.com/office/drawing/2014/main" id="{8FA61821-26E5-4749-266D-D7DEC5C8F760}"/>
                </a:ext>
              </a:extLst>
            </p:cNvPr>
            <p:cNvSpPr txBox="1"/>
            <p:nvPr/>
          </p:nvSpPr>
          <p:spPr>
            <a:xfrm>
              <a:off x="10321616" y="6111072"/>
              <a:ext cx="433633" cy="307777"/>
            </a:xfrm>
            <a:prstGeom prst="rect">
              <a:avLst/>
            </a:prstGeom>
            <a:noFill/>
          </p:spPr>
          <p:txBody>
            <a:bodyPr wrap="square" rtlCol="0">
              <a:spAutoFit/>
            </a:bodyPr>
            <a:lstStyle/>
            <a:p>
              <a:pPr algn="ctr"/>
              <a:r>
                <a:rPr kumimoji="1" lang="ja-JP" altLang="en-US" sz="1400" dirty="0"/>
                <a:t>１</a:t>
              </a:r>
            </a:p>
          </p:txBody>
        </p:sp>
        <p:sp>
          <p:nvSpPr>
            <p:cNvPr id="153" name="テキスト ボックス 152">
              <a:extLst>
                <a:ext uri="{FF2B5EF4-FFF2-40B4-BE49-F238E27FC236}">
                  <a16:creationId xmlns:a16="http://schemas.microsoft.com/office/drawing/2014/main" id="{0A67B743-0260-7097-7724-29C547CDC53E}"/>
                </a:ext>
              </a:extLst>
            </p:cNvPr>
            <p:cNvSpPr txBox="1"/>
            <p:nvPr/>
          </p:nvSpPr>
          <p:spPr>
            <a:xfrm>
              <a:off x="10652463" y="6111072"/>
              <a:ext cx="433633" cy="307777"/>
            </a:xfrm>
            <a:prstGeom prst="rect">
              <a:avLst/>
            </a:prstGeom>
            <a:noFill/>
          </p:spPr>
          <p:txBody>
            <a:bodyPr wrap="square" rtlCol="0">
              <a:spAutoFit/>
            </a:bodyPr>
            <a:lstStyle/>
            <a:p>
              <a:pPr algn="ctr"/>
              <a:r>
                <a:rPr lang="ja-JP" altLang="en-US" sz="1400" dirty="0"/>
                <a:t>２</a:t>
              </a:r>
              <a:endParaRPr kumimoji="1" lang="ja-JP" altLang="en-US" sz="1400" dirty="0"/>
            </a:p>
          </p:txBody>
        </p:sp>
        <p:sp>
          <p:nvSpPr>
            <p:cNvPr id="154" name="楕円 153">
              <a:extLst>
                <a:ext uri="{FF2B5EF4-FFF2-40B4-BE49-F238E27FC236}">
                  <a16:creationId xmlns:a16="http://schemas.microsoft.com/office/drawing/2014/main" id="{23E3A23C-9800-7ADA-E975-6BC1C4FAC162}"/>
                </a:ext>
              </a:extLst>
            </p:cNvPr>
            <p:cNvSpPr/>
            <p:nvPr/>
          </p:nvSpPr>
          <p:spPr>
            <a:xfrm>
              <a:off x="9075314" y="1279568"/>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9" name="テキスト ボックス 158">
            <a:extLst>
              <a:ext uri="{FF2B5EF4-FFF2-40B4-BE49-F238E27FC236}">
                <a16:creationId xmlns:a16="http://schemas.microsoft.com/office/drawing/2014/main" id="{521B1F09-6C61-C15E-1404-8093868DFCCD}"/>
              </a:ext>
            </a:extLst>
          </p:cNvPr>
          <p:cNvSpPr txBox="1"/>
          <p:nvPr/>
        </p:nvSpPr>
        <p:spPr>
          <a:xfrm>
            <a:off x="10177686" y="1400440"/>
            <a:ext cx="1453972" cy="369332"/>
          </a:xfrm>
          <a:prstGeom prst="rect">
            <a:avLst/>
          </a:prstGeom>
          <a:noFill/>
        </p:spPr>
        <p:txBody>
          <a:bodyPr wrap="square" rtlCol="0">
            <a:spAutoFit/>
          </a:bodyPr>
          <a:lstStyle/>
          <a:p>
            <a:r>
              <a:rPr kumimoji="1" lang="ja-JP" altLang="en-US" dirty="0"/>
              <a:t>：利用可能</a:t>
            </a:r>
          </a:p>
        </p:txBody>
      </p:sp>
      <p:sp>
        <p:nvSpPr>
          <p:cNvPr id="160" name="テキスト ボックス 159">
            <a:extLst>
              <a:ext uri="{FF2B5EF4-FFF2-40B4-BE49-F238E27FC236}">
                <a16:creationId xmlns:a16="http://schemas.microsoft.com/office/drawing/2014/main" id="{C5B3D647-CD47-0836-1FC1-778F669650FC}"/>
              </a:ext>
            </a:extLst>
          </p:cNvPr>
          <p:cNvSpPr txBox="1"/>
          <p:nvPr/>
        </p:nvSpPr>
        <p:spPr>
          <a:xfrm>
            <a:off x="10177686" y="1787442"/>
            <a:ext cx="1837135" cy="369332"/>
          </a:xfrm>
          <a:prstGeom prst="rect">
            <a:avLst/>
          </a:prstGeom>
          <a:noFill/>
        </p:spPr>
        <p:txBody>
          <a:bodyPr wrap="square" rtlCol="0">
            <a:spAutoFit/>
          </a:bodyPr>
          <a:lstStyle/>
          <a:p>
            <a:r>
              <a:rPr kumimoji="1" lang="ja-JP" altLang="en-US" dirty="0"/>
              <a:t>：利用不可</a:t>
            </a:r>
          </a:p>
        </p:txBody>
      </p:sp>
      <p:sp>
        <p:nvSpPr>
          <p:cNvPr id="161" name="楕円 160">
            <a:extLst>
              <a:ext uri="{FF2B5EF4-FFF2-40B4-BE49-F238E27FC236}">
                <a16:creationId xmlns:a16="http://schemas.microsoft.com/office/drawing/2014/main" id="{0691ED36-0E39-D427-DB39-AC09A0768159}"/>
              </a:ext>
            </a:extLst>
          </p:cNvPr>
          <p:cNvSpPr/>
          <p:nvPr/>
        </p:nvSpPr>
        <p:spPr>
          <a:xfrm>
            <a:off x="10012965" y="1855745"/>
            <a:ext cx="216000" cy="216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2" name="楕円 161">
            <a:extLst>
              <a:ext uri="{FF2B5EF4-FFF2-40B4-BE49-F238E27FC236}">
                <a16:creationId xmlns:a16="http://schemas.microsoft.com/office/drawing/2014/main" id="{604E4E8B-D6F7-7D1C-C6DB-35BF942019F6}"/>
              </a:ext>
            </a:extLst>
          </p:cNvPr>
          <p:cNvSpPr/>
          <p:nvPr/>
        </p:nvSpPr>
        <p:spPr>
          <a:xfrm>
            <a:off x="10024917" y="1469678"/>
            <a:ext cx="216000" cy="216000"/>
          </a:xfrm>
          <a:prstGeom prst="ellipse">
            <a:avLst/>
          </a:prstGeom>
          <a:solidFill>
            <a:srgbClr val="C0000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 name="グループ化 2">
            <a:extLst>
              <a:ext uri="{FF2B5EF4-FFF2-40B4-BE49-F238E27FC236}">
                <a16:creationId xmlns:a16="http://schemas.microsoft.com/office/drawing/2014/main" id="{14644A33-75AE-C154-2155-72189C159BFB}"/>
              </a:ext>
            </a:extLst>
          </p:cNvPr>
          <p:cNvGrpSpPr/>
          <p:nvPr/>
        </p:nvGrpSpPr>
        <p:grpSpPr>
          <a:xfrm>
            <a:off x="8264173" y="1360199"/>
            <a:ext cx="798269" cy="369397"/>
            <a:chOff x="8142298" y="3681827"/>
            <a:chExt cx="798269" cy="369397"/>
          </a:xfrm>
        </p:grpSpPr>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7EB327EA-51A0-D337-D7E3-7540C126B5CE}"/>
                    </a:ext>
                  </a:extLst>
                </p:cNvPr>
                <p:cNvSpPr txBox="1"/>
                <p:nvPr/>
              </p:nvSpPr>
              <p:spPr>
                <a:xfrm>
                  <a:off x="8142298" y="3681827"/>
                  <a:ext cx="439646"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chemeClr val="accent1"/>
                            </a:solidFill>
                            <a:latin typeface="Cambria Math" panose="02040503050406030204" pitchFamily="18" charset="0"/>
                          </a:rPr>
                          <m:t>𝑟</m:t>
                        </m:r>
                      </m:oMath>
                    </m:oMathPara>
                  </a14:m>
                  <a:endParaRPr kumimoji="1" lang="ja-JP" altLang="en-US" dirty="0"/>
                </a:p>
              </p:txBody>
            </p:sp>
          </mc:Choice>
          <mc:Fallback xmlns="">
            <p:sp>
              <p:nvSpPr>
                <p:cNvPr id="5" name="テキスト ボックス 4">
                  <a:extLst>
                    <a:ext uri="{FF2B5EF4-FFF2-40B4-BE49-F238E27FC236}">
                      <a16:creationId xmlns:a16="http://schemas.microsoft.com/office/drawing/2014/main" id="{7EB327EA-51A0-D337-D7E3-7540C126B5CE}"/>
                    </a:ext>
                  </a:extLst>
                </p:cNvPr>
                <p:cNvSpPr txBox="1">
                  <a:spLocks noRot="1" noChangeAspect="1" noMove="1" noResize="1" noEditPoints="1" noAdjustHandles="1" noChangeArrowheads="1" noChangeShapeType="1" noTextEdit="1"/>
                </p:cNvSpPr>
                <p:nvPr/>
              </p:nvSpPr>
              <p:spPr>
                <a:xfrm>
                  <a:off x="8142298" y="3681827"/>
                  <a:ext cx="439646" cy="369397"/>
                </a:xfrm>
                <a:prstGeom prst="rect">
                  <a:avLst/>
                </a:prstGeom>
                <a:blipFill>
                  <a:blip r:embed="rId2"/>
                  <a:stretch>
                    <a:fillRect/>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B67C9096-52AA-BCAA-F38C-116016E2AD60}"/>
                </a:ext>
              </a:extLst>
            </p:cNvPr>
            <p:cNvCxnSpPr>
              <a:cxnSpLocks/>
            </p:cNvCxnSpPr>
            <p:nvPr/>
          </p:nvCxnSpPr>
          <p:spPr>
            <a:xfrm>
              <a:off x="8477491" y="3874637"/>
              <a:ext cx="463076" cy="65514"/>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 name="直線矢印コネクタ 8">
            <a:extLst>
              <a:ext uri="{FF2B5EF4-FFF2-40B4-BE49-F238E27FC236}">
                <a16:creationId xmlns:a16="http://schemas.microsoft.com/office/drawing/2014/main" id="{58CB8C4D-93DE-8D2F-6E4B-5A5B79E8F017}"/>
              </a:ext>
            </a:extLst>
          </p:cNvPr>
          <p:cNvCxnSpPr>
            <a:cxnSpLocks/>
            <a:endCxn id="134" idx="2"/>
          </p:cNvCxnSpPr>
          <p:nvPr/>
        </p:nvCxnSpPr>
        <p:spPr>
          <a:xfrm flipH="1">
            <a:off x="7660340" y="1692863"/>
            <a:ext cx="1396020" cy="121633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E8575E19-93FE-3530-ADA0-2C22FD90AD3A}"/>
              </a:ext>
            </a:extLst>
          </p:cNvPr>
          <p:cNvCxnSpPr>
            <a:cxnSpLocks/>
          </p:cNvCxnSpPr>
          <p:nvPr/>
        </p:nvCxnSpPr>
        <p:spPr>
          <a:xfrm>
            <a:off x="7723779" y="3131246"/>
            <a:ext cx="0" cy="1314229"/>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F688ED3A-2FF0-E5B3-4A3E-4FEB95E6654C}"/>
                  </a:ext>
                </a:extLst>
              </p:cNvPr>
              <p:cNvSpPr txBox="1"/>
              <p:nvPr/>
            </p:nvSpPr>
            <p:spPr>
              <a:xfrm>
                <a:off x="836460" y="2882851"/>
                <a:ext cx="5648945" cy="2739211"/>
              </a:xfrm>
              <a:prstGeom prst="rect">
                <a:avLst/>
              </a:prstGeom>
              <a:noFill/>
            </p:spPr>
            <p:txBody>
              <a:bodyPr wrap="square" rtlCol="0">
                <a:spAutoFit/>
              </a:bodyPr>
              <a:lstStyle/>
              <a:p>
                <a:pPr>
                  <a:spcAft>
                    <a:spcPts val="1200"/>
                  </a:spcAft>
                </a:pPr>
                <a:r>
                  <a:rPr lang="ja-JP" altLang="en-US" sz="2400" dirty="0"/>
                  <a:t>新しいリクエストが頂点</a:t>
                </a:r>
                <a:r>
                  <a:rPr lang="en-US" altLang="ja-JP" sz="2400" dirty="0"/>
                  <a:t> </a:t>
                </a:r>
                <a14:m>
                  <m:oMath xmlns:m="http://schemas.openxmlformats.org/officeDocument/2006/math">
                    <m:r>
                      <a:rPr lang="en-US" altLang="ja-JP" sz="2400" i="1">
                        <a:latin typeface="Cambria Math" panose="02040503050406030204" pitchFamily="18" charset="0"/>
                      </a:rPr>
                      <m:t>𝑣</m:t>
                    </m:r>
                  </m:oMath>
                </a14:m>
                <a:r>
                  <a:rPr lang="en-US" altLang="ja-JP" sz="2400" dirty="0"/>
                  <a:t> </a:t>
                </a:r>
                <a:r>
                  <a:rPr lang="ja-JP" altLang="en-US" sz="2400" dirty="0"/>
                  <a:t>に生起</a:t>
                </a:r>
                <a:r>
                  <a:rPr lang="en-US" altLang="ja-JP" sz="2400" dirty="0"/>
                  <a:t>:</a:t>
                </a:r>
                <a:r>
                  <a:rPr lang="ja-JP" altLang="en-US" sz="2400" dirty="0"/>
                  <a:t> </a:t>
                </a:r>
                <a:endParaRPr lang="en-US" altLang="ja-JP" sz="2400" dirty="0"/>
              </a:p>
              <a:p>
                <a:pPr>
                  <a:spcAft>
                    <a:spcPts val="600"/>
                  </a:spcAft>
                </a:pPr>
                <a:r>
                  <a:rPr kumimoji="1" lang="en-US" altLang="ja-JP" sz="2400" b="1" dirty="0"/>
                  <a:t>IF</a:t>
                </a:r>
                <a:r>
                  <a:rPr kumimoji="1" lang="en-US" altLang="ja-JP" sz="2400" b="0" dirty="0"/>
                  <a:t> </a:t>
                </a:r>
                <a14:m>
                  <m:oMath xmlns:m="http://schemas.openxmlformats.org/officeDocument/2006/math">
                    <m:r>
                      <a:rPr kumimoji="1" lang="en-US" altLang="ja-JP" b="0" i="1" smtClean="0">
                        <a:latin typeface="Cambria Math" panose="02040503050406030204" pitchFamily="18" charset="0"/>
                      </a:rPr>
                      <m:t>∃</m:t>
                    </m:r>
                  </m:oMath>
                </a14:m>
                <a:r>
                  <a:rPr kumimoji="1" lang="en-US" altLang="ja-JP" dirty="0"/>
                  <a:t> </a:t>
                </a:r>
                <a14:m>
                  <m:oMath xmlns:m="http://schemas.openxmlformats.org/officeDocument/2006/math">
                    <m:r>
                      <a:rPr kumimoji="1" lang="en-US" altLang="ja-JP" b="0" i="1" smtClean="0">
                        <a:latin typeface="Cambria Math" panose="02040503050406030204" pitchFamily="18" charset="0"/>
                      </a:rPr>
                      <m:t>𝑣</m:t>
                    </m:r>
                  </m:oMath>
                </a14:m>
                <a:r>
                  <a:rPr kumimoji="1" lang="en-US" altLang="ja-JP" dirty="0"/>
                  <a:t> </a:t>
                </a:r>
                <a:r>
                  <a:rPr kumimoji="1" lang="ja-JP" altLang="en-US" dirty="0"/>
                  <a:t>の子孫かつ利用可能なサーバ</a:t>
                </a:r>
                <a:r>
                  <a:rPr kumimoji="1" lang="en-US" altLang="ja-JP" dirty="0"/>
                  <a:t>, </a:t>
                </a:r>
                <a:r>
                  <a:rPr kumimoji="1" lang="ja-JP" altLang="en-US" sz="2400" dirty="0"/>
                  <a:t> </a:t>
                </a:r>
                <a:r>
                  <a:rPr lang="en-US" altLang="ja-JP" sz="2400" b="1" dirty="0"/>
                  <a:t>THEN</a:t>
                </a:r>
              </a:p>
              <a:p>
                <a:pPr lvl="1">
                  <a:spcAft>
                    <a:spcPts val="600"/>
                  </a:spcAft>
                </a:pPr>
                <a:r>
                  <a:rPr lang="ja-JP" altLang="en-US" sz="2000" dirty="0"/>
                  <a:t>そのサーバに割り当てる．複数のサーバが利用可能なときは，番号の若い子を辿る</a:t>
                </a:r>
                <a:r>
                  <a:rPr lang="en-US" altLang="ja-JP" sz="2000" dirty="0"/>
                  <a:t>.</a:t>
                </a:r>
              </a:p>
              <a:p>
                <a:r>
                  <a:rPr lang="en-US" altLang="ja-JP" sz="2400" b="1" dirty="0"/>
                  <a:t>ELSE</a:t>
                </a:r>
              </a:p>
              <a:p>
                <a:pPr lvl="1"/>
                <a:r>
                  <a:rPr kumimoji="1" lang="ja-JP" altLang="en-US" sz="2000" dirty="0"/>
                  <a:t>子孫に利用可能なサーバが現れるまで親を辿ってから，上記と同じことをする．</a:t>
                </a:r>
                <a:endParaRPr kumimoji="1" lang="en-US" altLang="ja-JP" sz="2000" dirty="0"/>
              </a:p>
            </p:txBody>
          </p:sp>
        </mc:Choice>
        <mc:Fallback xmlns="">
          <p:sp>
            <p:nvSpPr>
              <p:cNvPr id="8" name="テキスト ボックス 7">
                <a:extLst>
                  <a:ext uri="{FF2B5EF4-FFF2-40B4-BE49-F238E27FC236}">
                    <a16:creationId xmlns:a16="http://schemas.microsoft.com/office/drawing/2014/main" id="{F688ED3A-2FF0-E5B3-4A3E-4FEB95E6654C}"/>
                  </a:ext>
                </a:extLst>
              </p:cNvPr>
              <p:cNvSpPr txBox="1">
                <a:spLocks noRot="1" noChangeAspect="1" noMove="1" noResize="1" noEditPoints="1" noAdjustHandles="1" noChangeArrowheads="1" noChangeShapeType="1" noTextEdit="1"/>
              </p:cNvSpPr>
              <p:nvPr/>
            </p:nvSpPr>
            <p:spPr>
              <a:xfrm>
                <a:off x="836460" y="2882851"/>
                <a:ext cx="5648945" cy="2739211"/>
              </a:xfrm>
              <a:prstGeom prst="rect">
                <a:avLst/>
              </a:prstGeom>
              <a:blipFill>
                <a:blip r:embed="rId3"/>
                <a:stretch>
                  <a:fillRect l="-1618" t="-2450" b="-3118"/>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D0B6E5CB-8101-3855-93DB-8267742FEC51}"/>
              </a:ext>
            </a:extLst>
          </p:cNvPr>
          <p:cNvSpPr txBox="1"/>
          <p:nvPr/>
        </p:nvSpPr>
        <p:spPr>
          <a:xfrm>
            <a:off x="838200" y="1495568"/>
            <a:ext cx="5826310" cy="1200329"/>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任意の頂点を根として選ぶ</a:t>
            </a:r>
            <a:endParaRPr lang="en-US" altLang="ja-JP" sz="2400" dirty="0"/>
          </a:p>
          <a:p>
            <a:pPr marL="342900" indent="-342900">
              <a:buFont typeface="Arial" panose="020B0604020202020204" pitchFamily="34" charset="0"/>
              <a:buChar char="•"/>
            </a:pPr>
            <a:r>
              <a:rPr kumimoji="1" lang="en-US" altLang="ja-JP" sz="2400" dirty="0"/>
              <a:t>2</a:t>
            </a:r>
            <a:r>
              <a:rPr kumimoji="1" lang="ja-JP" altLang="en-US" sz="2400" dirty="0"/>
              <a:t>人以上子を持つ頂点に対して，子に任意に番号を振る</a:t>
            </a:r>
          </a:p>
        </p:txBody>
      </p:sp>
    </p:spTree>
    <p:extLst>
      <p:ext uri="{BB962C8B-B14F-4D97-AF65-F5344CB8AC3E}">
        <p14:creationId xmlns:p14="http://schemas.microsoft.com/office/powerpoint/2010/main" val="277838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76EA5-B855-BCB7-EC34-63DDEE19AE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270177-49B2-9442-4B51-783D83C1ABB6}"/>
              </a:ext>
            </a:extLst>
          </p:cNvPr>
          <p:cNvSpPr>
            <a:spLocks noGrp="1"/>
          </p:cNvSpPr>
          <p:nvPr>
            <p:ph type="title"/>
          </p:nvPr>
        </p:nvSpPr>
        <p:spPr/>
        <p:txBody>
          <a:bodyPr/>
          <a:lstStyle/>
          <a:p>
            <a:r>
              <a:rPr lang="en-US" altLang="ja-JP" dirty="0"/>
              <a:t>2</a:t>
            </a:r>
            <a:r>
              <a:rPr lang="ja-JP" altLang="en-US" dirty="0"/>
              <a:t>の冪乗の重み付き木に拡張</a:t>
            </a:r>
            <a:endParaRPr kumimoji="1" lang="ja-JP" altLang="en-US" dirty="0"/>
          </a:p>
        </p:txBody>
      </p:sp>
      <p:sp>
        <p:nvSpPr>
          <p:cNvPr id="4" name="スライド番号プレースホルダー 3">
            <a:extLst>
              <a:ext uri="{FF2B5EF4-FFF2-40B4-BE49-F238E27FC236}">
                <a16:creationId xmlns:a16="http://schemas.microsoft.com/office/drawing/2014/main" id="{9AAD8BF1-1371-BE2D-7DFD-9E82DC50BF50}"/>
              </a:ext>
            </a:extLst>
          </p:cNvPr>
          <p:cNvSpPr>
            <a:spLocks noGrp="1"/>
          </p:cNvSpPr>
          <p:nvPr>
            <p:ph type="sldNum" sz="quarter" idx="12"/>
          </p:nvPr>
        </p:nvSpPr>
        <p:spPr/>
        <p:txBody>
          <a:bodyPr/>
          <a:lstStyle/>
          <a:p>
            <a:fld id="{62D2EF3D-F703-49E9-AB6E-69446C0165D0}" type="slidenum">
              <a:rPr kumimoji="1" lang="ja-JP" altLang="en-US" smtClean="0"/>
              <a:t>28</a:t>
            </a:fld>
            <a:endParaRPr kumimoji="1" lang="ja-JP" altLang="en-US"/>
          </a:p>
        </p:txBody>
      </p:sp>
      <p:grpSp>
        <p:nvGrpSpPr>
          <p:cNvPr id="5" name="グループ化 4">
            <a:extLst>
              <a:ext uri="{FF2B5EF4-FFF2-40B4-BE49-F238E27FC236}">
                <a16:creationId xmlns:a16="http://schemas.microsoft.com/office/drawing/2014/main" id="{B7A45351-0EC3-01BC-2738-F949A336A064}"/>
              </a:ext>
            </a:extLst>
          </p:cNvPr>
          <p:cNvGrpSpPr/>
          <p:nvPr/>
        </p:nvGrpSpPr>
        <p:grpSpPr>
          <a:xfrm>
            <a:off x="6782638" y="1690688"/>
            <a:ext cx="4756786" cy="4515710"/>
            <a:chOff x="5840696" y="1063886"/>
            <a:chExt cx="6017671" cy="5502928"/>
          </a:xfrm>
        </p:grpSpPr>
        <p:grpSp>
          <p:nvGrpSpPr>
            <p:cNvPr id="6" name="グループ化 5">
              <a:extLst>
                <a:ext uri="{FF2B5EF4-FFF2-40B4-BE49-F238E27FC236}">
                  <a16:creationId xmlns:a16="http://schemas.microsoft.com/office/drawing/2014/main" id="{AC03BC24-6D92-D678-9717-0A4DF4107DF7}"/>
                </a:ext>
              </a:extLst>
            </p:cNvPr>
            <p:cNvGrpSpPr/>
            <p:nvPr/>
          </p:nvGrpSpPr>
          <p:grpSpPr>
            <a:xfrm>
              <a:off x="8147621" y="1063886"/>
              <a:ext cx="2052000" cy="2052000"/>
              <a:chOff x="8147621" y="1063886"/>
              <a:chExt cx="2052000" cy="2052000"/>
            </a:xfrm>
          </p:grpSpPr>
          <p:cxnSp>
            <p:nvCxnSpPr>
              <p:cNvPr id="69" name="直線コネクタ 68">
                <a:extLst>
                  <a:ext uri="{FF2B5EF4-FFF2-40B4-BE49-F238E27FC236}">
                    <a16:creationId xmlns:a16="http://schemas.microsoft.com/office/drawing/2014/main" id="{9464FAE1-F851-03DA-77AD-956BEDBC091E}"/>
                  </a:ext>
                </a:extLst>
              </p:cNvPr>
              <p:cNvCxnSpPr>
                <a:cxnSpLocks/>
              </p:cNvCxnSpPr>
              <p:nvPr/>
            </p:nvCxnSpPr>
            <p:spPr>
              <a:xfrm flipV="1">
                <a:off x="8934450" y="1063886"/>
                <a:ext cx="239171" cy="2348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D8DC6565-A4E2-A56D-112C-4D1E42880488}"/>
                  </a:ext>
                </a:extLst>
              </p:cNvPr>
              <p:cNvCxnSpPr>
                <a:cxnSpLocks/>
              </p:cNvCxnSpPr>
              <p:nvPr/>
            </p:nvCxnSpPr>
            <p:spPr>
              <a:xfrm>
                <a:off x="9173621" y="1063886"/>
                <a:ext cx="494254" cy="4696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757EF99B-55EF-C3CF-50C8-B94DB56647FD}"/>
                  </a:ext>
                </a:extLst>
              </p:cNvPr>
              <p:cNvCxnSpPr>
                <a:cxnSpLocks/>
              </p:cNvCxnSpPr>
              <p:nvPr/>
            </p:nvCxnSpPr>
            <p:spPr>
              <a:xfrm flipH="1">
                <a:off x="8695903" y="1296944"/>
                <a:ext cx="239171"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8F13DE9C-40F7-5F89-36EA-E795576C021D}"/>
                  </a:ext>
                </a:extLst>
              </p:cNvPr>
              <p:cNvCxnSpPr>
                <a:cxnSpLocks/>
              </p:cNvCxnSpPr>
              <p:nvPr/>
            </p:nvCxnSpPr>
            <p:spPr>
              <a:xfrm flipH="1" flipV="1">
                <a:off x="9161316" y="1083132"/>
                <a:ext cx="125559" cy="4847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C0FCEC9A-F286-0E72-367A-BA1E6B8FA0A3}"/>
                  </a:ext>
                </a:extLst>
              </p:cNvPr>
              <p:cNvCxnSpPr>
                <a:cxnSpLocks/>
              </p:cNvCxnSpPr>
              <p:nvPr/>
            </p:nvCxnSpPr>
            <p:spPr>
              <a:xfrm flipH="1" flipV="1">
                <a:off x="9673160" y="1533525"/>
                <a:ext cx="233886"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63F93DC4-86A5-FA2B-C02D-0E1FA2463407}"/>
                  </a:ext>
                </a:extLst>
              </p:cNvPr>
              <p:cNvCxnSpPr>
                <a:cxnSpLocks/>
              </p:cNvCxnSpPr>
              <p:nvPr/>
            </p:nvCxnSpPr>
            <p:spPr>
              <a:xfrm flipV="1">
                <a:off x="9534525" y="1538744"/>
                <a:ext cx="129633" cy="1875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24D8679C-5C83-7C2C-BBC3-BB8229A0091D}"/>
                  </a:ext>
                </a:extLst>
              </p:cNvPr>
              <p:cNvCxnSpPr>
                <a:cxnSpLocks/>
              </p:cNvCxnSpPr>
              <p:nvPr/>
            </p:nvCxnSpPr>
            <p:spPr>
              <a:xfrm>
                <a:off x="8939129" y="1301808"/>
                <a:ext cx="109401"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楕円 75">
                <a:extLst>
                  <a:ext uri="{FF2B5EF4-FFF2-40B4-BE49-F238E27FC236}">
                    <a16:creationId xmlns:a16="http://schemas.microsoft.com/office/drawing/2014/main" id="{890ED3B3-D155-AF6D-A90E-5A1AF5887D0F}"/>
                  </a:ext>
                </a:extLst>
              </p:cNvPr>
              <p:cNvSpPr/>
              <p:nvPr/>
            </p:nvSpPr>
            <p:spPr>
              <a:xfrm>
                <a:off x="8147621" y="1063886"/>
                <a:ext cx="2052000" cy="2052000"/>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7" name="テキスト ボックス 76">
                    <a:extLst>
                      <a:ext uri="{FF2B5EF4-FFF2-40B4-BE49-F238E27FC236}">
                        <a16:creationId xmlns:a16="http://schemas.microsoft.com/office/drawing/2014/main" id="{C5758E1C-052B-706D-FDF3-F90C495EF062}"/>
                      </a:ext>
                    </a:extLst>
                  </p:cNvPr>
                  <p:cNvSpPr txBox="1"/>
                  <p:nvPr/>
                </p:nvSpPr>
                <p:spPr>
                  <a:xfrm>
                    <a:off x="8954546" y="1888018"/>
                    <a:ext cx="4381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77" name="テキスト ボックス 76">
                    <a:extLst>
                      <a:ext uri="{FF2B5EF4-FFF2-40B4-BE49-F238E27FC236}">
                        <a16:creationId xmlns:a16="http://schemas.microsoft.com/office/drawing/2014/main" id="{C5758E1C-052B-706D-FDF3-F90C495EF062}"/>
                      </a:ext>
                    </a:extLst>
                  </p:cNvPr>
                  <p:cNvSpPr txBox="1">
                    <a:spLocks noRot="1" noChangeAspect="1" noMove="1" noResize="1" noEditPoints="1" noAdjustHandles="1" noChangeArrowheads="1" noChangeShapeType="1" noTextEdit="1"/>
                  </p:cNvSpPr>
                  <p:nvPr/>
                </p:nvSpPr>
                <p:spPr>
                  <a:xfrm>
                    <a:off x="8954546" y="1888018"/>
                    <a:ext cx="438150" cy="369332"/>
                  </a:xfrm>
                  <a:prstGeom prst="rect">
                    <a:avLst/>
                  </a:prstGeom>
                  <a:blipFill>
                    <a:blip r:embed="rId2"/>
                    <a:stretch>
                      <a:fillRect b="-12000"/>
                    </a:stretch>
                  </a:blipFill>
                </p:spPr>
                <p:txBody>
                  <a:bodyPr/>
                  <a:lstStyle/>
                  <a:p>
                    <a:r>
                      <a:rPr lang="ja-JP" altLang="en-US">
                        <a:noFill/>
                      </a:rPr>
                      <a:t> </a:t>
                    </a:r>
                  </a:p>
                </p:txBody>
              </p:sp>
            </mc:Fallback>
          </mc:AlternateContent>
          <p:cxnSp>
            <p:nvCxnSpPr>
              <p:cNvPr id="78" name="直線コネクタ 77">
                <a:extLst>
                  <a:ext uri="{FF2B5EF4-FFF2-40B4-BE49-F238E27FC236}">
                    <a16:creationId xmlns:a16="http://schemas.microsoft.com/office/drawing/2014/main" id="{8CF85EC4-AF8E-444F-DAAD-3FE9AF6DFA20}"/>
                  </a:ext>
                </a:extLst>
              </p:cNvPr>
              <p:cNvCxnSpPr>
                <a:cxnSpLocks/>
              </p:cNvCxnSpPr>
              <p:nvPr/>
            </p:nvCxnSpPr>
            <p:spPr>
              <a:xfrm flipH="1">
                <a:off x="8338614" y="2505075"/>
                <a:ext cx="205311" cy="2095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CB7FAF7D-5CED-AD8B-F945-7CD514E11563}"/>
                  </a:ext>
                </a:extLst>
              </p:cNvPr>
              <p:cNvCxnSpPr>
                <a:cxnSpLocks/>
              </p:cNvCxnSpPr>
              <p:nvPr/>
            </p:nvCxnSpPr>
            <p:spPr>
              <a:xfrm>
                <a:off x="9182926" y="2811294"/>
                <a:ext cx="0" cy="304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A296A094-3908-2D75-1CFA-9211CF7D5C50}"/>
                  </a:ext>
                </a:extLst>
              </p:cNvPr>
              <p:cNvCxnSpPr>
                <a:cxnSpLocks/>
              </p:cNvCxnSpPr>
              <p:nvPr/>
            </p:nvCxnSpPr>
            <p:spPr>
              <a:xfrm>
                <a:off x="9726662" y="2505075"/>
                <a:ext cx="235523" cy="243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FE6E5731-C09C-9757-2347-A8DBEE89118E}"/>
                  </a:ext>
                </a:extLst>
              </p:cNvPr>
              <p:cNvCxnSpPr>
                <a:cxnSpLocks/>
              </p:cNvCxnSpPr>
              <p:nvPr/>
            </p:nvCxnSpPr>
            <p:spPr>
              <a:xfrm flipV="1">
                <a:off x="9400391" y="1721379"/>
                <a:ext cx="129633" cy="1875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A53D7B4D-1843-B598-2A58-8D41BB160AA9}"/>
                  </a:ext>
                </a:extLst>
              </p:cNvPr>
              <p:cNvCxnSpPr>
                <a:cxnSpLocks/>
              </p:cNvCxnSpPr>
              <p:nvPr/>
            </p:nvCxnSpPr>
            <p:spPr>
              <a:xfrm flipH="1" flipV="1">
                <a:off x="9530024" y="1726330"/>
                <a:ext cx="161999" cy="216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F42BE4D-5B70-E760-EFE9-531AD7848FF5}"/>
                  </a:ext>
                </a:extLst>
              </p:cNvPr>
              <p:cNvCxnSpPr>
                <a:cxnSpLocks/>
              </p:cNvCxnSpPr>
              <p:nvPr/>
            </p:nvCxnSpPr>
            <p:spPr>
              <a:xfrm flipH="1">
                <a:off x="8543925" y="1518933"/>
                <a:ext cx="158777" cy="2330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682C196D-DFB5-28C4-D2F1-E47A97541EBC}"/>
                  </a:ext>
                </a:extLst>
              </p:cNvPr>
              <p:cNvCxnSpPr>
                <a:cxnSpLocks/>
              </p:cNvCxnSpPr>
              <p:nvPr/>
            </p:nvCxnSpPr>
            <p:spPr>
              <a:xfrm>
                <a:off x="8714658" y="1523797"/>
                <a:ext cx="129974" cy="2414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直線コネクタ 6">
              <a:extLst>
                <a:ext uri="{FF2B5EF4-FFF2-40B4-BE49-F238E27FC236}">
                  <a16:creationId xmlns:a16="http://schemas.microsoft.com/office/drawing/2014/main" id="{D91700ED-2017-2D32-5669-87A88E735721}"/>
                </a:ext>
              </a:extLst>
            </p:cNvPr>
            <p:cNvCxnSpPr>
              <a:cxnSpLocks/>
            </p:cNvCxnSpPr>
            <p:nvPr/>
          </p:nvCxnSpPr>
          <p:spPr>
            <a:xfrm flipV="1">
              <a:off x="6968375" y="2711525"/>
              <a:ext cx="1370239" cy="120998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78E4D334-FCC1-B9CC-A235-E2707118A6F0}"/>
                </a:ext>
              </a:extLst>
            </p:cNvPr>
            <p:cNvCxnSpPr>
              <a:cxnSpLocks/>
            </p:cNvCxnSpPr>
            <p:nvPr/>
          </p:nvCxnSpPr>
          <p:spPr>
            <a:xfrm flipH="1" flipV="1">
              <a:off x="8337865" y="2707532"/>
              <a:ext cx="477623" cy="133537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9" name="グループ化 8">
              <a:extLst>
                <a:ext uri="{FF2B5EF4-FFF2-40B4-BE49-F238E27FC236}">
                  <a16:creationId xmlns:a16="http://schemas.microsoft.com/office/drawing/2014/main" id="{EE2948A2-5C36-F577-4CD9-796F618CE85B}"/>
                </a:ext>
              </a:extLst>
            </p:cNvPr>
            <p:cNvGrpSpPr/>
            <p:nvPr/>
          </p:nvGrpSpPr>
          <p:grpSpPr>
            <a:xfrm>
              <a:off x="5942375" y="3925501"/>
              <a:ext cx="2052000" cy="2052000"/>
              <a:chOff x="8147621" y="1063886"/>
              <a:chExt cx="2052000" cy="2052000"/>
            </a:xfrm>
          </p:grpSpPr>
          <p:cxnSp>
            <p:nvCxnSpPr>
              <p:cNvPr id="53" name="直線コネクタ 52">
                <a:extLst>
                  <a:ext uri="{FF2B5EF4-FFF2-40B4-BE49-F238E27FC236}">
                    <a16:creationId xmlns:a16="http://schemas.microsoft.com/office/drawing/2014/main" id="{3AB01A90-5739-B2D9-2367-B8F78D7B0224}"/>
                  </a:ext>
                </a:extLst>
              </p:cNvPr>
              <p:cNvCxnSpPr>
                <a:cxnSpLocks/>
              </p:cNvCxnSpPr>
              <p:nvPr/>
            </p:nvCxnSpPr>
            <p:spPr>
              <a:xfrm flipV="1">
                <a:off x="8934450" y="1063886"/>
                <a:ext cx="239171" cy="2348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1EB5A25B-66B8-51C9-D18A-8A472180E663}"/>
                  </a:ext>
                </a:extLst>
              </p:cNvPr>
              <p:cNvCxnSpPr>
                <a:cxnSpLocks/>
              </p:cNvCxnSpPr>
              <p:nvPr/>
            </p:nvCxnSpPr>
            <p:spPr>
              <a:xfrm>
                <a:off x="9173621" y="1063886"/>
                <a:ext cx="494254" cy="4696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B042BE5-7678-FC7A-760A-A092A3EFA179}"/>
                  </a:ext>
                </a:extLst>
              </p:cNvPr>
              <p:cNvCxnSpPr>
                <a:cxnSpLocks/>
              </p:cNvCxnSpPr>
              <p:nvPr/>
            </p:nvCxnSpPr>
            <p:spPr>
              <a:xfrm flipH="1">
                <a:off x="8695903" y="1296944"/>
                <a:ext cx="239171"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DACFB9BD-CAAB-5BDC-C4A2-83A7D40C8B2B}"/>
                  </a:ext>
                </a:extLst>
              </p:cNvPr>
              <p:cNvCxnSpPr>
                <a:cxnSpLocks/>
              </p:cNvCxnSpPr>
              <p:nvPr/>
            </p:nvCxnSpPr>
            <p:spPr>
              <a:xfrm flipH="1" flipV="1">
                <a:off x="9161316" y="1083132"/>
                <a:ext cx="125559" cy="4847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11435709-35B6-EBCA-D728-B73A9117CFDD}"/>
                  </a:ext>
                </a:extLst>
              </p:cNvPr>
              <p:cNvCxnSpPr>
                <a:cxnSpLocks/>
              </p:cNvCxnSpPr>
              <p:nvPr/>
            </p:nvCxnSpPr>
            <p:spPr>
              <a:xfrm flipH="1" flipV="1">
                <a:off x="9673160" y="1533525"/>
                <a:ext cx="233886"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08FCFDC7-F868-CF83-E2E2-57433A1D4005}"/>
                  </a:ext>
                </a:extLst>
              </p:cNvPr>
              <p:cNvCxnSpPr>
                <a:cxnSpLocks/>
              </p:cNvCxnSpPr>
              <p:nvPr/>
            </p:nvCxnSpPr>
            <p:spPr>
              <a:xfrm flipV="1">
                <a:off x="9534525" y="1538744"/>
                <a:ext cx="129633" cy="1875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097F0CA8-02E1-5FA4-C91D-B627A6A29559}"/>
                  </a:ext>
                </a:extLst>
              </p:cNvPr>
              <p:cNvCxnSpPr>
                <a:cxnSpLocks/>
              </p:cNvCxnSpPr>
              <p:nvPr/>
            </p:nvCxnSpPr>
            <p:spPr>
              <a:xfrm>
                <a:off x="8939129" y="1301808"/>
                <a:ext cx="109401"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楕円 59">
                <a:extLst>
                  <a:ext uri="{FF2B5EF4-FFF2-40B4-BE49-F238E27FC236}">
                    <a16:creationId xmlns:a16="http://schemas.microsoft.com/office/drawing/2014/main" id="{27475CC7-CE20-C6EC-9938-5C1A08F26409}"/>
                  </a:ext>
                </a:extLst>
              </p:cNvPr>
              <p:cNvSpPr/>
              <p:nvPr/>
            </p:nvSpPr>
            <p:spPr>
              <a:xfrm>
                <a:off x="8147621" y="1063886"/>
                <a:ext cx="2052000" cy="2052000"/>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61" name="テキスト ボックス 60">
                    <a:extLst>
                      <a:ext uri="{FF2B5EF4-FFF2-40B4-BE49-F238E27FC236}">
                        <a16:creationId xmlns:a16="http://schemas.microsoft.com/office/drawing/2014/main" id="{7627DBCD-007C-179D-4D9D-DA131E2D9FAC}"/>
                      </a:ext>
                    </a:extLst>
                  </p:cNvPr>
                  <p:cNvSpPr txBox="1"/>
                  <p:nvPr/>
                </p:nvSpPr>
                <p:spPr>
                  <a:xfrm>
                    <a:off x="8954546" y="1888018"/>
                    <a:ext cx="4381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61" name="テキスト ボックス 60">
                    <a:extLst>
                      <a:ext uri="{FF2B5EF4-FFF2-40B4-BE49-F238E27FC236}">
                        <a16:creationId xmlns:a16="http://schemas.microsoft.com/office/drawing/2014/main" id="{7627DBCD-007C-179D-4D9D-DA131E2D9FAC}"/>
                      </a:ext>
                    </a:extLst>
                  </p:cNvPr>
                  <p:cNvSpPr txBox="1">
                    <a:spLocks noRot="1" noChangeAspect="1" noMove="1" noResize="1" noEditPoints="1" noAdjustHandles="1" noChangeArrowheads="1" noChangeShapeType="1" noTextEdit="1"/>
                  </p:cNvSpPr>
                  <p:nvPr/>
                </p:nvSpPr>
                <p:spPr>
                  <a:xfrm>
                    <a:off x="8954546" y="1888018"/>
                    <a:ext cx="438150" cy="369332"/>
                  </a:xfrm>
                  <a:prstGeom prst="rect">
                    <a:avLst/>
                  </a:prstGeom>
                  <a:blipFill>
                    <a:blip r:embed="rId3"/>
                    <a:stretch>
                      <a:fillRect b="-12000"/>
                    </a:stretch>
                  </a:blipFill>
                </p:spPr>
                <p:txBody>
                  <a:bodyPr/>
                  <a:lstStyle/>
                  <a:p>
                    <a:r>
                      <a:rPr lang="ja-JP" altLang="en-US">
                        <a:noFill/>
                      </a:rPr>
                      <a:t> </a:t>
                    </a:r>
                  </a:p>
                </p:txBody>
              </p:sp>
            </mc:Fallback>
          </mc:AlternateContent>
          <p:cxnSp>
            <p:nvCxnSpPr>
              <p:cNvPr id="62" name="直線コネクタ 61">
                <a:extLst>
                  <a:ext uri="{FF2B5EF4-FFF2-40B4-BE49-F238E27FC236}">
                    <a16:creationId xmlns:a16="http://schemas.microsoft.com/office/drawing/2014/main" id="{E3FF44C8-94CE-6DC1-2789-E9A2DAEA40AF}"/>
                  </a:ext>
                </a:extLst>
              </p:cNvPr>
              <p:cNvCxnSpPr>
                <a:cxnSpLocks/>
              </p:cNvCxnSpPr>
              <p:nvPr/>
            </p:nvCxnSpPr>
            <p:spPr>
              <a:xfrm flipH="1">
                <a:off x="8338614" y="2505075"/>
                <a:ext cx="205311" cy="2095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D542E0FA-C983-0E5D-FD3F-C86378C46080}"/>
                  </a:ext>
                </a:extLst>
              </p:cNvPr>
              <p:cNvCxnSpPr>
                <a:cxnSpLocks/>
              </p:cNvCxnSpPr>
              <p:nvPr/>
            </p:nvCxnSpPr>
            <p:spPr>
              <a:xfrm>
                <a:off x="9182926" y="2811294"/>
                <a:ext cx="0" cy="304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63CC1C84-2D81-D1AB-24A7-68B1B19CD8E1}"/>
                  </a:ext>
                </a:extLst>
              </p:cNvPr>
              <p:cNvCxnSpPr>
                <a:cxnSpLocks/>
              </p:cNvCxnSpPr>
              <p:nvPr/>
            </p:nvCxnSpPr>
            <p:spPr>
              <a:xfrm>
                <a:off x="9726662" y="2505075"/>
                <a:ext cx="235523" cy="243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F67748D6-98E1-CF3C-CB1D-7765A37CD1DD}"/>
                  </a:ext>
                </a:extLst>
              </p:cNvPr>
              <p:cNvCxnSpPr>
                <a:cxnSpLocks/>
              </p:cNvCxnSpPr>
              <p:nvPr/>
            </p:nvCxnSpPr>
            <p:spPr>
              <a:xfrm flipV="1">
                <a:off x="9400391" y="1721379"/>
                <a:ext cx="129633" cy="1875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7736BB90-F6F0-9967-E263-E0BAB3EA00EA}"/>
                  </a:ext>
                </a:extLst>
              </p:cNvPr>
              <p:cNvCxnSpPr>
                <a:cxnSpLocks/>
              </p:cNvCxnSpPr>
              <p:nvPr/>
            </p:nvCxnSpPr>
            <p:spPr>
              <a:xfrm flipH="1" flipV="1">
                <a:off x="9530024" y="1726330"/>
                <a:ext cx="161999" cy="216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3DB66F3A-EFEA-7290-B9F8-68C8E5F01732}"/>
                  </a:ext>
                </a:extLst>
              </p:cNvPr>
              <p:cNvCxnSpPr>
                <a:cxnSpLocks/>
              </p:cNvCxnSpPr>
              <p:nvPr/>
            </p:nvCxnSpPr>
            <p:spPr>
              <a:xfrm flipH="1">
                <a:off x="8543925" y="1518933"/>
                <a:ext cx="158777" cy="2330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92A359B8-8BA8-6F7E-97D4-EDBBFE034924}"/>
                  </a:ext>
                </a:extLst>
              </p:cNvPr>
              <p:cNvCxnSpPr>
                <a:cxnSpLocks/>
              </p:cNvCxnSpPr>
              <p:nvPr/>
            </p:nvCxnSpPr>
            <p:spPr>
              <a:xfrm>
                <a:off x="8714658" y="1523797"/>
                <a:ext cx="129974" cy="2414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7D53D652-08F9-1CD2-B798-D1D15050CF96}"/>
                </a:ext>
              </a:extLst>
            </p:cNvPr>
            <p:cNvGrpSpPr/>
            <p:nvPr/>
          </p:nvGrpSpPr>
          <p:grpSpPr>
            <a:xfrm>
              <a:off x="8096054" y="4037228"/>
              <a:ext cx="1468502" cy="1451258"/>
              <a:chOff x="8147621" y="1063886"/>
              <a:chExt cx="2052000" cy="2052000"/>
            </a:xfrm>
          </p:grpSpPr>
          <p:cxnSp>
            <p:nvCxnSpPr>
              <p:cNvPr id="37" name="直線コネクタ 36">
                <a:extLst>
                  <a:ext uri="{FF2B5EF4-FFF2-40B4-BE49-F238E27FC236}">
                    <a16:creationId xmlns:a16="http://schemas.microsoft.com/office/drawing/2014/main" id="{0BCB423A-698B-3A61-5EE3-540E2760BB42}"/>
                  </a:ext>
                </a:extLst>
              </p:cNvPr>
              <p:cNvCxnSpPr>
                <a:cxnSpLocks/>
              </p:cNvCxnSpPr>
              <p:nvPr/>
            </p:nvCxnSpPr>
            <p:spPr>
              <a:xfrm flipV="1">
                <a:off x="8934450" y="1063886"/>
                <a:ext cx="239171" cy="2348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A6A03931-4C8E-0A9D-2A42-4F730758AE44}"/>
                  </a:ext>
                </a:extLst>
              </p:cNvPr>
              <p:cNvCxnSpPr>
                <a:cxnSpLocks/>
              </p:cNvCxnSpPr>
              <p:nvPr/>
            </p:nvCxnSpPr>
            <p:spPr>
              <a:xfrm>
                <a:off x="9173621" y="1063886"/>
                <a:ext cx="494254" cy="4696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28808EAA-508F-2104-5764-E353C68ADF1C}"/>
                  </a:ext>
                </a:extLst>
              </p:cNvPr>
              <p:cNvCxnSpPr>
                <a:cxnSpLocks/>
              </p:cNvCxnSpPr>
              <p:nvPr/>
            </p:nvCxnSpPr>
            <p:spPr>
              <a:xfrm flipH="1">
                <a:off x="8695903" y="1296944"/>
                <a:ext cx="239171"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84BEB6E9-889E-676A-1BD1-D6657DD036CD}"/>
                  </a:ext>
                </a:extLst>
              </p:cNvPr>
              <p:cNvCxnSpPr>
                <a:cxnSpLocks/>
              </p:cNvCxnSpPr>
              <p:nvPr/>
            </p:nvCxnSpPr>
            <p:spPr>
              <a:xfrm flipH="1" flipV="1">
                <a:off x="9161316" y="1083132"/>
                <a:ext cx="125559" cy="4847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DB42E90B-2516-4279-ADF4-362E82935F8B}"/>
                  </a:ext>
                </a:extLst>
              </p:cNvPr>
              <p:cNvCxnSpPr>
                <a:cxnSpLocks/>
              </p:cNvCxnSpPr>
              <p:nvPr/>
            </p:nvCxnSpPr>
            <p:spPr>
              <a:xfrm flipH="1" flipV="1">
                <a:off x="9673160" y="1533525"/>
                <a:ext cx="233886"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8EF473C0-0907-0271-A6C9-6B7D31C4E42C}"/>
                  </a:ext>
                </a:extLst>
              </p:cNvPr>
              <p:cNvCxnSpPr>
                <a:cxnSpLocks/>
              </p:cNvCxnSpPr>
              <p:nvPr/>
            </p:nvCxnSpPr>
            <p:spPr>
              <a:xfrm flipV="1">
                <a:off x="9534525" y="1538744"/>
                <a:ext cx="129633" cy="1875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23FD8824-855A-B65E-5564-71C6B83F8324}"/>
                  </a:ext>
                </a:extLst>
              </p:cNvPr>
              <p:cNvCxnSpPr>
                <a:cxnSpLocks/>
              </p:cNvCxnSpPr>
              <p:nvPr/>
            </p:nvCxnSpPr>
            <p:spPr>
              <a:xfrm>
                <a:off x="8939129" y="1301808"/>
                <a:ext cx="109401"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楕円 43">
                <a:extLst>
                  <a:ext uri="{FF2B5EF4-FFF2-40B4-BE49-F238E27FC236}">
                    <a16:creationId xmlns:a16="http://schemas.microsoft.com/office/drawing/2014/main" id="{D9037061-C194-650F-4FBC-06D1BFA5F648}"/>
                  </a:ext>
                </a:extLst>
              </p:cNvPr>
              <p:cNvSpPr/>
              <p:nvPr/>
            </p:nvSpPr>
            <p:spPr>
              <a:xfrm>
                <a:off x="8147621" y="1063886"/>
                <a:ext cx="2052000" cy="2052000"/>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45" name="テキスト ボックス 44">
                    <a:extLst>
                      <a:ext uri="{FF2B5EF4-FFF2-40B4-BE49-F238E27FC236}">
                        <a16:creationId xmlns:a16="http://schemas.microsoft.com/office/drawing/2014/main" id="{B41DF864-4A92-2AC3-1146-1D95BA484BF5}"/>
                      </a:ext>
                    </a:extLst>
                  </p:cNvPr>
                  <p:cNvSpPr txBox="1"/>
                  <p:nvPr/>
                </p:nvSpPr>
                <p:spPr>
                  <a:xfrm>
                    <a:off x="8954546" y="1888018"/>
                    <a:ext cx="4381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45" name="テキスト ボックス 44">
                    <a:extLst>
                      <a:ext uri="{FF2B5EF4-FFF2-40B4-BE49-F238E27FC236}">
                        <a16:creationId xmlns:a16="http://schemas.microsoft.com/office/drawing/2014/main" id="{B41DF864-4A92-2AC3-1146-1D95BA484BF5}"/>
                      </a:ext>
                    </a:extLst>
                  </p:cNvPr>
                  <p:cNvSpPr txBox="1">
                    <a:spLocks noRot="1" noChangeAspect="1" noMove="1" noResize="1" noEditPoints="1" noAdjustHandles="1" noChangeArrowheads="1" noChangeShapeType="1" noTextEdit="1"/>
                  </p:cNvSpPr>
                  <p:nvPr/>
                </p:nvSpPr>
                <p:spPr>
                  <a:xfrm>
                    <a:off x="8954546" y="1888018"/>
                    <a:ext cx="438150" cy="369332"/>
                  </a:xfrm>
                  <a:prstGeom prst="rect">
                    <a:avLst/>
                  </a:prstGeom>
                  <a:blipFill>
                    <a:blip r:embed="rId4"/>
                    <a:stretch>
                      <a:fillRect b="-60000"/>
                    </a:stretch>
                  </a:blipFill>
                </p:spPr>
                <p:txBody>
                  <a:bodyPr/>
                  <a:lstStyle/>
                  <a:p>
                    <a:r>
                      <a:rPr lang="ja-JP" altLang="en-US">
                        <a:noFill/>
                      </a:rPr>
                      <a:t> </a:t>
                    </a:r>
                  </a:p>
                </p:txBody>
              </p:sp>
            </mc:Fallback>
          </mc:AlternateContent>
          <p:cxnSp>
            <p:nvCxnSpPr>
              <p:cNvPr id="46" name="直線コネクタ 45">
                <a:extLst>
                  <a:ext uri="{FF2B5EF4-FFF2-40B4-BE49-F238E27FC236}">
                    <a16:creationId xmlns:a16="http://schemas.microsoft.com/office/drawing/2014/main" id="{21A6B86B-D316-403A-96B4-62FA1A21C7FE}"/>
                  </a:ext>
                </a:extLst>
              </p:cNvPr>
              <p:cNvCxnSpPr>
                <a:cxnSpLocks/>
              </p:cNvCxnSpPr>
              <p:nvPr/>
            </p:nvCxnSpPr>
            <p:spPr>
              <a:xfrm flipH="1">
                <a:off x="8338614" y="2505075"/>
                <a:ext cx="205311" cy="2095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479148-21AD-C031-D8EE-559B6161C9B7}"/>
                  </a:ext>
                </a:extLst>
              </p:cNvPr>
              <p:cNvCxnSpPr>
                <a:cxnSpLocks/>
              </p:cNvCxnSpPr>
              <p:nvPr/>
            </p:nvCxnSpPr>
            <p:spPr>
              <a:xfrm>
                <a:off x="9182926" y="2811294"/>
                <a:ext cx="0" cy="304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D6C55BAA-34AB-7447-ED08-2F342FB3459F}"/>
                  </a:ext>
                </a:extLst>
              </p:cNvPr>
              <p:cNvCxnSpPr>
                <a:cxnSpLocks/>
              </p:cNvCxnSpPr>
              <p:nvPr/>
            </p:nvCxnSpPr>
            <p:spPr>
              <a:xfrm>
                <a:off x="9726662" y="2505075"/>
                <a:ext cx="235523" cy="243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7D7A159F-E027-F1B7-263F-D37804A5C816}"/>
                  </a:ext>
                </a:extLst>
              </p:cNvPr>
              <p:cNvCxnSpPr>
                <a:cxnSpLocks/>
              </p:cNvCxnSpPr>
              <p:nvPr/>
            </p:nvCxnSpPr>
            <p:spPr>
              <a:xfrm flipV="1">
                <a:off x="9400391" y="1721379"/>
                <a:ext cx="129633" cy="1875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3F43AEC5-9407-F1CE-81F7-E75BF33A3DC7}"/>
                  </a:ext>
                </a:extLst>
              </p:cNvPr>
              <p:cNvCxnSpPr>
                <a:cxnSpLocks/>
              </p:cNvCxnSpPr>
              <p:nvPr/>
            </p:nvCxnSpPr>
            <p:spPr>
              <a:xfrm flipH="1" flipV="1">
                <a:off x="9530024" y="1726330"/>
                <a:ext cx="161999" cy="216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82D0C664-C828-F8C9-BD7F-079CA828F5E3}"/>
                  </a:ext>
                </a:extLst>
              </p:cNvPr>
              <p:cNvCxnSpPr>
                <a:cxnSpLocks/>
              </p:cNvCxnSpPr>
              <p:nvPr/>
            </p:nvCxnSpPr>
            <p:spPr>
              <a:xfrm flipH="1">
                <a:off x="8543925" y="1518933"/>
                <a:ext cx="158777" cy="2330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2E8C8842-2EF5-709E-0B80-12F3B27F6339}"/>
                  </a:ext>
                </a:extLst>
              </p:cNvPr>
              <p:cNvCxnSpPr>
                <a:cxnSpLocks/>
              </p:cNvCxnSpPr>
              <p:nvPr/>
            </p:nvCxnSpPr>
            <p:spPr>
              <a:xfrm>
                <a:off x="8714658" y="1523797"/>
                <a:ext cx="129974" cy="2414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グループ化 10">
              <a:extLst>
                <a:ext uri="{FF2B5EF4-FFF2-40B4-BE49-F238E27FC236}">
                  <a16:creationId xmlns:a16="http://schemas.microsoft.com/office/drawing/2014/main" id="{90BD633C-026A-88F3-41A8-61611BB56AD9}"/>
                </a:ext>
              </a:extLst>
            </p:cNvPr>
            <p:cNvGrpSpPr/>
            <p:nvPr/>
          </p:nvGrpSpPr>
          <p:grpSpPr>
            <a:xfrm>
              <a:off x="9806367" y="3944747"/>
              <a:ext cx="2052000" cy="2052000"/>
              <a:chOff x="8147621" y="1063886"/>
              <a:chExt cx="2052000" cy="2052000"/>
            </a:xfrm>
          </p:grpSpPr>
          <p:cxnSp>
            <p:nvCxnSpPr>
              <p:cNvPr id="21" name="直線コネクタ 20">
                <a:extLst>
                  <a:ext uri="{FF2B5EF4-FFF2-40B4-BE49-F238E27FC236}">
                    <a16:creationId xmlns:a16="http://schemas.microsoft.com/office/drawing/2014/main" id="{469C0519-A542-4772-C190-A9D0DF755D27}"/>
                  </a:ext>
                </a:extLst>
              </p:cNvPr>
              <p:cNvCxnSpPr>
                <a:cxnSpLocks/>
              </p:cNvCxnSpPr>
              <p:nvPr/>
            </p:nvCxnSpPr>
            <p:spPr>
              <a:xfrm flipV="1">
                <a:off x="8934450" y="1063886"/>
                <a:ext cx="239171" cy="2348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D14C10BB-79B5-74F4-6214-AB2F768E0BDA}"/>
                  </a:ext>
                </a:extLst>
              </p:cNvPr>
              <p:cNvCxnSpPr>
                <a:cxnSpLocks/>
              </p:cNvCxnSpPr>
              <p:nvPr/>
            </p:nvCxnSpPr>
            <p:spPr>
              <a:xfrm>
                <a:off x="9173621" y="1063886"/>
                <a:ext cx="494254" cy="4696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F10DF88B-2AE5-006C-AE3F-8D63DB111DFD}"/>
                  </a:ext>
                </a:extLst>
              </p:cNvPr>
              <p:cNvCxnSpPr>
                <a:cxnSpLocks/>
              </p:cNvCxnSpPr>
              <p:nvPr/>
            </p:nvCxnSpPr>
            <p:spPr>
              <a:xfrm flipH="1">
                <a:off x="8695903" y="1296944"/>
                <a:ext cx="239171"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84BE591D-6DEF-D6BA-DEA2-7A9DAB7D2462}"/>
                  </a:ext>
                </a:extLst>
              </p:cNvPr>
              <p:cNvCxnSpPr>
                <a:cxnSpLocks/>
              </p:cNvCxnSpPr>
              <p:nvPr/>
            </p:nvCxnSpPr>
            <p:spPr>
              <a:xfrm flipH="1" flipV="1">
                <a:off x="9161316" y="1083132"/>
                <a:ext cx="125559" cy="4847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4EFBBFDE-78E9-D37D-9D69-5F8588EF6118}"/>
                  </a:ext>
                </a:extLst>
              </p:cNvPr>
              <p:cNvCxnSpPr>
                <a:cxnSpLocks/>
              </p:cNvCxnSpPr>
              <p:nvPr/>
            </p:nvCxnSpPr>
            <p:spPr>
              <a:xfrm flipH="1" flipV="1">
                <a:off x="9673160" y="1533525"/>
                <a:ext cx="233886"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DB28C3A7-93E6-F2C0-12DF-1C5F9078808F}"/>
                  </a:ext>
                </a:extLst>
              </p:cNvPr>
              <p:cNvCxnSpPr>
                <a:cxnSpLocks/>
              </p:cNvCxnSpPr>
              <p:nvPr/>
            </p:nvCxnSpPr>
            <p:spPr>
              <a:xfrm flipV="1">
                <a:off x="9534525" y="1538744"/>
                <a:ext cx="129633" cy="1875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ADFDC77A-ED86-C7AC-FA7E-9A7E911D2697}"/>
                  </a:ext>
                </a:extLst>
              </p:cNvPr>
              <p:cNvCxnSpPr>
                <a:cxnSpLocks/>
              </p:cNvCxnSpPr>
              <p:nvPr/>
            </p:nvCxnSpPr>
            <p:spPr>
              <a:xfrm>
                <a:off x="8939129" y="1301808"/>
                <a:ext cx="109401" cy="221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楕円 27">
                <a:extLst>
                  <a:ext uri="{FF2B5EF4-FFF2-40B4-BE49-F238E27FC236}">
                    <a16:creationId xmlns:a16="http://schemas.microsoft.com/office/drawing/2014/main" id="{CE9C2BE8-047F-08E8-503D-791DE0090B2B}"/>
                  </a:ext>
                </a:extLst>
              </p:cNvPr>
              <p:cNvSpPr/>
              <p:nvPr/>
            </p:nvSpPr>
            <p:spPr>
              <a:xfrm>
                <a:off x="8147621" y="1063886"/>
                <a:ext cx="2052000" cy="2052000"/>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4251A542-D6EA-AE35-D3D2-2F38EF00E88B}"/>
                      </a:ext>
                    </a:extLst>
                  </p:cNvPr>
                  <p:cNvSpPr txBox="1"/>
                  <p:nvPr/>
                </p:nvSpPr>
                <p:spPr>
                  <a:xfrm>
                    <a:off x="8954546" y="1888018"/>
                    <a:ext cx="4381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29" name="テキスト ボックス 28">
                    <a:extLst>
                      <a:ext uri="{FF2B5EF4-FFF2-40B4-BE49-F238E27FC236}">
                        <a16:creationId xmlns:a16="http://schemas.microsoft.com/office/drawing/2014/main" id="{4251A542-D6EA-AE35-D3D2-2F38EF00E88B}"/>
                      </a:ext>
                    </a:extLst>
                  </p:cNvPr>
                  <p:cNvSpPr txBox="1">
                    <a:spLocks noRot="1" noChangeAspect="1" noMove="1" noResize="1" noEditPoints="1" noAdjustHandles="1" noChangeArrowheads="1" noChangeShapeType="1" noTextEdit="1"/>
                  </p:cNvSpPr>
                  <p:nvPr/>
                </p:nvSpPr>
                <p:spPr>
                  <a:xfrm>
                    <a:off x="8954546" y="1888018"/>
                    <a:ext cx="438150" cy="369332"/>
                  </a:xfrm>
                  <a:prstGeom prst="rect">
                    <a:avLst/>
                  </a:prstGeom>
                  <a:blipFill>
                    <a:blip r:embed="rId5"/>
                    <a:stretch>
                      <a:fillRect b="-12000"/>
                    </a:stretch>
                  </a:blipFill>
                </p:spPr>
                <p:txBody>
                  <a:bodyPr/>
                  <a:lstStyle/>
                  <a:p>
                    <a:r>
                      <a:rPr lang="ja-JP" altLang="en-US">
                        <a:noFill/>
                      </a:rPr>
                      <a:t> </a:t>
                    </a:r>
                  </a:p>
                </p:txBody>
              </p:sp>
            </mc:Fallback>
          </mc:AlternateContent>
          <p:cxnSp>
            <p:nvCxnSpPr>
              <p:cNvPr id="30" name="直線コネクタ 29">
                <a:extLst>
                  <a:ext uri="{FF2B5EF4-FFF2-40B4-BE49-F238E27FC236}">
                    <a16:creationId xmlns:a16="http://schemas.microsoft.com/office/drawing/2014/main" id="{55B1441F-FF87-9791-1FC8-C6B6DF97F474}"/>
                  </a:ext>
                </a:extLst>
              </p:cNvPr>
              <p:cNvCxnSpPr>
                <a:cxnSpLocks/>
              </p:cNvCxnSpPr>
              <p:nvPr/>
            </p:nvCxnSpPr>
            <p:spPr>
              <a:xfrm flipH="1">
                <a:off x="8338614" y="2505075"/>
                <a:ext cx="205311" cy="2095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221E580F-6785-B086-76D3-065898BAF73F}"/>
                  </a:ext>
                </a:extLst>
              </p:cNvPr>
              <p:cNvCxnSpPr>
                <a:cxnSpLocks/>
              </p:cNvCxnSpPr>
              <p:nvPr/>
            </p:nvCxnSpPr>
            <p:spPr>
              <a:xfrm>
                <a:off x="9182926" y="2811294"/>
                <a:ext cx="0" cy="304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49335BFF-D17D-82F6-27C6-0F4A2837BF32}"/>
                  </a:ext>
                </a:extLst>
              </p:cNvPr>
              <p:cNvCxnSpPr>
                <a:cxnSpLocks/>
              </p:cNvCxnSpPr>
              <p:nvPr/>
            </p:nvCxnSpPr>
            <p:spPr>
              <a:xfrm>
                <a:off x="9726662" y="2505075"/>
                <a:ext cx="235523" cy="243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6AAC6414-750C-E616-DB39-4F7A45567285}"/>
                  </a:ext>
                </a:extLst>
              </p:cNvPr>
              <p:cNvCxnSpPr>
                <a:cxnSpLocks/>
              </p:cNvCxnSpPr>
              <p:nvPr/>
            </p:nvCxnSpPr>
            <p:spPr>
              <a:xfrm flipV="1">
                <a:off x="9400391" y="1721379"/>
                <a:ext cx="129633" cy="1875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C1DB96A7-FBA8-04AB-4329-54B7554A10D0}"/>
                  </a:ext>
                </a:extLst>
              </p:cNvPr>
              <p:cNvCxnSpPr>
                <a:cxnSpLocks/>
              </p:cNvCxnSpPr>
              <p:nvPr/>
            </p:nvCxnSpPr>
            <p:spPr>
              <a:xfrm flipH="1" flipV="1">
                <a:off x="9530024" y="1726330"/>
                <a:ext cx="161999" cy="216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E9BF500F-30AD-DAF4-FA4B-53678159409F}"/>
                  </a:ext>
                </a:extLst>
              </p:cNvPr>
              <p:cNvCxnSpPr>
                <a:cxnSpLocks/>
              </p:cNvCxnSpPr>
              <p:nvPr/>
            </p:nvCxnSpPr>
            <p:spPr>
              <a:xfrm flipH="1">
                <a:off x="8543925" y="1518933"/>
                <a:ext cx="158777" cy="2330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66B67FBB-DEB5-ED99-253D-DB541AA66114}"/>
                  </a:ext>
                </a:extLst>
              </p:cNvPr>
              <p:cNvCxnSpPr>
                <a:cxnSpLocks/>
              </p:cNvCxnSpPr>
              <p:nvPr/>
            </p:nvCxnSpPr>
            <p:spPr>
              <a:xfrm>
                <a:off x="8714658" y="1523797"/>
                <a:ext cx="129974" cy="2414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直線コネクタ 11">
              <a:extLst>
                <a:ext uri="{FF2B5EF4-FFF2-40B4-BE49-F238E27FC236}">
                  <a16:creationId xmlns:a16="http://schemas.microsoft.com/office/drawing/2014/main" id="{28F99278-04CB-A277-94A4-4D2C7DC7E2B7}"/>
                </a:ext>
              </a:extLst>
            </p:cNvPr>
            <p:cNvCxnSpPr>
              <a:cxnSpLocks/>
              <a:stCxn id="28" idx="0"/>
            </p:cNvCxnSpPr>
            <p:nvPr/>
          </p:nvCxnSpPr>
          <p:spPr>
            <a:xfrm flipH="1" flipV="1">
              <a:off x="9990195" y="2748667"/>
              <a:ext cx="842172" cy="119608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14FE9DD3-A5F2-FA13-DED2-20A535E29CF6}"/>
                </a:ext>
              </a:extLst>
            </p:cNvPr>
            <p:cNvCxnSpPr>
              <a:cxnSpLocks/>
            </p:cNvCxnSpPr>
            <p:nvPr/>
          </p:nvCxnSpPr>
          <p:spPr>
            <a:xfrm flipV="1">
              <a:off x="5840696" y="5573140"/>
              <a:ext cx="292672" cy="927051"/>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048EE419-80D9-F203-160F-3B6E8E237490}"/>
                </a:ext>
              </a:extLst>
            </p:cNvPr>
            <p:cNvCxnSpPr>
              <a:cxnSpLocks/>
            </p:cNvCxnSpPr>
            <p:nvPr/>
          </p:nvCxnSpPr>
          <p:spPr>
            <a:xfrm flipH="1" flipV="1">
              <a:off x="6973728" y="5996747"/>
              <a:ext cx="3952" cy="57006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C0F549B0-5539-51D4-1AB1-F2F33DAE7C68}"/>
                </a:ext>
              </a:extLst>
            </p:cNvPr>
            <p:cNvCxnSpPr>
              <a:cxnSpLocks/>
            </p:cNvCxnSpPr>
            <p:nvPr/>
          </p:nvCxnSpPr>
          <p:spPr>
            <a:xfrm flipH="1" flipV="1">
              <a:off x="7751968" y="5629528"/>
              <a:ext cx="215923" cy="93728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39A7FDE7-B8F4-2DC9-A0FC-23AC61A192FA}"/>
                </a:ext>
              </a:extLst>
            </p:cNvPr>
            <p:cNvCxnSpPr>
              <a:cxnSpLocks/>
            </p:cNvCxnSpPr>
            <p:nvPr/>
          </p:nvCxnSpPr>
          <p:spPr>
            <a:xfrm flipH="1" flipV="1">
              <a:off x="8841302" y="5486888"/>
              <a:ext cx="6659" cy="93728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FEDA88C0-478F-0B8B-B5FB-A2BBD2A1A586}"/>
                </a:ext>
              </a:extLst>
            </p:cNvPr>
            <p:cNvCxnSpPr>
              <a:cxnSpLocks/>
            </p:cNvCxnSpPr>
            <p:nvPr/>
          </p:nvCxnSpPr>
          <p:spPr>
            <a:xfrm flipV="1">
              <a:off x="9546932" y="5596647"/>
              <a:ext cx="450428" cy="813181"/>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6E2E573F-EE43-B9DC-8283-9F4D09C3760D}"/>
                </a:ext>
              </a:extLst>
            </p:cNvPr>
            <p:cNvCxnSpPr>
              <a:cxnSpLocks/>
            </p:cNvCxnSpPr>
            <p:nvPr/>
          </p:nvCxnSpPr>
          <p:spPr>
            <a:xfrm flipV="1">
              <a:off x="10503378" y="5979783"/>
              <a:ext cx="341629" cy="52040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C5543F80-C2A9-A747-445C-D6EAD243D78A}"/>
                </a:ext>
              </a:extLst>
            </p:cNvPr>
            <p:cNvCxnSpPr>
              <a:cxnSpLocks/>
            </p:cNvCxnSpPr>
            <p:nvPr/>
          </p:nvCxnSpPr>
          <p:spPr>
            <a:xfrm flipH="1" flipV="1">
              <a:off x="11620931" y="5629528"/>
              <a:ext cx="237436" cy="87066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B2C87F44-3796-D082-0C1C-6B7DD0FA7FBF}"/>
                </a:ext>
              </a:extLst>
            </p:cNvPr>
            <p:cNvCxnSpPr>
              <a:cxnSpLocks/>
            </p:cNvCxnSpPr>
            <p:nvPr/>
          </p:nvCxnSpPr>
          <p:spPr>
            <a:xfrm flipH="1" flipV="1">
              <a:off x="10840282" y="5981781"/>
              <a:ext cx="339133" cy="56891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7" name="グループ化 86">
            <a:extLst>
              <a:ext uri="{FF2B5EF4-FFF2-40B4-BE49-F238E27FC236}">
                <a16:creationId xmlns:a16="http://schemas.microsoft.com/office/drawing/2014/main" id="{5BBA90E5-C38B-F2CB-0D5E-A862B972F78A}"/>
              </a:ext>
            </a:extLst>
          </p:cNvPr>
          <p:cNvGrpSpPr/>
          <p:nvPr/>
        </p:nvGrpSpPr>
        <p:grpSpPr>
          <a:xfrm>
            <a:off x="9590386" y="1164703"/>
            <a:ext cx="2491084" cy="369332"/>
            <a:chOff x="6236236" y="1886016"/>
            <a:chExt cx="2613189" cy="369332"/>
          </a:xfrm>
        </p:grpSpPr>
        <p:cxnSp>
          <p:nvCxnSpPr>
            <p:cNvPr id="85" name="直線コネクタ 84">
              <a:extLst>
                <a:ext uri="{FF2B5EF4-FFF2-40B4-BE49-F238E27FC236}">
                  <a16:creationId xmlns:a16="http://schemas.microsoft.com/office/drawing/2014/main" id="{C35B8FED-1897-B36A-EDC9-B12C9D63A16D}"/>
                </a:ext>
              </a:extLst>
            </p:cNvPr>
            <p:cNvCxnSpPr>
              <a:cxnSpLocks/>
            </p:cNvCxnSpPr>
            <p:nvPr/>
          </p:nvCxnSpPr>
          <p:spPr>
            <a:xfrm flipV="1">
              <a:off x="6236236" y="2091441"/>
              <a:ext cx="45772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テキスト ボックス 85">
              <a:extLst>
                <a:ext uri="{FF2B5EF4-FFF2-40B4-BE49-F238E27FC236}">
                  <a16:creationId xmlns:a16="http://schemas.microsoft.com/office/drawing/2014/main" id="{129C407D-74DC-2DB6-4A2D-3410F8AB8E6C}"/>
                </a:ext>
              </a:extLst>
            </p:cNvPr>
            <p:cNvSpPr txBox="1"/>
            <p:nvPr/>
          </p:nvSpPr>
          <p:spPr>
            <a:xfrm>
              <a:off x="6685851" y="1886016"/>
              <a:ext cx="2163574" cy="369332"/>
            </a:xfrm>
            <a:prstGeom prst="rect">
              <a:avLst/>
            </a:prstGeom>
            <a:noFill/>
          </p:spPr>
          <p:txBody>
            <a:bodyPr wrap="square" rtlCol="0">
              <a:spAutoFit/>
            </a:bodyPr>
            <a:lstStyle/>
            <a:p>
              <a:r>
                <a:rPr kumimoji="1" lang="en-US" altLang="ja-JP" dirty="0"/>
                <a:t>: </a:t>
              </a:r>
              <a:r>
                <a:rPr lang="ja-JP" altLang="en-US" dirty="0"/>
                <a:t>最み最大の辺</a:t>
              </a:r>
              <a:endParaRPr kumimoji="1" lang="ja-JP" altLang="en-US" dirty="0"/>
            </a:p>
          </p:txBody>
        </p:sp>
      </p:grpSp>
      <p:sp>
        <p:nvSpPr>
          <p:cNvPr id="89" name="テキスト ボックス 88">
            <a:extLst>
              <a:ext uri="{FF2B5EF4-FFF2-40B4-BE49-F238E27FC236}">
                <a16:creationId xmlns:a16="http://schemas.microsoft.com/office/drawing/2014/main" id="{937DE9B2-8387-EAEF-23C1-B73EC64753E4}"/>
              </a:ext>
            </a:extLst>
          </p:cNvPr>
          <p:cNvSpPr txBox="1"/>
          <p:nvPr/>
        </p:nvSpPr>
        <p:spPr>
          <a:xfrm>
            <a:off x="838199" y="1495568"/>
            <a:ext cx="6761139" cy="1015663"/>
          </a:xfrm>
          <a:prstGeom prst="rect">
            <a:avLst/>
          </a:prstGeom>
          <a:noFill/>
        </p:spPr>
        <p:txBody>
          <a:bodyPr wrap="square" rtlCol="0">
            <a:spAutoFit/>
          </a:bodyPr>
          <a:lstStyle/>
          <a:p>
            <a:pPr marL="342900" indent="-342900">
              <a:buFont typeface="Arial" panose="020B0604020202020204" pitchFamily="34" charset="0"/>
              <a:buChar char="•"/>
            </a:pPr>
            <a:r>
              <a:rPr lang="ja-JP" altLang="en-US" sz="2000" dirty="0"/>
              <a:t>任意の頂点を根として選ぶ</a:t>
            </a:r>
            <a:endParaRPr lang="en-US" altLang="ja-JP" sz="2000" dirty="0"/>
          </a:p>
          <a:p>
            <a:pPr marL="342900" indent="-342900">
              <a:buFont typeface="Arial" panose="020B0604020202020204" pitchFamily="34" charset="0"/>
              <a:buChar char="•"/>
            </a:pPr>
            <a:r>
              <a:rPr kumimoji="1" lang="en-US" altLang="ja-JP" sz="2000" dirty="0"/>
              <a:t>2</a:t>
            </a:r>
            <a:r>
              <a:rPr kumimoji="1" lang="ja-JP" altLang="en-US" sz="2000" dirty="0"/>
              <a:t>人以上子を持つ頂点に対して，子に任意に番号を振る</a:t>
            </a:r>
            <a:endParaRPr kumimoji="1" lang="en-US" altLang="ja-JP" sz="2000" dirty="0"/>
          </a:p>
          <a:p>
            <a:pPr marL="342900" indent="-342900">
              <a:buFont typeface="Arial" panose="020B0604020202020204" pitchFamily="34" charset="0"/>
              <a:buChar char="•"/>
            </a:pPr>
            <a:r>
              <a:rPr lang="ja-JP" altLang="en-US" sz="2000" dirty="0"/>
              <a:t>木を</a:t>
            </a:r>
            <a:r>
              <a:rPr lang="ja-JP" altLang="en-US" sz="2000" b="1" dirty="0"/>
              <a:t>重み最大の辺を含まない</a:t>
            </a:r>
            <a:r>
              <a:rPr lang="ja-JP" altLang="en-US" sz="2000" dirty="0"/>
              <a:t>極大連結成分に分割</a:t>
            </a:r>
            <a:r>
              <a:rPr lang="en-US" altLang="ja-JP" sz="2000" dirty="0"/>
              <a:t>  </a:t>
            </a:r>
            <a:endParaRPr kumimoji="1" lang="ja-JP" altLang="en-US" sz="2000" dirty="0"/>
          </a:p>
        </p:txBody>
      </p:sp>
      <mc:AlternateContent xmlns:mc="http://schemas.openxmlformats.org/markup-compatibility/2006" xmlns:a14="http://schemas.microsoft.com/office/drawing/2010/main">
        <mc:Choice Requires="a14">
          <p:sp>
            <p:nvSpPr>
              <p:cNvPr id="90" name="テキスト ボックス 89">
                <a:extLst>
                  <a:ext uri="{FF2B5EF4-FFF2-40B4-BE49-F238E27FC236}">
                    <a16:creationId xmlns:a16="http://schemas.microsoft.com/office/drawing/2014/main" id="{868D7397-FB60-37CD-A909-6931106300F0}"/>
                  </a:ext>
                </a:extLst>
              </p:cNvPr>
              <p:cNvSpPr txBox="1"/>
              <p:nvPr/>
            </p:nvSpPr>
            <p:spPr>
              <a:xfrm>
                <a:off x="838199" y="2707860"/>
                <a:ext cx="5892963" cy="3277820"/>
              </a:xfrm>
              <a:prstGeom prst="rect">
                <a:avLst/>
              </a:prstGeom>
              <a:noFill/>
            </p:spPr>
            <p:txBody>
              <a:bodyPr wrap="square" rtlCol="0">
                <a:spAutoFit/>
              </a:bodyPr>
              <a:lstStyle/>
              <a:p>
                <a:pPr>
                  <a:spcAft>
                    <a:spcPts val="600"/>
                  </a:spcAft>
                </a:pPr>
                <a:r>
                  <a:rPr lang="ja-JP" altLang="en-US" sz="2400" dirty="0"/>
                  <a:t>新しいリクエストが連結成分</a:t>
                </a:r>
                <a:r>
                  <a:rPr lang="en-US" altLang="ja-JP" sz="2400" dirty="0"/>
                  <a:t> </a:t>
                </a:r>
                <a14:m>
                  <m:oMath xmlns:m="http://schemas.openxmlformats.org/officeDocument/2006/math">
                    <m:r>
                      <a:rPr lang="en-US" altLang="ja-JP" sz="2400" b="0" i="1" smtClean="0">
                        <a:latin typeface="Cambria Math" panose="02040503050406030204" pitchFamily="18" charset="0"/>
                      </a:rPr>
                      <m:t>𝐶</m:t>
                    </m:r>
                  </m:oMath>
                </a14:m>
                <a:r>
                  <a:rPr lang="en-US" altLang="ja-JP" sz="2400" dirty="0"/>
                  <a:t> </a:t>
                </a:r>
                <a:r>
                  <a:rPr lang="ja-JP" altLang="en-US" sz="2400" dirty="0"/>
                  <a:t>上に生起</a:t>
                </a:r>
                <a:r>
                  <a:rPr lang="en-US" altLang="ja-JP" sz="2400" dirty="0"/>
                  <a:t>:</a:t>
                </a:r>
                <a:r>
                  <a:rPr lang="ja-JP" altLang="en-US" sz="2400" dirty="0"/>
                  <a:t> </a:t>
                </a:r>
                <a:endParaRPr lang="en-US" altLang="ja-JP" sz="2400" dirty="0"/>
              </a:p>
              <a:p>
                <a:pPr>
                  <a:spcAft>
                    <a:spcPts val="600"/>
                  </a:spcAft>
                </a:pPr>
                <a:r>
                  <a:rPr kumimoji="1" lang="en-US" altLang="ja-JP" sz="2400" b="1" dirty="0"/>
                  <a:t>IF</a:t>
                </a:r>
                <a:r>
                  <a:rPr kumimoji="1" lang="en-US" altLang="ja-JP" sz="2400" b="0" dirty="0"/>
                  <a:t> </a:t>
                </a:r>
                <a14:m>
                  <m:oMath xmlns:m="http://schemas.openxmlformats.org/officeDocument/2006/math">
                    <m:r>
                      <a:rPr kumimoji="1" lang="en-US" altLang="ja-JP" sz="2000" b="0" i="1" smtClean="0">
                        <a:latin typeface="Cambria Math" panose="02040503050406030204" pitchFamily="18" charset="0"/>
                      </a:rPr>
                      <m:t>∃</m:t>
                    </m:r>
                  </m:oMath>
                </a14:m>
                <a:r>
                  <a:rPr lang="en-US" altLang="ja-JP" sz="2000" dirty="0"/>
                  <a:t> </a:t>
                </a:r>
                <a14:m>
                  <m:oMath xmlns:m="http://schemas.openxmlformats.org/officeDocument/2006/math">
                    <m:r>
                      <a:rPr lang="en-US" altLang="ja-JP" sz="2000" b="0" i="1" smtClean="0">
                        <a:latin typeface="Cambria Math" panose="02040503050406030204" pitchFamily="18" charset="0"/>
                      </a:rPr>
                      <m:t>𝐶</m:t>
                    </m:r>
                  </m:oMath>
                </a14:m>
                <a:r>
                  <a:rPr kumimoji="1" lang="en-US" altLang="ja-JP" sz="2000" dirty="0"/>
                  <a:t> </a:t>
                </a:r>
                <a:r>
                  <a:rPr kumimoji="1" lang="ja-JP" altLang="en-US" sz="2000" dirty="0"/>
                  <a:t>内に利用可能なサーバ</a:t>
                </a:r>
                <a:r>
                  <a:rPr kumimoji="1" lang="en-US" altLang="ja-JP" sz="2000" dirty="0"/>
                  <a:t>,</a:t>
                </a:r>
                <a:r>
                  <a:rPr kumimoji="1" lang="en-US" altLang="ja-JP" dirty="0"/>
                  <a:t> </a:t>
                </a:r>
                <a:r>
                  <a:rPr kumimoji="1" lang="ja-JP" altLang="en-US" sz="2400" dirty="0"/>
                  <a:t> </a:t>
                </a:r>
                <a:r>
                  <a:rPr lang="en-US" altLang="ja-JP" sz="2400" b="1" dirty="0"/>
                  <a:t>THEN</a:t>
                </a:r>
              </a:p>
              <a:p>
                <a:pPr lvl="1">
                  <a:spcAft>
                    <a:spcPts val="600"/>
                  </a:spcAft>
                </a:pPr>
                <a14:m>
                  <m:oMath xmlns:m="http://schemas.openxmlformats.org/officeDocument/2006/math">
                    <m:r>
                      <a:rPr lang="en-US" altLang="ja-JP" sz="2000" b="0" i="1" smtClean="0">
                        <a:latin typeface="Cambria Math" panose="02040503050406030204" pitchFamily="18" charset="0"/>
                      </a:rPr>
                      <m:t>𝐶</m:t>
                    </m:r>
                  </m:oMath>
                </a14:m>
                <a:r>
                  <a:rPr lang="en-US" altLang="ja-JP" sz="2000" dirty="0"/>
                  <a:t> </a:t>
                </a:r>
                <a:r>
                  <a:rPr lang="ja-JP" altLang="en-US" sz="2000" dirty="0"/>
                  <a:t>に対して帰納的に定義されたアルゴリズムに従って割り当てを行う</a:t>
                </a:r>
                <a:r>
                  <a:rPr lang="en-US" altLang="ja-JP" sz="2000" dirty="0"/>
                  <a:t>.</a:t>
                </a:r>
              </a:p>
              <a:p>
                <a:r>
                  <a:rPr lang="en-US" altLang="ja-JP" sz="2400" b="1" dirty="0"/>
                  <a:t>ELSE</a:t>
                </a:r>
              </a:p>
              <a:p>
                <a:pPr lvl="1"/>
                <a:r>
                  <a:rPr lang="ja-JP" altLang="en-US" sz="2000" dirty="0"/>
                  <a:t>重み無し木に対するアルゴリズムを用いて，利用可能なサーバを含む別の連結成分</a:t>
                </a:r>
                <a:r>
                  <a:rPr lang="en-US" altLang="ja-JP" sz="2000" dirty="0"/>
                  <a:t> </a:t>
                </a:r>
                <a14:m>
                  <m:oMath xmlns:m="http://schemas.openxmlformats.org/officeDocument/2006/math">
                    <m:r>
                      <a:rPr lang="en-US" altLang="ja-JP" sz="2000" b="0" i="1" smtClean="0">
                        <a:latin typeface="Cambria Math" panose="02040503050406030204" pitchFamily="18" charset="0"/>
                      </a:rPr>
                      <m:t>𝐶</m:t>
                    </m:r>
                    <m:r>
                      <a:rPr lang="en-US" altLang="ja-JP" sz="2000" b="0" i="1" smtClean="0">
                        <a:latin typeface="Cambria Math" panose="02040503050406030204" pitchFamily="18" charset="0"/>
                      </a:rPr>
                      <m:t>′</m:t>
                    </m:r>
                  </m:oMath>
                </a14:m>
                <a:r>
                  <a:rPr lang="en-US" altLang="ja-JP" sz="2000" dirty="0"/>
                  <a:t> </a:t>
                </a:r>
                <a:r>
                  <a:rPr lang="ja-JP" altLang="en-US" sz="2000" dirty="0"/>
                  <a:t>を選び，</a:t>
                </a:r>
                <a14:m>
                  <m:oMath xmlns:m="http://schemas.openxmlformats.org/officeDocument/2006/math">
                    <m:r>
                      <a:rPr lang="en-US" altLang="ja-JP" sz="2000" i="1">
                        <a:latin typeface="Cambria Math" panose="02040503050406030204" pitchFamily="18" charset="0"/>
                      </a:rPr>
                      <m:t>𝐶</m:t>
                    </m:r>
                    <m:r>
                      <a:rPr lang="en-US" altLang="ja-JP" sz="2000" b="0" i="1" smtClean="0">
                        <a:latin typeface="Cambria Math" panose="02040503050406030204" pitchFamily="18" charset="0"/>
                      </a:rPr>
                      <m:t>′</m:t>
                    </m:r>
                  </m:oMath>
                </a14:m>
                <a:r>
                  <a:rPr lang="en-US" altLang="ja-JP" sz="2000" dirty="0"/>
                  <a:t> </a:t>
                </a:r>
                <a:r>
                  <a:rPr lang="ja-JP" altLang="en-US" sz="2000" dirty="0"/>
                  <a:t>に対して帰納的に定義されたアルゴリズムに従って割り当てを行う</a:t>
                </a:r>
                <a:r>
                  <a:rPr lang="en-US" altLang="ja-JP" sz="2000" dirty="0"/>
                  <a:t>.</a:t>
                </a:r>
              </a:p>
            </p:txBody>
          </p:sp>
        </mc:Choice>
        <mc:Fallback xmlns="">
          <p:sp>
            <p:nvSpPr>
              <p:cNvPr id="90" name="テキスト ボックス 89">
                <a:extLst>
                  <a:ext uri="{FF2B5EF4-FFF2-40B4-BE49-F238E27FC236}">
                    <a16:creationId xmlns:a16="http://schemas.microsoft.com/office/drawing/2014/main" id="{868D7397-FB60-37CD-A909-6931106300F0}"/>
                  </a:ext>
                </a:extLst>
              </p:cNvPr>
              <p:cNvSpPr txBox="1">
                <a:spLocks noRot="1" noChangeAspect="1" noMove="1" noResize="1" noEditPoints="1" noAdjustHandles="1" noChangeArrowheads="1" noChangeShapeType="1" noTextEdit="1"/>
              </p:cNvSpPr>
              <p:nvPr/>
            </p:nvSpPr>
            <p:spPr>
              <a:xfrm>
                <a:off x="838199" y="2707860"/>
                <a:ext cx="5892963" cy="3277820"/>
              </a:xfrm>
              <a:prstGeom prst="rect">
                <a:avLst/>
              </a:prstGeom>
              <a:blipFill>
                <a:blip r:embed="rId6"/>
                <a:stretch>
                  <a:fillRect l="-1551" t="-2045" b="-241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A8270BB5-83C4-5CDB-1DFD-06A7DD068CF0}"/>
                  </a:ext>
                </a:extLst>
              </p:cNvPr>
              <p:cNvSpPr txBox="1"/>
              <p:nvPr/>
            </p:nvSpPr>
            <p:spPr>
              <a:xfrm>
                <a:off x="6734475" y="3937909"/>
                <a:ext cx="53198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ja-JP" sz="1800" b="0" i="1" smtClean="0">
                          <a:latin typeface="Cambria Math" panose="02040503050406030204" pitchFamily="18" charset="0"/>
                        </a:rPr>
                        <m:t>𝐶</m:t>
                      </m:r>
                    </m:oMath>
                  </m:oMathPara>
                </a14:m>
                <a:endParaRPr kumimoji="1" lang="ja-JP" altLang="en-US" dirty="0"/>
              </a:p>
            </p:txBody>
          </p:sp>
        </mc:Choice>
        <mc:Fallback xmlns="">
          <p:sp>
            <p:nvSpPr>
              <p:cNvPr id="3" name="テキスト ボックス 2">
                <a:extLst>
                  <a:ext uri="{FF2B5EF4-FFF2-40B4-BE49-F238E27FC236}">
                    <a16:creationId xmlns:a16="http://schemas.microsoft.com/office/drawing/2014/main" id="{A8270BB5-83C4-5CDB-1DFD-06A7DD068CF0}"/>
                  </a:ext>
                </a:extLst>
              </p:cNvPr>
              <p:cNvSpPr txBox="1">
                <a:spLocks noRot="1" noChangeAspect="1" noMove="1" noResize="1" noEditPoints="1" noAdjustHandles="1" noChangeArrowheads="1" noChangeShapeType="1" noTextEdit="1"/>
              </p:cNvSpPr>
              <p:nvPr/>
            </p:nvSpPr>
            <p:spPr>
              <a:xfrm>
                <a:off x="6734475" y="3937909"/>
                <a:ext cx="531982" cy="369332"/>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8" name="テキスト ボックス 87">
                <a:extLst>
                  <a:ext uri="{FF2B5EF4-FFF2-40B4-BE49-F238E27FC236}">
                    <a16:creationId xmlns:a16="http://schemas.microsoft.com/office/drawing/2014/main" id="{AB57E750-4576-551F-8F4F-20792027C98B}"/>
                  </a:ext>
                </a:extLst>
              </p:cNvPr>
              <p:cNvSpPr txBox="1"/>
              <p:nvPr/>
            </p:nvSpPr>
            <p:spPr>
              <a:xfrm>
                <a:off x="8299439" y="1634856"/>
                <a:ext cx="53198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ja-JP" sz="1800" b="0" i="1" smtClean="0">
                          <a:latin typeface="Cambria Math" panose="02040503050406030204" pitchFamily="18" charset="0"/>
                        </a:rPr>
                        <m:t>𝐶</m:t>
                      </m:r>
                      <m:r>
                        <a:rPr lang="en-US" altLang="ja-JP" sz="1800" b="0" i="1" smtClean="0">
                          <a:latin typeface="Cambria Math" panose="02040503050406030204" pitchFamily="18" charset="0"/>
                        </a:rPr>
                        <m:t>′</m:t>
                      </m:r>
                    </m:oMath>
                  </m:oMathPara>
                </a14:m>
                <a:endParaRPr kumimoji="1" lang="ja-JP" altLang="en-US" dirty="0"/>
              </a:p>
            </p:txBody>
          </p:sp>
        </mc:Choice>
        <mc:Fallback xmlns="">
          <p:sp>
            <p:nvSpPr>
              <p:cNvPr id="88" name="テキスト ボックス 87">
                <a:extLst>
                  <a:ext uri="{FF2B5EF4-FFF2-40B4-BE49-F238E27FC236}">
                    <a16:creationId xmlns:a16="http://schemas.microsoft.com/office/drawing/2014/main" id="{AB57E750-4576-551F-8F4F-20792027C98B}"/>
                  </a:ext>
                </a:extLst>
              </p:cNvPr>
              <p:cNvSpPr txBox="1">
                <a:spLocks noRot="1" noChangeAspect="1" noMove="1" noResize="1" noEditPoints="1" noAdjustHandles="1" noChangeArrowheads="1" noChangeShapeType="1" noTextEdit="1"/>
              </p:cNvSpPr>
              <p:nvPr/>
            </p:nvSpPr>
            <p:spPr>
              <a:xfrm>
                <a:off x="8299439" y="1634856"/>
                <a:ext cx="531982" cy="369332"/>
              </a:xfrm>
              <a:prstGeom prst="rect">
                <a:avLst/>
              </a:prstGeom>
              <a:blipFill>
                <a:blip r:embed="rId8"/>
                <a:stretch>
                  <a:fillRect/>
                </a:stretch>
              </a:blipFill>
            </p:spPr>
            <p:txBody>
              <a:bodyPr/>
              <a:lstStyle/>
              <a:p>
                <a:r>
                  <a:rPr lang="ja-JP" altLang="en-US">
                    <a:noFill/>
                  </a:rPr>
                  <a:t> </a:t>
                </a:r>
              </a:p>
            </p:txBody>
          </p:sp>
        </mc:Fallback>
      </mc:AlternateContent>
      <p:sp>
        <p:nvSpPr>
          <p:cNvPr id="91" name="テキスト ボックス 90">
            <a:extLst>
              <a:ext uri="{FF2B5EF4-FFF2-40B4-BE49-F238E27FC236}">
                <a16:creationId xmlns:a16="http://schemas.microsoft.com/office/drawing/2014/main" id="{CD413AFF-26C3-44D8-13BA-3367BA255BBE}"/>
              </a:ext>
            </a:extLst>
          </p:cNvPr>
          <p:cNvSpPr txBox="1"/>
          <p:nvPr/>
        </p:nvSpPr>
        <p:spPr>
          <a:xfrm>
            <a:off x="838199" y="6255142"/>
            <a:ext cx="8805360" cy="369332"/>
          </a:xfrm>
          <a:prstGeom prst="rect">
            <a:avLst/>
          </a:prstGeom>
          <a:noFill/>
        </p:spPr>
        <p:txBody>
          <a:bodyPr wrap="square" rtlCol="0">
            <a:spAutoFit/>
          </a:bodyPr>
          <a:lstStyle/>
          <a:p>
            <a:r>
              <a:rPr kumimoji="1" lang="en-US" altLang="ja-JP" dirty="0"/>
              <a:t>※Base case: </a:t>
            </a:r>
            <a:r>
              <a:rPr kumimoji="1" lang="ja-JP" altLang="en-US" dirty="0"/>
              <a:t>サーバが</a:t>
            </a:r>
            <a:r>
              <a:rPr kumimoji="1" lang="en-US" altLang="ja-JP" dirty="0"/>
              <a:t>1</a:t>
            </a:r>
            <a:r>
              <a:rPr kumimoji="1" lang="ja-JP" altLang="en-US" dirty="0"/>
              <a:t>つの場合，リクエストをすべて唯一のサーバに割り当てる</a:t>
            </a:r>
          </a:p>
        </p:txBody>
      </p:sp>
    </p:spTree>
    <p:extLst>
      <p:ext uri="{BB962C8B-B14F-4D97-AF65-F5344CB8AC3E}">
        <p14:creationId xmlns:p14="http://schemas.microsoft.com/office/powerpoint/2010/main" val="954398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0124A3-0650-BAB4-5BEC-A3006796A86E}"/>
              </a:ext>
            </a:extLst>
          </p:cNvPr>
          <p:cNvSpPr>
            <a:spLocks noGrp="1"/>
          </p:cNvSpPr>
          <p:nvPr>
            <p:ph type="title"/>
          </p:nvPr>
        </p:nvSpPr>
        <p:spPr/>
        <p:txBody>
          <a:bodyPr/>
          <a:lstStyle/>
          <a:p>
            <a:r>
              <a:rPr kumimoji="1" lang="ja-JP" altLang="en-US" dirty="0"/>
              <a:t>一般の距離空間への拡張</a:t>
            </a:r>
          </a:p>
        </p:txBody>
      </p:sp>
      <p:sp>
        <p:nvSpPr>
          <p:cNvPr id="4" name="スライド番号プレースホルダー 3">
            <a:extLst>
              <a:ext uri="{FF2B5EF4-FFF2-40B4-BE49-F238E27FC236}">
                <a16:creationId xmlns:a16="http://schemas.microsoft.com/office/drawing/2014/main" id="{2A7AA4F4-F1A2-FDB4-4E25-7B6EEDC2CD30}"/>
              </a:ext>
            </a:extLst>
          </p:cNvPr>
          <p:cNvSpPr>
            <a:spLocks noGrp="1"/>
          </p:cNvSpPr>
          <p:nvPr>
            <p:ph type="sldNum" sz="quarter" idx="12"/>
          </p:nvPr>
        </p:nvSpPr>
        <p:spPr/>
        <p:txBody>
          <a:bodyPr/>
          <a:lstStyle/>
          <a:p>
            <a:fld id="{62D2EF3D-F703-49E9-AB6E-69446C0165D0}" type="slidenum">
              <a:rPr kumimoji="1" lang="ja-JP" altLang="en-US" smtClean="0"/>
              <a:t>29</a:t>
            </a:fld>
            <a:endParaRPr kumimoji="1" lang="ja-JP" altLang="en-US"/>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EC30B97E-3E57-B450-08BE-089BC7B5275B}"/>
                  </a:ext>
                </a:extLst>
              </p:cNvPr>
              <p:cNvSpPr txBox="1"/>
              <p:nvPr/>
            </p:nvSpPr>
            <p:spPr>
              <a:xfrm>
                <a:off x="838200" y="1781908"/>
                <a:ext cx="10515600" cy="1815882"/>
              </a:xfrm>
              <a:prstGeom prst="rect">
                <a:avLst/>
              </a:prstGeom>
              <a:noFill/>
            </p:spPr>
            <p:txBody>
              <a:bodyPr wrap="square" rtlCol="0">
                <a:spAutoFit/>
              </a:bodyPr>
              <a:lstStyle/>
              <a:p>
                <a:pPr marL="514350" indent="-514350">
                  <a:buFont typeface="+mj-lt"/>
                  <a:buAutoNum type="arabicPeriod"/>
                </a:pPr>
                <a:r>
                  <a:rPr kumimoji="1" lang="ja-JP" altLang="en-US" sz="2800" dirty="0"/>
                  <a:t>与えられた </a:t>
                </a:r>
                <a14:m>
                  <m:oMath xmlns:m="http://schemas.openxmlformats.org/officeDocument/2006/math">
                    <m:r>
                      <a:rPr kumimoji="1" lang="en-US" altLang="ja-JP" sz="2800" b="0" i="1" smtClean="0">
                        <a:latin typeface="Cambria Math" panose="02040503050406030204" pitchFamily="18" charset="0"/>
                      </a:rPr>
                      <m:t>𝑚</m:t>
                    </m:r>
                  </m:oMath>
                </a14:m>
                <a:r>
                  <a:rPr kumimoji="1" lang="ja-JP" altLang="en-US" sz="2800" dirty="0"/>
                  <a:t> 点距離空間を重み付き </a:t>
                </a:r>
                <a14:m>
                  <m:oMath xmlns:m="http://schemas.openxmlformats.org/officeDocument/2006/math">
                    <m:r>
                      <a:rPr kumimoji="1" lang="en-US" altLang="ja-JP" sz="2800" b="0" i="1" smtClean="0">
                        <a:latin typeface="Cambria Math" panose="02040503050406030204" pitchFamily="18" charset="0"/>
                      </a:rPr>
                      <m:t>𝑚</m:t>
                    </m:r>
                  </m:oMath>
                </a14:m>
                <a:r>
                  <a:rPr kumimoji="1" lang="ja-JP" altLang="en-US" sz="2800" dirty="0"/>
                  <a:t> 頂点完全グラフとして見たときの最小全域木 </a:t>
                </a:r>
                <a14:m>
                  <m:oMath xmlns:m="http://schemas.openxmlformats.org/officeDocument/2006/math">
                    <m:r>
                      <a:rPr kumimoji="1" lang="en-US" altLang="ja-JP" sz="2800" b="0" i="1" smtClean="0">
                        <a:latin typeface="Cambria Math" panose="02040503050406030204" pitchFamily="18" charset="0"/>
                      </a:rPr>
                      <m:t>𝑇</m:t>
                    </m:r>
                  </m:oMath>
                </a14:m>
                <a:r>
                  <a:rPr kumimoji="1" lang="ja-JP" altLang="en-US" sz="2800" dirty="0"/>
                  <a:t> を求める</a:t>
                </a:r>
                <a:endParaRPr kumimoji="1" lang="en-US" altLang="ja-JP" sz="2800" dirty="0"/>
              </a:p>
              <a:p>
                <a:pPr marL="514350" indent="-514350">
                  <a:buFont typeface="+mj-lt"/>
                  <a:buAutoNum type="arabicPeriod"/>
                </a:pPr>
                <a:r>
                  <a:rPr kumimoji="1" lang="ja-JP" altLang="en-US" sz="2800" b="0" dirty="0"/>
                  <a:t>最小全域木</a:t>
                </a:r>
                <a:r>
                  <a:rPr kumimoji="1" lang="en-US" altLang="ja-JP" sz="2800" b="0" dirty="0"/>
                  <a:t> </a:t>
                </a:r>
                <a14:m>
                  <m:oMath xmlns:m="http://schemas.openxmlformats.org/officeDocument/2006/math">
                    <m:r>
                      <a:rPr kumimoji="1" lang="en-US" altLang="ja-JP" sz="2800" b="0" i="1" smtClean="0">
                        <a:latin typeface="Cambria Math" panose="02040503050406030204" pitchFamily="18" charset="0"/>
                      </a:rPr>
                      <m:t>𝑇</m:t>
                    </m:r>
                  </m:oMath>
                </a14:m>
                <a:r>
                  <a:rPr kumimoji="1" lang="ja-JP" altLang="en-US" sz="2800" dirty="0"/>
                  <a:t> の各辺の重みを</a:t>
                </a:r>
                <a:r>
                  <a:rPr kumimoji="1" lang="en-US" altLang="ja-JP" sz="2800" dirty="0"/>
                  <a:t>2</a:t>
                </a:r>
                <a:r>
                  <a:rPr kumimoji="1" lang="ja-JP" altLang="en-US" sz="2800" dirty="0"/>
                  <a:t>の冪に切り上げ（</a:t>
                </a:r>
                <a14:m>
                  <m:oMath xmlns:m="http://schemas.openxmlformats.org/officeDocument/2006/math">
                    <m:r>
                      <a:rPr kumimoji="1" lang="en-US" altLang="ja-JP" sz="2800" b="0" i="1" smtClean="0">
                        <a:latin typeface="Cambria Math" panose="02040503050406030204" pitchFamily="18" charset="0"/>
                      </a:rPr>
                      <m:t>𝑇</m:t>
                    </m:r>
                    <m:r>
                      <a:rPr kumimoji="1" lang="en-US" altLang="ja-JP" sz="2800" b="0" i="1" smtClean="0">
                        <a:latin typeface="Cambria Math" panose="02040503050406030204" pitchFamily="18" charset="0"/>
                      </a:rPr>
                      <m:t>′</m:t>
                    </m:r>
                  </m:oMath>
                </a14:m>
                <a:r>
                  <a:rPr kumimoji="1" lang="ja-JP" altLang="en-US" sz="2800" dirty="0"/>
                  <a:t> とする）</a:t>
                </a:r>
                <a:endParaRPr kumimoji="1" lang="en-US" altLang="ja-JP" sz="2800" dirty="0"/>
              </a:p>
              <a:p>
                <a:pPr marL="514350" indent="-514350">
                  <a:buFont typeface="+mj-lt"/>
                  <a:buAutoNum type="arabicPeriod"/>
                </a:pPr>
                <a:r>
                  <a:rPr lang="ja-JP" altLang="en-US" sz="2800" dirty="0"/>
                  <a:t>重み付き</a:t>
                </a:r>
                <a:r>
                  <a:rPr kumimoji="1" lang="en-US" altLang="ja-JP" sz="2800" b="0" dirty="0"/>
                  <a:t> </a:t>
                </a:r>
                <a14:m>
                  <m:oMath xmlns:m="http://schemas.openxmlformats.org/officeDocument/2006/math">
                    <m:r>
                      <a:rPr kumimoji="1" lang="en-US" altLang="ja-JP" sz="2800" b="0" i="1" smtClean="0">
                        <a:latin typeface="Cambria Math" panose="02040503050406030204" pitchFamily="18" charset="0"/>
                      </a:rPr>
                      <m:t>𝑇</m:t>
                    </m:r>
                    <m:r>
                      <a:rPr kumimoji="1" lang="en-US" altLang="ja-JP" sz="2800" b="0" i="1" smtClean="0">
                        <a:latin typeface="Cambria Math" panose="02040503050406030204" pitchFamily="18" charset="0"/>
                      </a:rPr>
                      <m:t>′</m:t>
                    </m:r>
                  </m:oMath>
                </a14:m>
                <a:r>
                  <a:rPr kumimoji="1" lang="ja-JP" altLang="en-US" sz="2800" dirty="0"/>
                  <a:t> に対するアルゴリズムに従って割り当て</a:t>
                </a:r>
              </a:p>
            </p:txBody>
          </p:sp>
        </mc:Choice>
        <mc:Fallback xmlns="">
          <p:sp>
            <p:nvSpPr>
              <p:cNvPr id="7" name="テキスト ボックス 6">
                <a:extLst>
                  <a:ext uri="{FF2B5EF4-FFF2-40B4-BE49-F238E27FC236}">
                    <a16:creationId xmlns:a16="http://schemas.microsoft.com/office/drawing/2014/main" id="{EC30B97E-3E57-B450-08BE-089BC7B5275B}"/>
                  </a:ext>
                </a:extLst>
              </p:cNvPr>
              <p:cNvSpPr txBox="1">
                <a:spLocks noRot="1" noChangeAspect="1" noMove="1" noResize="1" noEditPoints="1" noAdjustHandles="1" noChangeArrowheads="1" noChangeShapeType="1" noTextEdit="1"/>
              </p:cNvSpPr>
              <p:nvPr/>
            </p:nvSpPr>
            <p:spPr>
              <a:xfrm>
                <a:off x="838200" y="1781908"/>
                <a:ext cx="10515600" cy="1815882"/>
              </a:xfrm>
              <a:prstGeom prst="rect">
                <a:avLst/>
              </a:prstGeom>
              <a:blipFill>
                <a:blip r:embed="rId2"/>
                <a:stretch>
                  <a:fillRect l="-1217" t="-4698" b="-906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5D79AB10-5194-6E69-BB14-4F30F98076CC}"/>
                  </a:ext>
                </a:extLst>
              </p:cNvPr>
              <p:cNvSpPr txBox="1"/>
              <p:nvPr/>
            </p:nvSpPr>
            <p:spPr>
              <a:xfrm>
                <a:off x="3766402" y="5998788"/>
                <a:ext cx="7587398" cy="410112"/>
              </a:xfrm>
              <a:prstGeom prst="rect">
                <a:avLst/>
              </a:prstGeom>
              <a:noFill/>
            </p:spPr>
            <p:txBody>
              <a:bodyPr wrap="none" rtlCol="0">
                <a:spAutoFit/>
              </a:bodyPr>
              <a:lstStyle/>
              <a:p>
                <a:r>
                  <a:rPr kumimoji="1" lang="en-US" altLang="ja-JP" sz="2000" b="0" dirty="0"/>
                  <a:t>2</a:t>
                </a:r>
                <a:r>
                  <a:rPr kumimoji="1" lang="ja-JP" altLang="en-US" sz="2000" b="0" dirty="0"/>
                  <a:t>の冪への切り上げ</a:t>
                </a:r>
                <a:r>
                  <a:rPr kumimoji="1" lang="en-US" altLang="ja-JP" sz="2000" b="0" dirty="0"/>
                  <a:t>: </a:t>
                </a:r>
                <a14:m>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2</m:t>
                        </m:r>
                      </m:e>
                      <m:sup>
                        <m:r>
                          <a:rPr kumimoji="1" lang="en-US" altLang="ja-JP" sz="2000" b="0" i="1" smtClean="0">
                            <a:latin typeface="Cambria Math" panose="02040503050406030204" pitchFamily="18" charset="0"/>
                          </a:rPr>
                          <m:t>𝑖</m:t>
                        </m:r>
                        <m:r>
                          <a:rPr kumimoji="1" lang="en-US" altLang="ja-JP" sz="2000" b="0" i="1" smtClean="0">
                            <a:latin typeface="Cambria Math" panose="02040503050406030204" pitchFamily="18" charset="0"/>
                          </a:rPr>
                          <m:t>−1</m:t>
                        </m:r>
                      </m:sup>
                    </m:sSup>
                    <m:r>
                      <a:rPr kumimoji="1" lang="en-US" altLang="ja-JP" sz="2000" b="0" i="1" smtClean="0">
                        <a:latin typeface="Cambria Math" panose="02040503050406030204" pitchFamily="18" charset="0"/>
                      </a:rPr>
                      <m:t>&lt;</m:t>
                    </m:r>
                    <m:r>
                      <a:rPr kumimoji="1" lang="en-US" altLang="ja-JP" sz="2000" b="0" i="1" smtClean="0">
                        <a:latin typeface="Cambria Math" panose="02040503050406030204" pitchFamily="18" charset="0"/>
                      </a:rPr>
                      <m:t>𝑤</m:t>
                    </m:r>
                    <m:r>
                      <a:rPr kumimoji="1" lang="en-US" altLang="ja-JP" sz="2000" b="0" i="1" smtClean="0">
                        <a:latin typeface="Cambria Math" panose="02040503050406030204" pitchFamily="18" charset="0"/>
                      </a:rPr>
                      <m:t>≤</m:t>
                    </m:r>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2</m:t>
                        </m:r>
                      </m:e>
                      <m:sup>
                        <m:r>
                          <a:rPr kumimoji="1" lang="en-US" altLang="ja-JP" sz="2000" b="0" i="1" smtClean="0">
                            <a:latin typeface="Cambria Math" panose="02040503050406030204" pitchFamily="18" charset="0"/>
                          </a:rPr>
                          <m:t>𝑖</m:t>
                        </m:r>
                      </m:sup>
                    </m:sSup>
                  </m:oMath>
                </a14:m>
                <a:r>
                  <a:rPr kumimoji="1" lang="ja-JP" altLang="en-US" sz="2000" dirty="0"/>
                  <a:t> のとき重み </a:t>
                </a:r>
                <a14:m>
                  <m:oMath xmlns:m="http://schemas.openxmlformats.org/officeDocument/2006/math">
                    <m:r>
                      <a:rPr kumimoji="1" lang="en-US" altLang="ja-JP" sz="2000" b="0" i="1" smtClean="0">
                        <a:latin typeface="Cambria Math" panose="02040503050406030204" pitchFamily="18" charset="0"/>
                      </a:rPr>
                      <m:t>𝑤</m:t>
                    </m:r>
                  </m:oMath>
                </a14:m>
                <a:r>
                  <a:rPr kumimoji="1" lang="ja-JP" altLang="en-US" sz="2000" dirty="0"/>
                  <a:t> を </a:t>
                </a:r>
                <a14:m>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2</m:t>
                        </m:r>
                      </m:e>
                      <m:sup>
                        <m:r>
                          <a:rPr kumimoji="1" lang="en-US" altLang="ja-JP" sz="2000" b="0" i="1" smtClean="0">
                            <a:latin typeface="Cambria Math" panose="02040503050406030204" pitchFamily="18" charset="0"/>
                          </a:rPr>
                          <m:t>𝑖</m:t>
                        </m:r>
                      </m:sup>
                    </m:sSup>
                  </m:oMath>
                </a14:m>
                <a:r>
                  <a:rPr kumimoji="1" lang="ja-JP" altLang="en-US" sz="2000" dirty="0"/>
                  <a:t> に変更する</a:t>
                </a:r>
              </a:p>
            </p:txBody>
          </p:sp>
        </mc:Choice>
        <mc:Fallback xmlns="">
          <p:sp>
            <p:nvSpPr>
              <p:cNvPr id="5" name="テキスト ボックス 4">
                <a:extLst>
                  <a:ext uri="{FF2B5EF4-FFF2-40B4-BE49-F238E27FC236}">
                    <a16:creationId xmlns:a16="http://schemas.microsoft.com/office/drawing/2014/main" id="{5D79AB10-5194-6E69-BB14-4F30F98076CC}"/>
                  </a:ext>
                </a:extLst>
              </p:cNvPr>
              <p:cNvSpPr txBox="1">
                <a:spLocks noRot="1" noChangeAspect="1" noMove="1" noResize="1" noEditPoints="1" noAdjustHandles="1" noChangeArrowheads="1" noChangeShapeType="1" noTextEdit="1"/>
              </p:cNvSpPr>
              <p:nvPr/>
            </p:nvSpPr>
            <p:spPr>
              <a:xfrm>
                <a:off x="3766402" y="5998788"/>
                <a:ext cx="7587398" cy="410112"/>
              </a:xfrm>
              <a:prstGeom prst="rect">
                <a:avLst/>
              </a:prstGeom>
              <a:blipFill>
                <a:blip r:embed="rId3"/>
                <a:stretch>
                  <a:fillRect l="-884" t="-8955" b="-26866"/>
                </a:stretch>
              </a:blipFill>
            </p:spPr>
            <p:txBody>
              <a:bodyPr/>
              <a:lstStyle/>
              <a:p>
                <a:r>
                  <a:rPr lang="ja-JP" altLang="en-US">
                    <a:noFill/>
                  </a:rPr>
                  <a:t> </a:t>
                </a:r>
              </a:p>
            </p:txBody>
          </p:sp>
        </mc:Fallback>
      </mc:AlternateContent>
      <p:grpSp>
        <p:nvGrpSpPr>
          <p:cNvPr id="56" name="グループ化 55">
            <a:extLst>
              <a:ext uri="{FF2B5EF4-FFF2-40B4-BE49-F238E27FC236}">
                <a16:creationId xmlns:a16="http://schemas.microsoft.com/office/drawing/2014/main" id="{9779C7F7-79FE-A97D-0EC3-6C3BB4787334}"/>
              </a:ext>
            </a:extLst>
          </p:cNvPr>
          <p:cNvGrpSpPr/>
          <p:nvPr/>
        </p:nvGrpSpPr>
        <p:grpSpPr>
          <a:xfrm>
            <a:off x="1328247" y="3585841"/>
            <a:ext cx="3783720" cy="2370495"/>
            <a:chOff x="378371" y="3546826"/>
            <a:chExt cx="3783720" cy="2370495"/>
          </a:xfrm>
        </p:grpSpPr>
        <p:sp>
          <p:nvSpPr>
            <p:cNvPr id="6" name="楕円 5">
              <a:extLst>
                <a:ext uri="{FF2B5EF4-FFF2-40B4-BE49-F238E27FC236}">
                  <a16:creationId xmlns:a16="http://schemas.microsoft.com/office/drawing/2014/main" id="{F1DC8B11-B7F3-EA3C-D3EC-8941148E3DEA}"/>
                </a:ext>
              </a:extLst>
            </p:cNvPr>
            <p:cNvSpPr>
              <a:spLocks noChangeAspect="1"/>
            </p:cNvSpPr>
            <p:nvPr/>
          </p:nvSpPr>
          <p:spPr>
            <a:xfrm>
              <a:off x="1975940" y="3869133"/>
              <a:ext cx="210207" cy="210207"/>
            </a:xfrm>
            <a:prstGeom prst="ellipse">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370758D5-24CA-EF48-2ECB-9DF24A360D1C}"/>
                </a:ext>
              </a:extLst>
            </p:cNvPr>
            <p:cNvSpPr>
              <a:spLocks noChangeAspect="1"/>
            </p:cNvSpPr>
            <p:nvPr/>
          </p:nvSpPr>
          <p:spPr>
            <a:xfrm>
              <a:off x="3294988" y="4007092"/>
              <a:ext cx="210207" cy="210207"/>
            </a:xfrm>
            <a:prstGeom prst="ellipse">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207EB30B-BCE7-52C7-C3CC-D335C29B01A2}"/>
                </a:ext>
              </a:extLst>
            </p:cNvPr>
            <p:cNvSpPr>
              <a:spLocks noChangeAspect="1"/>
            </p:cNvSpPr>
            <p:nvPr/>
          </p:nvSpPr>
          <p:spPr>
            <a:xfrm>
              <a:off x="3657595" y="5115934"/>
              <a:ext cx="210207" cy="210207"/>
            </a:xfrm>
            <a:prstGeom prst="ellipse">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0639855B-B375-974F-76FB-204383CCBECC}"/>
                </a:ext>
              </a:extLst>
            </p:cNvPr>
            <p:cNvSpPr>
              <a:spLocks noChangeAspect="1"/>
            </p:cNvSpPr>
            <p:nvPr/>
          </p:nvSpPr>
          <p:spPr>
            <a:xfrm>
              <a:off x="378371" y="5349811"/>
              <a:ext cx="210207" cy="210207"/>
            </a:xfrm>
            <a:prstGeom prst="ellipse">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437AEEE6-52D5-98A4-C4D7-5DFE31813AA2}"/>
                </a:ext>
              </a:extLst>
            </p:cNvPr>
            <p:cNvCxnSpPr>
              <a:cxnSpLocks/>
              <a:stCxn id="6" idx="7"/>
              <a:endCxn id="8" idx="1"/>
            </p:cNvCxnSpPr>
            <p:nvPr/>
          </p:nvCxnSpPr>
          <p:spPr>
            <a:xfrm>
              <a:off x="2155363" y="3899917"/>
              <a:ext cx="1170409" cy="137959"/>
            </a:xfrm>
            <a:prstGeom prst="line">
              <a:avLst/>
            </a:prstGeom>
            <a:ln w="635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40B059B0-C419-BB4B-2187-8835ECF77A21}"/>
                </a:ext>
              </a:extLst>
            </p:cNvPr>
            <p:cNvCxnSpPr>
              <a:cxnSpLocks/>
              <a:stCxn id="8" idx="5"/>
              <a:endCxn id="9" idx="0"/>
            </p:cNvCxnSpPr>
            <p:nvPr/>
          </p:nvCxnSpPr>
          <p:spPr>
            <a:xfrm>
              <a:off x="3474411" y="4186515"/>
              <a:ext cx="288288" cy="929419"/>
            </a:xfrm>
            <a:prstGeom prst="line">
              <a:avLst/>
            </a:prstGeom>
            <a:ln w="635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A3331D5-BA4F-444C-0C2E-44D2BF5E02D1}"/>
                </a:ext>
              </a:extLst>
            </p:cNvPr>
            <p:cNvCxnSpPr>
              <a:cxnSpLocks/>
              <a:stCxn id="10" idx="5"/>
              <a:endCxn id="9" idx="3"/>
            </p:cNvCxnSpPr>
            <p:nvPr/>
          </p:nvCxnSpPr>
          <p:spPr>
            <a:xfrm flipV="1">
              <a:off x="557794" y="5295357"/>
              <a:ext cx="3130585" cy="233877"/>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DE65AE84-3BB5-E44D-82BE-039B84867B13}"/>
                </a:ext>
              </a:extLst>
            </p:cNvPr>
            <p:cNvCxnSpPr>
              <a:cxnSpLocks/>
              <a:stCxn id="6" idx="3"/>
              <a:endCxn id="10" idx="1"/>
            </p:cNvCxnSpPr>
            <p:nvPr/>
          </p:nvCxnSpPr>
          <p:spPr>
            <a:xfrm flipH="1">
              <a:off x="409155" y="4048556"/>
              <a:ext cx="1597569" cy="1332039"/>
            </a:xfrm>
            <a:prstGeom prst="line">
              <a:avLst/>
            </a:prstGeom>
            <a:ln w="635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C29FA3BD-F338-847E-1F8F-A126DFEEB3EA}"/>
                </a:ext>
              </a:extLst>
            </p:cNvPr>
            <p:cNvCxnSpPr>
              <a:cxnSpLocks/>
              <a:stCxn id="6" idx="4"/>
              <a:endCxn id="9" idx="2"/>
            </p:cNvCxnSpPr>
            <p:nvPr/>
          </p:nvCxnSpPr>
          <p:spPr>
            <a:xfrm>
              <a:off x="2081044" y="4079340"/>
              <a:ext cx="1576551" cy="1141698"/>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B51B6D43-86DF-7C32-ED81-ACCE5EB22E3F}"/>
                </a:ext>
              </a:extLst>
            </p:cNvPr>
            <p:cNvCxnSpPr>
              <a:cxnSpLocks/>
              <a:stCxn id="8" idx="3"/>
              <a:endCxn id="10" idx="7"/>
            </p:cNvCxnSpPr>
            <p:nvPr/>
          </p:nvCxnSpPr>
          <p:spPr>
            <a:xfrm flipH="1">
              <a:off x="557794" y="4186515"/>
              <a:ext cx="2767978" cy="119408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B44EEE89-67E0-59A4-2C58-BA09E2F535BE}"/>
                </a:ext>
              </a:extLst>
            </p:cNvPr>
            <p:cNvSpPr txBox="1"/>
            <p:nvPr/>
          </p:nvSpPr>
          <p:spPr>
            <a:xfrm>
              <a:off x="3657595" y="4340355"/>
              <a:ext cx="504496" cy="378791"/>
            </a:xfrm>
            <a:prstGeom prst="rect">
              <a:avLst/>
            </a:prstGeom>
            <a:noFill/>
          </p:spPr>
          <p:txBody>
            <a:bodyPr wrap="square" rtlCol="0">
              <a:spAutoFit/>
            </a:bodyPr>
            <a:lstStyle/>
            <a:p>
              <a:pPr algn="ctr"/>
              <a:r>
                <a:rPr lang="en-US" altLang="ja-JP" dirty="0"/>
                <a:t>0.8</a:t>
              </a:r>
              <a:endParaRPr kumimoji="1" lang="ja-JP" altLang="en-US" dirty="0"/>
            </a:p>
          </p:txBody>
        </p:sp>
        <p:sp>
          <p:nvSpPr>
            <p:cNvPr id="31" name="テキスト ボックス 30">
              <a:extLst>
                <a:ext uri="{FF2B5EF4-FFF2-40B4-BE49-F238E27FC236}">
                  <a16:creationId xmlns:a16="http://schemas.microsoft.com/office/drawing/2014/main" id="{AE4CDED2-58BB-3F03-B16F-E0BCFC66E02B}"/>
                </a:ext>
              </a:extLst>
            </p:cNvPr>
            <p:cNvSpPr txBox="1"/>
            <p:nvPr/>
          </p:nvSpPr>
          <p:spPr>
            <a:xfrm>
              <a:off x="2517223" y="3546826"/>
              <a:ext cx="504496" cy="378791"/>
            </a:xfrm>
            <a:prstGeom prst="rect">
              <a:avLst/>
            </a:prstGeom>
            <a:noFill/>
          </p:spPr>
          <p:txBody>
            <a:bodyPr wrap="square" rtlCol="0">
              <a:spAutoFit/>
            </a:bodyPr>
            <a:lstStyle/>
            <a:p>
              <a:pPr algn="ctr"/>
              <a:r>
                <a:rPr kumimoji="1" lang="en-US" altLang="ja-JP" dirty="0"/>
                <a:t>1.1</a:t>
              </a:r>
              <a:endParaRPr kumimoji="1" lang="ja-JP" altLang="en-US" dirty="0"/>
            </a:p>
          </p:txBody>
        </p:sp>
        <p:sp>
          <p:nvSpPr>
            <p:cNvPr id="32" name="テキスト ボックス 31">
              <a:extLst>
                <a:ext uri="{FF2B5EF4-FFF2-40B4-BE49-F238E27FC236}">
                  <a16:creationId xmlns:a16="http://schemas.microsoft.com/office/drawing/2014/main" id="{89002BAD-8099-0735-34D1-14C94C92BA93}"/>
                </a:ext>
              </a:extLst>
            </p:cNvPr>
            <p:cNvSpPr txBox="1"/>
            <p:nvPr/>
          </p:nvSpPr>
          <p:spPr>
            <a:xfrm>
              <a:off x="2469933" y="5538530"/>
              <a:ext cx="504496" cy="378791"/>
            </a:xfrm>
            <a:prstGeom prst="rect">
              <a:avLst/>
            </a:prstGeom>
            <a:noFill/>
          </p:spPr>
          <p:txBody>
            <a:bodyPr wrap="square" rtlCol="0">
              <a:spAutoFit/>
            </a:bodyPr>
            <a:lstStyle/>
            <a:p>
              <a:pPr algn="ctr"/>
              <a:r>
                <a:rPr kumimoji="1" lang="en-US" altLang="ja-JP" dirty="0"/>
                <a:t>3</a:t>
              </a:r>
              <a:endParaRPr kumimoji="1" lang="ja-JP" altLang="en-US" dirty="0"/>
            </a:p>
          </p:txBody>
        </p:sp>
        <p:sp>
          <p:nvSpPr>
            <p:cNvPr id="33" name="テキスト ボックス 32">
              <a:extLst>
                <a:ext uri="{FF2B5EF4-FFF2-40B4-BE49-F238E27FC236}">
                  <a16:creationId xmlns:a16="http://schemas.microsoft.com/office/drawing/2014/main" id="{5368A150-4576-A06D-7E2D-E6DF607C45B5}"/>
                </a:ext>
              </a:extLst>
            </p:cNvPr>
            <p:cNvSpPr txBox="1"/>
            <p:nvPr/>
          </p:nvSpPr>
          <p:spPr>
            <a:xfrm>
              <a:off x="859613" y="4303302"/>
              <a:ext cx="504496" cy="378791"/>
            </a:xfrm>
            <a:prstGeom prst="rect">
              <a:avLst/>
            </a:prstGeom>
            <a:noFill/>
          </p:spPr>
          <p:txBody>
            <a:bodyPr wrap="square" rtlCol="0">
              <a:spAutoFit/>
            </a:bodyPr>
            <a:lstStyle/>
            <a:p>
              <a:pPr algn="ctr"/>
              <a:r>
                <a:rPr lang="en-US" altLang="ja-JP" dirty="0"/>
                <a:t>2.1</a:t>
              </a:r>
              <a:endParaRPr kumimoji="1" lang="ja-JP" altLang="en-US" dirty="0"/>
            </a:p>
          </p:txBody>
        </p:sp>
        <p:sp>
          <p:nvSpPr>
            <p:cNvPr id="34" name="テキスト ボックス 33">
              <a:extLst>
                <a:ext uri="{FF2B5EF4-FFF2-40B4-BE49-F238E27FC236}">
                  <a16:creationId xmlns:a16="http://schemas.microsoft.com/office/drawing/2014/main" id="{3F0802B7-CEBE-24F2-9E22-BC0558AFC404}"/>
                </a:ext>
              </a:extLst>
            </p:cNvPr>
            <p:cNvSpPr txBox="1"/>
            <p:nvPr/>
          </p:nvSpPr>
          <p:spPr>
            <a:xfrm>
              <a:off x="1754478" y="4393839"/>
              <a:ext cx="504496" cy="378791"/>
            </a:xfrm>
            <a:prstGeom prst="rect">
              <a:avLst/>
            </a:prstGeom>
            <a:noFill/>
          </p:spPr>
          <p:txBody>
            <a:bodyPr wrap="square" rtlCol="0">
              <a:spAutoFit/>
            </a:bodyPr>
            <a:lstStyle/>
            <a:p>
              <a:pPr algn="ctr"/>
              <a:r>
                <a:rPr lang="en-US" altLang="ja-JP" dirty="0"/>
                <a:t>2.5</a:t>
              </a:r>
              <a:endParaRPr kumimoji="1" lang="ja-JP" altLang="en-US" dirty="0"/>
            </a:p>
          </p:txBody>
        </p:sp>
        <p:sp>
          <p:nvSpPr>
            <p:cNvPr id="35" name="テキスト ボックス 34">
              <a:extLst>
                <a:ext uri="{FF2B5EF4-FFF2-40B4-BE49-F238E27FC236}">
                  <a16:creationId xmlns:a16="http://schemas.microsoft.com/office/drawing/2014/main" id="{C18448A0-67A4-7779-8FC4-4E1BC7225902}"/>
                </a:ext>
              </a:extLst>
            </p:cNvPr>
            <p:cNvSpPr txBox="1"/>
            <p:nvPr/>
          </p:nvSpPr>
          <p:spPr>
            <a:xfrm>
              <a:off x="2674132" y="4821070"/>
              <a:ext cx="504496" cy="378791"/>
            </a:xfrm>
            <a:prstGeom prst="rect">
              <a:avLst/>
            </a:prstGeom>
            <a:noFill/>
          </p:spPr>
          <p:txBody>
            <a:bodyPr wrap="square" rtlCol="0">
              <a:spAutoFit/>
            </a:bodyPr>
            <a:lstStyle/>
            <a:p>
              <a:pPr algn="ctr"/>
              <a:r>
                <a:rPr kumimoji="1" lang="en-US" altLang="ja-JP" dirty="0"/>
                <a:t>1.7</a:t>
              </a:r>
              <a:endParaRPr kumimoji="1" lang="ja-JP" altLang="en-US" dirty="0"/>
            </a:p>
          </p:txBody>
        </p:sp>
      </p:grpSp>
      <p:sp>
        <p:nvSpPr>
          <p:cNvPr id="58" name="楕円 57">
            <a:extLst>
              <a:ext uri="{FF2B5EF4-FFF2-40B4-BE49-F238E27FC236}">
                <a16:creationId xmlns:a16="http://schemas.microsoft.com/office/drawing/2014/main" id="{CA63739D-0D86-B58B-87F7-CEADA24282C8}"/>
              </a:ext>
            </a:extLst>
          </p:cNvPr>
          <p:cNvSpPr>
            <a:spLocks noChangeAspect="1"/>
          </p:cNvSpPr>
          <p:nvPr/>
        </p:nvSpPr>
        <p:spPr>
          <a:xfrm>
            <a:off x="8602720" y="3976803"/>
            <a:ext cx="210207" cy="210207"/>
          </a:xfrm>
          <a:prstGeom prst="ellipse">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楕円 58">
            <a:extLst>
              <a:ext uri="{FF2B5EF4-FFF2-40B4-BE49-F238E27FC236}">
                <a16:creationId xmlns:a16="http://schemas.microsoft.com/office/drawing/2014/main" id="{92993163-DF36-FA9A-9624-D90CEF70C322}"/>
              </a:ext>
            </a:extLst>
          </p:cNvPr>
          <p:cNvSpPr>
            <a:spLocks noChangeAspect="1"/>
          </p:cNvSpPr>
          <p:nvPr/>
        </p:nvSpPr>
        <p:spPr>
          <a:xfrm>
            <a:off x="9921768" y="4114762"/>
            <a:ext cx="210207" cy="210207"/>
          </a:xfrm>
          <a:prstGeom prst="ellipse">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楕円 59">
            <a:extLst>
              <a:ext uri="{FF2B5EF4-FFF2-40B4-BE49-F238E27FC236}">
                <a16:creationId xmlns:a16="http://schemas.microsoft.com/office/drawing/2014/main" id="{51CD513D-84C8-C74E-F4F3-AE19E23E6C1F}"/>
              </a:ext>
            </a:extLst>
          </p:cNvPr>
          <p:cNvSpPr>
            <a:spLocks noChangeAspect="1"/>
          </p:cNvSpPr>
          <p:nvPr/>
        </p:nvSpPr>
        <p:spPr>
          <a:xfrm>
            <a:off x="10284375" y="5223604"/>
            <a:ext cx="210207" cy="210207"/>
          </a:xfrm>
          <a:prstGeom prst="ellipse">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楕円 60">
            <a:extLst>
              <a:ext uri="{FF2B5EF4-FFF2-40B4-BE49-F238E27FC236}">
                <a16:creationId xmlns:a16="http://schemas.microsoft.com/office/drawing/2014/main" id="{C8FD275A-0B52-19CA-B73B-C537638E2744}"/>
              </a:ext>
            </a:extLst>
          </p:cNvPr>
          <p:cNvSpPr>
            <a:spLocks noChangeAspect="1"/>
          </p:cNvSpPr>
          <p:nvPr/>
        </p:nvSpPr>
        <p:spPr>
          <a:xfrm>
            <a:off x="7005151" y="5457481"/>
            <a:ext cx="210207" cy="210207"/>
          </a:xfrm>
          <a:prstGeom prst="ellipse">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2" name="直線コネクタ 61">
            <a:extLst>
              <a:ext uri="{FF2B5EF4-FFF2-40B4-BE49-F238E27FC236}">
                <a16:creationId xmlns:a16="http://schemas.microsoft.com/office/drawing/2014/main" id="{CAEDED04-F7B1-85C4-7D89-917685106B69}"/>
              </a:ext>
            </a:extLst>
          </p:cNvPr>
          <p:cNvCxnSpPr>
            <a:cxnSpLocks/>
            <a:stCxn id="58" idx="7"/>
            <a:endCxn id="59" idx="1"/>
          </p:cNvCxnSpPr>
          <p:nvPr/>
        </p:nvCxnSpPr>
        <p:spPr>
          <a:xfrm>
            <a:off x="8782143" y="4007587"/>
            <a:ext cx="1170409" cy="137959"/>
          </a:xfrm>
          <a:prstGeom prst="line">
            <a:avLst/>
          </a:prstGeom>
          <a:ln w="635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619B85DC-A791-0960-EE3A-2A2A89178DA6}"/>
              </a:ext>
            </a:extLst>
          </p:cNvPr>
          <p:cNvCxnSpPr>
            <a:cxnSpLocks/>
            <a:stCxn id="59" idx="5"/>
            <a:endCxn id="60" idx="0"/>
          </p:cNvCxnSpPr>
          <p:nvPr/>
        </p:nvCxnSpPr>
        <p:spPr>
          <a:xfrm>
            <a:off x="10101191" y="4294185"/>
            <a:ext cx="288288" cy="929419"/>
          </a:xfrm>
          <a:prstGeom prst="line">
            <a:avLst/>
          </a:prstGeom>
          <a:ln w="635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C9BE2C01-849F-9C1C-276B-0CDF89E1B074}"/>
              </a:ext>
            </a:extLst>
          </p:cNvPr>
          <p:cNvCxnSpPr>
            <a:cxnSpLocks/>
            <a:stCxn id="58" idx="3"/>
            <a:endCxn id="61" idx="1"/>
          </p:cNvCxnSpPr>
          <p:nvPr/>
        </p:nvCxnSpPr>
        <p:spPr>
          <a:xfrm flipH="1">
            <a:off x="7035935" y="4156226"/>
            <a:ext cx="1597569" cy="1332039"/>
          </a:xfrm>
          <a:prstGeom prst="line">
            <a:avLst/>
          </a:prstGeom>
          <a:ln w="635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9" name="テキスト ボックス 68">
            <a:extLst>
              <a:ext uri="{FF2B5EF4-FFF2-40B4-BE49-F238E27FC236}">
                <a16:creationId xmlns:a16="http://schemas.microsoft.com/office/drawing/2014/main" id="{3E6237E5-6BA9-3B50-BB96-7C4C48B2E24B}"/>
              </a:ext>
            </a:extLst>
          </p:cNvPr>
          <p:cNvSpPr txBox="1"/>
          <p:nvPr/>
        </p:nvSpPr>
        <p:spPr>
          <a:xfrm>
            <a:off x="9144003" y="3654496"/>
            <a:ext cx="504496" cy="378791"/>
          </a:xfrm>
          <a:prstGeom prst="rect">
            <a:avLst/>
          </a:prstGeom>
          <a:noFill/>
        </p:spPr>
        <p:txBody>
          <a:bodyPr wrap="square" rtlCol="0">
            <a:spAutoFit/>
          </a:bodyPr>
          <a:lstStyle/>
          <a:p>
            <a:pPr algn="ctr"/>
            <a:r>
              <a:rPr lang="en-US" altLang="ja-JP" dirty="0"/>
              <a:t>2</a:t>
            </a:r>
            <a:endParaRPr kumimoji="1" lang="ja-JP" altLang="en-US" dirty="0"/>
          </a:p>
        </p:txBody>
      </p:sp>
      <p:sp>
        <p:nvSpPr>
          <p:cNvPr id="71" name="テキスト ボックス 70">
            <a:extLst>
              <a:ext uri="{FF2B5EF4-FFF2-40B4-BE49-F238E27FC236}">
                <a16:creationId xmlns:a16="http://schemas.microsoft.com/office/drawing/2014/main" id="{D538C7AC-CBDF-1E41-269D-80A6A8ECEF13}"/>
              </a:ext>
            </a:extLst>
          </p:cNvPr>
          <p:cNvSpPr txBox="1"/>
          <p:nvPr/>
        </p:nvSpPr>
        <p:spPr>
          <a:xfrm>
            <a:off x="7486393" y="4410972"/>
            <a:ext cx="504496" cy="378791"/>
          </a:xfrm>
          <a:prstGeom prst="rect">
            <a:avLst/>
          </a:prstGeom>
          <a:noFill/>
        </p:spPr>
        <p:txBody>
          <a:bodyPr wrap="square" rtlCol="0">
            <a:spAutoFit/>
          </a:bodyPr>
          <a:lstStyle/>
          <a:p>
            <a:pPr algn="ctr"/>
            <a:r>
              <a:rPr kumimoji="1" lang="en-US" altLang="ja-JP" dirty="0"/>
              <a:t>4</a:t>
            </a:r>
            <a:endParaRPr kumimoji="1" lang="ja-JP" altLang="en-US" dirty="0"/>
          </a:p>
        </p:txBody>
      </p:sp>
      <p:sp>
        <p:nvSpPr>
          <p:cNvPr id="76" name="矢印: 右 75">
            <a:extLst>
              <a:ext uri="{FF2B5EF4-FFF2-40B4-BE49-F238E27FC236}">
                <a16:creationId xmlns:a16="http://schemas.microsoft.com/office/drawing/2014/main" id="{614D3ACB-2F06-39E7-E47F-86CB39754072}"/>
              </a:ext>
            </a:extLst>
          </p:cNvPr>
          <p:cNvSpPr/>
          <p:nvPr/>
        </p:nvSpPr>
        <p:spPr>
          <a:xfrm>
            <a:off x="5717626" y="4253528"/>
            <a:ext cx="813074" cy="8571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4B990B57-BF63-7153-4DD4-A1B56374A83A}"/>
              </a:ext>
            </a:extLst>
          </p:cNvPr>
          <p:cNvSpPr txBox="1"/>
          <p:nvPr/>
        </p:nvSpPr>
        <p:spPr>
          <a:xfrm>
            <a:off x="10316654" y="4476637"/>
            <a:ext cx="504496" cy="378791"/>
          </a:xfrm>
          <a:prstGeom prst="rect">
            <a:avLst/>
          </a:prstGeom>
          <a:noFill/>
        </p:spPr>
        <p:txBody>
          <a:bodyPr wrap="square" rtlCol="0">
            <a:spAutoFit/>
          </a:bodyPr>
          <a:lstStyle/>
          <a:p>
            <a:pPr algn="ctr"/>
            <a:r>
              <a:rPr kumimoji="1" lang="en-US" altLang="ja-JP" dirty="0"/>
              <a:t>1</a:t>
            </a:r>
            <a:endParaRPr kumimoji="1" lang="ja-JP" altLang="en-US" dirty="0"/>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FDD42DD6-C22D-958A-E06A-03D983768288}"/>
                  </a:ext>
                </a:extLst>
              </p:cNvPr>
              <p:cNvSpPr txBox="1"/>
              <p:nvPr/>
            </p:nvSpPr>
            <p:spPr>
              <a:xfrm>
                <a:off x="10111895" y="3600154"/>
                <a:ext cx="55516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𝑇</m:t>
                      </m:r>
                      <m:r>
                        <a:rPr kumimoji="1" lang="en-US" altLang="ja-JP" sz="2400" b="0" i="1" smtClean="0">
                          <a:latin typeface="Cambria Math" panose="02040503050406030204" pitchFamily="18" charset="0"/>
                        </a:rPr>
                        <m:t>′</m:t>
                      </m:r>
                    </m:oMath>
                  </m:oMathPara>
                </a14:m>
                <a:endParaRPr kumimoji="1" lang="ja-JP" altLang="en-US" dirty="0"/>
              </a:p>
            </p:txBody>
          </p:sp>
        </mc:Choice>
        <mc:Fallback xmlns="">
          <p:sp>
            <p:nvSpPr>
              <p:cNvPr id="11" name="テキスト ボックス 10">
                <a:extLst>
                  <a:ext uri="{FF2B5EF4-FFF2-40B4-BE49-F238E27FC236}">
                    <a16:creationId xmlns:a16="http://schemas.microsoft.com/office/drawing/2014/main" id="{FDD42DD6-C22D-958A-E06A-03D983768288}"/>
                  </a:ext>
                </a:extLst>
              </p:cNvPr>
              <p:cNvSpPr txBox="1">
                <a:spLocks noRot="1" noChangeAspect="1" noMove="1" noResize="1" noEditPoints="1" noAdjustHandles="1" noChangeArrowheads="1" noChangeShapeType="1" noTextEdit="1"/>
              </p:cNvSpPr>
              <p:nvPr/>
            </p:nvSpPr>
            <p:spPr>
              <a:xfrm>
                <a:off x="10111895" y="3600154"/>
                <a:ext cx="555165" cy="461665"/>
              </a:xfrm>
              <a:prstGeom prst="rect">
                <a:avLst/>
              </a:prstGeom>
              <a:blipFill>
                <a:blip r:embed="rId4"/>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34556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738C51-125D-ACD3-62BB-670A1B73055A}"/>
              </a:ext>
            </a:extLst>
          </p:cNvPr>
          <p:cNvSpPr>
            <a:spLocks noGrp="1"/>
          </p:cNvSpPr>
          <p:nvPr>
            <p:ph type="title"/>
          </p:nvPr>
        </p:nvSpPr>
        <p:spPr/>
        <p:txBody>
          <a:bodyPr/>
          <a:lstStyle/>
          <a:p>
            <a:r>
              <a:rPr kumimoji="1" lang="ja-JP" altLang="en-US" dirty="0"/>
              <a:t>まとめ</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BC2A02D-1C51-7C86-E8E5-3690C883E13D}"/>
                  </a:ext>
                </a:extLst>
              </p:cNvPr>
              <p:cNvSpPr>
                <a:spLocks noGrp="1"/>
              </p:cNvSpPr>
              <p:nvPr>
                <p:ph idx="1"/>
              </p:nvPr>
            </p:nvSpPr>
            <p:spPr>
              <a:xfrm>
                <a:off x="838200" y="1690688"/>
                <a:ext cx="10515600" cy="4351338"/>
              </a:xfrm>
            </p:spPr>
            <p:txBody>
              <a:bodyPr>
                <a:normAutofit/>
              </a:bodyPr>
              <a:lstStyle/>
              <a:p>
                <a:r>
                  <a:rPr kumimoji="1" lang="en-US" altLang="ja-JP" dirty="0"/>
                  <a:t>OMM</a:t>
                </a:r>
                <a:r>
                  <a:rPr kumimoji="1" lang="ja-JP" altLang="en-US" dirty="0"/>
                  <a:t>について</a:t>
                </a:r>
                <a:endParaRPr lang="en-US" altLang="ja-JP" dirty="0"/>
              </a:p>
              <a:p>
                <a:pPr lvl="1">
                  <a:buFont typeface="Wingdings" panose="05000000000000000000" pitchFamily="2" charset="2"/>
                  <a:buChar char="Ø"/>
                </a:pPr>
                <a:r>
                  <a:rPr lang="ja-JP" altLang="en-US" sz="2000" dirty="0"/>
                  <a:t>素朴な貪欲法の競合比は </a:t>
                </a:r>
                <a14:m>
                  <m:oMath xmlns:m="http://schemas.openxmlformats.org/officeDocument/2006/math">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2</m:t>
                        </m:r>
                      </m:e>
                      <m:sup>
                        <m:r>
                          <a:rPr lang="en-US" altLang="ja-JP" sz="2000" b="0" i="1" smtClean="0">
                            <a:latin typeface="Cambria Math" panose="02040503050406030204" pitchFamily="18" charset="0"/>
                          </a:rPr>
                          <m:t>𝑛</m:t>
                        </m:r>
                      </m:sup>
                    </m:sSup>
                    <m:r>
                      <a:rPr lang="en-US" altLang="ja-JP" sz="2000" b="0" i="1" smtClean="0">
                        <a:latin typeface="Cambria Math" panose="02040503050406030204" pitchFamily="18" charset="0"/>
                      </a:rPr>
                      <m:t>−1</m:t>
                    </m:r>
                  </m:oMath>
                </a14:m>
                <a:r>
                  <a:rPr kumimoji="1" lang="ja-JP" altLang="en-US" sz="2000" dirty="0"/>
                  <a:t> であまり良くない</a:t>
                </a:r>
                <a:endParaRPr kumimoji="1" lang="en-US" altLang="ja-JP" sz="2000" dirty="0"/>
              </a:p>
              <a:p>
                <a:pPr lvl="1">
                  <a:buFont typeface="Wingdings" panose="05000000000000000000" pitchFamily="2" charset="2"/>
                  <a:buChar char="Ø"/>
                </a:pPr>
                <a:r>
                  <a:rPr lang="en-US" altLang="ja-JP" sz="2000" dirty="0"/>
                  <a:t>Permutation </a:t>
                </a:r>
                <a:r>
                  <a:rPr lang="ja-JP" altLang="en-US" sz="2000" dirty="0"/>
                  <a:t>が最善の競合比 </a:t>
                </a:r>
                <a14:m>
                  <m:oMath xmlns:m="http://schemas.openxmlformats.org/officeDocument/2006/math">
                    <m:r>
                      <a:rPr lang="en-US" altLang="ja-JP" sz="2000" b="0" i="1" smtClean="0">
                        <a:latin typeface="Cambria Math" panose="02040503050406030204" pitchFamily="18" charset="0"/>
                      </a:rPr>
                      <m:t>2</m:t>
                    </m:r>
                    <m:r>
                      <a:rPr lang="en-US" altLang="ja-JP" sz="2000" b="0" i="1" smtClean="0">
                        <a:latin typeface="Cambria Math" panose="02040503050406030204" pitchFamily="18" charset="0"/>
                      </a:rPr>
                      <m:t>𝑛</m:t>
                    </m:r>
                    <m:r>
                      <a:rPr lang="en-US" altLang="ja-JP" sz="2000" b="0" i="1" smtClean="0">
                        <a:latin typeface="Cambria Math" panose="02040503050406030204" pitchFamily="18" charset="0"/>
                      </a:rPr>
                      <m:t>−1</m:t>
                    </m:r>
                  </m:oMath>
                </a14:m>
                <a:r>
                  <a:rPr kumimoji="1" lang="ja-JP" altLang="en-US" sz="2000" dirty="0"/>
                  <a:t> を達成</a:t>
                </a:r>
                <a:endParaRPr kumimoji="1" lang="en-US" altLang="ja-JP" sz="2000" dirty="0"/>
              </a:p>
              <a:p>
                <a:pPr lvl="1">
                  <a:buFont typeface="Wingdings" panose="05000000000000000000" pitchFamily="2" charset="2"/>
                  <a:buChar char="Ø"/>
                </a:pPr>
                <a:r>
                  <a:rPr kumimoji="1" lang="ja-JP" altLang="en-US" sz="2000" dirty="0"/>
                  <a:t>「使用中のサーバ集合」を</a:t>
                </a:r>
                <a:r>
                  <a:rPr kumimoji="1" lang="en-US" altLang="ja-JP" sz="2000" dirty="0"/>
                  <a:t>OPT</a:t>
                </a:r>
                <a:r>
                  <a:rPr kumimoji="1" lang="ja-JP" altLang="en-US" sz="2000" dirty="0"/>
                  <a:t>と揃えることが重要</a:t>
                </a:r>
                <a:endParaRPr kumimoji="1" lang="en-US" altLang="ja-JP" sz="2000" dirty="0"/>
              </a:p>
              <a:p>
                <a:r>
                  <a:rPr lang="en-US" altLang="ja-JP" dirty="0"/>
                  <a:t>OMM</a:t>
                </a:r>
                <a:r>
                  <a:rPr lang="ja-JP" altLang="en-US" dirty="0"/>
                  <a:t>には様々な拡張がある</a:t>
                </a:r>
                <a:endParaRPr lang="en-US" altLang="ja-JP" dirty="0"/>
              </a:p>
              <a:p>
                <a:r>
                  <a:rPr lang="ja-JP" altLang="en-US" dirty="0"/>
                  <a:t>オンライン輸送問題について</a:t>
                </a:r>
                <a:endParaRPr lang="en-US" altLang="ja-JP" dirty="0"/>
              </a:p>
              <a:p>
                <a:pPr lvl="1">
                  <a:buFont typeface="Wingdings" panose="05000000000000000000" pitchFamily="2" charset="2"/>
                  <a:buChar char="Ø"/>
                </a:pPr>
                <a:r>
                  <a:rPr kumimoji="1" lang="ja-JP" altLang="en-US" sz="2000" dirty="0"/>
                  <a:t>サーバが容量を持つ</a:t>
                </a:r>
                <a:endParaRPr kumimoji="1" lang="en-US" altLang="ja-JP" sz="2000" dirty="0"/>
              </a:p>
              <a:p>
                <a:pPr lvl="1">
                  <a:buFont typeface="Wingdings" panose="05000000000000000000" pitchFamily="2" charset="2"/>
                  <a:buChar char="Ø"/>
                </a:pPr>
                <a:r>
                  <a:rPr kumimoji="1" lang="ja-JP" altLang="en-US" sz="2000" dirty="0"/>
                  <a:t>総容量ではなくサーバ数に関する競合比を考える</a:t>
                </a:r>
                <a:endParaRPr kumimoji="1" lang="en-US" altLang="ja-JP" sz="2000" dirty="0"/>
              </a:p>
              <a:p>
                <a:pPr lvl="1">
                  <a:buFont typeface="Wingdings" panose="05000000000000000000" pitchFamily="2" charset="2"/>
                  <a:buChar char="Ø"/>
                </a:pPr>
                <a14:m>
                  <m:oMath xmlns:m="http://schemas.openxmlformats.org/officeDocument/2006/math">
                    <m:r>
                      <a:rPr kumimoji="1" lang="en-US" altLang="ja-JP" sz="2000" b="0" i="1" smtClean="0">
                        <a:latin typeface="Cambria Math" panose="02040503050406030204" pitchFamily="18" charset="0"/>
                      </a:rPr>
                      <m:t>𝑂</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𝑚</m:t>
                    </m:r>
                    <m:r>
                      <a:rPr kumimoji="1" lang="en-US" altLang="ja-JP" sz="2000" b="0" i="1" smtClean="0">
                        <a:latin typeface="Cambria Math" panose="02040503050406030204" pitchFamily="18" charset="0"/>
                      </a:rPr>
                      <m:t>)</m:t>
                    </m:r>
                  </m:oMath>
                </a14:m>
                <a:r>
                  <a:rPr kumimoji="1" lang="en-US" altLang="ja-JP" sz="2000" dirty="0"/>
                  <a:t>-</a:t>
                </a:r>
                <a:r>
                  <a:rPr kumimoji="1" lang="ja-JP" altLang="en-US" sz="2000" dirty="0"/>
                  <a:t>競合的なアルゴリズムが存在</a:t>
                </a:r>
                <a:endParaRPr kumimoji="1" lang="en-US" altLang="ja-JP" sz="2000" dirty="0"/>
              </a:p>
              <a:p>
                <a:pPr lvl="1">
                  <a:buFont typeface="Wingdings" panose="05000000000000000000" pitchFamily="2" charset="2"/>
                  <a:buChar char="Ø"/>
                </a:pPr>
                <a:r>
                  <a:rPr lang="en-US" altLang="ja-JP" sz="2000" dirty="0"/>
                  <a:t>Permutation</a:t>
                </a:r>
                <a:r>
                  <a:rPr lang="ja-JP" altLang="en-US" sz="2000" dirty="0"/>
                  <a:t>や貪欲法では上手くいかないが木での単純な</a:t>
                </a:r>
                <a:r>
                  <a:rPr lang="en-US" altLang="ja-JP" sz="2000" dirty="0"/>
                  <a:t>DFS</a:t>
                </a:r>
                <a:r>
                  <a:rPr lang="ja-JP" altLang="en-US" sz="2000" dirty="0"/>
                  <a:t>アルゴリズムを拡張すると上手くいく</a:t>
                </a:r>
                <a:endParaRPr kumimoji="1" lang="ja-JP" altLang="en-US" sz="2000" dirty="0"/>
              </a:p>
            </p:txBody>
          </p:sp>
        </mc:Choice>
        <mc:Fallback xmlns="">
          <p:sp>
            <p:nvSpPr>
              <p:cNvPr id="3" name="コンテンツ プレースホルダー 2">
                <a:extLst>
                  <a:ext uri="{FF2B5EF4-FFF2-40B4-BE49-F238E27FC236}">
                    <a16:creationId xmlns:a16="http://schemas.microsoft.com/office/drawing/2014/main" id="{DBC2A02D-1C51-7C86-E8E5-3690C883E13D}"/>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2"/>
                <a:stretch>
                  <a:fillRect l="-1043" t="-25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AF6C7D2E-D122-5267-AA15-BC1D3CD99566}"/>
              </a:ext>
            </a:extLst>
          </p:cNvPr>
          <p:cNvSpPr>
            <a:spLocks noGrp="1"/>
          </p:cNvSpPr>
          <p:nvPr>
            <p:ph type="sldNum" sz="quarter" idx="12"/>
          </p:nvPr>
        </p:nvSpPr>
        <p:spPr/>
        <p:txBody>
          <a:bodyPr/>
          <a:lstStyle/>
          <a:p>
            <a:fld id="{4B077F3A-4098-4199-8925-77865D1E3500}" type="slidenum">
              <a:rPr kumimoji="1" lang="ja-JP" altLang="en-US" smtClean="0"/>
              <a:t>30</a:t>
            </a:fld>
            <a:endParaRPr kumimoji="1" lang="ja-JP" altLang="en-US"/>
          </a:p>
        </p:txBody>
      </p:sp>
    </p:spTree>
    <p:extLst>
      <p:ext uri="{BB962C8B-B14F-4D97-AF65-F5344CB8AC3E}">
        <p14:creationId xmlns:p14="http://schemas.microsoft.com/office/powerpoint/2010/main" val="3062464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64A222-FB54-2FDD-700B-B72695EBE7F5}"/>
              </a:ext>
            </a:extLst>
          </p:cNvPr>
          <p:cNvSpPr>
            <a:spLocks noGrp="1"/>
          </p:cNvSpPr>
          <p:nvPr>
            <p:ph type="title"/>
          </p:nvPr>
        </p:nvSpPr>
        <p:spPr/>
        <p:txBody>
          <a:bodyPr/>
          <a:lstStyle/>
          <a:p>
            <a:r>
              <a:rPr kumimoji="1" lang="ja-JP" altLang="en-US" dirty="0"/>
              <a:t>以下補足</a:t>
            </a:r>
          </a:p>
        </p:txBody>
      </p:sp>
      <p:sp>
        <p:nvSpPr>
          <p:cNvPr id="3" name="コンテンツ プレースホルダー 2">
            <a:extLst>
              <a:ext uri="{FF2B5EF4-FFF2-40B4-BE49-F238E27FC236}">
                <a16:creationId xmlns:a16="http://schemas.microsoft.com/office/drawing/2014/main" id="{04EDFEC8-3B5C-E674-5C87-E0FFEDA1B5BE}"/>
              </a:ext>
            </a:extLst>
          </p:cNvPr>
          <p:cNvSpPr>
            <a:spLocks noGrp="1"/>
          </p:cNvSpPr>
          <p:nvPr>
            <p:ph idx="1"/>
          </p:nvPr>
        </p:nvSpPr>
        <p:spPr/>
        <p:txBody>
          <a:bodyPr/>
          <a:lstStyle/>
          <a:p>
            <a:pPr marL="0" indent="0">
              <a:buNone/>
            </a:pPr>
            <a:r>
              <a:rPr kumimoji="1" lang="ja-JP" altLang="en-US" dirty="0"/>
              <a:t>これ以降は補足スライド</a:t>
            </a:r>
          </a:p>
        </p:txBody>
      </p:sp>
      <p:sp>
        <p:nvSpPr>
          <p:cNvPr id="4" name="スライド番号プレースホルダー 3">
            <a:extLst>
              <a:ext uri="{FF2B5EF4-FFF2-40B4-BE49-F238E27FC236}">
                <a16:creationId xmlns:a16="http://schemas.microsoft.com/office/drawing/2014/main" id="{3E0E9546-E81B-1DAA-0794-95BF560850F2}"/>
              </a:ext>
            </a:extLst>
          </p:cNvPr>
          <p:cNvSpPr>
            <a:spLocks noGrp="1"/>
          </p:cNvSpPr>
          <p:nvPr>
            <p:ph type="sldNum" sz="quarter" idx="12"/>
          </p:nvPr>
        </p:nvSpPr>
        <p:spPr/>
        <p:txBody>
          <a:bodyPr/>
          <a:lstStyle/>
          <a:p>
            <a:fld id="{4B077F3A-4098-4199-8925-77865D1E3500}" type="slidenum">
              <a:rPr kumimoji="1" lang="ja-JP" altLang="en-US" smtClean="0"/>
              <a:t>31</a:t>
            </a:fld>
            <a:endParaRPr kumimoji="1" lang="ja-JP" altLang="en-US"/>
          </a:p>
        </p:txBody>
      </p:sp>
    </p:spTree>
    <p:extLst>
      <p:ext uri="{BB962C8B-B14F-4D97-AF65-F5344CB8AC3E}">
        <p14:creationId xmlns:p14="http://schemas.microsoft.com/office/powerpoint/2010/main" val="2768123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50C92C-ACF3-18C9-8DA4-0BF8DCDFBC55}"/>
              </a:ext>
            </a:extLst>
          </p:cNvPr>
          <p:cNvSpPr>
            <a:spLocks noGrp="1"/>
          </p:cNvSpPr>
          <p:nvPr>
            <p:ph type="title"/>
          </p:nvPr>
        </p:nvSpPr>
        <p:spPr/>
        <p:txBody>
          <a:bodyPr/>
          <a:lstStyle/>
          <a:p>
            <a:r>
              <a:rPr lang="en-US" altLang="ja-JP" dirty="0"/>
              <a:t>Permutation</a:t>
            </a:r>
            <a:r>
              <a:rPr lang="ja-JP" altLang="en-US" dirty="0"/>
              <a:t> の準備：増加道法</a:t>
            </a:r>
            <a:endParaRPr kumimoji="1" lang="ja-JP" altLang="en-US" dirty="0"/>
          </a:p>
        </p:txBody>
      </p:sp>
      <p:sp>
        <p:nvSpPr>
          <p:cNvPr id="3" name="コンテンツ プレースホルダー 2">
            <a:extLst>
              <a:ext uri="{FF2B5EF4-FFF2-40B4-BE49-F238E27FC236}">
                <a16:creationId xmlns:a16="http://schemas.microsoft.com/office/drawing/2014/main" id="{3D80F277-CD88-E1F3-A02C-63567D11B4C3}"/>
              </a:ext>
            </a:extLst>
          </p:cNvPr>
          <p:cNvSpPr>
            <a:spLocks noGrp="1"/>
          </p:cNvSpPr>
          <p:nvPr>
            <p:ph idx="1"/>
          </p:nvPr>
        </p:nvSpPr>
        <p:spPr>
          <a:xfrm>
            <a:off x="838200" y="1825625"/>
            <a:ext cx="10515600" cy="501939"/>
          </a:xfrm>
        </p:spPr>
        <p:txBody>
          <a:bodyPr>
            <a:normAutofit/>
          </a:bodyPr>
          <a:lstStyle/>
          <a:p>
            <a:pPr marL="0" indent="0">
              <a:buNone/>
            </a:pPr>
            <a:r>
              <a:rPr lang="ja-JP" altLang="en-US" sz="2400" dirty="0"/>
              <a:t>付け替えが許される場合に，逐次的に最適割り当てを求める手法</a:t>
            </a:r>
            <a:endParaRPr lang="en-US" altLang="ja-JP" sz="2400" dirty="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1B84DB19-AC5D-FDEF-EEC0-9B3B56160A09}"/>
                  </a:ext>
                </a:extLst>
              </p:cNvPr>
              <p:cNvSpPr txBox="1"/>
              <p:nvPr/>
            </p:nvSpPr>
            <p:spPr>
              <a:xfrm>
                <a:off x="5347854" y="6012872"/>
                <a:ext cx="4036291" cy="369332"/>
              </a:xfrm>
              <a:prstGeom prst="rect">
                <a:avLst/>
              </a:prstGeom>
              <a:noFill/>
            </p:spPr>
            <p:txBody>
              <a:bodyPr wrap="square" rtlCol="0">
                <a:spAutoFit/>
              </a:bodyPr>
              <a:lstStyle/>
              <a:p>
                <a:r>
                  <a:rPr kumimoji="1" lang="ja-JP" altLang="en-US" dirty="0"/>
                  <a:t>対称差：</a:t>
                </a:r>
                <a14:m>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e>
                    </m:d>
                    <m:r>
                      <a:rPr kumimoji="1" lang="en-US" altLang="ja-JP" b="0" i="1" smtClean="0">
                        <a:latin typeface="Cambria Math" panose="02040503050406030204" pitchFamily="18" charset="0"/>
                      </a:rPr>
                      <m:t>∪</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e>
                    </m:d>
                  </m:oMath>
                </a14:m>
                <a:endParaRPr kumimoji="1" lang="ja-JP" altLang="en-US" dirty="0"/>
              </a:p>
            </p:txBody>
          </p:sp>
        </mc:Choice>
        <mc:Fallback xmlns="">
          <p:sp>
            <p:nvSpPr>
              <p:cNvPr id="8" name="テキスト ボックス 7">
                <a:extLst>
                  <a:ext uri="{FF2B5EF4-FFF2-40B4-BE49-F238E27FC236}">
                    <a16:creationId xmlns:a16="http://schemas.microsoft.com/office/drawing/2014/main" id="{1B84DB19-AC5D-FDEF-EEC0-9B3B56160A09}"/>
                  </a:ext>
                </a:extLst>
              </p:cNvPr>
              <p:cNvSpPr txBox="1">
                <a:spLocks noRot="1" noChangeAspect="1" noMove="1" noResize="1" noEditPoints="1" noAdjustHandles="1" noChangeArrowheads="1" noChangeShapeType="1" noTextEdit="1"/>
              </p:cNvSpPr>
              <p:nvPr/>
            </p:nvSpPr>
            <p:spPr>
              <a:xfrm>
                <a:off x="5347854" y="6012872"/>
                <a:ext cx="4036291" cy="369332"/>
              </a:xfrm>
              <a:prstGeom prst="rect">
                <a:avLst/>
              </a:prstGeom>
              <a:blipFill>
                <a:blip r:embed="rId2"/>
                <a:stretch>
                  <a:fillRect l="-1208" t="-4918" b="-2786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3FA11AEE-1697-D535-0C14-F4DDEE7A6361}"/>
                  </a:ext>
                </a:extLst>
              </p:cNvPr>
              <p:cNvSpPr txBox="1"/>
              <p:nvPr/>
            </p:nvSpPr>
            <p:spPr>
              <a:xfrm>
                <a:off x="838200" y="2525056"/>
                <a:ext cx="10515600" cy="3290324"/>
              </a:xfrm>
              <a:prstGeom prst="rect">
                <a:avLst/>
              </a:prstGeom>
              <a:solidFill>
                <a:schemeClr val="accent4">
                  <a:lumMod val="20000"/>
                  <a:lumOff val="80000"/>
                </a:schemeClr>
              </a:solidFill>
            </p:spPr>
            <p:txBody>
              <a:bodyPr wrap="square" rtlCol="0">
                <a:spAutoFit/>
              </a:bodyPr>
              <a:lstStyle/>
              <a:p>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𝑟</m:t>
                        </m:r>
                      </m:e>
                      <m:sub>
                        <m:r>
                          <a:rPr lang="en-US" altLang="ja-JP" sz="2400" i="1">
                            <a:latin typeface="Cambria Math" panose="02040503050406030204" pitchFamily="18" charset="0"/>
                          </a:rPr>
                          <m:t>1</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𝑟</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Sub>
                  </m:oMath>
                </a14:m>
                <a:r>
                  <a:rPr lang="en-US" altLang="ja-JP" sz="2400" dirty="0"/>
                  <a:t> </a:t>
                </a:r>
                <a:r>
                  <a:rPr lang="ja-JP" altLang="en-US" sz="2400" dirty="0"/>
                  <a:t>の最適マッチング </a:t>
                </a:r>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oMath>
                </a14:m>
                <a:r>
                  <a:rPr lang="en-US" altLang="ja-JP" sz="2400" dirty="0"/>
                  <a:t> </a:t>
                </a:r>
                <a:r>
                  <a:rPr lang="ja-JP" altLang="en-US" sz="2400" dirty="0"/>
                  <a:t>が求まっているとするとき，</a:t>
                </a:r>
                <a:endParaRPr lang="en-US" altLang="ja-JP" sz="2400" dirty="0"/>
              </a:p>
              <a:p>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𝑟</m:t>
                        </m:r>
                      </m:e>
                      <m:sub>
                        <m:r>
                          <a:rPr lang="en-US" altLang="ja-JP" sz="2400" i="1">
                            <a:latin typeface="Cambria Math" panose="02040503050406030204" pitchFamily="18" charset="0"/>
                          </a:rPr>
                          <m:t>1</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𝑟</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𝑟</m:t>
                        </m:r>
                      </m:e>
                      <m:sub>
                        <m:r>
                          <a:rPr lang="en-US" altLang="ja-JP" sz="2400" i="1">
                            <a:latin typeface="Cambria Math" panose="02040503050406030204" pitchFamily="18" charset="0"/>
                          </a:rPr>
                          <m:t>𝑖</m:t>
                        </m:r>
                      </m:sub>
                    </m:sSub>
                  </m:oMath>
                </a14:m>
                <a:r>
                  <a:rPr lang="en-US" altLang="ja-JP" sz="2400" dirty="0"/>
                  <a:t> </a:t>
                </a:r>
                <a:r>
                  <a:rPr lang="ja-JP" altLang="en-US" sz="2400" dirty="0"/>
                  <a:t>の最適マッチング </a:t>
                </a:r>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sub>
                      <m:sup>
                        <m:r>
                          <a:rPr lang="en-US" altLang="ja-JP" sz="2400" i="1">
                            <a:latin typeface="Cambria Math" panose="02040503050406030204" pitchFamily="18" charset="0"/>
                          </a:rPr>
                          <m:t>∗</m:t>
                        </m:r>
                      </m:sup>
                    </m:sSubSup>
                  </m:oMath>
                </a14:m>
                <a:r>
                  <a:rPr lang="en-US" altLang="ja-JP" sz="2400" dirty="0"/>
                  <a:t> </a:t>
                </a:r>
                <a:r>
                  <a:rPr lang="ja-JP" altLang="en-US" sz="2400" dirty="0"/>
                  <a:t>は次のように求められる：</a:t>
                </a:r>
                <a:endParaRPr lang="en-US" altLang="ja-JP" sz="2400" dirty="0"/>
              </a:p>
              <a:p>
                <a:endParaRPr lang="en-US" altLang="ja-JP" sz="2400" dirty="0"/>
              </a:p>
              <a:p>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𝑟</m:t>
                        </m:r>
                      </m:e>
                      <m:sub>
                        <m:r>
                          <a:rPr lang="en-US" altLang="ja-JP" sz="2400" i="1">
                            <a:latin typeface="Cambria Math" panose="02040503050406030204" pitchFamily="18" charset="0"/>
                          </a:rPr>
                          <m:t>𝑖</m:t>
                        </m:r>
                      </m:sub>
                    </m:sSub>
                  </m:oMath>
                </a14:m>
                <a:r>
                  <a:rPr lang="en-US" altLang="ja-JP" sz="2400" dirty="0"/>
                  <a:t> </a:t>
                </a:r>
                <a:r>
                  <a:rPr lang="ja-JP" altLang="en-US" sz="2400" dirty="0"/>
                  <a:t>から始まって </a:t>
                </a:r>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oMath>
                </a14:m>
                <a:r>
                  <a:rPr lang="en-US" altLang="ja-JP" sz="2400" dirty="0"/>
                  <a:t> </a:t>
                </a:r>
                <a:r>
                  <a:rPr lang="ja-JP" altLang="en-US" sz="2400" dirty="0"/>
                  <a:t>に含まれる辺とそうでない辺を交互に通りながら未使用のサーバ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𝑠</m:t>
                        </m:r>
                      </m:e>
                      <m:sub>
                        <m:r>
                          <a:rPr lang="en-US" altLang="ja-JP" sz="2400" i="1">
                            <a:latin typeface="Cambria Math" panose="02040503050406030204" pitchFamily="18" charset="0"/>
                          </a:rPr>
                          <m:t>𝑖</m:t>
                        </m:r>
                      </m:sub>
                    </m:sSub>
                  </m:oMath>
                </a14:m>
                <a:r>
                  <a:rPr lang="en-US" altLang="ja-JP" sz="2400" dirty="0"/>
                  <a:t> </a:t>
                </a:r>
                <a:r>
                  <a:rPr lang="ja-JP" altLang="en-US" sz="2400" dirty="0"/>
                  <a:t>で終わるパス（増加道）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oMath>
                </a14:m>
                <a:r>
                  <a:rPr lang="en-US" altLang="ja-JP" sz="2400" dirty="0"/>
                  <a:t> </a:t>
                </a:r>
                <a:r>
                  <a:rPr lang="ja-JP" altLang="en-US" sz="2400" dirty="0"/>
                  <a:t>の中で</a:t>
                </a:r>
                <a:endParaRPr lang="en-US" altLang="ja-JP" sz="2400" dirty="0"/>
              </a:p>
              <a:p>
                <a:pPr/>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𝜙</m:t>
                      </m:r>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e>
                      </m:d>
                      <m:r>
                        <a:rPr lang="en-US" altLang="ja-JP" sz="2400" i="1">
                          <a:latin typeface="Cambria Math" panose="02040503050406030204" pitchFamily="18" charset="0"/>
                        </a:rPr>
                        <m:t>≔</m:t>
                      </m:r>
                      <m:nary>
                        <m:naryPr>
                          <m:chr m:val="∑"/>
                          <m:supHide m:val="on"/>
                          <m:ctrlPr>
                            <a:rPr lang="en-US" altLang="ja-JP" sz="2400" i="1">
                              <a:latin typeface="Cambria Math" panose="02040503050406030204" pitchFamily="18" charset="0"/>
                            </a:rPr>
                          </m:ctrlPr>
                        </m:naryPr>
                        <m: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e>
                          </m:d>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r>
                            <a:rPr lang="en-US" altLang="ja-JP" sz="2400" i="1">
                              <a:latin typeface="Cambria Math" panose="02040503050406030204" pitchFamily="18" charset="0"/>
                            </a:rPr>
                            <m:t>∖</m:t>
                          </m:r>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sub>
                        <m:sup/>
                        <m:e>
                          <m:r>
                            <a:rPr lang="en-US" altLang="ja-JP" sz="2400" i="1">
                              <a:latin typeface="Cambria Math" panose="02040503050406030204" pitchFamily="18" charset="0"/>
                            </a:rPr>
                            <m:t>𝑑</m:t>
                          </m:r>
                          <m:r>
                            <a:rPr lang="en-US" altLang="ja-JP" sz="2400" i="1">
                              <a:latin typeface="Cambria Math" panose="02040503050406030204" pitchFamily="18" charset="0"/>
                            </a:rPr>
                            <m:t>(</m:t>
                          </m:r>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r>
                            <a:rPr lang="en-US" altLang="ja-JP" sz="2400" i="1">
                              <a:latin typeface="Cambria Math" panose="02040503050406030204" pitchFamily="18" charset="0"/>
                            </a:rPr>
                            <m:t>)</m:t>
                          </m:r>
                        </m:e>
                      </m:nary>
                      <m:r>
                        <a:rPr lang="en-US" altLang="ja-JP" sz="2400" i="1">
                          <a:latin typeface="Cambria Math" panose="02040503050406030204" pitchFamily="18" charset="0"/>
                        </a:rPr>
                        <m:t>−</m:t>
                      </m:r>
                      <m:nary>
                        <m:naryPr>
                          <m:chr m:val="∑"/>
                          <m:supHide m:val="on"/>
                          <m:ctrlPr>
                            <a:rPr lang="en-US" altLang="ja-JP" sz="2400" i="1">
                              <a:latin typeface="Cambria Math" panose="02040503050406030204" pitchFamily="18" charset="0"/>
                            </a:rPr>
                          </m:ctrlPr>
                        </m:naryPr>
                        <m: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e>
                          </m:d>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r>
                            <a:rPr lang="en-US" altLang="ja-JP" sz="2400" i="1">
                              <a:latin typeface="Cambria Math" panose="02040503050406030204" pitchFamily="18" charset="0"/>
                            </a:rPr>
                            <m:t>∩</m:t>
                          </m:r>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sub>
                        <m:sup/>
                        <m:e>
                          <m:r>
                            <a:rPr lang="en-US" altLang="ja-JP" sz="2400" i="1">
                              <a:latin typeface="Cambria Math" panose="02040503050406030204" pitchFamily="18" charset="0"/>
                            </a:rPr>
                            <m:t>𝑑</m:t>
                          </m:r>
                          <m:r>
                            <a:rPr lang="en-US" altLang="ja-JP" sz="2400" i="1">
                              <a:latin typeface="Cambria Math" panose="02040503050406030204" pitchFamily="18" charset="0"/>
                            </a:rPr>
                            <m:t>(</m:t>
                          </m:r>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r>
                            <a:rPr lang="en-US" altLang="ja-JP" sz="2400" i="1">
                              <a:latin typeface="Cambria Math" panose="02040503050406030204" pitchFamily="18" charset="0"/>
                            </a:rPr>
                            <m:t>)</m:t>
                          </m:r>
                        </m:e>
                      </m:nary>
                    </m:oMath>
                  </m:oMathPara>
                </a14:m>
                <a:endParaRPr lang="en-US" altLang="ja-JP" sz="2400" dirty="0"/>
              </a:p>
              <a:p>
                <a:r>
                  <a:rPr lang="ja-JP" altLang="en-US" sz="2400" dirty="0"/>
                  <a:t>を最小化するものを求め，</a:t>
                </a:r>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sub>
                      <m:sup>
                        <m:r>
                          <a:rPr lang="en-US" altLang="ja-JP" sz="2400" i="1">
                            <a:latin typeface="Cambria Math" panose="02040503050406030204" pitchFamily="18" charset="0"/>
                          </a:rPr>
                          <m:t>∗</m:t>
                        </m:r>
                      </m:sup>
                    </m:sSubSup>
                    <m:r>
                      <a:rPr lang="en-US" altLang="ja-JP" sz="2400" i="1">
                        <a:latin typeface="Cambria Math" panose="02040503050406030204" pitchFamily="18" charset="0"/>
                      </a:rPr>
                      <m:t>≔</m:t>
                    </m:r>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oMath>
                </a14:m>
                <a:r>
                  <a:rPr lang="en-US" altLang="ja-JP" sz="2400" dirty="0"/>
                  <a:t> </a:t>
                </a:r>
                <a:r>
                  <a:rPr lang="ja-JP" altLang="en-US" sz="2400" dirty="0"/>
                  <a:t>とする</a:t>
                </a:r>
                <a:endParaRPr lang="en-US" altLang="ja-JP" sz="2400" dirty="0"/>
              </a:p>
            </p:txBody>
          </p:sp>
        </mc:Choice>
        <mc:Fallback xmlns="">
          <p:sp>
            <p:nvSpPr>
              <p:cNvPr id="9" name="テキスト ボックス 8">
                <a:extLst>
                  <a:ext uri="{FF2B5EF4-FFF2-40B4-BE49-F238E27FC236}">
                    <a16:creationId xmlns:a16="http://schemas.microsoft.com/office/drawing/2014/main" id="{3FA11AEE-1697-D535-0C14-F4DDEE7A6361}"/>
                  </a:ext>
                </a:extLst>
              </p:cNvPr>
              <p:cNvSpPr txBox="1">
                <a:spLocks noRot="1" noChangeAspect="1" noMove="1" noResize="1" noEditPoints="1" noAdjustHandles="1" noChangeArrowheads="1" noChangeShapeType="1" noTextEdit="1"/>
              </p:cNvSpPr>
              <p:nvPr/>
            </p:nvSpPr>
            <p:spPr>
              <a:xfrm>
                <a:off x="838200" y="2525056"/>
                <a:ext cx="10515600" cy="3290324"/>
              </a:xfrm>
              <a:prstGeom prst="rect">
                <a:avLst/>
              </a:prstGeom>
              <a:blipFill>
                <a:blip r:embed="rId3"/>
                <a:stretch>
                  <a:fillRect l="-928" t="-1111" b="-3519"/>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D4D31330-A90C-97C4-C9CD-5349F2907846}"/>
              </a:ext>
            </a:extLst>
          </p:cNvPr>
          <p:cNvSpPr>
            <a:spLocks noGrp="1"/>
          </p:cNvSpPr>
          <p:nvPr>
            <p:ph type="sldNum" sz="quarter" idx="12"/>
          </p:nvPr>
        </p:nvSpPr>
        <p:spPr/>
        <p:txBody>
          <a:bodyPr/>
          <a:lstStyle/>
          <a:p>
            <a:fld id="{4B077F3A-4098-4199-8925-77865D1E3500}" type="slidenum">
              <a:rPr kumimoji="1" lang="ja-JP" altLang="en-US" smtClean="0"/>
              <a:t>32</a:t>
            </a:fld>
            <a:endParaRPr kumimoji="1" lang="ja-JP" altLang="en-US"/>
          </a:p>
        </p:txBody>
      </p:sp>
    </p:spTree>
    <p:extLst>
      <p:ext uri="{BB962C8B-B14F-4D97-AF65-F5344CB8AC3E}">
        <p14:creationId xmlns:p14="http://schemas.microsoft.com/office/powerpoint/2010/main" val="514084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008878-E03E-51CB-1964-73851F1985D5}"/>
              </a:ext>
            </a:extLst>
          </p:cNvPr>
          <p:cNvSpPr>
            <a:spLocks noGrp="1"/>
          </p:cNvSpPr>
          <p:nvPr>
            <p:ph type="title"/>
          </p:nvPr>
        </p:nvSpPr>
        <p:spPr/>
        <p:txBody>
          <a:bodyPr/>
          <a:lstStyle/>
          <a:p>
            <a:r>
              <a:rPr kumimoji="1" lang="ja-JP" altLang="en-US" dirty="0"/>
              <a:t>増加道法のイメージ１</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AC26FA4-73BA-023D-67FD-1CA8A07F1276}"/>
                  </a:ext>
                </a:extLst>
              </p:cNvPr>
              <p:cNvSpPr>
                <a:spLocks noGrp="1"/>
              </p:cNvSpPr>
              <p:nvPr>
                <p:ph idx="1"/>
              </p:nvPr>
            </p:nvSpPr>
            <p:spPr>
              <a:xfrm>
                <a:off x="838200" y="1825625"/>
                <a:ext cx="10515600" cy="899102"/>
              </a:xfrm>
            </p:spPr>
            <p:txBody>
              <a:bodyPr>
                <a:normAutofit/>
              </a:bodyPr>
              <a:lstStyle/>
              <a:p>
                <a:r>
                  <a:rPr kumimoji="1" lang="ja-JP" altLang="en-US" sz="2400" dirty="0"/>
                  <a:t>最適マッチング </a:t>
                </a: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oMath>
                </a14:m>
                <a:r>
                  <a:rPr kumimoji="1" lang="ja-JP" altLang="en-US" sz="2400" dirty="0"/>
                  <a:t> が与えられて，新しいリクエスト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5</m:t>
                        </m:r>
                      </m:sub>
                    </m:sSub>
                  </m:oMath>
                </a14:m>
                <a:r>
                  <a:rPr kumimoji="1" lang="ja-JP" altLang="en-US" sz="2400" dirty="0"/>
                  <a:t> を受け取った</a:t>
                </a:r>
              </a:p>
            </p:txBody>
          </p:sp>
        </mc:Choice>
        <mc:Fallback xmlns="">
          <p:sp>
            <p:nvSpPr>
              <p:cNvPr id="3" name="コンテンツ プレースホルダー 2">
                <a:extLst>
                  <a:ext uri="{FF2B5EF4-FFF2-40B4-BE49-F238E27FC236}">
                    <a16:creationId xmlns:a16="http://schemas.microsoft.com/office/drawing/2014/main" id="{DAC26FA4-73BA-023D-67FD-1CA8A07F1276}"/>
                  </a:ext>
                </a:extLst>
              </p:cNvPr>
              <p:cNvSpPr>
                <a:spLocks noGrp="1" noRot="1" noChangeAspect="1" noMove="1" noResize="1" noEditPoints="1" noAdjustHandles="1" noChangeArrowheads="1" noChangeShapeType="1" noTextEdit="1"/>
              </p:cNvSpPr>
              <p:nvPr>
                <p:ph idx="1"/>
              </p:nvPr>
            </p:nvSpPr>
            <p:spPr>
              <a:xfrm>
                <a:off x="838200" y="1825625"/>
                <a:ext cx="10515600" cy="899102"/>
              </a:xfrm>
              <a:blipFill>
                <a:blip r:embed="rId2"/>
                <a:stretch>
                  <a:fillRect l="-812" t="-8784"/>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BB0E5675-5FBE-0639-FA20-71236E91A4F6}"/>
              </a:ext>
            </a:extLst>
          </p:cNvPr>
          <p:cNvSpPr/>
          <p:nvPr/>
        </p:nvSpPr>
        <p:spPr>
          <a:xfrm>
            <a:off x="4952834" y="446204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DD67749B-77EF-0998-E2FD-4A6BA6336D64}"/>
              </a:ext>
            </a:extLst>
          </p:cNvPr>
          <p:cNvSpPr/>
          <p:nvPr/>
        </p:nvSpPr>
        <p:spPr>
          <a:xfrm>
            <a:off x="3051379" y="4061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6C049415-E203-4F8A-2C18-CA84DD6555F5}"/>
              </a:ext>
            </a:extLst>
          </p:cNvPr>
          <p:cNvCxnSpPr>
            <a:cxnSpLocks/>
          </p:cNvCxnSpPr>
          <p:nvPr/>
        </p:nvCxnSpPr>
        <p:spPr>
          <a:xfrm>
            <a:off x="4106942" y="412588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B263432E-22B0-B2BD-B238-46C48EA85CFA}"/>
              </a:ext>
            </a:extLst>
          </p:cNvPr>
          <p:cNvCxnSpPr>
            <a:cxnSpLocks/>
          </p:cNvCxnSpPr>
          <p:nvPr/>
        </p:nvCxnSpPr>
        <p:spPr>
          <a:xfrm flipH="1" flipV="1">
            <a:off x="3195379" y="4205274"/>
            <a:ext cx="845892" cy="56841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B6EA91BA-25C3-BB69-CF2E-9EB303D4F709}"/>
              </a:ext>
            </a:extLst>
          </p:cNvPr>
          <p:cNvCxnSpPr>
            <a:cxnSpLocks/>
            <a:endCxn id="4" idx="6"/>
          </p:cNvCxnSpPr>
          <p:nvPr/>
        </p:nvCxnSpPr>
        <p:spPr>
          <a:xfrm flipH="1">
            <a:off x="5096834" y="4382200"/>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D9F70165-E763-5555-873A-878596058989}"/>
              </a:ext>
            </a:extLst>
          </p:cNvPr>
          <p:cNvCxnSpPr>
            <a:cxnSpLocks/>
          </p:cNvCxnSpPr>
          <p:nvPr/>
        </p:nvCxnSpPr>
        <p:spPr>
          <a:xfrm>
            <a:off x="5995778" y="367519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A425B102-25D2-C077-2883-5F0EFD2D5B3E}"/>
              </a:ext>
            </a:extLst>
          </p:cNvPr>
          <p:cNvSpPr/>
          <p:nvPr/>
        </p:nvSpPr>
        <p:spPr>
          <a:xfrm>
            <a:off x="5253016" y="538106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17FAE9F3-45EB-FCBD-A458-106406256D16}"/>
              </a:ext>
            </a:extLst>
          </p:cNvPr>
          <p:cNvCxnSpPr>
            <a:cxnSpLocks/>
          </p:cNvCxnSpPr>
          <p:nvPr/>
        </p:nvCxnSpPr>
        <p:spPr>
          <a:xfrm flipH="1">
            <a:off x="5397016" y="5301219"/>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119D4E92-7858-6961-943D-AA8546F89AE6}"/>
              </a:ext>
            </a:extLst>
          </p:cNvPr>
          <p:cNvCxnSpPr>
            <a:cxnSpLocks/>
          </p:cNvCxnSpPr>
          <p:nvPr/>
        </p:nvCxnSpPr>
        <p:spPr>
          <a:xfrm>
            <a:off x="6248903" y="459420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A657901E-9BD7-D39D-7A0E-B2FA93AFC274}"/>
              </a:ext>
            </a:extLst>
          </p:cNvPr>
          <p:cNvSpPr/>
          <p:nvPr/>
        </p:nvSpPr>
        <p:spPr>
          <a:xfrm>
            <a:off x="6975598" y="414112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90858064-1F70-432E-7B5C-EC766B3913E5}"/>
              </a:ext>
            </a:extLst>
          </p:cNvPr>
          <p:cNvCxnSpPr>
            <a:cxnSpLocks/>
          </p:cNvCxnSpPr>
          <p:nvPr/>
        </p:nvCxnSpPr>
        <p:spPr>
          <a:xfrm flipH="1" flipV="1">
            <a:off x="7119598" y="4213123"/>
            <a:ext cx="851887" cy="248926"/>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325BA711-216B-58C9-9FA8-91A07123A53C}"/>
              </a:ext>
            </a:extLst>
          </p:cNvPr>
          <p:cNvCxnSpPr>
            <a:cxnSpLocks/>
          </p:cNvCxnSpPr>
          <p:nvPr/>
        </p:nvCxnSpPr>
        <p:spPr>
          <a:xfrm>
            <a:off x="8054613" y="3815611"/>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BA3083B3-1F4D-875C-C835-8F0B00989894}"/>
              </a:ext>
            </a:extLst>
          </p:cNvPr>
          <p:cNvSpPr/>
          <p:nvPr/>
        </p:nvSpPr>
        <p:spPr>
          <a:xfrm>
            <a:off x="3546325" y="5893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092407DB-DA78-24B6-6707-EE483DE1C7CE}"/>
              </a:ext>
            </a:extLst>
          </p:cNvPr>
          <p:cNvSpPr/>
          <p:nvPr/>
        </p:nvSpPr>
        <p:spPr>
          <a:xfrm>
            <a:off x="9057885" y="4205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4CEAA2BA-8799-078F-2914-D768C15237FE}"/>
              </a:ext>
            </a:extLst>
          </p:cNvPr>
          <p:cNvSpPr/>
          <p:nvPr/>
        </p:nvSpPr>
        <p:spPr>
          <a:xfrm>
            <a:off x="8054613" y="5821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5" name="直線矢印コネクタ 34">
            <a:extLst>
              <a:ext uri="{FF2B5EF4-FFF2-40B4-BE49-F238E27FC236}">
                <a16:creationId xmlns:a16="http://schemas.microsoft.com/office/drawing/2014/main" id="{E44D367A-03E0-1999-3242-2373DBA0DA7B}"/>
              </a:ext>
            </a:extLst>
          </p:cNvPr>
          <p:cNvCxnSpPr>
            <a:cxnSpLocks/>
          </p:cNvCxnSpPr>
          <p:nvPr/>
        </p:nvCxnSpPr>
        <p:spPr>
          <a:xfrm>
            <a:off x="2180146" y="385961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EEDEB7B6-52DE-1698-2CE7-2C61153F4423}"/>
                  </a:ext>
                </a:extLst>
              </p:cNvPr>
              <p:cNvSpPr txBox="1"/>
              <p:nvPr/>
            </p:nvSpPr>
            <p:spPr>
              <a:xfrm>
                <a:off x="1972756" y="340601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36" name="テキスト ボックス 35">
                <a:extLst>
                  <a:ext uri="{FF2B5EF4-FFF2-40B4-BE49-F238E27FC236}">
                    <a16:creationId xmlns:a16="http://schemas.microsoft.com/office/drawing/2014/main" id="{EEDEB7B6-52DE-1698-2CE7-2C61153F4423}"/>
                  </a:ext>
                </a:extLst>
              </p:cNvPr>
              <p:cNvSpPr txBox="1">
                <a:spLocks noRot="1" noChangeAspect="1" noMove="1" noResize="1" noEditPoints="1" noAdjustHandles="1" noChangeArrowheads="1" noChangeShapeType="1" noTextEdit="1"/>
              </p:cNvSpPr>
              <p:nvPr/>
            </p:nvSpPr>
            <p:spPr>
              <a:xfrm>
                <a:off x="1972756" y="3406010"/>
                <a:ext cx="414780" cy="400174"/>
              </a:xfrm>
              <a:prstGeom prst="rect">
                <a:avLst/>
              </a:prstGeom>
              <a:blipFill>
                <a:blip r:embed="rId3"/>
                <a:stretch>
                  <a:fillRect b="-1538"/>
                </a:stretch>
              </a:blipFill>
            </p:spPr>
            <p:txBody>
              <a:bodyPr/>
              <a:lstStyle/>
              <a:p>
                <a:r>
                  <a:rPr lang="ja-JP" altLang="en-US">
                    <a:noFill/>
                  </a:rPr>
                  <a:t> </a:t>
                </a:r>
              </a:p>
            </p:txBody>
          </p:sp>
        </mc:Fallback>
      </mc:AlternateContent>
      <p:sp>
        <p:nvSpPr>
          <p:cNvPr id="7" name="スライド番号プレースホルダー 6">
            <a:extLst>
              <a:ext uri="{FF2B5EF4-FFF2-40B4-BE49-F238E27FC236}">
                <a16:creationId xmlns:a16="http://schemas.microsoft.com/office/drawing/2014/main" id="{84A97E19-A124-CE5E-AC9F-9231188A2EFD}"/>
              </a:ext>
            </a:extLst>
          </p:cNvPr>
          <p:cNvSpPr>
            <a:spLocks noGrp="1"/>
          </p:cNvSpPr>
          <p:nvPr>
            <p:ph type="sldNum" sz="quarter" idx="12"/>
          </p:nvPr>
        </p:nvSpPr>
        <p:spPr/>
        <p:txBody>
          <a:bodyPr/>
          <a:lstStyle/>
          <a:p>
            <a:fld id="{4B077F3A-4098-4199-8925-77865D1E3500}" type="slidenum">
              <a:rPr kumimoji="1" lang="ja-JP" altLang="en-US" smtClean="0"/>
              <a:t>33</a:t>
            </a:fld>
            <a:endParaRPr kumimoji="1" lang="ja-JP" altLang="en-US"/>
          </a:p>
        </p:txBody>
      </p:sp>
    </p:spTree>
    <p:extLst>
      <p:ext uri="{BB962C8B-B14F-4D97-AF65-F5344CB8AC3E}">
        <p14:creationId xmlns:p14="http://schemas.microsoft.com/office/powerpoint/2010/main" val="2373604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AFB96-BBFD-0228-927B-3E8E5B0E67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9046907-1170-1CB6-CD75-448396B1ED6B}"/>
              </a:ext>
            </a:extLst>
          </p:cNvPr>
          <p:cNvSpPr>
            <a:spLocks noGrp="1"/>
          </p:cNvSpPr>
          <p:nvPr>
            <p:ph type="title"/>
          </p:nvPr>
        </p:nvSpPr>
        <p:spPr/>
        <p:txBody>
          <a:bodyPr/>
          <a:lstStyle/>
          <a:p>
            <a:r>
              <a:rPr kumimoji="1" lang="ja-JP" altLang="en-US" dirty="0"/>
              <a:t>増加道法のイメージ</a:t>
            </a:r>
            <a:r>
              <a:rPr lang="ja-JP" altLang="en-US" dirty="0"/>
              <a:t>２</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E8C737E-8A5B-1AAA-5EA3-6AA82D719DF1}"/>
                  </a:ext>
                </a:extLst>
              </p:cNvPr>
              <p:cNvSpPr>
                <a:spLocks noGrp="1"/>
              </p:cNvSpPr>
              <p:nvPr>
                <p:ph idx="1"/>
              </p:nvPr>
            </p:nvSpPr>
            <p:spPr>
              <a:xfrm>
                <a:off x="838200" y="1825625"/>
                <a:ext cx="10515600" cy="899102"/>
              </a:xfrm>
            </p:spPr>
            <p:txBody>
              <a:bodyPr>
                <a:normAutofit/>
              </a:bodyPr>
              <a:lstStyle/>
              <a:p>
                <a:r>
                  <a:rPr kumimoji="1" lang="ja-JP" altLang="en-US" sz="2400" dirty="0"/>
                  <a:t>最適マッチング </a:t>
                </a: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oMath>
                </a14:m>
                <a:r>
                  <a:rPr kumimoji="1" lang="ja-JP" altLang="en-US" sz="2400" dirty="0"/>
                  <a:t> が与えられて，新しいリクエスト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5</m:t>
                        </m:r>
                      </m:sub>
                    </m:sSub>
                  </m:oMath>
                </a14:m>
                <a:r>
                  <a:rPr kumimoji="1" lang="ja-JP" altLang="en-US" sz="2400" dirty="0"/>
                  <a:t> を受け取った</a:t>
                </a:r>
                <a:endParaRPr kumimoji="1" lang="en-US" altLang="ja-JP" sz="2400" dirty="0"/>
              </a:p>
              <a:p>
                <a14:m>
                  <m:oMath xmlns:m="http://schemas.openxmlformats.org/officeDocument/2006/math">
                    <m:r>
                      <a:rPr kumimoji="1" lang="en-US" altLang="ja-JP" sz="2400" b="0" i="1" smtClean="0">
                        <a:latin typeface="Cambria Math" panose="02040503050406030204" pitchFamily="18" charset="0"/>
                      </a:rPr>
                      <m:t>𝜙</m:t>
                    </m:r>
                  </m:oMath>
                </a14:m>
                <a:r>
                  <a:rPr kumimoji="1" lang="ja-JP" altLang="en-US" sz="2400" dirty="0"/>
                  <a:t> を最小化する増加道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𝑃</m:t>
                        </m:r>
                      </m:e>
                      <m:sub>
                        <m:r>
                          <a:rPr kumimoji="1" lang="en-US" altLang="ja-JP" sz="2400" b="0" i="1" smtClean="0">
                            <a:latin typeface="Cambria Math" panose="02040503050406030204" pitchFamily="18" charset="0"/>
                          </a:rPr>
                          <m:t>5</m:t>
                        </m:r>
                      </m:sub>
                    </m:sSub>
                  </m:oMath>
                </a14:m>
                <a:r>
                  <a:rPr kumimoji="1" lang="ja-JP" altLang="en-US" sz="2400" dirty="0"/>
                  <a:t> を求める</a:t>
                </a:r>
              </a:p>
            </p:txBody>
          </p:sp>
        </mc:Choice>
        <mc:Fallback xmlns="">
          <p:sp>
            <p:nvSpPr>
              <p:cNvPr id="3" name="コンテンツ プレースホルダー 2">
                <a:extLst>
                  <a:ext uri="{FF2B5EF4-FFF2-40B4-BE49-F238E27FC236}">
                    <a16:creationId xmlns:a16="http://schemas.microsoft.com/office/drawing/2014/main" id="{EE8C737E-8A5B-1AAA-5EA3-6AA82D719DF1}"/>
                  </a:ext>
                </a:extLst>
              </p:cNvPr>
              <p:cNvSpPr>
                <a:spLocks noGrp="1" noRot="1" noChangeAspect="1" noMove="1" noResize="1" noEditPoints="1" noAdjustHandles="1" noChangeArrowheads="1" noChangeShapeType="1" noTextEdit="1"/>
              </p:cNvSpPr>
              <p:nvPr>
                <p:ph idx="1"/>
              </p:nvPr>
            </p:nvSpPr>
            <p:spPr>
              <a:xfrm>
                <a:off x="838200" y="1825625"/>
                <a:ext cx="10515600" cy="899102"/>
              </a:xfrm>
              <a:blipFill>
                <a:blip r:embed="rId2"/>
                <a:stretch>
                  <a:fillRect l="-812" t="-8784" b="-1486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0DA15A93-6898-7947-8F7C-FA6FCCAFEAD0}"/>
              </a:ext>
            </a:extLst>
          </p:cNvPr>
          <p:cNvSpPr/>
          <p:nvPr/>
        </p:nvSpPr>
        <p:spPr>
          <a:xfrm>
            <a:off x="4952834" y="446204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F05B2D37-EEAC-AC2A-A9BB-0E316825E974}"/>
              </a:ext>
            </a:extLst>
          </p:cNvPr>
          <p:cNvSpPr/>
          <p:nvPr/>
        </p:nvSpPr>
        <p:spPr>
          <a:xfrm>
            <a:off x="3051379" y="4061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7F4499DB-678C-102E-A680-36CAD025307D}"/>
              </a:ext>
            </a:extLst>
          </p:cNvPr>
          <p:cNvCxnSpPr>
            <a:cxnSpLocks/>
          </p:cNvCxnSpPr>
          <p:nvPr/>
        </p:nvCxnSpPr>
        <p:spPr>
          <a:xfrm>
            <a:off x="4106942" y="412588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93A7ABD1-D03D-538A-5E2A-F816AE9C33F1}"/>
              </a:ext>
            </a:extLst>
          </p:cNvPr>
          <p:cNvCxnSpPr>
            <a:cxnSpLocks/>
          </p:cNvCxnSpPr>
          <p:nvPr/>
        </p:nvCxnSpPr>
        <p:spPr>
          <a:xfrm>
            <a:off x="2180146" y="385961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8612D9FB-8D6C-A07B-DFC9-85A7761BF502}"/>
              </a:ext>
            </a:extLst>
          </p:cNvPr>
          <p:cNvCxnSpPr>
            <a:cxnSpLocks/>
          </p:cNvCxnSpPr>
          <p:nvPr/>
        </p:nvCxnSpPr>
        <p:spPr>
          <a:xfrm flipH="1" flipV="1">
            <a:off x="3195379" y="4205274"/>
            <a:ext cx="845892" cy="56841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B37A8B7E-D2FE-6CBC-B796-CA1535C81CB0}"/>
              </a:ext>
            </a:extLst>
          </p:cNvPr>
          <p:cNvCxnSpPr>
            <a:cxnSpLocks/>
            <a:endCxn id="4" idx="6"/>
          </p:cNvCxnSpPr>
          <p:nvPr/>
        </p:nvCxnSpPr>
        <p:spPr>
          <a:xfrm flipH="1">
            <a:off x="5096834" y="4382200"/>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56DDEFDF-399F-1EC3-B616-8CF77ED83549}"/>
              </a:ext>
            </a:extLst>
          </p:cNvPr>
          <p:cNvCxnSpPr>
            <a:cxnSpLocks/>
          </p:cNvCxnSpPr>
          <p:nvPr/>
        </p:nvCxnSpPr>
        <p:spPr>
          <a:xfrm>
            <a:off x="5995778" y="367519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1E46DCC5-5C6A-9108-CA4F-D51831BC8DDC}"/>
              </a:ext>
            </a:extLst>
          </p:cNvPr>
          <p:cNvSpPr/>
          <p:nvPr/>
        </p:nvSpPr>
        <p:spPr>
          <a:xfrm>
            <a:off x="5253016" y="538106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95141BD3-FB3F-B846-5E38-78E9B42E08F5}"/>
              </a:ext>
            </a:extLst>
          </p:cNvPr>
          <p:cNvCxnSpPr>
            <a:cxnSpLocks/>
          </p:cNvCxnSpPr>
          <p:nvPr/>
        </p:nvCxnSpPr>
        <p:spPr>
          <a:xfrm flipH="1">
            <a:off x="5397016" y="5301219"/>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3223EE39-2863-D07E-8791-0A1C3E212747}"/>
              </a:ext>
            </a:extLst>
          </p:cNvPr>
          <p:cNvCxnSpPr>
            <a:cxnSpLocks/>
          </p:cNvCxnSpPr>
          <p:nvPr/>
        </p:nvCxnSpPr>
        <p:spPr>
          <a:xfrm>
            <a:off x="6248903" y="459420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1959ACB9-6ED9-7FC7-E51F-F5D7E74F696C}"/>
              </a:ext>
            </a:extLst>
          </p:cNvPr>
          <p:cNvSpPr/>
          <p:nvPr/>
        </p:nvSpPr>
        <p:spPr>
          <a:xfrm>
            <a:off x="6975598" y="414112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D8503C88-540C-FD4E-36D1-14251673E9EB}"/>
              </a:ext>
            </a:extLst>
          </p:cNvPr>
          <p:cNvCxnSpPr>
            <a:cxnSpLocks/>
          </p:cNvCxnSpPr>
          <p:nvPr/>
        </p:nvCxnSpPr>
        <p:spPr>
          <a:xfrm flipH="1" flipV="1">
            <a:off x="7119598" y="4213123"/>
            <a:ext cx="851887" cy="248926"/>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704F503E-8324-1BEB-E961-AF92FDD8A767}"/>
              </a:ext>
            </a:extLst>
          </p:cNvPr>
          <p:cNvCxnSpPr>
            <a:cxnSpLocks/>
          </p:cNvCxnSpPr>
          <p:nvPr/>
        </p:nvCxnSpPr>
        <p:spPr>
          <a:xfrm>
            <a:off x="8054613" y="3806184"/>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E020D48B-6F17-40C1-C1D3-992C1D886DAD}"/>
              </a:ext>
            </a:extLst>
          </p:cNvPr>
          <p:cNvSpPr/>
          <p:nvPr/>
        </p:nvSpPr>
        <p:spPr>
          <a:xfrm>
            <a:off x="3546325" y="5893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AB717500-904E-5F7F-A2E4-88470A61A709}"/>
              </a:ext>
            </a:extLst>
          </p:cNvPr>
          <p:cNvSpPr/>
          <p:nvPr/>
        </p:nvSpPr>
        <p:spPr>
          <a:xfrm>
            <a:off x="9057885" y="4205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E7ED7263-E333-630C-9BEE-2B08C638D289}"/>
              </a:ext>
            </a:extLst>
          </p:cNvPr>
          <p:cNvSpPr/>
          <p:nvPr/>
        </p:nvSpPr>
        <p:spPr>
          <a:xfrm>
            <a:off x="8054613" y="5821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1EF39F19-E27A-347C-216B-5F443B65DC4B}"/>
                  </a:ext>
                </a:extLst>
              </p:cNvPr>
              <p:cNvSpPr txBox="1"/>
              <p:nvPr/>
            </p:nvSpPr>
            <p:spPr>
              <a:xfrm>
                <a:off x="1972756" y="340601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34" name="テキスト ボックス 33">
                <a:extLst>
                  <a:ext uri="{FF2B5EF4-FFF2-40B4-BE49-F238E27FC236}">
                    <a16:creationId xmlns:a16="http://schemas.microsoft.com/office/drawing/2014/main" id="{1EF39F19-E27A-347C-216B-5F443B65DC4B}"/>
                  </a:ext>
                </a:extLst>
              </p:cNvPr>
              <p:cNvSpPr txBox="1">
                <a:spLocks noRot="1" noChangeAspect="1" noMove="1" noResize="1" noEditPoints="1" noAdjustHandles="1" noChangeArrowheads="1" noChangeShapeType="1" noTextEdit="1"/>
              </p:cNvSpPr>
              <p:nvPr/>
            </p:nvSpPr>
            <p:spPr>
              <a:xfrm>
                <a:off x="1972756" y="3406010"/>
                <a:ext cx="414780" cy="400174"/>
              </a:xfrm>
              <a:prstGeom prst="rect">
                <a:avLst/>
              </a:prstGeom>
              <a:blipFill>
                <a:blip r:embed="rId3"/>
                <a:stretch>
                  <a:fillRect b="-1538"/>
                </a:stretch>
              </a:blipFill>
            </p:spPr>
            <p:txBody>
              <a:bodyPr/>
              <a:lstStyle/>
              <a:p>
                <a:r>
                  <a:rPr lang="ja-JP" altLang="en-US">
                    <a:noFill/>
                  </a:rPr>
                  <a:t> </a:t>
                </a:r>
              </a:p>
            </p:txBody>
          </p:sp>
        </mc:Fallback>
      </mc:AlternateContent>
      <p:cxnSp>
        <p:nvCxnSpPr>
          <p:cNvPr id="9" name="直線コネクタ 8">
            <a:extLst>
              <a:ext uri="{FF2B5EF4-FFF2-40B4-BE49-F238E27FC236}">
                <a16:creationId xmlns:a16="http://schemas.microsoft.com/office/drawing/2014/main" id="{BD7D73C0-5CA4-7EC9-E8C7-BACF91E5E069}"/>
              </a:ext>
            </a:extLst>
          </p:cNvPr>
          <p:cNvCxnSpPr>
            <a:cxnSpLocks/>
            <a:endCxn id="5" idx="2"/>
          </p:cNvCxnSpPr>
          <p:nvPr/>
        </p:nvCxnSpPr>
        <p:spPr>
          <a:xfrm flipV="1">
            <a:off x="2255893" y="4133274"/>
            <a:ext cx="795486" cy="354193"/>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14AF7428-FCC1-B3F9-3F78-7818F1AEC264}"/>
              </a:ext>
            </a:extLst>
          </p:cNvPr>
          <p:cNvCxnSpPr>
            <a:cxnSpLocks/>
          </p:cNvCxnSpPr>
          <p:nvPr/>
        </p:nvCxnSpPr>
        <p:spPr>
          <a:xfrm flipV="1">
            <a:off x="4097854" y="4509545"/>
            <a:ext cx="876068" cy="188730"/>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9D64B647-B429-C289-CA94-15DD9EC2F62B}"/>
              </a:ext>
            </a:extLst>
          </p:cNvPr>
          <p:cNvCxnSpPr>
            <a:cxnSpLocks/>
            <a:endCxn id="27" idx="0"/>
          </p:cNvCxnSpPr>
          <p:nvPr/>
        </p:nvCxnSpPr>
        <p:spPr>
          <a:xfrm flipV="1">
            <a:off x="5991815" y="4141123"/>
            <a:ext cx="1055783" cy="165661"/>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0AAC172D-24CE-6C2D-96E7-91C20C49BF06}"/>
              </a:ext>
            </a:extLst>
          </p:cNvPr>
          <p:cNvCxnSpPr>
            <a:cxnSpLocks/>
            <a:endCxn id="32" idx="2"/>
          </p:cNvCxnSpPr>
          <p:nvPr/>
        </p:nvCxnSpPr>
        <p:spPr>
          <a:xfrm flipV="1">
            <a:off x="8092321" y="4277274"/>
            <a:ext cx="965564" cy="173830"/>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C9A4DF8C-E39E-7063-B09E-F0F90138ECDB}"/>
              </a:ext>
            </a:extLst>
          </p:cNvPr>
          <p:cNvCxnSpPr>
            <a:cxnSpLocks/>
          </p:cNvCxnSpPr>
          <p:nvPr/>
        </p:nvCxnSpPr>
        <p:spPr>
          <a:xfrm>
            <a:off x="3174291" y="4089919"/>
            <a:ext cx="909255" cy="608356"/>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95D1D063-C100-71CF-8F62-DBF5E0F42D3F}"/>
              </a:ext>
            </a:extLst>
          </p:cNvPr>
          <p:cNvCxnSpPr>
            <a:cxnSpLocks/>
            <a:stCxn id="4" idx="0"/>
          </p:cNvCxnSpPr>
          <p:nvPr/>
        </p:nvCxnSpPr>
        <p:spPr>
          <a:xfrm flipV="1">
            <a:off x="5024834" y="4306784"/>
            <a:ext cx="947547" cy="155265"/>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D516908F-36BA-599F-6817-D1B50FFE2AB2}"/>
              </a:ext>
            </a:extLst>
          </p:cNvPr>
          <p:cNvCxnSpPr>
            <a:cxnSpLocks/>
            <a:stCxn id="27" idx="0"/>
          </p:cNvCxnSpPr>
          <p:nvPr/>
        </p:nvCxnSpPr>
        <p:spPr>
          <a:xfrm>
            <a:off x="7047598" y="4141123"/>
            <a:ext cx="1003271" cy="252974"/>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199058C4-FBD0-0CA3-22A6-D37F2ACEA8E3}"/>
                  </a:ext>
                </a:extLst>
              </p:cNvPr>
              <p:cNvSpPr txBox="1"/>
              <p:nvPr/>
            </p:nvSpPr>
            <p:spPr>
              <a:xfrm>
                <a:off x="8390864" y="4523104"/>
                <a:ext cx="10444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b="0" i="1" smtClean="0">
                              <a:solidFill>
                                <a:srgbClr val="7030A0"/>
                              </a:solidFill>
                              <a:latin typeface="Cambria Math" panose="02040503050406030204" pitchFamily="18" charset="0"/>
                            </a:rPr>
                          </m:ctrlPr>
                        </m:sSubPr>
                        <m:e>
                          <m:r>
                            <a:rPr kumimoji="1" lang="en-US" altLang="ja-JP" sz="2800" b="0" i="1" smtClean="0">
                              <a:solidFill>
                                <a:srgbClr val="7030A0"/>
                              </a:solidFill>
                              <a:latin typeface="Cambria Math" panose="02040503050406030204" pitchFamily="18" charset="0"/>
                            </a:rPr>
                            <m:t>𝑃</m:t>
                          </m:r>
                        </m:e>
                        <m:sub>
                          <m:r>
                            <a:rPr kumimoji="1" lang="en-US" altLang="ja-JP" sz="2800" b="0" i="1" smtClean="0">
                              <a:solidFill>
                                <a:srgbClr val="7030A0"/>
                              </a:solidFill>
                              <a:latin typeface="Cambria Math" panose="02040503050406030204" pitchFamily="18" charset="0"/>
                            </a:rPr>
                            <m:t>5</m:t>
                          </m:r>
                        </m:sub>
                      </m:sSub>
                    </m:oMath>
                  </m:oMathPara>
                </a14:m>
                <a:endParaRPr kumimoji="1" lang="ja-JP" altLang="en-US" sz="2800" dirty="0"/>
              </a:p>
            </p:txBody>
          </p:sp>
        </mc:Choice>
        <mc:Fallback xmlns="">
          <p:sp>
            <p:nvSpPr>
              <p:cNvPr id="72" name="テキスト ボックス 71">
                <a:extLst>
                  <a:ext uri="{FF2B5EF4-FFF2-40B4-BE49-F238E27FC236}">
                    <a16:creationId xmlns:a16="http://schemas.microsoft.com/office/drawing/2014/main" id="{199058C4-FBD0-0CA3-22A6-D37F2ACEA8E3}"/>
                  </a:ext>
                </a:extLst>
              </p:cNvPr>
              <p:cNvSpPr txBox="1">
                <a:spLocks noRot="1" noChangeAspect="1" noMove="1" noResize="1" noEditPoints="1" noAdjustHandles="1" noChangeArrowheads="1" noChangeShapeType="1" noTextEdit="1"/>
              </p:cNvSpPr>
              <p:nvPr/>
            </p:nvSpPr>
            <p:spPr>
              <a:xfrm>
                <a:off x="8390864" y="4523104"/>
                <a:ext cx="1044442" cy="523220"/>
              </a:xfrm>
              <a:prstGeom prst="rect">
                <a:avLst/>
              </a:prstGeom>
              <a:blipFill>
                <a:blip r:embed="rId4"/>
                <a:stretch>
                  <a:fillRect/>
                </a:stretch>
              </a:blipFill>
            </p:spPr>
            <p:txBody>
              <a:bodyPr/>
              <a:lstStyle/>
              <a:p>
                <a:r>
                  <a:rPr lang="ja-JP" altLang="en-US">
                    <a:noFill/>
                  </a:rPr>
                  <a:t> </a:t>
                </a:r>
              </a:p>
            </p:txBody>
          </p:sp>
        </mc:Fallback>
      </mc:AlternateContent>
      <p:sp>
        <p:nvSpPr>
          <p:cNvPr id="74" name="加算記号 73">
            <a:extLst>
              <a:ext uri="{FF2B5EF4-FFF2-40B4-BE49-F238E27FC236}">
                <a16:creationId xmlns:a16="http://schemas.microsoft.com/office/drawing/2014/main" id="{A41C0E14-461B-5BBC-AF75-FAAA6E7FAABC}"/>
              </a:ext>
            </a:extLst>
          </p:cNvPr>
          <p:cNvSpPr>
            <a:spLocks noChangeAspect="1"/>
          </p:cNvSpPr>
          <p:nvPr/>
        </p:nvSpPr>
        <p:spPr>
          <a:xfrm>
            <a:off x="2435944" y="3738099"/>
            <a:ext cx="360000" cy="360000"/>
          </a:xfrm>
          <a:prstGeom prst="mathPlus">
            <a:avLst>
              <a:gd name="adj1" fmla="val 1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減算記号 74">
            <a:extLst>
              <a:ext uri="{FF2B5EF4-FFF2-40B4-BE49-F238E27FC236}">
                <a16:creationId xmlns:a16="http://schemas.microsoft.com/office/drawing/2014/main" id="{8EACED4E-0A04-DBBB-4480-C6FC6398F91F}"/>
              </a:ext>
            </a:extLst>
          </p:cNvPr>
          <p:cNvSpPr/>
          <p:nvPr/>
        </p:nvSpPr>
        <p:spPr>
          <a:xfrm>
            <a:off x="3487177" y="3975334"/>
            <a:ext cx="360000" cy="16578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減算記号 75">
            <a:extLst>
              <a:ext uri="{FF2B5EF4-FFF2-40B4-BE49-F238E27FC236}">
                <a16:creationId xmlns:a16="http://schemas.microsoft.com/office/drawing/2014/main" id="{3476F2B3-C81E-3CDB-52DD-789064091496}"/>
              </a:ext>
            </a:extLst>
          </p:cNvPr>
          <p:cNvSpPr/>
          <p:nvPr/>
        </p:nvSpPr>
        <p:spPr>
          <a:xfrm>
            <a:off x="5321906" y="3975791"/>
            <a:ext cx="360000" cy="16578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減算記号 76">
            <a:extLst>
              <a:ext uri="{FF2B5EF4-FFF2-40B4-BE49-F238E27FC236}">
                <a16:creationId xmlns:a16="http://schemas.microsoft.com/office/drawing/2014/main" id="{A14EDFBD-E596-A97C-BF3E-FCEF7B91FB64}"/>
              </a:ext>
            </a:extLst>
          </p:cNvPr>
          <p:cNvSpPr/>
          <p:nvPr/>
        </p:nvSpPr>
        <p:spPr>
          <a:xfrm>
            <a:off x="7401185" y="3876054"/>
            <a:ext cx="360000" cy="16578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加算記号 77">
            <a:extLst>
              <a:ext uri="{FF2B5EF4-FFF2-40B4-BE49-F238E27FC236}">
                <a16:creationId xmlns:a16="http://schemas.microsoft.com/office/drawing/2014/main" id="{CAEEFA1E-E212-5509-C7FE-E2D44F7CE211}"/>
              </a:ext>
            </a:extLst>
          </p:cNvPr>
          <p:cNvSpPr>
            <a:spLocks noChangeAspect="1"/>
          </p:cNvSpPr>
          <p:nvPr/>
        </p:nvSpPr>
        <p:spPr>
          <a:xfrm>
            <a:off x="4378157" y="4043953"/>
            <a:ext cx="360000" cy="360000"/>
          </a:xfrm>
          <a:prstGeom prst="mathPlus">
            <a:avLst>
              <a:gd name="adj1" fmla="val 1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加算記号 78">
            <a:extLst>
              <a:ext uri="{FF2B5EF4-FFF2-40B4-BE49-F238E27FC236}">
                <a16:creationId xmlns:a16="http://schemas.microsoft.com/office/drawing/2014/main" id="{8E724BAD-3775-44BF-9DB2-FAB197144596}"/>
              </a:ext>
            </a:extLst>
          </p:cNvPr>
          <p:cNvSpPr>
            <a:spLocks noChangeAspect="1"/>
          </p:cNvSpPr>
          <p:nvPr/>
        </p:nvSpPr>
        <p:spPr>
          <a:xfrm>
            <a:off x="6376905" y="3718054"/>
            <a:ext cx="360000" cy="360000"/>
          </a:xfrm>
          <a:prstGeom prst="mathPlus">
            <a:avLst>
              <a:gd name="adj1" fmla="val 1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加算記号 79">
            <a:extLst>
              <a:ext uri="{FF2B5EF4-FFF2-40B4-BE49-F238E27FC236}">
                <a16:creationId xmlns:a16="http://schemas.microsoft.com/office/drawing/2014/main" id="{CE7607AE-54DB-850C-5EE8-79EE10CE2F0F}"/>
              </a:ext>
            </a:extLst>
          </p:cNvPr>
          <p:cNvSpPr>
            <a:spLocks noChangeAspect="1"/>
          </p:cNvSpPr>
          <p:nvPr/>
        </p:nvSpPr>
        <p:spPr>
          <a:xfrm>
            <a:off x="8447826" y="3750598"/>
            <a:ext cx="360000" cy="360000"/>
          </a:xfrm>
          <a:prstGeom prst="mathPlus">
            <a:avLst>
              <a:gd name="adj1" fmla="val 1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2" name="テキスト ボックス 81">
                <a:extLst>
                  <a:ext uri="{FF2B5EF4-FFF2-40B4-BE49-F238E27FC236}">
                    <a16:creationId xmlns:a16="http://schemas.microsoft.com/office/drawing/2014/main" id="{8D737507-CBA1-7F46-C730-C015C37EA98C}"/>
                  </a:ext>
                </a:extLst>
              </p:cNvPr>
              <p:cNvSpPr txBox="1"/>
              <p:nvPr/>
            </p:nvSpPr>
            <p:spPr>
              <a:xfrm>
                <a:off x="9261558" y="4164102"/>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82" name="テキスト ボックス 81">
                <a:extLst>
                  <a:ext uri="{FF2B5EF4-FFF2-40B4-BE49-F238E27FC236}">
                    <a16:creationId xmlns:a16="http://schemas.microsoft.com/office/drawing/2014/main" id="{8D737507-CBA1-7F46-C730-C015C37EA98C}"/>
                  </a:ext>
                </a:extLst>
              </p:cNvPr>
              <p:cNvSpPr txBox="1">
                <a:spLocks noRot="1" noChangeAspect="1" noMove="1" noResize="1" noEditPoints="1" noAdjustHandles="1" noChangeArrowheads="1" noChangeShapeType="1" noTextEdit="1"/>
              </p:cNvSpPr>
              <p:nvPr/>
            </p:nvSpPr>
            <p:spPr>
              <a:xfrm>
                <a:off x="9261558" y="4164102"/>
                <a:ext cx="414780" cy="4001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3" name="テキスト ボックス 82">
                <a:extLst>
                  <a:ext uri="{FF2B5EF4-FFF2-40B4-BE49-F238E27FC236}">
                    <a16:creationId xmlns:a16="http://schemas.microsoft.com/office/drawing/2014/main" id="{3F7A45FA-9266-442E-1F02-52299C6609D7}"/>
                  </a:ext>
                </a:extLst>
              </p:cNvPr>
              <p:cNvSpPr txBox="1"/>
              <p:nvPr/>
            </p:nvSpPr>
            <p:spPr>
              <a:xfrm>
                <a:off x="8819137" y="3360959"/>
                <a:ext cx="131975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solidFill>
                            <a:schemeClr val="accent1"/>
                          </a:solidFill>
                          <a:latin typeface="Cambria Math" panose="02040503050406030204" pitchFamily="18" charset="0"/>
                        </a:rPr>
                        <m:t>𝜙</m:t>
                      </m:r>
                      <m:d>
                        <m:dPr>
                          <m:ctrlPr>
                            <a:rPr kumimoji="1" lang="en-US" altLang="ja-JP" sz="2800" b="0" i="1" smtClean="0">
                              <a:solidFill>
                                <a:schemeClr val="accent1"/>
                              </a:solidFill>
                              <a:latin typeface="Cambria Math" panose="02040503050406030204" pitchFamily="18" charset="0"/>
                            </a:rPr>
                          </m:ctrlPr>
                        </m:dPr>
                        <m:e>
                          <m:sSub>
                            <m:sSubPr>
                              <m:ctrlPr>
                                <a:rPr kumimoji="1" lang="en-US" altLang="ja-JP" sz="2800" b="0" i="1" smtClean="0">
                                  <a:solidFill>
                                    <a:schemeClr val="accent1"/>
                                  </a:solidFill>
                                  <a:latin typeface="Cambria Math" panose="02040503050406030204" pitchFamily="18" charset="0"/>
                                </a:rPr>
                              </m:ctrlPr>
                            </m:sSubPr>
                            <m:e>
                              <m:r>
                                <a:rPr kumimoji="1" lang="en-US" altLang="ja-JP" sz="2800" b="0" i="1" smtClean="0">
                                  <a:solidFill>
                                    <a:schemeClr val="accent1"/>
                                  </a:solidFill>
                                  <a:latin typeface="Cambria Math" panose="02040503050406030204" pitchFamily="18" charset="0"/>
                                </a:rPr>
                                <m:t>𝑃</m:t>
                              </m:r>
                            </m:e>
                            <m:sub>
                              <m:r>
                                <a:rPr kumimoji="1" lang="en-US" altLang="ja-JP" sz="2800" b="0" i="1" smtClean="0">
                                  <a:solidFill>
                                    <a:schemeClr val="accent1"/>
                                  </a:solidFill>
                                  <a:latin typeface="Cambria Math" panose="02040503050406030204" pitchFamily="18" charset="0"/>
                                </a:rPr>
                                <m:t>5</m:t>
                              </m:r>
                            </m:sub>
                          </m:sSub>
                        </m:e>
                      </m:d>
                    </m:oMath>
                  </m:oMathPara>
                </a14:m>
                <a:endParaRPr kumimoji="1" lang="ja-JP" altLang="en-US" sz="2800" dirty="0"/>
              </a:p>
            </p:txBody>
          </p:sp>
        </mc:Choice>
        <mc:Fallback xmlns="">
          <p:sp>
            <p:nvSpPr>
              <p:cNvPr id="83" name="テキスト ボックス 82">
                <a:extLst>
                  <a:ext uri="{FF2B5EF4-FFF2-40B4-BE49-F238E27FC236}">
                    <a16:creationId xmlns:a16="http://schemas.microsoft.com/office/drawing/2014/main" id="{3F7A45FA-9266-442E-1F02-52299C6609D7}"/>
                  </a:ext>
                </a:extLst>
              </p:cNvPr>
              <p:cNvSpPr txBox="1">
                <a:spLocks noRot="1" noChangeAspect="1" noMove="1" noResize="1" noEditPoints="1" noAdjustHandles="1" noChangeArrowheads="1" noChangeShapeType="1" noTextEdit="1"/>
              </p:cNvSpPr>
              <p:nvPr/>
            </p:nvSpPr>
            <p:spPr>
              <a:xfrm>
                <a:off x="8819137" y="3360959"/>
                <a:ext cx="1319751" cy="523220"/>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5" name="テキスト ボックス 84">
                <a:extLst>
                  <a:ext uri="{FF2B5EF4-FFF2-40B4-BE49-F238E27FC236}">
                    <a16:creationId xmlns:a16="http://schemas.microsoft.com/office/drawing/2014/main" id="{F456DC6F-2BA8-07C6-470A-475A654A6D3F}"/>
                  </a:ext>
                </a:extLst>
              </p:cNvPr>
              <p:cNvSpPr txBox="1"/>
              <p:nvPr/>
            </p:nvSpPr>
            <p:spPr>
              <a:xfrm>
                <a:off x="3785911" y="5021642"/>
                <a:ext cx="12579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i="1">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m:oMathPara>
                </a14:m>
                <a:endParaRPr kumimoji="1" lang="ja-JP" altLang="en-US" sz="2400" dirty="0"/>
              </a:p>
            </p:txBody>
          </p:sp>
        </mc:Choice>
        <mc:Fallback xmlns="">
          <p:sp>
            <p:nvSpPr>
              <p:cNvPr id="85" name="テキスト ボックス 84">
                <a:extLst>
                  <a:ext uri="{FF2B5EF4-FFF2-40B4-BE49-F238E27FC236}">
                    <a16:creationId xmlns:a16="http://schemas.microsoft.com/office/drawing/2014/main" id="{F456DC6F-2BA8-07C6-470A-475A654A6D3F}"/>
                  </a:ext>
                </a:extLst>
              </p:cNvPr>
              <p:cNvSpPr txBox="1">
                <a:spLocks noRot="1" noChangeAspect="1" noMove="1" noResize="1" noEditPoints="1" noAdjustHandles="1" noChangeArrowheads="1" noChangeShapeType="1" noTextEdit="1"/>
              </p:cNvSpPr>
              <p:nvPr/>
            </p:nvSpPr>
            <p:spPr>
              <a:xfrm>
                <a:off x="3785911" y="5021642"/>
                <a:ext cx="1257972" cy="461665"/>
              </a:xfrm>
              <a:prstGeom prst="rect">
                <a:avLst/>
              </a:prstGeom>
              <a:blipFill>
                <a:blip r:embed="rId7"/>
                <a:stretch>
                  <a:fillRect b="-2667"/>
                </a:stretch>
              </a:blipFill>
            </p:spPr>
            <p:txBody>
              <a:bodyPr/>
              <a:lstStyle/>
              <a:p>
                <a:r>
                  <a:rPr lang="ja-JP" altLang="en-US">
                    <a:noFill/>
                  </a:rPr>
                  <a:t> </a:t>
                </a:r>
              </a:p>
            </p:txBody>
          </p:sp>
        </mc:Fallback>
      </mc:AlternateContent>
      <p:sp>
        <p:nvSpPr>
          <p:cNvPr id="8" name="スライド番号プレースホルダー 7">
            <a:extLst>
              <a:ext uri="{FF2B5EF4-FFF2-40B4-BE49-F238E27FC236}">
                <a16:creationId xmlns:a16="http://schemas.microsoft.com/office/drawing/2014/main" id="{4005D42A-A02C-D30A-3558-6927B2F62A29}"/>
              </a:ext>
            </a:extLst>
          </p:cNvPr>
          <p:cNvSpPr>
            <a:spLocks noGrp="1"/>
          </p:cNvSpPr>
          <p:nvPr>
            <p:ph type="sldNum" sz="quarter" idx="12"/>
          </p:nvPr>
        </p:nvSpPr>
        <p:spPr/>
        <p:txBody>
          <a:bodyPr/>
          <a:lstStyle/>
          <a:p>
            <a:fld id="{4B077F3A-4098-4199-8925-77865D1E3500}" type="slidenum">
              <a:rPr kumimoji="1" lang="ja-JP" altLang="en-US" smtClean="0"/>
              <a:t>34</a:t>
            </a:fld>
            <a:endParaRPr kumimoji="1" lang="ja-JP" altLang="en-US"/>
          </a:p>
        </p:txBody>
      </p:sp>
    </p:spTree>
    <p:extLst>
      <p:ext uri="{BB962C8B-B14F-4D97-AF65-F5344CB8AC3E}">
        <p14:creationId xmlns:p14="http://schemas.microsoft.com/office/powerpoint/2010/main" val="2784718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DBB9E-A083-3A18-260B-B11B3F2066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4CFBDF-8AA5-9FA3-CCD3-311480CDA13D}"/>
              </a:ext>
            </a:extLst>
          </p:cNvPr>
          <p:cNvSpPr>
            <a:spLocks noGrp="1"/>
          </p:cNvSpPr>
          <p:nvPr>
            <p:ph type="title"/>
          </p:nvPr>
        </p:nvSpPr>
        <p:spPr/>
        <p:txBody>
          <a:bodyPr/>
          <a:lstStyle/>
          <a:p>
            <a:r>
              <a:rPr kumimoji="1" lang="ja-JP" altLang="en-US" dirty="0"/>
              <a:t>増加道法のイメージ</a:t>
            </a:r>
            <a:r>
              <a:rPr lang="ja-JP" altLang="en-US" dirty="0"/>
              <a:t>３</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C448734-A1E3-D3DF-6CE0-5A2F1E5904D0}"/>
                  </a:ext>
                </a:extLst>
              </p:cNvPr>
              <p:cNvSpPr>
                <a:spLocks noGrp="1"/>
              </p:cNvSpPr>
              <p:nvPr>
                <p:ph idx="1"/>
              </p:nvPr>
            </p:nvSpPr>
            <p:spPr>
              <a:xfrm>
                <a:off x="838200" y="1825625"/>
                <a:ext cx="10515600" cy="1346582"/>
              </a:xfrm>
            </p:spPr>
            <p:txBody>
              <a:bodyPr>
                <a:normAutofit/>
              </a:bodyPr>
              <a:lstStyle/>
              <a:p>
                <a:r>
                  <a:rPr kumimoji="1" lang="ja-JP" altLang="en-US" sz="2400" dirty="0"/>
                  <a:t>最適マッチング </a:t>
                </a: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oMath>
                </a14:m>
                <a:r>
                  <a:rPr kumimoji="1" lang="ja-JP" altLang="en-US" sz="2400" dirty="0"/>
                  <a:t> が与えられて，新しいリクエスト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5</m:t>
                        </m:r>
                      </m:sub>
                    </m:sSub>
                  </m:oMath>
                </a14:m>
                <a:r>
                  <a:rPr kumimoji="1" lang="ja-JP" altLang="en-US" sz="2400" dirty="0"/>
                  <a:t> を受け取った</a:t>
                </a:r>
                <a:endParaRPr kumimoji="1" lang="en-US" altLang="ja-JP" sz="2400" dirty="0"/>
              </a:p>
              <a:p>
                <a14:m>
                  <m:oMath xmlns:m="http://schemas.openxmlformats.org/officeDocument/2006/math">
                    <m:r>
                      <a:rPr kumimoji="1" lang="en-US" altLang="ja-JP" sz="2400" b="0" i="1" smtClean="0">
                        <a:latin typeface="Cambria Math" panose="02040503050406030204" pitchFamily="18" charset="0"/>
                      </a:rPr>
                      <m:t>𝜙</m:t>
                    </m:r>
                  </m:oMath>
                </a14:m>
                <a:r>
                  <a:rPr kumimoji="1" lang="ja-JP" altLang="en-US" sz="2400" dirty="0"/>
                  <a:t> を最小化する増加道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𝑃</m:t>
                        </m:r>
                      </m:e>
                      <m:sub>
                        <m:r>
                          <a:rPr kumimoji="1" lang="en-US" altLang="ja-JP" sz="2400" b="0" i="1" smtClean="0">
                            <a:latin typeface="Cambria Math" panose="02040503050406030204" pitchFamily="18" charset="0"/>
                          </a:rPr>
                          <m:t>5</m:t>
                        </m:r>
                      </m:sub>
                    </m:sSub>
                  </m:oMath>
                </a14:m>
                <a:r>
                  <a:rPr kumimoji="1" lang="ja-JP" altLang="en-US" sz="2400" dirty="0"/>
                  <a:t> を求める</a:t>
                </a:r>
                <a:endParaRPr kumimoji="1" lang="en-US" altLang="ja-JP" sz="2400" dirty="0"/>
              </a:p>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𝑃</m:t>
                        </m:r>
                      </m:e>
                      <m:sub>
                        <m:r>
                          <a:rPr kumimoji="1" lang="en-US" altLang="ja-JP" sz="2400" b="0" i="1" smtClean="0">
                            <a:latin typeface="Cambria Math" panose="02040503050406030204" pitchFamily="18" charset="0"/>
                          </a:rPr>
                          <m:t>5</m:t>
                        </m:r>
                      </m:sub>
                    </m:sSub>
                  </m:oMath>
                </a14:m>
                <a:r>
                  <a:rPr kumimoji="1" lang="ja-JP" altLang="en-US" sz="2400" dirty="0"/>
                  <a:t> に従って，</a:t>
                </a:r>
                <a:r>
                  <a:rPr lang="en-US" altLang="ja-JP" sz="2400" dirty="0">
                    <a:solidFill>
                      <a:schemeClr val="accent2"/>
                    </a:solidFill>
                  </a:rPr>
                  <a:t> </a:t>
                </a:r>
                <a14:m>
                  <m:oMath xmlns:m="http://schemas.openxmlformats.org/officeDocument/2006/math">
                    <m:sSubSup>
                      <m:sSubSupPr>
                        <m:ctrlPr>
                          <a:rPr lang="en-US" altLang="ja-JP" sz="2400" i="1">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i="1">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a14:m>
                <a:r>
                  <a:rPr kumimoji="1" lang="ja-JP" altLang="en-US" sz="2400" dirty="0"/>
                  <a:t> を </a:t>
                </a: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5</m:t>
                        </m:r>
                      </m:sub>
                      <m:sup>
                        <m:r>
                          <a:rPr kumimoji="1" lang="en-US" altLang="ja-JP" sz="2400" b="0" i="1" smtClean="0">
                            <a:solidFill>
                              <a:schemeClr val="accent2"/>
                            </a:solidFill>
                            <a:latin typeface="Cambria Math" panose="02040503050406030204" pitchFamily="18" charset="0"/>
                          </a:rPr>
                          <m:t>∗</m:t>
                        </m:r>
                      </m:sup>
                    </m:sSubSup>
                    <m:r>
                      <a:rPr kumimoji="1" lang="en-US" altLang="ja-JP" sz="2400" b="0" i="1" smtClean="0">
                        <a:latin typeface="Cambria Math" panose="02040503050406030204" pitchFamily="18" charset="0"/>
                      </a:rPr>
                      <m:t>≔</m:t>
                    </m:r>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r>
                      <a:rPr kumimoji="1" lang="en-US" altLang="ja-JP" sz="2400" b="0" i="1" smtClean="0">
                        <a:latin typeface="Cambria Math" panose="02040503050406030204" pitchFamily="18" charset="0"/>
                      </a:rPr>
                      <m:t>⊕</m:t>
                    </m:r>
                    <m:sSub>
                      <m:sSubPr>
                        <m:ctrlPr>
                          <a:rPr kumimoji="1" lang="en-US" altLang="ja-JP" sz="2400" b="0" i="1" smtClean="0">
                            <a:solidFill>
                              <a:srgbClr val="7030A0"/>
                            </a:solidFill>
                            <a:latin typeface="Cambria Math" panose="02040503050406030204" pitchFamily="18" charset="0"/>
                          </a:rPr>
                        </m:ctrlPr>
                      </m:sSubPr>
                      <m:e>
                        <m:r>
                          <a:rPr kumimoji="1" lang="en-US" altLang="ja-JP" sz="2400" b="0" i="1" smtClean="0">
                            <a:solidFill>
                              <a:srgbClr val="7030A0"/>
                            </a:solidFill>
                            <a:latin typeface="Cambria Math" panose="02040503050406030204" pitchFamily="18" charset="0"/>
                          </a:rPr>
                          <m:t>𝑃</m:t>
                        </m:r>
                      </m:e>
                      <m:sub>
                        <m:r>
                          <a:rPr kumimoji="1" lang="en-US" altLang="ja-JP" sz="2400" b="0" i="1" smtClean="0">
                            <a:solidFill>
                              <a:srgbClr val="7030A0"/>
                            </a:solidFill>
                            <a:latin typeface="Cambria Math" panose="02040503050406030204" pitchFamily="18" charset="0"/>
                          </a:rPr>
                          <m:t>5</m:t>
                        </m:r>
                      </m:sub>
                    </m:sSub>
                  </m:oMath>
                </a14:m>
                <a:r>
                  <a:rPr kumimoji="1" lang="ja-JP" altLang="en-US" sz="2400" dirty="0"/>
                  <a:t> に更新する</a:t>
                </a:r>
              </a:p>
            </p:txBody>
          </p:sp>
        </mc:Choice>
        <mc:Fallback xmlns="">
          <p:sp>
            <p:nvSpPr>
              <p:cNvPr id="3" name="コンテンツ プレースホルダー 2">
                <a:extLst>
                  <a:ext uri="{FF2B5EF4-FFF2-40B4-BE49-F238E27FC236}">
                    <a16:creationId xmlns:a16="http://schemas.microsoft.com/office/drawing/2014/main" id="{3C448734-A1E3-D3DF-6CE0-5A2F1E5904D0}"/>
                  </a:ext>
                </a:extLst>
              </p:cNvPr>
              <p:cNvSpPr>
                <a:spLocks noGrp="1" noRot="1" noChangeAspect="1" noMove="1" noResize="1" noEditPoints="1" noAdjustHandles="1" noChangeArrowheads="1" noChangeShapeType="1" noTextEdit="1"/>
              </p:cNvSpPr>
              <p:nvPr>
                <p:ph idx="1"/>
              </p:nvPr>
            </p:nvSpPr>
            <p:spPr>
              <a:xfrm>
                <a:off x="838200" y="1825625"/>
                <a:ext cx="10515600" cy="1346582"/>
              </a:xfrm>
              <a:blipFill>
                <a:blip r:embed="rId2"/>
                <a:stretch>
                  <a:fillRect l="-812" t="-5882" b="-10860"/>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88E44500-3DA0-0AA8-477F-C430A50D8877}"/>
              </a:ext>
            </a:extLst>
          </p:cNvPr>
          <p:cNvSpPr/>
          <p:nvPr/>
        </p:nvSpPr>
        <p:spPr>
          <a:xfrm>
            <a:off x="4952834" y="446204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AF1C1402-7977-D5F2-47A5-613D3AAF51EB}"/>
              </a:ext>
            </a:extLst>
          </p:cNvPr>
          <p:cNvSpPr/>
          <p:nvPr/>
        </p:nvSpPr>
        <p:spPr>
          <a:xfrm>
            <a:off x="3051379" y="4061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3C8020B2-8676-29A9-F1DC-D321D702BF3B}"/>
              </a:ext>
            </a:extLst>
          </p:cNvPr>
          <p:cNvCxnSpPr>
            <a:cxnSpLocks/>
          </p:cNvCxnSpPr>
          <p:nvPr/>
        </p:nvCxnSpPr>
        <p:spPr>
          <a:xfrm>
            <a:off x="4106942" y="412588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12A48C4C-C153-7201-1131-42D90EF80329}"/>
              </a:ext>
            </a:extLst>
          </p:cNvPr>
          <p:cNvCxnSpPr>
            <a:cxnSpLocks/>
          </p:cNvCxnSpPr>
          <p:nvPr/>
        </p:nvCxnSpPr>
        <p:spPr>
          <a:xfrm>
            <a:off x="2180146" y="385961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DD8C0C6-D091-4A2B-94D8-0E80206C3551}"/>
              </a:ext>
            </a:extLst>
          </p:cNvPr>
          <p:cNvCxnSpPr>
            <a:cxnSpLocks/>
          </p:cNvCxnSpPr>
          <p:nvPr/>
        </p:nvCxnSpPr>
        <p:spPr>
          <a:xfrm flipH="1" flipV="1">
            <a:off x="3195379" y="4205274"/>
            <a:ext cx="845892" cy="56841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73D58593-30E7-030F-D296-5F3C36D4640A}"/>
              </a:ext>
            </a:extLst>
          </p:cNvPr>
          <p:cNvCxnSpPr>
            <a:cxnSpLocks/>
            <a:endCxn id="4" idx="6"/>
          </p:cNvCxnSpPr>
          <p:nvPr/>
        </p:nvCxnSpPr>
        <p:spPr>
          <a:xfrm flipH="1">
            <a:off x="5096834" y="4382200"/>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3CB02A37-65F7-8C3A-C75A-C10F11A12E2F}"/>
              </a:ext>
            </a:extLst>
          </p:cNvPr>
          <p:cNvCxnSpPr>
            <a:cxnSpLocks/>
          </p:cNvCxnSpPr>
          <p:nvPr/>
        </p:nvCxnSpPr>
        <p:spPr>
          <a:xfrm>
            <a:off x="5995778" y="367519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945A56EA-58EC-4205-143E-F5FABCB85622}"/>
              </a:ext>
            </a:extLst>
          </p:cNvPr>
          <p:cNvSpPr/>
          <p:nvPr/>
        </p:nvSpPr>
        <p:spPr>
          <a:xfrm>
            <a:off x="5253016" y="538106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DE04FB0B-F1D9-59A3-FAFC-48664FCD9C92}"/>
              </a:ext>
            </a:extLst>
          </p:cNvPr>
          <p:cNvCxnSpPr>
            <a:cxnSpLocks/>
          </p:cNvCxnSpPr>
          <p:nvPr/>
        </p:nvCxnSpPr>
        <p:spPr>
          <a:xfrm flipH="1">
            <a:off x="5397016" y="5301219"/>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FFA6D677-6CCF-68B5-0103-D5F5527EAC8F}"/>
              </a:ext>
            </a:extLst>
          </p:cNvPr>
          <p:cNvCxnSpPr>
            <a:cxnSpLocks/>
          </p:cNvCxnSpPr>
          <p:nvPr/>
        </p:nvCxnSpPr>
        <p:spPr>
          <a:xfrm>
            <a:off x="6248903" y="459420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37A13CD0-29B7-4EB7-BB2C-0C5B5179DF9C}"/>
              </a:ext>
            </a:extLst>
          </p:cNvPr>
          <p:cNvSpPr/>
          <p:nvPr/>
        </p:nvSpPr>
        <p:spPr>
          <a:xfrm>
            <a:off x="6975598" y="414112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9540E2CE-547B-C68A-0636-055011D95ACF}"/>
              </a:ext>
            </a:extLst>
          </p:cNvPr>
          <p:cNvCxnSpPr>
            <a:cxnSpLocks/>
          </p:cNvCxnSpPr>
          <p:nvPr/>
        </p:nvCxnSpPr>
        <p:spPr>
          <a:xfrm flipH="1" flipV="1">
            <a:off x="7119598" y="4213123"/>
            <a:ext cx="851887" cy="248926"/>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C1362995-D20A-5245-AA93-6E82B72F3D25}"/>
              </a:ext>
            </a:extLst>
          </p:cNvPr>
          <p:cNvCxnSpPr>
            <a:cxnSpLocks/>
          </p:cNvCxnSpPr>
          <p:nvPr/>
        </p:nvCxnSpPr>
        <p:spPr>
          <a:xfrm>
            <a:off x="8054613" y="3806184"/>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E26DA3F7-58FA-5768-DA05-997199770855}"/>
              </a:ext>
            </a:extLst>
          </p:cNvPr>
          <p:cNvSpPr/>
          <p:nvPr/>
        </p:nvSpPr>
        <p:spPr>
          <a:xfrm>
            <a:off x="3546325" y="5893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15D7B880-2AFD-0437-7104-C0B5EF5CA733}"/>
              </a:ext>
            </a:extLst>
          </p:cNvPr>
          <p:cNvSpPr/>
          <p:nvPr/>
        </p:nvSpPr>
        <p:spPr>
          <a:xfrm>
            <a:off x="9057885" y="4205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966CFBCB-931E-5F17-7202-54EE890D7521}"/>
              </a:ext>
            </a:extLst>
          </p:cNvPr>
          <p:cNvSpPr/>
          <p:nvPr/>
        </p:nvSpPr>
        <p:spPr>
          <a:xfrm>
            <a:off x="8054613" y="5821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5C8D20E0-8235-27D2-E6F4-7A3996760A09}"/>
                  </a:ext>
                </a:extLst>
              </p:cNvPr>
              <p:cNvSpPr txBox="1"/>
              <p:nvPr/>
            </p:nvSpPr>
            <p:spPr>
              <a:xfrm>
                <a:off x="1972756" y="340601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34" name="テキスト ボックス 33">
                <a:extLst>
                  <a:ext uri="{FF2B5EF4-FFF2-40B4-BE49-F238E27FC236}">
                    <a16:creationId xmlns:a16="http://schemas.microsoft.com/office/drawing/2014/main" id="{5C8D20E0-8235-27D2-E6F4-7A3996760A09}"/>
                  </a:ext>
                </a:extLst>
              </p:cNvPr>
              <p:cNvSpPr txBox="1">
                <a:spLocks noRot="1" noChangeAspect="1" noMove="1" noResize="1" noEditPoints="1" noAdjustHandles="1" noChangeArrowheads="1" noChangeShapeType="1" noTextEdit="1"/>
              </p:cNvSpPr>
              <p:nvPr/>
            </p:nvSpPr>
            <p:spPr>
              <a:xfrm>
                <a:off x="1972756" y="3406010"/>
                <a:ext cx="414780" cy="400174"/>
              </a:xfrm>
              <a:prstGeom prst="rect">
                <a:avLst/>
              </a:prstGeom>
              <a:blipFill>
                <a:blip r:embed="rId3"/>
                <a:stretch>
                  <a:fillRect b="-1538"/>
                </a:stretch>
              </a:blipFill>
            </p:spPr>
            <p:txBody>
              <a:bodyPr/>
              <a:lstStyle/>
              <a:p>
                <a:r>
                  <a:rPr lang="ja-JP" altLang="en-US">
                    <a:noFill/>
                  </a:rPr>
                  <a:t> </a:t>
                </a:r>
              </a:p>
            </p:txBody>
          </p:sp>
        </mc:Fallback>
      </mc:AlternateContent>
      <p:cxnSp>
        <p:nvCxnSpPr>
          <p:cNvPr id="9" name="直線コネクタ 8">
            <a:extLst>
              <a:ext uri="{FF2B5EF4-FFF2-40B4-BE49-F238E27FC236}">
                <a16:creationId xmlns:a16="http://schemas.microsoft.com/office/drawing/2014/main" id="{4FB23007-7038-FD7D-1542-8A0D53F29824}"/>
              </a:ext>
            </a:extLst>
          </p:cNvPr>
          <p:cNvCxnSpPr>
            <a:cxnSpLocks/>
            <a:endCxn id="5" idx="2"/>
          </p:cNvCxnSpPr>
          <p:nvPr/>
        </p:nvCxnSpPr>
        <p:spPr>
          <a:xfrm flipV="1">
            <a:off x="2255893" y="4133274"/>
            <a:ext cx="795486" cy="354193"/>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F217B7EB-6A59-05F4-BB17-E253623B1AA0}"/>
              </a:ext>
            </a:extLst>
          </p:cNvPr>
          <p:cNvCxnSpPr>
            <a:cxnSpLocks/>
          </p:cNvCxnSpPr>
          <p:nvPr/>
        </p:nvCxnSpPr>
        <p:spPr>
          <a:xfrm flipV="1">
            <a:off x="4097854" y="4509545"/>
            <a:ext cx="876068" cy="188730"/>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FDFD3B54-3398-9A76-8CE7-13F3FD0A1D72}"/>
              </a:ext>
            </a:extLst>
          </p:cNvPr>
          <p:cNvCxnSpPr>
            <a:cxnSpLocks/>
            <a:endCxn id="27" idx="0"/>
          </p:cNvCxnSpPr>
          <p:nvPr/>
        </p:nvCxnSpPr>
        <p:spPr>
          <a:xfrm flipV="1">
            <a:off x="5991815" y="4141123"/>
            <a:ext cx="1055783" cy="165661"/>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4E7C64A4-7129-D443-641F-2455C35F61CA}"/>
              </a:ext>
            </a:extLst>
          </p:cNvPr>
          <p:cNvCxnSpPr>
            <a:cxnSpLocks/>
            <a:endCxn id="32" idx="2"/>
          </p:cNvCxnSpPr>
          <p:nvPr/>
        </p:nvCxnSpPr>
        <p:spPr>
          <a:xfrm flipV="1">
            <a:off x="8092321" y="4277274"/>
            <a:ext cx="965564" cy="173830"/>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D3FFEBD5-BDD3-DB4F-F63B-8CAE1FB1759B}"/>
              </a:ext>
            </a:extLst>
          </p:cNvPr>
          <p:cNvCxnSpPr>
            <a:cxnSpLocks/>
          </p:cNvCxnSpPr>
          <p:nvPr/>
        </p:nvCxnSpPr>
        <p:spPr>
          <a:xfrm>
            <a:off x="3174291" y="4089919"/>
            <a:ext cx="909255" cy="608356"/>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591A4868-7D8B-19A8-81E3-41B1FDCB1BBF}"/>
              </a:ext>
            </a:extLst>
          </p:cNvPr>
          <p:cNvCxnSpPr>
            <a:cxnSpLocks/>
            <a:stCxn id="4" idx="0"/>
          </p:cNvCxnSpPr>
          <p:nvPr/>
        </p:nvCxnSpPr>
        <p:spPr>
          <a:xfrm flipV="1">
            <a:off x="5024834" y="4306784"/>
            <a:ext cx="947547" cy="155265"/>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1E1E5FD0-BB44-CB80-F312-DD0E242B5569}"/>
              </a:ext>
            </a:extLst>
          </p:cNvPr>
          <p:cNvCxnSpPr>
            <a:cxnSpLocks/>
            <a:stCxn id="27" idx="0"/>
          </p:cNvCxnSpPr>
          <p:nvPr/>
        </p:nvCxnSpPr>
        <p:spPr>
          <a:xfrm>
            <a:off x="7047598" y="4141123"/>
            <a:ext cx="1003271" cy="252974"/>
          </a:xfrm>
          <a:prstGeom prst="line">
            <a:avLst/>
          </a:prstGeom>
          <a:ln w="41275">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58F6469C-9646-6A58-BFB0-83EE05CD53C6}"/>
                  </a:ext>
                </a:extLst>
              </p:cNvPr>
              <p:cNvSpPr txBox="1"/>
              <p:nvPr/>
            </p:nvSpPr>
            <p:spPr>
              <a:xfrm>
                <a:off x="8390864" y="4523104"/>
                <a:ext cx="10444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b="0" i="1" smtClean="0">
                              <a:solidFill>
                                <a:srgbClr val="7030A0"/>
                              </a:solidFill>
                              <a:latin typeface="Cambria Math" panose="02040503050406030204" pitchFamily="18" charset="0"/>
                            </a:rPr>
                          </m:ctrlPr>
                        </m:sSubPr>
                        <m:e>
                          <m:r>
                            <a:rPr kumimoji="1" lang="en-US" altLang="ja-JP" sz="2800" b="0" i="1" smtClean="0">
                              <a:solidFill>
                                <a:srgbClr val="7030A0"/>
                              </a:solidFill>
                              <a:latin typeface="Cambria Math" panose="02040503050406030204" pitchFamily="18" charset="0"/>
                            </a:rPr>
                            <m:t>𝑃</m:t>
                          </m:r>
                        </m:e>
                        <m:sub>
                          <m:r>
                            <a:rPr kumimoji="1" lang="en-US" altLang="ja-JP" sz="2800" b="0" i="1" smtClean="0">
                              <a:solidFill>
                                <a:srgbClr val="7030A0"/>
                              </a:solidFill>
                              <a:latin typeface="Cambria Math" panose="02040503050406030204" pitchFamily="18" charset="0"/>
                            </a:rPr>
                            <m:t>5</m:t>
                          </m:r>
                        </m:sub>
                      </m:sSub>
                    </m:oMath>
                  </m:oMathPara>
                </a14:m>
                <a:endParaRPr kumimoji="1" lang="ja-JP" altLang="en-US" sz="2800" dirty="0"/>
              </a:p>
            </p:txBody>
          </p:sp>
        </mc:Choice>
        <mc:Fallback xmlns="">
          <p:sp>
            <p:nvSpPr>
              <p:cNvPr id="72" name="テキスト ボックス 71">
                <a:extLst>
                  <a:ext uri="{FF2B5EF4-FFF2-40B4-BE49-F238E27FC236}">
                    <a16:creationId xmlns:a16="http://schemas.microsoft.com/office/drawing/2014/main" id="{58F6469C-9646-6A58-BFB0-83EE05CD53C6}"/>
                  </a:ext>
                </a:extLst>
              </p:cNvPr>
              <p:cNvSpPr txBox="1">
                <a:spLocks noRot="1" noChangeAspect="1" noMove="1" noResize="1" noEditPoints="1" noAdjustHandles="1" noChangeArrowheads="1" noChangeShapeType="1" noTextEdit="1"/>
              </p:cNvSpPr>
              <p:nvPr/>
            </p:nvSpPr>
            <p:spPr>
              <a:xfrm>
                <a:off x="8390864" y="4523104"/>
                <a:ext cx="1044442" cy="523220"/>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2" name="テキスト ボックス 81">
                <a:extLst>
                  <a:ext uri="{FF2B5EF4-FFF2-40B4-BE49-F238E27FC236}">
                    <a16:creationId xmlns:a16="http://schemas.microsoft.com/office/drawing/2014/main" id="{A0D34270-9F8D-2A4C-BAA0-075F51E7308C}"/>
                  </a:ext>
                </a:extLst>
              </p:cNvPr>
              <p:cNvSpPr txBox="1"/>
              <p:nvPr/>
            </p:nvSpPr>
            <p:spPr>
              <a:xfrm>
                <a:off x="9261558" y="4164102"/>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82" name="テキスト ボックス 81">
                <a:extLst>
                  <a:ext uri="{FF2B5EF4-FFF2-40B4-BE49-F238E27FC236}">
                    <a16:creationId xmlns:a16="http://schemas.microsoft.com/office/drawing/2014/main" id="{A0D34270-9F8D-2A4C-BAA0-075F51E7308C}"/>
                  </a:ext>
                </a:extLst>
              </p:cNvPr>
              <p:cNvSpPr txBox="1">
                <a:spLocks noRot="1" noChangeAspect="1" noMove="1" noResize="1" noEditPoints="1" noAdjustHandles="1" noChangeArrowheads="1" noChangeShapeType="1" noTextEdit="1"/>
              </p:cNvSpPr>
              <p:nvPr/>
            </p:nvSpPr>
            <p:spPr>
              <a:xfrm>
                <a:off x="9261558" y="4164102"/>
                <a:ext cx="414780" cy="4001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5" name="テキスト ボックス 84">
                <a:extLst>
                  <a:ext uri="{FF2B5EF4-FFF2-40B4-BE49-F238E27FC236}">
                    <a16:creationId xmlns:a16="http://schemas.microsoft.com/office/drawing/2014/main" id="{E653A0AB-6640-562F-F5D2-A660EBC3A07E}"/>
                  </a:ext>
                </a:extLst>
              </p:cNvPr>
              <p:cNvSpPr txBox="1"/>
              <p:nvPr/>
            </p:nvSpPr>
            <p:spPr>
              <a:xfrm>
                <a:off x="3785911" y="5021642"/>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b="0" i="1" smtClean="0">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m:oMathPara>
                </a14:m>
                <a:endParaRPr kumimoji="1" lang="ja-JP" altLang="en-US" sz="2400" dirty="0"/>
              </a:p>
            </p:txBody>
          </p:sp>
        </mc:Choice>
        <mc:Fallback xmlns="">
          <p:sp>
            <p:nvSpPr>
              <p:cNvPr id="85" name="テキスト ボックス 84">
                <a:extLst>
                  <a:ext uri="{FF2B5EF4-FFF2-40B4-BE49-F238E27FC236}">
                    <a16:creationId xmlns:a16="http://schemas.microsoft.com/office/drawing/2014/main" id="{E653A0AB-6640-562F-F5D2-A660EBC3A07E}"/>
                  </a:ext>
                </a:extLst>
              </p:cNvPr>
              <p:cNvSpPr txBox="1">
                <a:spLocks noRot="1" noChangeAspect="1" noMove="1" noResize="1" noEditPoints="1" noAdjustHandles="1" noChangeArrowheads="1" noChangeShapeType="1" noTextEdit="1"/>
              </p:cNvSpPr>
              <p:nvPr/>
            </p:nvSpPr>
            <p:spPr>
              <a:xfrm>
                <a:off x="3785911" y="5021642"/>
                <a:ext cx="1257972" cy="469809"/>
              </a:xfrm>
              <a:prstGeom prst="rect">
                <a:avLst/>
              </a:prstGeom>
              <a:blipFill>
                <a:blip r:embed="rId6"/>
                <a:stretch>
                  <a:fillRect/>
                </a:stretch>
              </a:blipFill>
            </p:spPr>
            <p:txBody>
              <a:bodyPr/>
              <a:lstStyle/>
              <a:p>
                <a:r>
                  <a:rPr lang="ja-JP" altLang="en-US">
                    <a:noFill/>
                  </a:rPr>
                  <a:t> </a:t>
                </a:r>
              </a:p>
            </p:txBody>
          </p:sp>
        </mc:Fallback>
      </mc:AlternateContent>
      <p:sp>
        <p:nvSpPr>
          <p:cNvPr id="8" name="スライド番号プレースホルダー 7">
            <a:extLst>
              <a:ext uri="{FF2B5EF4-FFF2-40B4-BE49-F238E27FC236}">
                <a16:creationId xmlns:a16="http://schemas.microsoft.com/office/drawing/2014/main" id="{5A722E8F-96CC-D49A-34D3-AAA95EEF594E}"/>
              </a:ext>
            </a:extLst>
          </p:cNvPr>
          <p:cNvSpPr>
            <a:spLocks noGrp="1"/>
          </p:cNvSpPr>
          <p:nvPr>
            <p:ph type="sldNum" sz="quarter" idx="12"/>
          </p:nvPr>
        </p:nvSpPr>
        <p:spPr/>
        <p:txBody>
          <a:bodyPr/>
          <a:lstStyle/>
          <a:p>
            <a:fld id="{4B077F3A-4098-4199-8925-77865D1E3500}" type="slidenum">
              <a:rPr kumimoji="1" lang="ja-JP" altLang="en-US" smtClean="0"/>
              <a:t>35</a:t>
            </a:fld>
            <a:endParaRPr kumimoji="1" lang="ja-JP" altLang="en-US"/>
          </a:p>
        </p:txBody>
      </p:sp>
    </p:spTree>
    <p:extLst>
      <p:ext uri="{BB962C8B-B14F-4D97-AF65-F5344CB8AC3E}">
        <p14:creationId xmlns:p14="http://schemas.microsoft.com/office/powerpoint/2010/main" val="2886764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84E31-2EAA-C71A-ED8C-919BEB22F8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434433E-A321-F456-2EF3-7F10535837AA}"/>
              </a:ext>
            </a:extLst>
          </p:cNvPr>
          <p:cNvSpPr>
            <a:spLocks noGrp="1"/>
          </p:cNvSpPr>
          <p:nvPr>
            <p:ph type="title"/>
          </p:nvPr>
        </p:nvSpPr>
        <p:spPr/>
        <p:txBody>
          <a:bodyPr/>
          <a:lstStyle/>
          <a:p>
            <a:r>
              <a:rPr kumimoji="1" lang="ja-JP" altLang="en-US" dirty="0"/>
              <a:t>増加道法のイメージ</a:t>
            </a:r>
            <a:r>
              <a:rPr lang="ja-JP" altLang="en-US" dirty="0"/>
              <a:t>３</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B27798B-656B-A470-B703-93E414D5F625}"/>
                  </a:ext>
                </a:extLst>
              </p:cNvPr>
              <p:cNvSpPr>
                <a:spLocks noGrp="1"/>
              </p:cNvSpPr>
              <p:nvPr>
                <p:ph idx="1"/>
              </p:nvPr>
            </p:nvSpPr>
            <p:spPr>
              <a:xfrm>
                <a:off x="838200" y="1825625"/>
                <a:ext cx="10515600" cy="1346582"/>
              </a:xfrm>
            </p:spPr>
            <p:txBody>
              <a:bodyPr>
                <a:normAutofit/>
              </a:bodyPr>
              <a:lstStyle/>
              <a:p>
                <a:r>
                  <a:rPr kumimoji="1" lang="ja-JP" altLang="en-US" sz="2400" dirty="0"/>
                  <a:t>最適マッチング </a:t>
                </a: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oMath>
                </a14:m>
                <a:r>
                  <a:rPr kumimoji="1" lang="ja-JP" altLang="en-US" sz="2400" dirty="0"/>
                  <a:t> が与えられて，新しいリクエスト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5</m:t>
                        </m:r>
                      </m:sub>
                    </m:sSub>
                  </m:oMath>
                </a14:m>
                <a:r>
                  <a:rPr kumimoji="1" lang="ja-JP" altLang="en-US" sz="2400" dirty="0"/>
                  <a:t> を受け取った</a:t>
                </a:r>
                <a:endParaRPr kumimoji="1" lang="en-US" altLang="ja-JP" sz="2400" dirty="0"/>
              </a:p>
              <a:p>
                <a14:m>
                  <m:oMath xmlns:m="http://schemas.openxmlformats.org/officeDocument/2006/math">
                    <m:r>
                      <a:rPr kumimoji="1" lang="en-US" altLang="ja-JP" sz="2400" b="0" i="1" smtClean="0">
                        <a:latin typeface="Cambria Math" panose="02040503050406030204" pitchFamily="18" charset="0"/>
                      </a:rPr>
                      <m:t>𝜙</m:t>
                    </m:r>
                  </m:oMath>
                </a14:m>
                <a:r>
                  <a:rPr kumimoji="1" lang="ja-JP" altLang="en-US" sz="2400" dirty="0"/>
                  <a:t> を最小化する増加道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𝑃</m:t>
                        </m:r>
                      </m:e>
                      <m:sub>
                        <m:r>
                          <a:rPr kumimoji="1" lang="en-US" altLang="ja-JP" sz="2400" b="0" i="1" smtClean="0">
                            <a:latin typeface="Cambria Math" panose="02040503050406030204" pitchFamily="18" charset="0"/>
                          </a:rPr>
                          <m:t>5</m:t>
                        </m:r>
                      </m:sub>
                    </m:sSub>
                  </m:oMath>
                </a14:m>
                <a:r>
                  <a:rPr kumimoji="1" lang="ja-JP" altLang="en-US" sz="2400" dirty="0"/>
                  <a:t> を求める</a:t>
                </a:r>
                <a:endParaRPr kumimoji="1" lang="en-US" altLang="ja-JP" sz="2400" dirty="0"/>
              </a:p>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𝑃</m:t>
                        </m:r>
                      </m:e>
                      <m:sub>
                        <m:r>
                          <a:rPr kumimoji="1" lang="en-US" altLang="ja-JP" sz="2400" b="0" i="1" smtClean="0">
                            <a:latin typeface="Cambria Math" panose="02040503050406030204" pitchFamily="18" charset="0"/>
                          </a:rPr>
                          <m:t>5</m:t>
                        </m:r>
                      </m:sub>
                    </m:sSub>
                  </m:oMath>
                </a14:m>
                <a:r>
                  <a:rPr kumimoji="1" lang="ja-JP" altLang="en-US" sz="2400" dirty="0"/>
                  <a:t> に従って，</a:t>
                </a:r>
                <a:r>
                  <a:rPr lang="en-US" altLang="ja-JP" sz="2400" dirty="0">
                    <a:solidFill>
                      <a:schemeClr val="accent2"/>
                    </a:solidFill>
                  </a:rPr>
                  <a:t> </a:t>
                </a:r>
                <a14:m>
                  <m:oMath xmlns:m="http://schemas.openxmlformats.org/officeDocument/2006/math">
                    <m:sSubSup>
                      <m:sSubSupPr>
                        <m:ctrlPr>
                          <a:rPr lang="en-US" altLang="ja-JP" sz="2400" i="1">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i="1">
                            <a:solidFill>
                              <a:schemeClr val="accent2"/>
                            </a:solidFill>
                            <a:latin typeface="Cambria Math" panose="02040503050406030204" pitchFamily="18" charset="0"/>
                          </a:rPr>
                          <m:t>4</m:t>
                        </m:r>
                      </m:sub>
                      <m:sup>
                        <m:r>
                          <a:rPr lang="en-US" altLang="ja-JP" sz="2400" i="1">
                            <a:solidFill>
                              <a:schemeClr val="accent2"/>
                            </a:solidFill>
                            <a:latin typeface="Cambria Math" panose="02040503050406030204" pitchFamily="18" charset="0"/>
                          </a:rPr>
                          <m:t>∗</m:t>
                        </m:r>
                      </m:sup>
                    </m:sSubSup>
                  </m:oMath>
                </a14:m>
                <a:r>
                  <a:rPr kumimoji="1" lang="ja-JP" altLang="en-US" sz="2400" dirty="0"/>
                  <a:t> を </a:t>
                </a:r>
                <a14:m>
                  <m:oMath xmlns:m="http://schemas.openxmlformats.org/officeDocument/2006/math">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5</m:t>
                        </m:r>
                      </m:sub>
                      <m:sup>
                        <m:r>
                          <a:rPr kumimoji="1" lang="en-US" altLang="ja-JP" sz="2400" b="0" i="1" smtClean="0">
                            <a:solidFill>
                              <a:schemeClr val="accent2"/>
                            </a:solidFill>
                            <a:latin typeface="Cambria Math" panose="02040503050406030204" pitchFamily="18" charset="0"/>
                          </a:rPr>
                          <m:t>∗</m:t>
                        </m:r>
                      </m:sup>
                    </m:sSubSup>
                    <m:r>
                      <a:rPr kumimoji="1" lang="en-US" altLang="ja-JP" sz="2400" b="0" i="1" smtClean="0">
                        <a:latin typeface="Cambria Math" panose="02040503050406030204" pitchFamily="18" charset="0"/>
                      </a:rPr>
                      <m:t>≔</m:t>
                    </m:r>
                    <m:sSubSup>
                      <m:sSubSupPr>
                        <m:ctrlPr>
                          <a:rPr kumimoji="1" lang="en-US" altLang="ja-JP" sz="2400" b="0" i="1" smtClean="0">
                            <a:solidFill>
                              <a:schemeClr val="accent2"/>
                            </a:solidFill>
                            <a:latin typeface="Cambria Math" panose="02040503050406030204" pitchFamily="18" charset="0"/>
                          </a:rPr>
                        </m:ctrlPr>
                      </m:sSubSupPr>
                      <m:e>
                        <m:r>
                          <a:rPr kumimoji="1" lang="en-US" altLang="ja-JP" sz="2400" b="0" i="1" smtClean="0">
                            <a:solidFill>
                              <a:schemeClr val="accent2"/>
                            </a:solidFill>
                            <a:latin typeface="Cambria Math" panose="02040503050406030204" pitchFamily="18" charset="0"/>
                          </a:rPr>
                          <m:t>𝑀</m:t>
                        </m:r>
                      </m:e>
                      <m:sub>
                        <m:r>
                          <a:rPr kumimoji="1" lang="en-US" altLang="ja-JP" sz="2400" b="0" i="1" smtClean="0">
                            <a:solidFill>
                              <a:schemeClr val="accent2"/>
                            </a:solidFill>
                            <a:latin typeface="Cambria Math" panose="02040503050406030204" pitchFamily="18" charset="0"/>
                          </a:rPr>
                          <m:t>4</m:t>
                        </m:r>
                      </m:sub>
                      <m:sup>
                        <m:r>
                          <a:rPr kumimoji="1" lang="en-US" altLang="ja-JP" sz="2400" b="0" i="1" smtClean="0">
                            <a:solidFill>
                              <a:schemeClr val="accent2"/>
                            </a:solidFill>
                            <a:latin typeface="Cambria Math" panose="02040503050406030204" pitchFamily="18" charset="0"/>
                          </a:rPr>
                          <m:t>∗</m:t>
                        </m:r>
                      </m:sup>
                    </m:sSubSup>
                    <m:r>
                      <a:rPr kumimoji="1" lang="en-US" altLang="ja-JP" sz="2400" b="0" i="1" smtClean="0">
                        <a:latin typeface="Cambria Math" panose="02040503050406030204" pitchFamily="18" charset="0"/>
                      </a:rPr>
                      <m:t>⊕</m:t>
                    </m:r>
                    <m:sSub>
                      <m:sSubPr>
                        <m:ctrlPr>
                          <a:rPr kumimoji="1" lang="en-US" altLang="ja-JP" sz="2400" b="0" i="1" smtClean="0">
                            <a:solidFill>
                              <a:srgbClr val="7030A0"/>
                            </a:solidFill>
                            <a:latin typeface="Cambria Math" panose="02040503050406030204" pitchFamily="18" charset="0"/>
                          </a:rPr>
                        </m:ctrlPr>
                      </m:sSubPr>
                      <m:e>
                        <m:r>
                          <a:rPr kumimoji="1" lang="en-US" altLang="ja-JP" sz="2400" b="0" i="1" smtClean="0">
                            <a:solidFill>
                              <a:srgbClr val="7030A0"/>
                            </a:solidFill>
                            <a:latin typeface="Cambria Math" panose="02040503050406030204" pitchFamily="18" charset="0"/>
                          </a:rPr>
                          <m:t>𝑃</m:t>
                        </m:r>
                      </m:e>
                      <m:sub>
                        <m:r>
                          <a:rPr kumimoji="1" lang="en-US" altLang="ja-JP" sz="2400" b="0" i="1" smtClean="0">
                            <a:solidFill>
                              <a:srgbClr val="7030A0"/>
                            </a:solidFill>
                            <a:latin typeface="Cambria Math" panose="02040503050406030204" pitchFamily="18" charset="0"/>
                          </a:rPr>
                          <m:t>5</m:t>
                        </m:r>
                      </m:sub>
                    </m:sSub>
                  </m:oMath>
                </a14:m>
                <a:r>
                  <a:rPr kumimoji="1" lang="ja-JP" altLang="en-US" sz="2400" dirty="0"/>
                  <a:t> に更新する</a:t>
                </a:r>
              </a:p>
            </p:txBody>
          </p:sp>
        </mc:Choice>
        <mc:Fallback xmlns="">
          <p:sp>
            <p:nvSpPr>
              <p:cNvPr id="3" name="コンテンツ プレースホルダー 2">
                <a:extLst>
                  <a:ext uri="{FF2B5EF4-FFF2-40B4-BE49-F238E27FC236}">
                    <a16:creationId xmlns:a16="http://schemas.microsoft.com/office/drawing/2014/main" id="{1B27798B-656B-A470-B703-93E414D5F625}"/>
                  </a:ext>
                </a:extLst>
              </p:cNvPr>
              <p:cNvSpPr>
                <a:spLocks noGrp="1" noRot="1" noChangeAspect="1" noMove="1" noResize="1" noEditPoints="1" noAdjustHandles="1" noChangeArrowheads="1" noChangeShapeType="1" noTextEdit="1"/>
              </p:cNvSpPr>
              <p:nvPr>
                <p:ph idx="1"/>
              </p:nvPr>
            </p:nvSpPr>
            <p:spPr>
              <a:xfrm>
                <a:off x="838200" y="1825625"/>
                <a:ext cx="10515600" cy="1346582"/>
              </a:xfrm>
              <a:blipFill>
                <a:blip r:embed="rId2"/>
                <a:stretch>
                  <a:fillRect l="-812" t="-5882" b="-10860"/>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38E462C4-1FF3-06D9-188F-FD50603D7890}"/>
              </a:ext>
            </a:extLst>
          </p:cNvPr>
          <p:cNvSpPr/>
          <p:nvPr/>
        </p:nvSpPr>
        <p:spPr>
          <a:xfrm>
            <a:off x="4952834" y="446204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BD931214-BB87-A153-6BEA-5EE76F697A75}"/>
              </a:ext>
            </a:extLst>
          </p:cNvPr>
          <p:cNvSpPr/>
          <p:nvPr/>
        </p:nvSpPr>
        <p:spPr>
          <a:xfrm>
            <a:off x="3051379" y="4061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9FF66CA4-0A66-A715-2011-41FC63596299}"/>
              </a:ext>
            </a:extLst>
          </p:cNvPr>
          <p:cNvCxnSpPr>
            <a:cxnSpLocks/>
          </p:cNvCxnSpPr>
          <p:nvPr/>
        </p:nvCxnSpPr>
        <p:spPr>
          <a:xfrm>
            <a:off x="4106942" y="412588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8F49354A-4930-9DFF-AB1A-72E3902FF715}"/>
              </a:ext>
            </a:extLst>
          </p:cNvPr>
          <p:cNvCxnSpPr>
            <a:cxnSpLocks/>
          </p:cNvCxnSpPr>
          <p:nvPr/>
        </p:nvCxnSpPr>
        <p:spPr>
          <a:xfrm>
            <a:off x="2180146" y="385961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58BFE85C-A612-9577-B81D-74AC8693B85E}"/>
              </a:ext>
            </a:extLst>
          </p:cNvPr>
          <p:cNvCxnSpPr>
            <a:cxnSpLocks/>
            <a:endCxn id="5" idx="2"/>
          </p:cNvCxnSpPr>
          <p:nvPr/>
        </p:nvCxnSpPr>
        <p:spPr>
          <a:xfrm flipV="1">
            <a:off x="2218107" y="4133274"/>
            <a:ext cx="833272" cy="431002"/>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4630771A-B39D-45BD-F211-8E02E24B5E36}"/>
              </a:ext>
            </a:extLst>
          </p:cNvPr>
          <p:cNvCxnSpPr>
            <a:cxnSpLocks/>
            <a:endCxn id="4" idx="3"/>
          </p:cNvCxnSpPr>
          <p:nvPr/>
        </p:nvCxnSpPr>
        <p:spPr>
          <a:xfrm flipV="1">
            <a:off x="4113270" y="4584961"/>
            <a:ext cx="860652" cy="237144"/>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B5EAF2D8-0A7D-9F1A-8633-E9331AE8D5D3}"/>
              </a:ext>
            </a:extLst>
          </p:cNvPr>
          <p:cNvCxnSpPr>
            <a:cxnSpLocks/>
          </p:cNvCxnSpPr>
          <p:nvPr/>
        </p:nvCxnSpPr>
        <p:spPr>
          <a:xfrm>
            <a:off x="5995778" y="3675190"/>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5C74E4CC-742D-1A3E-82E8-D293C52495C7}"/>
              </a:ext>
            </a:extLst>
          </p:cNvPr>
          <p:cNvSpPr/>
          <p:nvPr/>
        </p:nvSpPr>
        <p:spPr>
          <a:xfrm>
            <a:off x="5253016" y="538106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3E8A3A2D-6EDE-AFA4-C4BB-7AAD09188D40}"/>
              </a:ext>
            </a:extLst>
          </p:cNvPr>
          <p:cNvCxnSpPr>
            <a:cxnSpLocks/>
          </p:cNvCxnSpPr>
          <p:nvPr/>
        </p:nvCxnSpPr>
        <p:spPr>
          <a:xfrm flipH="1">
            <a:off x="5397016" y="5301219"/>
            <a:ext cx="845891" cy="151849"/>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42A4BD4B-9B18-4CDD-8C05-3C95B957882C}"/>
              </a:ext>
            </a:extLst>
          </p:cNvPr>
          <p:cNvCxnSpPr>
            <a:cxnSpLocks/>
          </p:cNvCxnSpPr>
          <p:nvPr/>
        </p:nvCxnSpPr>
        <p:spPr>
          <a:xfrm>
            <a:off x="6248903" y="459420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3D3B9270-A8F8-2E9C-81F1-EF27CC147D9C}"/>
              </a:ext>
            </a:extLst>
          </p:cNvPr>
          <p:cNvSpPr/>
          <p:nvPr/>
        </p:nvSpPr>
        <p:spPr>
          <a:xfrm>
            <a:off x="6975598" y="414112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55A24477-F19C-00EF-43A6-AD62D1AB6651}"/>
              </a:ext>
            </a:extLst>
          </p:cNvPr>
          <p:cNvCxnSpPr>
            <a:cxnSpLocks/>
            <a:endCxn id="32" idx="2"/>
          </p:cNvCxnSpPr>
          <p:nvPr/>
        </p:nvCxnSpPr>
        <p:spPr>
          <a:xfrm flipV="1">
            <a:off x="8085059" y="4277274"/>
            <a:ext cx="972826" cy="256775"/>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5DE6E0A2-BF78-D778-5C1C-7BF271AF8F85}"/>
              </a:ext>
            </a:extLst>
          </p:cNvPr>
          <p:cNvCxnSpPr>
            <a:cxnSpLocks/>
          </p:cNvCxnSpPr>
          <p:nvPr/>
        </p:nvCxnSpPr>
        <p:spPr>
          <a:xfrm>
            <a:off x="8054613" y="3806184"/>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98346C4F-0A22-AAF1-7F8D-2A578D724252}"/>
              </a:ext>
            </a:extLst>
          </p:cNvPr>
          <p:cNvSpPr/>
          <p:nvPr/>
        </p:nvSpPr>
        <p:spPr>
          <a:xfrm>
            <a:off x="3546325" y="5893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9C383893-F14F-3CC9-67CE-2409EC586646}"/>
              </a:ext>
            </a:extLst>
          </p:cNvPr>
          <p:cNvSpPr/>
          <p:nvPr/>
        </p:nvSpPr>
        <p:spPr>
          <a:xfrm>
            <a:off x="9057885" y="4205274"/>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F9E20A50-8D42-FF6A-816A-2F11D17A5B91}"/>
              </a:ext>
            </a:extLst>
          </p:cNvPr>
          <p:cNvSpPr/>
          <p:nvPr/>
        </p:nvSpPr>
        <p:spPr>
          <a:xfrm>
            <a:off x="8054613" y="582168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4F2A7F52-F13A-2988-58BF-2F4D4AF1E118}"/>
                  </a:ext>
                </a:extLst>
              </p:cNvPr>
              <p:cNvSpPr txBox="1"/>
              <p:nvPr/>
            </p:nvSpPr>
            <p:spPr>
              <a:xfrm>
                <a:off x="1972756" y="340601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34" name="テキスト ボックス 33">
                <a:extLst>
                  <a:ext uri="{FF2B5EF4-FFF2-40B4-BE49-F238E27FC236}">
                    <a16:creationId xmlns:a16="http://schemas.microsoft.com/office/drawing/2014/main" id="{4F2A7F52-F13A-2988-58BF-2F4D4AF1E118}"/>
                  </a:ext>
                </a:extLst>
              </p:cNvPr>
              <p:cNvSpPr txBox="1">
                <a:spLocks noRot="1" noChangeAspect="1" noMove="1" noResize="1" noEditPoints="1" noAdjustHandles="1" noChangeArrowheads="1" noChangeShapeType="1" noTextEdit="1"/>
              </p:cNvSpPr>
              <p:nvPr/>
            </p:nvSpPr>
            <p:spPr>
              <a:xfrm>
                <a:off x="1972756" y="3406010"/>
                <a:ext cx="414780" cy="400174"/>
              </a:xfrm>
              <a:prstGeom prst="rect">
                <a:avLst/>
              </a:prstGeom>
              <a:blipFill>
                <a:blip r:embed="rId3"/>
                <a:stretch>
                  <a:fillRect b="-153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2" name="テキスト ボックス 81">
                <a:extLst>
                  <a:ext uri="{FF2B5EF4-FFF2-40B4-BE49-F238E27FC236}">
                    <a16:creationId xmlns:a16="http://schemas.microsoft.com/office/drawing/2014/main" id="{D9F62391-FF2E-2EBC-C0CE-A8DC8C09B009}"/>
                  </a:ext>
                </a:extLst>
              </p:cNvPr>
              <p:cNvSpPr txBox="1"/>
              <p:nvPr/>
            </p:nvSpPr>
            <p:spPr>
              <a:xfrm>
                <a:off x="9261558" y="4164102"/>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5</m:t>
                          </m:r>
                        </m:sub>
                      </m:sSub>
                    </m:oMath>
                  </m:oMathPara>
                </a14:m>
                <a:endParaRPr kumimoji="1" lang="ja-JP" altLang="en-US" sz="2000" dirty="0"/>
              </a:p>
            </p:txBody>
          </p:sp>
        </mc:Choice>
        <mc:Fallback xmlns="">
          <p:sp>
            <p:nvSpPr>
              <p:cNvPr id="82" name="テキスト ボックス 81">
                <a:extLst>
                  <a:ext uri="{FF2B5EF4-FFF2-40B4-BE49-F238E27FC236}">
                    <a16:creationId xmlns:a16="http://schemas.microsoft.com/office/drawing/2014/main" id="{D9F62391-FF2E-2EBC-C0CE-A8DC8C09B009}"/>
                  </a:ext>
                </a:extLst>
              </p:cNvPr>
              <p:cNvSpPr txBox="1">
                <a:spLocks noRot="1" noChangeAspect="1" noMove="1" noResize="1" noEditPoints="1" noAdjustHandles="1" noChangeArrowheads="1" noChangeShapeType="1" noTextEdit="1"/>
              </p:cNvSpPr>
              <p:nvPr/>
            </p:nvSpPr>
            <p:spPr>
              <a:xfrm>
                <a:off x="9261558" y="4164102"/>
                <a:ext cx="414780" cy="400174"/>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5" name="テキスト ボックス 84">
                <a:extLst>
                  <a:ext uri="{FF2B5EF4-FFF2-40B4-BE49-F238E27FC236}">
                    <a16:creationId xmlns:a16="http://schemas.microsoft.com/office/drawing/2014/main" id="{BB8CB011-B2FD-6B49-5828-C7213D6444F3}"/>
                  </a:ext>
                </a:extLst>
              </p:cNvPr>
              <p:cNvSpPr txBox="1"/>
              <p:nvPr/>
            </p:nvSpPr>
            <p:spPr>
              <a:xfrm>
                <a:off x="3785911" y="5021642"/>
                <a:ext cx="1257972" cy="469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accent2"/>
                              </a:solidFill>
                              <a:latin typeface="Cambria Math" panose="02040503050406030204" pitchFamily="18" charset="0"/>
                            </a:rPr>
                          </m:ctrlPr>
                        </m:sSubSupPr>
                        <m:e>
                          <m:r>
                            <a:rPr lang="en-US" altLang="ja-JP" sz="2400" i="1">
                              <a:solidFill>
                                <a:schemeClr val="accent2"/>
                              </a:solidFill>
                              <a:latin typeface="Cambria Math" panose="02040503050406030204" pitchFamily="18" charset="0"/>
                            </a:rPr>
                            <m:t>𝑀</m:t>
                          </m:r>
                        </m:e>
                        <m:sub>
                          <m:r>
                            <a:rPr lang="en-US" altLang="ja-JP" sz="2400" b="0" i="1" smtClean="0">
                              <a:solidFill>
                                <a:schemeClr val="accent2"/>
                              </a:solidFill>
                              <a:latin typeface="Cambria Math" panose="02040503050406030204" pitchFamily="18" charset="0"/>
                            </a:rPr>
                            <m:t>5</m:t>
                          </m:r>
                        </m:sub>
                        <m:sup>
                          <m:r>
                            <a:rPr lang="en-US" altLang="ja-JP" sz="2400" i="1">
                              <a:solidFill>
                                <a:schemeClr val="accent2"/>
                              </a:solidFill>
                              <a:latin typeface="Cambria Math" panose="02040503050406030204" pitchFamily="18" charset="0"/>
                            </a:rPr>
                            <m:t>∗</m:t>
                          </m:r>
                        </m:sup>
                      </m:sSubSup>
                    </m:oMath>
                  </m:oMathPara>
                </a14:m>
                <a:endParaRPr kumimoji="1" lang="ja-JP" altLang="en-US" sz="2400" dirty="0"/>
              </a:p>
            </p:txBody>
          </p:sp>
        </mc:Choice>
        <mc:Fallback xmlns="">
          <p:sp>
            <p:nvSpPr>
              <p:cNvPr id="85" name="テキスト ボックス 84">
                <a:extLst>
                  <a:ext uri="{FF2B5EF4-FFF2-40B4-BE49-F238E27FC236}">
                    <a16:creationId xmlns:a16="http://schemas.microsoft.com/office/drawing/2014/main" id="{BB8CB011-B2FD-6B49-5828-C7213D6444F3}"/>
                  </a:ext>
                </a:extLst>
              </p:cNvPr>
              <p:cNvSpPr txBox="1">
                <a:spLocks noRot="1" noChangeAspect="1" noMove="1" noResize="1" noEditPoints="1" noAdjustHandles="1" noChangeArrowheads="1" noChangeShapeType="1" noTextEdit="1"/>
              </p:cNvSpPr>
              <p:nvPr/>
            </p:nvSpPr>
            <p:spPr>
              <a:xfrm>
                <a:off x="3785911" y="5021642"/>
                <a:ext cx="1257972" cy="469809"/>
              </a:xfrm>
              <a:prstGeom prst="rect">
                <a:avLst/>
              </a:prstGeom>
              <a:blipFill>
                <a:blip r:embed="rId5"/>
                <a:stretch>
                  <a:fillRect b="-2597"/>
                </a:stretch>
              </a:blipFill>
            </p:spPr>
            <p:txBody>
              <a:bodyPr/>
              <a:lstStyle/>
              <a:p>
                <a:r>
                  <a:rPr lang="ja-JP" altLang="en-US">
                    <a:noFill/>
                  </a:rPr>
                  <a:t> </a:t>
                </a:r>
              </a:p>
            </p:txBody>
          </p:sp>
        </mc:Fallback>
      </mc:AlternateContent>
      <p:cxnSp>
        <p:nvCxnSpPr>
          <p:cNvPr id="12" name="直線矢印コネクタ 11">
            <a:extLst>
              <a:ext uri="{FF2B5EF4-FFF2-40B4-BE49-F238E27FC236}">
                <a16:creationId xmlns:a16="http://schemas.microsoft.com/office/drawing/2014/main" id="{AAF22DF5-8A71-4709-D5A4-8D91CEBF7DEF}"/>
              </a:ext>
            </a:extLst>
          </p:cNvPr>
          <p:cNvCxnSpPr>
            <a:cxnSpLocks/>
            <a:endCxn id="27" idx="2"/>
          </p:cNvCxnSpPr>
          <p:nvPr/>
        </p:nvCxnSpPr>
        <p:spPr>
          <a:xfrm flipV="1">
            <a:off x="6040583" y="4213123"/>
            <a:ext cx="935015" cy="192538"/>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スライド番号プレースホルダー 7">
            <a:extLst>
              <a:ext uri="{FF2B5EF4-FFF2-40B4-BE49-F238E27FC236}">
                <a16:creationId xmlns:a16="http://schemas.microsoft.com/office/drawing/2014/main" id="{E0578715-6B77-225F-7116-D5322717ADAC}"/>
              </a:ext>
            </a:extLst>
          </p:cNvPr>
          <p:cNvSpPr>
            <a:spLocks noGrp="1"/>
          </p:cNvSpPr>
          <p:nvPr>
            <p:ph type="sldNum" sz="quarter" idx="12"/>
          </p:nvPr>
        </p:nvSpPr>
        <p:spPr/>
        <p:txBody>
          <a:bodyPr/>
          <a:lstStyle/>
          <a:p>
            <a:fld id="{4B077F3A-4098-4199-8925-77865D1E3500}" type="slidenum">
              <a:rPr kumimoji="1" lang="ja-JP" altLang="en-US" smtClean="0"/>
              <a:t>36</a:t>
            </a:fld>
            <a:endParaRPr kumimoji="1" lang="ja-JP" altLang="en-US"/>
          </a:p>
        </p:txBody>
      </p:sp>
    </p:spTree>
    <p:extLst>
      <p:ext uri="{BB962C8B-B14F-4D97-AF65-F5344CB8AC3E}">
        <p14:creationId xmlns:p14="http://schemas.microsoft.com/office/powerpoint/2010/main" val="862730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15C4E-3709-164B-6364-E2C892A2911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7F0660-09F1-319D-4BBE-B538B351BAD8}"/>
              </a:ext>
            </a:extLst>
          </p:cNvPr>
          <p:cNvSpPr>
            <a:spLocks noGrp="1"/>
          </p:cNvSpPr>
          <p:nvPr>
            <p:ph type="title"/>
          </p:nvPr>
        </p:nvSpPr>
        <p:spPr/>
        <p:txBody>
          <a:bodyPr/>
          <a:lstStyle/>
          <a:p>
            <a:r>
              <a:rPr lang="ja-JP" altLang="en-US" dirty="0"/>
              <a:t>最適性の説明１</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91B6CE9-FFAE-5445-DFA6-C0BCFF56650D}"/>
                  </a:ext>
                </a:extLst>
              </p:cNvPr>
              <p:cNvSpPr>
                <a:spLocks noGrp="1"/>
              </p:cNvSpPr>
              <p:nvPr>
                <p:ph idx="1"/>
              </p:nvPr>
            </p:nvSpPr>
            <p:spPr>
              <a:xfrm>
                <a:off x="838200" y="1825625"/>
                <a:ext cx="10515600" cy="1499466"/>
              </a:xfrm>
            </p:spPr>
            <p:txBody>
              <a:bodyPr>
                <a:normAutofit/>
              </a:bodyPr>
              <a:lstStyle/>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Sub>
                  </m:oMath>
                </a14:m>
                <a:r>
                  <a:rPr kumimoji="1" lang="ja-JP" altLang="en-US" sz="2400" dirty="0"/>
                  <a:t> の最適マッチング </a:t>
                </a:r>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m:t>
                        </m:r>
                      </m:sup>
                    </m:sSubSup>
                  </m:oMath>
                </a14:m>
                <a:r>
                  <a:rPr kumimoji="1" lang="ja-JP" altLang="en-US" sz="2400" dirty="0"/>
                  <a:t> を固定</a:t>
                </a:r>
                <a:endParaRPr kumimoji="1" lang="en-US" altLang="ja-JP" sz="2400" dirty="0"/>
              </a:p>
              <a:p>
                <a:r>
                  <a:rPr kumimoji="1" lang="ja-JP" altLang="en-US" sz="2400" dirty="0"/>
                  <a:t>任意に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の最適マッチング </a:t>
                </a:r>
                <a14:m>
                  <m:oMath xmlns:m="http://schemas.openxmlformats.org/officeDocument/2006/math">
                    <m:r>
                      <a:rPr kumimoji="1" lang="en-US" altLang="ja-JP" sz="2400" b="0" i="1" smtClean="0">
                        <a:latin typeface="Cambria Math" panose="02040503050406030204" pitchFamily="18" charset="0"/>
                      </a:rPr>
                      <m:t>𝑀</m:t>
                    </m:r>
                  </m:oMath>
                </a14:m>
                <a:r>
                  <a:rPr kumimoji="1" lang="ja-JP" altLang="en-US" sz="2400" dirty="0"/>
                  <a:t> を取り，</a:t>
                </a:r>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b="0" i="1" smtClean="0">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𝑀</m:t>
                    </m:r>
                  </m:oMath>
                </a14:m>
                <a:r>
                  <a:rPr kumimoji="1" lang="ja-JP" altLang="en-US" sz="2400" dirty="0"/>
                  <a:t> を取る</a:t>
                </a:r>
                <a:endParaRPr kumimoji="1" lang="en-US" altLang="ja-JP" sz="2400" dirty="0"/>
              </a:p>
              <a:p>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sub>
                      <m:sup>
                        <m:r>
                          <a:rPr lang="en-US" altLang="ja-JP" sz="2400" i="1">
                            <a:latin typeface="Cambria Math" panose="02040503050406030204" pitchFamily="18" charset="0"/>
                          </a:rPr>
                          <m:t>∗</m:t>
                        </m:r>
                      </m:sup>
                    </m:sSubSup>
                    <m:r>
                      <a:rPr lang="en-US" altLang="ja-JP" sz="2400" i="1">
                        <a:latin typeface="Cambria Math" panose="02040503050406030204" pitchFamily="18" charset="0"/>
                      </a:rPr>
                      <m:t>⊕</m:t>
                    </m:r>
                    <m:r>
                      <a:rPr lang="en-US" altLang="ja-JP" sz="2400" i="1">
                        <a:latin typeface="Cambria Math" panose="02040503050406030204" pitchFamily="18" charset="0"/>
                      </a:rPr>
                      <m:t>𝑀</m:t>
                    </m:r>
                  </m:oMath>
                </a14:m>
                <a:r>
                  <a:rPr kumimoji="1" lang="ja-JP" altLang="en-US" sz="2400" dirty="0"/>
                  <a:t> は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a:t>
                </a:r>
                <a:r>
                  <a:rPr lang="ja-JP" altLang="en-US" sz="2400" dirty="0"/>
                  <a:t>を端点に持つ増加道 </a:t>
                </a:r>
                <a14:m>
                  <m:oMath xmlns:m="http://schemas.openxmlformats.org/officeDocument/2006/math">
                    <m:r>
                      <a:rPr lang="en-US" altLang="ja-JP" sz="2400" b="0" i="1" smtClean="0">
                        <a:latin typeface="Cambria Math" panose="02040503050406030204" pitchFamily="18" charset="0"/>
                      </a:rPr>
                      <m:t>𝑃</m:t>
                    </m:r>
                  </m:oMath>
                </a14:m>
                <a:r>
                  <a:rPr kumimoji="1" lang="ja-JP" altLang="en-US" sz="2400" dirty="0"/>
                  <a:t> が存在する</a:t>
                </a:r>
              </a:p>
            </p:txBody>
          </p:sp>
        </mc:Choice>
        <mc:Fallback xmlns="">
          <p:sp>
            <p:nvSpPr>
              <p:cNvPr id="3" name="コンテンツ プレースホルダー 2">
                <a:extLst>
                  <a:ext uri="{FF2B5EF4-FFF2-40B4-BE49-F238E27FC236}">
                    <a16:creationId xmlns:a16="http://schemas.microsoft.com/office/drawing/2014/main" id="{D91B6CE9-FFAE-5445-DFA6-C0BCFF56650D}"/>
                  </a:ext>
                </a:extLst>
              </p:cNvPr>
              <p:cNvSpPr>
                <a:spLocks noGrp="1" noRot="1" noChangeAspect="1" noMove="1" noResize="1" noEditPoints="1" noAdjustHandles="1" noChangeArrowheads="1" noChangeShapeType="1" noTextEdit="1"/>
              </p:cNvSpPr>
              <p:nvPr>
                <p:ph idx="1"/>
              </p:nvPr>
            </p:nvSpPr>
            <p:spPr>
              <a:xfrm>
                <a:off x="838200" y="1825625"/>
                <a:ext cx="10515600" cy="1499466"/>
              </a:xfrm>
              <a:blipFill>
                <a:blip r:embed="rId2"/>
                <a:stretch>
                  <a:fillRect l="-812" t="-528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2940360B-A1B7-52F8-DA14-C1A28CC2B42F}"/>
              </a:ext>
            </a:extLst>
          </p:cNvPr>
          <p:cNvSpPr/>
          <p:nvPr/>
        </p:nvSpPr>
        <p:spPr>
          <a:xfrm>
            <a:off x="4263434" y="4630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A68EC516-D20A-1019-D34A-45CF702203FF}"/>
              </a:ext>
            </a:extLst>
          </p:cNvPr>
          <p:cNvSpPr/>
          <p:nvPr/>
        </p:nvSpPr>
        <p:spPr>
          <a:xfrm>
            <a:off x="2724616" y="549327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A94DFA23-93AB-E6B4-159D-3CA5D179E01A}"/>
              </a:ext>
            </a:extLst>
          </p:cNvPr>
          <p:cNvSpPr/>
          <p:nvPr/>
        </p:nvSpPr>
        <p:spPr>
          <a:xfrm>
            <a:off x="996601" y="4846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4B9FC0F3-7147-07B4-922B-148B7056B6C0}"/>
              </a:ext>
            </a:extLst>
          </p:cNvPr>
          <p:cNvSpPr/>
          <p:nvPr/>
        </p:nvSpPr>
        <p:spPr>
          <a:xfrm>
            <a:off x="8221216" y="519648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C5148563-61A7-5A48-76FD-67BD5EBD1345}"/>
              </a:ext>
            </a:extLst>
          </p:cNvPr>
          <p:cNvSpPr/>
          <p:nvPr/>
        </p:nvSpPr>
        <p:spPr>
          <a:xfrm>
            <a:off x="6176628" y="4774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3455911F-A3EB-0DC4-51D7-E5CD6BC48ACC}"/>
              </a:ext>
            </a:extLst>
          </p:cNvPr>
          <p:cNvCxnSpPr>
            <a:cxnSpLocks/>
          </p:cNvCxnSpPr>
          <p:nvPr/>
        </p:nvCxnSpPr>
        <p:spPr>
          <a:xfrm>
            <a:off x="3299838" y="381804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0DB19EDE-B9F7-C887-6DA3-612243697E70}"/>
                  </a:ext>
                </a:extLst>
              </p:cNvPr>
              <p:cNvSpPr txBox="1"/>
              <p:nvPr/>
            </p:nvSpPr>
            <p:spPr>
              <a:xfrm>
                <a:off x="3092448" y="336444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m:oMathPara>
                </a14:m>
                <a:endParaRPr kumimoji="1" lang="ja-JP" altLang="en-US" sz="2000" dirty="0"/>
              </a:p>
            </p:txBody>
          </p:sp>
        </mc:Choice>
        <mc:Fallback xmlns="">
          <p:sp>
            <p:nvSpPr>
              <p:cNvPr id="14" name="テキスト ボックス 13">
                <a:extLst>
                  <a:ext uri="{FF2B5EF4-FFF2-40B4-BE49-F238E27FC236}">
                    <a16:creationId xmlns:a16="http://schemas.microsoft.com/office/drawing/2014/main" id="{0DB19EDE-B9F7-C887-6DA3-612243697E70}"/>
                  </a:ext>
                </a:extLst>
              </p:cNvPr>
              <p:cNvSpPr txBox="1">
                <a:spLocks noRot="1" noChangeAspect="1" noMove="1" noResize="1" noEditPoints="1" noAdjustHandles="1" noChangeArrowheads="1" noChangeShapeType="1" noTextEdit="1"/>
              </p:cNvSpPr>
              <p:nvPr/>
            </p:nvSpPr>
            <p:spPr>
              <a:xfrm>
                <a:off x="3092448" y="3364440"/>
                <a:ext cx="414780" cy="400174"/>
              </a:xfrm>
              <a:prstGeom prst="rect">
                <a:avLst/>
              </a:prstGeom>
              <a:blipFill>
                <a:blip r:embed="rId3"/>
                <a:stretch>
                  <a:fillRect/>
                </a:stretch>
              </a:blipFill>
            </p:spPr>
            <p:txBody>
              <a:bodyPr/>
              <a:lstStyle/>
              <a:p>
                <a:r>
                  <a:rPr lang="ja-JP" altLang="en-US">
                    <a:noFill/>
                  </a:rPr>
                  <a:t> </a:t>
                </a:r>
              </a:p>
            </p:txBody>
          </p:sp>
        </mc:Fallback>
      </mc:AlternateContent>
      <p:cxnSp>
        <p:nvCxnSpPr>
          <p:cNvPr id="27" name="直線矢印コネクタ 26">
            <a:extLst>
              <a:ext uri="{FF2B5EF4-FFF2-40B4-BE49-F238E27FC236}">
                <a16:creationId xmlns:a16="http://schemas.microsoft.com/office/drawing/2014/main" id="{3647DA98-BD56-48F1-97CB-3A6907B8CCAE}"/>
              </a:ext>
            </a:extLst>
          </p:cNvPr>
          <p:cNvCxnSpPr>
            <a:cxnSpLocks/>
            <a:stCxn id="4" idx="6"/>
          </p:cNvCxnSpPr>
          <p:nvPr/>
        </p:nvCxnSpPr>
        <p:spPr>
          <a:xfrm flipV="1">
            <a:off x="4407434" y="4584115"/>
            <a:ext cx="747596" cy="11829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2580622D-3816-F425-16EE-CF57B7419B50}"/>
              </a:ext>
            </a:extLst>
          </p:cNvPr>
          <p:cNvCxnSpPr>
            <a:cxnSpLocks/>
            <a:stCxn id="10" idx="5"/>
          </p:cNvCxnSpPr>
          <p:nvPr/>
        </p:nvCxnSpPr>
        <p:spPr>
          <a:xfrm>
            <a:off x="6299540" y="4897322"/>
            <a:ext cx="814552" cy="32414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73CDCE6D-FC92-62DB-CF6D-81FA06A82ACE}"/>
              </a:ext>
            </a:extLst>
          </p:cNvPr>
          <p:cNvCxnSpPr>
            <a:cxnSpLocks/>
          </p:cNvCxnSpPr>
          <p:nvPr/>
        </p:nvCxnSpPr>
        <p:spPr>
          <a:xfrm>
            <a:off x="5210160" y="389511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665D6B08-1186-3772-F914-CF86D5BB90E2}"/>
              </a:ext>
            </a:extLst>
          </p:cNvPr>
          <p:cNvCxnSpPr>
            <a:cxnSpLocks/>
          </p:cNvCxnSpPr>
          <p:nvPr/>
        </p:nvCxnSpPr>
        <p:spPr>
          <a:xfrm>
            <a:off x="7209666" y="451445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0E512403-DCCB-EB11-811B-A788FD8BFC26}"/>
              </a:ext>
            </a:extLst>
          </p:cNvPr>
          <p:cNvCxnSpPr>
            <a:cxnSpLocks/>
          </p:cNvCxnSpPr>
          <p:nvPr/>
        </p:nvCxnSpPr>
        <p:spPr>
          <a:xfrm>
            <a:off x="2176300" y="4114656"/>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834D034D-C455-F14B-1C35-F3DBA8EF159D}"/>
              </a:ext>
            </a:extLst>
          </p:cNvPr>
          <p:cNvCxnSpPr>
            <a:cxnSpLocks/>
          </p:cNvCxnSpPr>
          <p:nvPr/>
        </p:nvCxnSpPr>
        <p:spPr>
          <a:xfrm>
            <a:off x="1536849" y="519648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DDD6E284-ACD3-92B5-2615-D412D4916C98}"/>
              </a:ext>
            </a:extLst>
          </p:cNvPr>
          <p:cNvCxnSpPr>
            <a:cxnSpLocks/>
          </p:cNvCxnSpPr>
          <p:nvPr/>
        </p:nvCxnSpPr>
        <p:spPr>
          <a:xfrm flipH="1" flipV="1">
            <a:off x="2246066" y="4821666"/>
            <a:ext cx="478550" cy="671604"/>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B4A10324-20D8-B02F-F24D-ADC53DA29298}"/>
              </a:ext>
            </a:extLst>
          </p:cNvPr>
          <p:cNvCxnSpPr>
            <a:cxnSpLocks/>
          </p:cNvCxnSpPr>
          <p:nvPr/>
        </p:nvCxnSpPr>
        <p:spPr>
          <a:xfrm>
            <a:off x="1081278" y="5026562"/>
            <a:ext cx="359997" cy="73327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2" name="楕円 61">
            <a:extLst>
              <a:ext uri="{FF2B5EF4-FFF2-40B4-BE49-F238E27FC236}">
                <a16:creationId xmlns:a16="http://schemas.microsoft.com/office/drawing/2014/main" id="{B337DD21-6D38-D356-5415-766B9A84F270}"/>
              </a:ext>
            </a:extLst>
          </p:cNvPr>
          <p:cNvSpPr/>
          <p:nvPr/>
        </p:nvSpPr>
        <p:spPr>
          <a:xfrm>
            <a:off x="4056382" y="561618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0244B33B-D8B1-F9B3-105B-1D81BB16F552}"/>
              </a:ext>
            </a:extLst>
          </p:cNvPr>
          <p:cNvSpPr/>
          <p:nvPr/>
        </p:nvSpPr>
        <p:spPr>
          <a:xfrm>
            <a:off x="6274046" y="586013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A2A52B15-ED6E-6396-FDB6-1611B81BCC40}"/>
              </a:ext>
            </a:extLst>
          </p:cNvPr>
          <p:cNvCxnSpPr>
            <a:cxnSpLocks/>
          </p:cNvCxnSpPr>
          <p:nvPr/>
        </p:nvCxnSpPr>
        <p:spPr>
          <a:xfrm>
            <a:off x="4939378" y="5211765"/>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AA2178C2-70D4-18AE-C26B-E2EA4CF041F7}"/>
              </a:ext>
            </a:extLst>
          </p:cNvPr>
          <p:cNvCxnSpPr>
            <a:cxnSpLocks/>
          </p:cNvCxnSpPr>
          <p:nvPr/>
        </p:nvCxnSpPr>
        <p:spPr>
          <a:xfrm>
            <a:off x="5570973" y="5392762"/>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C7337EA7-73DA-8BC3-35C0-ECDD15220D10}"/>
              </a:ext>
            </a:extLst>
          </p:cNvPr>
          <p:cNvCxnSpPr>
            <a:cxnSpLocks/>
          </p:cNvCxnSpPr>
          <p:nvPr/>
        </p:nvCxnSpPr>
        <p:spPr>
          <a:xfrm>
            <a:off x="4196082" y="5696387"/>
            <a:ext cx="635894" cy="163746"/>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87EA6834-5F00-10F8-B10B-7B997C51E1EB}"/>
              </a:ext>
            </a:extLst>
          </p:cNvPr>
          <p:cNvCxnSpPr>
            <a:cxnSpLocks/>
          </p:cNvCxnSpPr>
          <p:nvPr/>
        </p:nvCxnSpPr>
        <p:spPr>
          <a:xfrm flipH="1">
            <a:off x="5570973" y="5932133"/>
            <a:ext cx="677655" cy="167639"/>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3" name="楕円 72">
            <a:extLst>
              <a:ext uri="{FF2B5EF4-FFF2-40B4-BE49-F238E27FC236}">
                <a16:creationId xmlns:a16="http://schemas.microsoft.com/office/drawing/2014/main" id="{378E8B60-EDFF-A969-CF85-17CA083E8FC7}"/>
              </a:ext>
            </a:extLst>
          </p:cNvPr>
          <p:cNvSpPr/>
          <p:nvPr/>
        </p:nvSpPr>
        <p:spPr>
          <a:xfrm>
            <a:off x="6837848" y="412934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351C06A5-3C86-3254-28A7-80FEF00F5017}"/>
              </a:ext>
            </a:extLst>
          </p:cNvPr>
          <p:cNvSpPr/>
          <p:nvPr/>
        </p:nvSpPr>
        <p:spPr>
          <a:xfrm>
            <a:off x="10747204" y="482166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415F814C-3D55-A618-1C69-C21BF861ECDA}"/>
              </a:ext>
            </a:extLst>
          </p:cNvPr>
          <p:cNvSpPr/>
          <p:nvPr/>
        </p:nvSpPr>
        <p:spPr>
          <a:xfrm>
            <a:off x="8729954" y="451211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8" name="直線矢印コネクタ 77">
            <a:extLst>
              <a:ext uri="{FF2B5EF4-FFF2-40B4-BE49-F238E27FC236}">
                <a16:creationId xmlns:a16="http://schemas.microsoft.com/office/drawing/2014/main" id="{A2A5F8E8-2787-1B46-F6D5-08E5EA183632}"/>
              </a:ext>
            </a:extLst>
          </p:cNvPr>
          <p:cNvCxnSpPr>
            <a:cxnSpLocks/>
            <a:stCxn id="73" idx="6"/>
          </p:cNvCxnSpPr>
          <p:nvPr/>
        </p:nvCxnSpPr>
        <p:spPr>
          <a:xfrm flipV="1">
            <a:off x="6981848" y="4129346"/>
            <a:ext cx="818317" cy="72000"/>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AA511FAB-997B-37FF-2F5C-57BE13E3A300}"/>
              </a:ext>
            </a:extLst>
          </p:cNvPr>
          <p:cNvCxnSpPr>
            <a:cxnSpLocks/>
          </p:cNvCxnSpPr>
          <p:nvPr/>
        </p:nvCxnSpPr>
        <p:spPr>
          <a:xfrm>
            <a:off x="8873953" y="4599748"/>
            <a:ext cx="814552" cy="5636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7A9A02BF-BE03-12A0-3D4B-C5D9EE082519}"/>
              </a:ext>
            </a:extLst>
          </p:cNvPr>
          <p:cNvCxnSpPr>
            <a:cxnSpLocks/>
          </p:cNvCxnSpPr>
          <p:nvPr/>
        </p:nvCxnSpPr>
        <p:spPr>
          <a:xfrm>
            <a:off x="7932772" y="346454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E3145F89-05AF-E2F6-B986-825AA176043B}"/>
              </a:ext>
            </a:extLst>
          </p:cNvPr>
          <p:cNvCxnSpPr>
            <a:cxnSpLocks/>
          </p:cNvCxnSpPr>
          <p:nvPr/>
        </p:nvCxnSpPr>
        <p:spPr>
          <a:xfrm>
            <a:off x="9784080" y="401339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8EC1A162-F465-07E4-585F-838561BA3C04}"/>
                  </a:ext>
                </a:extLst>
              </p:cNvPr>
              <p:cNvSpPr txBox="1"/>
              <p:nvPr/>
            </p:nvSpPr>
            <p:spPr>
              <a:xfrm>
                <a:off x="9869864" y="3186260"/>
                <a:ext cx="1206628" cy="6467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sz="3600" b="0" i="1" smtClean="0">
                              <a:solidFill>
                                <a:schemeClr val="accent2"/>
                              </a:solidFill>
                              <a:latin typeface="Cambria Math" panose="02040503050406030204" pitchFamily="18" charset="0"/>
                            </a:rPr>
                          </m:ctrlPr>
                        </m:sSubSupPr>
                        <m:e>
                          <m:r>
                            <a:rPr kumimoji="1" lang="en-US" altLang="ja-JP" sz="3600" b="0" i="1" smtClean="0">
                              <a:solidFill>
                                <a:schemeClr val="accent2"/>
                              </a:solidFill>
                              <a:latin typeface="Cambria Math" panose="02040503050406030204" pitchFamily="18" charset="0"/>
                            </a:rPr>
                            <m:t>𝑀</m:t>
                          </m:r>
                        </m:e>
                        <m:sub>
                          <m:r>
                            <a:rPr kumimoji="1" lang="en-US" altLang="ja-JP" sz="3600" b="0" i="1" smtClean="0">
                              <a:solidFill>
                                <a:schemeClr val="accent2"/>
                              </a:solidFill>
                              <a:latin typeface="Cambria Math" panose="02040503050406030204" pitchFamily="18" charset="0"/>
                            </a:rPr>
                            <m:t>𝑖</m:t>
                          </m:r>
                          <m:r>
                            <a:rPr kumimoji="1" lang="en-US" altLang="ja-JP" sz="3600" b="0" i="1" smtClean="0">
                              <a:solidFill>
                                <a:schemeClr val="accent2"/>
                              </a:solidFill>
                              <a:latin typeface="Cambria Math" panose="02040503050406030204" pitchFamily="18" charset="0"/>
                            </a:rPr>
                            <m:t>−1</m:t>
                          </m:r>
                        </m:sub>
                        <m:sup>
                          <m:r>
                            <a:rPr kumimoji="1" lang="en-US" altLang="ja-JP" sz="3600" b="0" i="1" smtClean="0">
                              <a:solidFill>
                                <a:schemeClr val="accent2"/>
                              </a:solidFill>
                              <a:latin typeface="Cambria Math" panose="02040503050406030204" pitchFamily="18" charset="0"/>
                            </a:rPr>
                            <m:t>∗</m:t>
                          </m:r>
                        </m:sup>
                      </m:sSubSup>
                    </m:oMath>
                  </m:oMathPara>
                </a14:m>
                <a:endParaRPr kumimoji="1" lang="ja-JP" altLang="en-US" sz="3600" dirty="0"/>
              </a:p>
            </p:txBody>
          </p:sp>
        </mc:Choice>
        <mc:Fallback xmlns="">
          <p:sp>
            <p:nvSpPr>
              <p:cNvPr id="11" name="テキスト ボックス 10">
                <a:extLst>
                  <a:ext uri="{FF2B5EF4-FFF2-40B4-BE49-F238E27FC236}">
                    <a16:creationId xmlns:a16="http://schemas.microsoft.com/office/drawing/2014/main" id="{8EC1A162-F465-07E4-585F-838561BA3C04}"/>
                  </a:ext>
                </a:extLst>
              </p:cNvPr>
              <p:cNvSpPr txBox="1">
                <a:spLocks noRot="1" noChangeAspect="1" noMove="1" noResize="1" noEditPoints="1" noAdjustHandles="1" noChangeArrowheads="1" noChangeShapeType="1" noTextEdit="1"/>
              </p:cNvSpPr>
              <p:nvPr/>
            </p:nvSpPr>
            <p:spPr>
              <a:xfrm>
                <a:off x="9869864" y="3186260"/>
                <a:ext cx="1206628" cy="646716"/>
              </a:xfrm>
              <a:prstGeom prst="rect">
                <a:avLst/>
              </a:prstGeom>
              <a:blipFill>
                <a:blip r:embed="rId4"/>
                <a:stretch>
                  <a:fillRect/>
                </a:stretch>
              </a:blipFill>
            </p:spPr>
            <p:txBody>
              <a:bodyPr/>
              <a:lstStyle/>
              <a:p>
                <a:r>
                  <a:rPr lang="ja-JP" altLang="en-US">
                    <a:noFill/>
                  </a:rPr>
                  <a:t> </a:t>
                </a:r>
              </a:p>
            </p:txBody>
          </p:sp>
        </mc:Fallback>
      </mc:AlternateContent>
      <p:sp>
        <p:nvSpPr>
          <p:cNvPr id="12" name="楕円 11">
            <a:extLst>
              <a:ext uri="{FF2B5EF4-FFF2-40B4-BE49-F238E27FC236}">
                <a16:creationId xmlns:a16="http://schemas.microsoft.com/office/drawing/2014/main" id="{34D635CA-F9F9-CE8B-8558-4264E1E35F89}"/>
              </a:ext>
            </a:extLst>
          </p:cNvPr>
          <p:cNvSpPr/>
          <p:nvPr/>
        </p:nvSpPr>
        <p:spPr>
          <a:xfrm>
            <a:off x="9869864" y="583149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スライド番号プレースホルダー 6">
            <a:extLst>
              <a:ext uri="{FF2B5EF4-FFF2-40B4-BE49-F238E27FC236}">
                <a16:creationId xmlns:a16="http://schemas.microsoft.com/office/drawing/2014/main" id="{A62E70EF-9492-90BB-AC08-3166F8CD6590}"/>
              </a:ext>
            </a:extLst>
          </p:cNvPr>
          <p:cNvSpPr>
            <a:spLocks noGrp="1"/>
          </p:cNvSpPr>
          <p:nvPr>
            <p:ph type="sldNum" sz="quarter" idx="12"/>
          </p:nvPr>
        </p:nvSpPr>
        <p:spPr/>
        <p:txBody>
          <a:bodyPr/>
          <a:lstStyle/>
          <a:p>
            <a:fld id="{4B077F3A-4098-4199-8925-77865D1E3500}" type="slidenum">
              <a:rPr kumimoji="1" lang="ja-JP" altLang="en-US" smtClean="0"/>
              <a:t>37</a:t>
            </a:fld>
            <a:endParaRPr kumimoji="1" lang="ja-JP" altLang="en-US"/>
          </a:p>
        </p:txBody>
      </p:sp>
    </p:spTree>
    <p:extLst>
      <p:ext uri="{BB962C8B-B14F-4D97-AF65-F5344CB8AC3E}">
        <p14:creationId xmlns:p14="http://schemas.microsoft.com/office/powerpoint/2010/main" val="41827774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40E8F-353E-DDCA-80E5-32C7C38CC68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BD647A-EF02-297B-C586-9FAA37290F1C}"/>
              </a:ext>
            </a:extLst>
          </p:cNvPr>
          <p:cNvSpPr>
            <a:spLocks noGrp="1"/>
          </p:cNvSpPr>
          <p:nvPr>
            <p:ph type="title"/>
          </p:nvPr>
        </p:nvSpPr>
        <p:spPr/>
        <p:txBody>
          <a:bodyPr/>
          <a:lstStyle/>
          <a:p>
            <a:r>
              <a:rPr lang="ja-JP" altLang="en-US" dirty="0"/>
              <a:t>最適性の説明１</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8893501-D0CA-2457-9054-D2B288CDD746}"/>
                  </a:ext>
                </a:extLst>
              </p:cNvPr>
              <p:cNvSpPr>
                <a:spLocks noGrp="1"/>
              </p:cNvSpPr>
              <p:nvPr>
                <p:ph idx="1"/>
              </p:nvPr>
            </p:nvSpPr>
            <p:spPr>
              <a:xfrm>
                <a:off x="838200" y="1825625"/>
                <a:ext cx="10515600" cy="1499466"/>
              </a:xfrm>
            </p:spPr>
            <p:txBody>
              <a:bodyPr>
                <a:normAutofit/>
              </a:bodyPr>
              <a:lstStyle/>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Sub>
                  </m:oMath>
                </a14:m>
                <a:r>
                  <a:rPr kumimoji="1" lang="ja-JP" altLang="en-US" sz="2400" dirty="0"/>
                  <a:t> の最適マッチング </a:t>
                </a:r>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m:t>
                        </m:r>
                      </m:sup>
                    </m:sSubSup>
                  </m:oMath>
                </a14:m>
                <a:r>
                  <a:rPr kumimoji="1" lang="ja-JP" altLang="en-US" sz="2400" dirty="0"/>
                  <a:t> を固定</a:t>
                </a:r>
                <a:endParaRPr kumimoji="1" lang="en-US" altLang="ja-JP" sz="2400" dirty="0"/>
              </a:p>
              <a:p>
                <a:r>
                  <a:rPr kumimoji="1" lang="ja-JP" altLang="en-US" sz="2400" dirty="0"/>
                  <a:t>任意に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の最適マッチング </a:t>
                </a:r>
                <a14:m>
                  <m:oMath xmlns:m="http://schemas.openxmlformats.org/officeDocument/2006/math">
                    <m:r>
                      <a:rPr kumimoji="1" lang="en-US" altLang="ja-JP" sz="2400" b="0" i="1" smtClean="0">
                        <a:latin typeface="Cambria Math" panose="02040503050406030204" pitchFamily="18" charset="0"/>
                      </a:rPr>
                      <m:t>𝑀</m:t>
                    </m:r>
                  </m:oMath>
                </a14:m>
                <a:r>
                  <a:rPr kumimoji="1" lang="ja-JP" altLang="en-US" sz="2400" dirty="0"/>
                  <a:t> を取り，</a:t>
                </a:r>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b="0" i="1" smtClean="0">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𝑀</m:t>
                    </m:r>
                  </m:oMath>
                </a14:m>
                <a:r>
                  <a:rPr kumimoji="1" lang="ja-JP" altLang="en-US" sz="2400" dirty="0"/>
                  <a:t> を取る</a:t>
                </a:r>
                <a:endParaRPr kumimoji="1" lang="en-US" altLang="ja-JP" sz="2400" dirty="0"/>
              </a:p>
              <a:p>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sub>
                      <m:sup>
                        <m:r>
                          <a:rPr lang="en-US" altLang="ja-JP" sz="2400" i="1">
                            <a:latin typeface="Cambria Math" panose="02040503050406030204" pitchFamily="18" charset="0"/>
                          </a:rPr>
                          <m:t>∗</m:t>
                        </m:r>
                      </m:sup>
                    </m:sSubSup>
                    <m:r>
                      <a:rPr lang="en-US" altLang="ja-JP" sz="2400" i="1">
                        <a:latin typeface="Cambria Math" panose="02040503050406030204" pitchFamily="18" charset="0"/>
                      </a:rPr>
                      <m:t>⊕</m:t>
                    </m:r>
                    <m:r>
                      <a:rPr lang="en-US" altLang="ja-JP" sz="2400" i="1">
                        <a:latin typeface="Cambria Math" panose="02040503050406030204" pitchFamily="18" charset="0"/>
                      </a:rPr>
                      <m:t>𝑀</m:t>
                    </m:r>
                  </m:oMath>
                </a14:m>
                <a:r>
                  <a:rPr kumimoji="1" lang="ja-JP" altLang="en-US" sz="2400" dirty="0"/>
                  <a:t> は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a:t>
                </a:r>
                <a:r>
                  <a:rPr lang="ja-JP" altLang="en-US" sz="2400" dirty="0"/>
                  <a:t>を端点に持つ増加道 </a:t>
                </a:r>
                <a14:m>
                  <m:oMath xmlns:m="http://schemas.openxmlformats.org/officeDocument/2006/math">
                    <m:r>
                      <a:rPr lang="en-US" altLang="ja-JP" sz="2400" b="0" i="1" smtClean="0">
                        <a:latin typeface="Cambria Math" panose="02040503050406030204" pitchFamily="18" charset="0"/>
                      </a:rPr>
                      <m:t>𝑃</m:t>
                    </m:r>
                  </m:oMath>
                </a14:m>
                <a:r>
                  <a:rPr kumimoji="1" lang="ja-JP" altLang="en-US" sz="2400" dirty="0"/>
                  <a:t> が存在する</a:t>
                </a:r>
              </a:p>
            </p:txBody>
          </p:sp>
        </mc:Choice>
        <mc:Fallback xmlns="">
          <p:sp>
            <p:nvSpPr>
              <p:cNvPr id="3" name="コンテンツ プレースホルダー 2">
                <a:extLst>
                  <a:ext uri="{FF2B5EF4-FFF2-40B4-BE49-F238E27FC236}">
                    <a16:creationId xmlns:a16="http://schemas.microsoft.com/office/drawing/2014/main" id="{98893501-D0CA-2457-9054-D2B288CDD746}"/>
                  </a:ext>
                </a:extLst>
              </p:cNvPr>
              <p:cNvSpPr>
                <a:spLocks noGrp="1" noRot="1" noChangeAspect="1" noMove="1" noResize="1" noEditPoints="1" noAdjustHandles="1" noChangeArrowheads="1" noChangeShapeType="1" noTextEdit="1"/>
              </p:cNvSpPr>
              <p:nvPr>
                <p:ph idx="1"/>
              </p:nvPr>
            </p:nvSpPr>
            <p:spPr>
              <a:xfrm>
                <a:off x="838200" y="1825625"/>
                <a:ext cx="10515600" cy="1499466"/>
              </a:xfrm>
              <a:blipFill>
                <a:blip r:embed="rId2"/>
                <a:stretch>
                  <a:fillRect l="-812" t="-528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FB95A1DD-139C-0F64-AF40-3E1CD1D79FB4}"/>
              </a:ext>
            </a:extLst>
          </p:cNvPr>
          <p:cNvSpPr/>
          <p:nvPr/>
        </p:nvSpPr>
        <p:spPr>
          <a:xfrm>
            <a:off x="4263434" y="4630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25592A28-867C-6F25-6113-DB36468546CE}"/>
              </a:ext>
            </a:extLst>
          </p:cNvPr>
          <p:cNvSpPr/>
          <p:nvPr/>
        </p:nvSpPr>
        <p:spPr>
          <a:xfrm>
            <a:off x="2724616" y="549327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F2780545-BD48-253E-33BA-D3A93011963B}"/>
              </a:ext>
            </a:extLst>
          </p:cNvPr>
          <p:cNvSpPr/>
          <p:nvPr/>
        </p:nvSpPr>
        <p:spPr>
          <a:xfrm>
            <a:off x="996601" y="4846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86BEE717-A6ED-549B-E4F7-DBD3FB16719C}"/>
              </a:ext>
            </a:extLst>
          </p:cNvPr>
          <p:cNvSpPr/>
          <p:nvPr/>
        </p:nvSpPr>
        <p:spPr>
          <a:xfrm>
            <a:off x="8221216" y="519648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022B2C1-F38E-0438-3DC2-6057FF1E6B9C}"/>
              </a:ext>
            </a:extLst>
          </p:cNvPr>
          <p:cNvSpPr/>
          <p:nvPr/>
        </p:nvSpPr>
        <p:spPr>
          <a:xfrm>
            <a:off x="6176628" y="4774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EB8F0F12-3632-7EA3-C415-CDA851BC9B2B}"/>
              </a:ext>
            </a:extLst>
          </p:cNvPr>
          <p:cNvCxnSpPr>
            <a:cxnSpLocks/>
          </p:cNvCxnSpPr>
          <p:nvPr/>
        </p:nvCxnSpPr>
        <p:spPr>
          <a:xfrm>
            <a:off x="3299838" y="381804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4C139027-9AFF-99A1-38E5-DDCEBBB109C1}"/>
                  </a:ext>
                </a:extLst>
              </p:cNvPr>
              <p:cNvSpPr txBox="1"/>
              <p:nvPr/>
            </p:nvSpPr>
            <p:spPr>
              <a:xfrm>
                <a:off x="3092448" y="336444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m:oMathPara>
                </a14:m>
                <a:endParaRPr kumimoji="1" lang="ja-JP" altLang="en-US" sz="2000" dirty="0"/>
              </a:p>
            </p:txBody>
          </p:sp>
        </mc:Choice>
        <mc:Fallback xmlns="">
          <p:sp>
            <p:nvSpPr>
              <p:cNvPr id="14" name="テキスト ボックス 13">
                <a:extLst>
                  <a:ext uri="{FF2B5EF4-FFF2-40B4-BE49-F238E27FC236}">
                    <a16:creationId xmlns:a16="http://schemas.microsoft.com/office/drawing/2014/main" id="{4C139027-9AFF-99A1-38E5-DDCEBBB109C1}"/>
                  </a:ext>
                </a:extLst>
              </p:cNvPr>
              <p:cNvSpPr txBox="1">
                <a:spLocks noRot="1" noChangeAspect="1" noMove="1" noResize="1" noEditPoints="1" noAdjustHandles="1" noChangeArrowheads="1" noChangeShapeType="1" noTextEdit="1"/>
              </p:cNvSpPr>
              <p:nvPr/>
            </p:nvSpPr>
            <p:spPr>
              <a:xfrm>
                <a:off x="3092448" y="3364440"/>
                <a:ext cx="414780" cy="400174"/>
              </a:xfrm>
              <a:prstGeom prst="rect">
                <a:avLst/>
              </a:prstGeom>
              <a:blipFill>
                <a:blip r:embed="rId3"/>
                <a:stretch>
                  <a:fillRect/>
                </a:stretch>
              </a:blipFill>
            </p:spPr>
            <p:txBody>
              <a:bodyPr/>
              <a:lstStyle/>
              <a:p>
                <a:r>
                  <a:rPr lang="ja-JP" altLang="en-US">
                    <a:noFill/>
                  </a:rPr>
                  <a:t> </a:t>
                </a:r>
              </a:p>
            </p:txBody>
          </p:sp>
        </mc:Fallback>
      </mc:AlternateContent>
      <p:cxnSp>
        <p:nvCxnSpPr>
          <p:cNvPr id="15" name="直線矢印コネクタ 14">
            <a:extLst>
              <a:ext uri="{FF2B5EF4-FFF2-40B4-BE49-F238E27FC236}">
                <a16:creationId xmlns:a16="http://schemas.microsoft.com/office/drawing/2014/main" id="{EF1E494C-E945-05A6-2555-05AC14496C27}"/>
              </a:ext>
            </a:extLst>
          </p:cNvPr>
          <p:cNvCxnSpPr>
            <a:cxnSpLocks/>
            <a:endCxn id="4" idx="2"/>
          </p:cNvCxnSpPr>
          <p:nvPr/>
        </p:nvCxnSpPr>
        <p:spPr>
          <a:xfrm>
            <a:off x="3299838" y="4512115"/>
            <a:ext cx="963596" cy="190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A7BBD8C1-E2FF-F1AE-481C-14371B133EE3}"/>
              </a:ext>
            </a:extLst>
          </p:cNvPr>
          <p:cNvCxnSpPr>
            <a:cxnSpLocks/>
            <a:endCxn id="10" idx="2"/>
          </p:cNvCxnSpPr>
          <p:nvPr/>
        </p:nvCxnSpPr>
        <p:spPr>
          <a:xfrm>
            <a:off x="5299030" y="4584115"/>
            <a:ext cx="877598" cy="262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08212E27-F4A3-C169-ED8F-8CC05AD897F7}"/>
              </a:ext>
            </a:extLst>
          </p:cNvPr>
          <p:cNvCxnSpPr>
            <a:cxnSpLocks/>
            <a:endCxn id="9" idx="2"/>
          </p:cNvCxnSpPr>
          <p:nvPr/>
        </p:nvCxnSpPr>
        <p:spPr>
          <a:xfrm>
            <a:off x="7258092" y="5221467"/>
            <a:ext cx="963124" cy="4702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4C2D99BC-2FE4-4676-68EA-5C64F1C580A7}"/>
              </a:ext>
            </a:extLst>
          </p:cNvPr>
          <p:cNvCxnSpPr>
            <a:cxnSpLocks/>
          </p:cNvCxnSpPr>
          <p:nvPr/>
        </p:nvCxnSpPr>
        <p:spPr>
          <a:xfrm>
            <a:off x="5210160" y="389511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EEAE37CA-26D2-1786-B439-875EDBC26998}"/>
              </a:ext>
            </a:extLst>
          </p:cNvPr>
          <p:cNvCxnSpPr>
            <a:cxnSpLocks/>
          </p:cNvCxnSpPr>
          <p:nvPr/>
        </p:nvCxnSpPr>
        <p:spPr>
          <a:xfrm>
            <a:off x="7209666" y="451445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53879BF0-56A9-1D1B-A844-3A3A655554AB}"/>
              </a:ext>
            </a:extLst>
          </p:cNvPr>
          <p:cNvCxnSpPr>
            <a:cxnSpLocks/>
          </p:cNvCxnSpPr>
          <p:nvPr/>
        </p:nvCxnSpPr>
        <p:spPr>
          <a:xfrm>
            <a:off x="2176300" y="4114656"/>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03DCB728-CD6F-8AC7-A670-35FDA0A40F84}"/>
              </a:ext>
            </a:extLst>
          </p:cNvPr>
          <p:cNvCxnSpPr>
            <a:cxnSpLocks/>
          </p:cNvCxnSpPr>
          <p:nvPr/>
        </p:nvCxnSpPr>
        <p:spPr>
          <a:xfrm>
            <a:off x="1536849" y="519648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772C7C70-ACB1-D440-1BA4-A2B12B62C04C}"/>
              </a:ext>
            </a:extLst>
          </p:cNvPr>
          <p:cNvCxnSpPr>
            <a:cxnSpLocks/>
            <a:endCxn id="6" idx="6"/>
          </p:cNvCxnSpPr>
          <p:nvPr/>
        </p:nvCxnSpPr>
        <p:spPr>
          <a:xfrm flipH="1">
            <a:off x="1140601" y="4765361"/>
            <a:ext cx="982553" cy="153049"/>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2" name="楕円 61">
            <a:extLst>
              <a:ext uri="{FF2B5EF4-FFF2-40B4-BE49-F238E27FC236}">
                <a16:creationId xmlns:a16="http://schemas.microsoft.com/office/drawing/2014/main" id="{29DE564E-413E-238E-C39B-0F1922341CB3}"/>
              </a:ext>
            </a:extLst>
          </p:cNvPr>
          <p:cNvSpPr/>
          <p:nvPr/>
        </p:nvSpPr>
        <p:spPr>
          <a:xfrm>
            <a:off x="4056382" y="561618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CD9B0C27-1D36-43CD-988C-6F96481EAE88}"/>
              </a:ext>
            </a:extLst>
          </p:cNvPr>
          <p:cNvSpPr/>
          <p:nvPr/>
        </p:nvSpPr>
        <p:spPr>
          <a:xfrm>
            <a:off x="6274046" y="586013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AC53DCBD-E58F-3D9D-3B2D-616297EBDDCE}"/>
              </a:ext>
            </a:extLst>
          </p:cNvPr>
          <p:cNvCxnSpPr>
            <a:cxnSpLocks/>
          </p:cNvCxnSpPr>
          <p:nvPr/>
        </p:nvCxnSpPr>
        <p:spPr>
          <a:xfrm>
            <a:off x="4939378" y="5211765"/>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51C5419C-F369-B1D4-7733-18CCB82A63FB}"/>
              </a:ext>
            </a:extLst>
          </p:cNvPr>
          <p:cNvCxnSpPr>
            <a:cxnSpLocks/>
          </p:cNvCxnSpPr>
          <p:nvPr/>
        </p:nvCxnSpPr>
        <p:spPr>
          <a:xfrm>
            <a:off x="5570973" y="5392762"/>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75471F19-F21F-4154-2FDD-83E9F05D9A01}"/>
              </a:ext>
            </a:extLst>
          </p:cNvPr>
          <p:cNvCxnSpPr>
            <a:cxnSpLocks/>
          </p:cNvCxnSpPr>
          <p:nvPr/>
        </p:nvCxnSpPr>
        <p:spPr>
          <a:xfrm>
            <a:off x="4196082" y="5696387"/>
            <a:ext cx="635894" cy="163746"/>
          </a:xfrm>
          <a:prstGeom prst="straightConnector1">
            <a:avLst/>
          </a:prstGeom>
          <a:ln w="44450">
            <a:solidFill>
              <a:srgbClr val="7030A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38397A4B-E368-C58B-B7BD-B0BA0A756F65}"/>
              </a:ext>
            </a:extLst>
          </p:cNvPr>
          <p:cNvCxnSpPr>
            <a:cxnSpLocks/>
          </p:cNvCxnSpPr>
          <p:nvPr/>
        </p:nvCxnSpPr>
        <p:spPr>
          <a:xfrm flipH="1">
            <a:off x="5570973" y="5932133"/>
            <a:ext cx="677655" cy="167639"/>
          </a:xfrm>
          <a:prstGeom prst="straightConnector1">
            <a:avLst/>
          </a:prstGeom>
          <a:ln w="44450">
            <a:solidFill>
              <a:srgbClr val="7030A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3" name="楕円 72">
            <a:extLst>
              <a:ext uri="{FF2B5EF4-FFF2-40B4-BE49-F238E27FC236}">
                <a16:creationId xmlns:a16="http://schemas.microsoft.com/office/drawing/2014/main" id="{02903C3F-516B-3FDD-846C-D437EEEDF2EC}"/>
              </a:ext>
            </a:extLst>
          </p:cNvPr>
          <p:cNvSpPr/>
          <p:nvPr/>
        </p:nvSpPr>
        <p:spPr>
          <a:xfrm>
            <a:off x="6837848" y="412934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A9FF8F97-F9E4-5671-23C9-3214F15386D9}"/>
              </a:ext>
            </a:extLst>
          </p:cNvPr>
          <p:cNvSpPr/>
          <p:nvPr/>
        </p:nvSpPr>
        <p:spPr>
          <a:xfrm>
            <a:off x="10747204" y="482166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FCF0912F-5115-8D86-9E82-481817224EB7}"/>
              </a:ext>
            </a:extLst>
          </p:cNvPr>
          <p:cNvSpPr/>
          <p:nvPr/>
        </p:nvSpPr>
        <p:spPr>
          <a:xfrm>
            <a:off x="8729954" y="451211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直線矢印コネクタ 75">
            <a:extLst>
              <a:ext uri="{FF2B5EF4-FFF2-40B4-BE49-F238E27FC236}">
                <a16:creationId xmlns:a16="http://schemas.microsoft.com/office/drawing/2014/main" id="{42F68525-EE05-30B0-314B-7F9CA94515A6}"/>
              </a:ext>
            </a:extLst>
          </p:cNvPr>
          <p:cNvCxnSpPr>
            <a:cxnSpLocks/>
            <a:endCxn id="75" idx="2"/>
          </p:cNvCxnSpPr>
          <p:nvPr/>
        </p:nvCxnSpPr>
        <p:spPr>
          <a:xfrm>
            <a:off x="7944165" y="4171553"/>
            <a:ext cx="785789" cy="412562"/>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B3515648-2243-A127-169D-65670EA4DC24}"/>
              </a:ext>
            </a:extLst>
          </p:cNvPr>
          <p:cNvCxnSpPr>
            <a:cxnSpLocks/>
          </p:cNvCxnSpPr>
          <p:nvPr/>
        </p:nvCxnSpPr>
        <p:spPr>
          <a:xfrm>
            <a:off x="9858165" y="4715262"/>
            <a:ext cx="877599" cy="153424"/>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5A14FC36-7BE1-8CBA-7895-C21E1977C04A}"/>
              </a:ext>
            </a:extLst>
          </p:cNvPr>
          <p:cNvCxnSpPr>
            <a:cxnSpLocks/>
          </p:cNvCxnSpPr>
          <p:nvPr/>
        </p:nvCxnSpPr>
        <p:spPr>
          <a:xfrm>
            <a:off x="7932772" y="346454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AAE035AD-0609-C9F8-177E-49B7F86E78D5}"/>
              </a:ext>
            </a:extLst>
          </p:cNvPr>
          <p:cNvCxnSpPr>
            <a:cxnSpLocks/>
          </p:cNvCxnSpPr>
          <p:nvPr/>
        </p:nvCxnSpPr>
        <p:spPr>
          <a:xfrm>
            <a:off x="9784080" y="401339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A9245B16-1239-AD58-262C-6638425D1714}"/>
              </a:ext>
            </a:extLst>
          </p:cNvPr>
          <p:cNvCxnSpPr>
            <a:cxnSpLocks/>
          </p:cNvCxnSpPr>
          <p:nvPr/>
        </p:nvCxnSpPr>
        <p:spPr>
          <a:xfrm flipH="1">
            <a:off x="1580975" y="5567345"/>
            <a:ext cx="1105517" cy="292788"/>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DA93E088-A66C-25A0-89FB-91940270AC34}"/>
                  </a:ext>
                </a:extLst>
              </p:cNvPr>
              <p:cNvSpPr txBox="1"/>
              <p:nvPr/>
            </p:nvSpPr>
            <p:spPr>
              <a:xfrm>
                <a:off x="996601" y="3428618"/>
                <a:ext cx="70701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ja-JP" sz="3200" i="1" smtClean="0">
                          <a:solidFill>
                            <a:srgbClr val="7030A0"/>
                          </a:solidFill>
                          <a:latin typeface="Cambria Math" panose="02040503050406030204" pitchFamily="18" charset="0"/>
                        </a:rPr>
                        <m:t>𝑀</m:t>
                      </m:r>
                    </m:oMath>
                  </m:oMathPara>
                </a14:m>
                <a:endParaRPr kumimoji="1" lang="ja-JP" altLang="en-US" sz="3200" dirty="0">
                  <a:solidFill>
                    <a:srgbClr val="7030A0"/>
                  </a:solidFill>
                </a:endParaRPr>
              </a:p>
            </p:txBody>
          </p:sp>
        </mc:Choice>
        <mc:Fallback xmlns="">
          <p:sp>
            <p:nvSpPr>
              <p:cNvPr id="8" name="テキスト ボックス 7">
                <a:extLst>
                  <a:ext uri="{FF2B5EF4-FFF2-40B4-BE49-F238E27FC236}">
                    <a16:creationId xmlns:a16="http://schemas.microsoft.com/office/drawing/2014/main" id="{DA93E088-A66C-25A0-89FB-91940270AC34}"/>
                  </a:ext>
                </a:extLst>
              </p:cNvPr>
              <p:cNvSpPr txBox="1">
                <a:spLocks noRot="1" noChangeAspect="1" noMove="1" noResize="1" noEditPoints="1" noAdjustHandles="1" noChangeArrowheads="1" noChangeShapeType="1" noTextEdit="1"/>
              </p:cNvSpPr>
              <p:nvPr/>
            </p:nvSpPr>
            <p:spPr>
              <a:xfrm>
                <a:off x="996601" y="3428618"/>
                <a:ext cx="707010" cy="584775"/>
              </a:xfrm>
              <a:prstGeom prst="rect">
                <a:avLst/>
              </a:prstGeom>
              <a:blipFill>
                <a:blip r:embed="rId4"/>
                <a:stretch>
                  <a:fillRect/>
                </a:stretch>
              </a:blipFill>
            </p:spPr>
            <p:txBody>
              <a:bodyPr/>
              <a:lstStyle/>
              <a:p>
                <a:r>
                  <a:rPr lang="ja-JP" altLang="en-US">
                    <a:noFill/>
                  </a:rPr>
                  <a:t> </a:t>
                </a:r>
              </a:p>
            </p:txBody>
          </p:sp>
        </mc:Fallback>
      </mc:AlternateContent>
      <p:sp>
        <p:nvSpPr>
          <p:cNvPr id="11" name="楕円 10">
            <a:extLst>
              <a:ext uri="{FF2B5EF4-FFF2-40B4-BE49-F238E27FC236}">
                <a16:creationId xmlns:a16="http://schemas.microsoft.com/office/drawing/2014/main" id="{6AB84712-8E40-AE6A-F428-EBFC3ABA6FE0}"/>
              </a:ext>
            </a:extLst>
          </p:cNvPr>
          <p:cNvSpPr/>
          <p:nvPr/>
        </p:nvSpPr>
        <p:spPr>
          <a:xfrm>
            <a:off x="9869864" y="583149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11">
            <a:extLst>
              <a:ext uri="{FF2B5EF4-FFF2-40B4-BE49-F238E27FC236}">
                <a16:creationId xmlns:a16="http://schemas.microsoft.com/office/drawing/2014/main" id="{D02F0D24-667F-A658-EF22-E91527D5D9DA}"/>
              </a:ext>
            </a:extLst>
          </p:cNvPr>
          <p:cNvSpPr>
            <a:spLocks noGrp="1"/>
          </p:cNvSpPr>
          <p:nvPr>
            <p:ph type="sldNum" sz="quarter" idx="12"/>
          </p:nvPr>
        </p:nvSpPr>
        <p:spPr/>
        <p:txBody>
          <a:bodyPr/>
          <a:lstStyle/>
          <a:p>
            <a:fld id="{4B077F3A-4098-4199-8925-77865D1E3500}" type="slidenum">
              <a:rPr kumimoji="1" lang="ja-JP" altLang="en-US" smtClean="0"/>
              <a:t>38</a:t>
            </a:fld>
            <a:endParaRPr kumimoji="1" lang="ja-JP" altLang="en-US"/>
          </a:p>
        </p:txBody>
      </p:sp>
    </p:spTree>
    <p:extLst>
      <p:ext uri="{BB962C8B-B14F-4D97-AF65-F5344CB8AC3E}">
        <p14:creationId xmlns:p14="http://schemas.microsoft.com/office/powerpoint/2010/main" val="20645034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07247-68FC-60E2-9BCE-1EC420A5DD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370B4B-8F91-2C0A-90E7-1966139187C4}"/>
              </a:ext>
            </a:extLst>
          </p:cNvPr>
          <p:cNvSpPr>
            <a:spLocks noGrp="1"/>
          </p:cNvSpPr>
          <p:nvPr>
            <p:ph type="title"/>
          </p:nvPr>
        </p:nvSpPr>
        <p:spPr/>
        <p:txBody>
          <a:bodyPr/>
          <a:lstStyle/>
          <a:p>
            <a:r>
              <a:rPr lang="ja-JP" altLang="en-US" dirty="0"/>
              <a:t>最適性の説明１</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88CFCAF-3505-5876-DD3A-F4801147DCEE}"/>
                  </a:ext>
                </a:extLst>
              </p:cNvPr>
              <p:cNvSpPr>
                <a:spLocks noGrp="1"/>
              </p:cNvSpPr>
              <p:nvPr>
                <p:ph idx="1"/>
              </p:nvPr>
            </p:nvSpPr>
            <p:spPr>
              <a:xfrm>
                <a:off x="838200" y="1825625"/>
                <a:ext cx="10515600" cy="1499466"/>
              </a:xfrm>
            </p:spPr>
            <p:txBody>
              <a:bodyPr>
                <a:normAutofit/>
              </a:bodyPr>
              <a:lstStyle/>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Sub>
                  </m:oMath>
                </a14:m>
                <a:r>
                  <a:rPr kumimoji="1" lang="ja-JP" altLang="en-US" sz="2400" dirty="0"/>
                  <a:t> の最適マッチング </a:t>
                </a:r>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m:t>
                        </m:r>
                      </m:sup>
                    </m:sSubSup>
                  </m:oMath>
                </a14:m>
                <a:r>
                  <a:rPr kumimoji="1" lang="ja-JP" altLang="en-US" sz="2400" dirty="0"/>
                  <a:t> を固定</a:t>
                </a:r>
                <a:endParaRPr kumimoji="1" lang="en-US" altLang="ja-JP" sz="2400" dirty="0"/>
              </a:p>
              <a:p>
                <a:r>
                  <a:rPr kumimoji="1" lang="ja-JP" altLang="en-US" sz="2400" dirty="0"/>
                  <a:t>任意に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の最適マッチング </a:t>
                </a:r>
                <a14:m>
                  <m:oMath xmlns:m="http://schemas.openxmlformats.org/officeDocument/2006/math">
                    <m:r>
                      <a:rPr kumimoji="1" lang="en-US" altLang="ja-JP" sz="2400" b="0" i="1" smtClean="0">
                        <a:latin typeface="Cambria Math" panose="02040503050406030204" pitchFamily="18" charset="0"/>
                      </a:rPr>
                      <m:t>𝑀</m:t>
                    </m:r>
                  </m:oMath>
                </a14:m>
                <a:r>
                  <a:rPr kumimoji="1" lang="ja-JP" altLang="en-US" sz="2400" dirty="0"/>
                  <a:t> を取り，</a:t>
                </a:r>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b="0" i="1" smtClean="0">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𝑀</m:t>
                    </m:r>
                  </m:oMath>
                </a14:m>
                <a:r>
                  <a:rPr kumimoji="1" lang="ja-JP" altLang="en-US" sz="2400" dirty="0"/>
                  <a:t> を取る</a:t>
                </a:r>
                <a:endParaRPr kumimoji="1" lang="en-US" altLang="ja-JP" sz="2400" dirty="0"/>
              </a:p>
              <a:p>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sub>
                      <m:sup>
                        <m:r>
                          <a:rPr lang="en-US" altLang="ja-JP" sz="2400" i="1">
                            <a:latin typeface="Cambria Math" panose="02040503050406030204" pitchFamily="18" charset="0"/>
                          </a:rPr>
                          <m:t>∗</m:t>
                        </m:r>
                      </m:sup>
                    </m:sSubSup>
                    <m:r>
                      <a:rPr lang="en-US" altLang="ja-JP" sz="2400" i="1">
                        <a:latin typeface="Cambria Math" panose="02040503050406030204" pitchFamily="18" charset="0"/>
                      </a:rPr>
                      <m:t>⊕</m:t>
                    </m:r>
                    <m:r>
                      <a:rPr lang="en-US" altLang="ja-JP" sz="2400" i="1">
                        <a:latin typeface="Cambria Math" panose="02040503050406030204" pitchFamily="18" charset="0"/>
                      </a:rPr>
                      <m:t>𝑀</m:t>
                    </m:r>
                  </m:oMath>
                </a14:m>
                <a:r>
                  <a:rPr kumimoji="1" lang="ja-JP" altLang="en-US" sz="2400" dirty="0"/>
                  <a:t> は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a:t>
                </a:r>
                <a:r>
                  <a:rPr lang="ja-JP" altLang="en-US" sz="2400" dirty="0"/>
                  <a:t>を端点に持つ増加道 </a:t>
                </a:r>
                <a14:m>
                  <m:oMath xmlns:m="http://schemas.openxmlformats.org/officeDocument/2006/math">
                    <m:r>
                      <a:rPr lang="en-US" altLang="ja-JP" sz="2400" b="0" i="1" smtClean="0">
                        <a:latin typeface="Cambria Math" panose="02040503050406030204" pitchFamily="18" charset="0"/>
                      </a:rPr>
                      <m:t>𝑃</m:t>
                    </m:r>
                  </m:oMath>
                </a14:m>
                <a:r>
                  <a:rPr kumimoji="1" lang="ja-JP" altLang="en-US" sz="2400" dirty="0"/>
                  <a:t> が存在する</a:t>
                </a:r>
              </a:p>
            </p:txBody>
          </p:sp>
        </mc:Choice>
        <mc:Fallback xmlns="">
          <p:sp>
            <p:nvSpPr>
              <p:cNvPr id="3" name="コンテンツ プレースホルダー 2">
                <a:extLst>
                  <a:ext uri="{FF2B5EF4-FFF2-40B4-BE49-F238E27FC236}">
                    <a16:creationId xmlns:a16="http://schemas.microsoft.com/office/drawing/2014/main" id="{988CFCAF-3505-5876-DD3A-F4801147DCEE}"/>
                  </a:ext>
                </a:extLst>
              </p:cNvPr>
              <p:cNvSpPr>
                <a:spLocks noGrp="1" noRot="1" noChangeAspect="1" noMove="1" noResize="1" noEditPoints="1" noAdjustHandles="1" noChangeArrowheads="1" noChangeShapeType="1" noTextEdit="1"/>
              </p:cNvSpPr>
              <p:nvPr>
                <p:ph idx="1"/>
              </p:nvPr>
            </p:nvSpPr>
            <p:spPr>
              <a:xfrm>
                <a:off x="838200" y="1825625"/>
                <a:ext cx="10515600" cy="1499466"/>
              </a:xfrm>
              <a:blipFill>
                <a:blip r:embed="rId2"/>
                <a:stretch>
                  <a:fillRect l="-812" t="-528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CF566D75-A68B-0F86-FC38-BBE8A2D6F4CD}"/>
              </a:ext>
            </a:extLst>
          </p:cNvPr>
          <p:cNvSpPr/>
          <p:nvPr/>
        </p:nvSpPr>
        <p:spPr>
          <a:xfrm>
            <a:off x="4263434" y="4630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5E72A9CE-BB7B-6326-6E35-30EC0B967E5D}"/>
              </a:ext>
            </a:extLst>
          </p:cNvPr>
          <p:cNvSpPr/>
          <p:nvPr/>
        </p:nvSpPr>
        <p:spPr>
          <a:xfrm>
            <a:off x="2724616" y="549327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7A615263-7FE6-5A75-C7D9-1F074CAAC9CD}"/>
              </a:ext>
            </a:extLst>
          </p:cNvPr>
          <p:cNvSpPr/>
          <p:nvPr/>
        </p:nvSpPr>
        <p:spPr>
          <a:xfrm>
            <a:off x="996601" y="4846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1A2EF6F7-85C3-06BD-1434-5D62FE51DDF9}"/>
              </a:ext>
            </a:extLst>
          </p:cNvPr>
          <p:cNvSpPr/>
          <p:nvPr/>
        </p:nvSpPr>
        <p:spPr>
          <a:xfrm>
            <a:off x="8221216" y="519648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9A840B6-2201-99D1-F061-42A81E5301E9}"/>
              </a:ext>
            </a:extLst>
          </p:cNvPr>
          <p:cNvSpPr/>
          <p:nvPr/>
        </p:nvSpPr>
        <p:spPr>
          <a:xfrm>
            <a:off x="6176628" y="4774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E5CD4589-76C2-1CC7-7177-062A61391217}"/>
              </a:ext>
            </a:extLst>
          </p:cNvPr>
          <p:cNvCxnSpPr>
            <a:cxnSpLocks/>
          </p:cNvCxnSpPr>
          <p:nvPr/>
        </p:nvCxnSpPr>
        <p:spPr>
          <a:xfrm>
            <a:off x="3299838" y="381804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B744AB5E-6950-1131-7B3E-21C32BF77203}"/>
                  </a:ext>
                </a:extLst>
              </p:cNvPr>
              <p:cNvSpPr txBox="1"/>
              <p:nvPr/>
            </p:nvSpPr>
            <p:spPr>
              <a:xfrm>
                <a:off x="3092448" y="336444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m:oMathPara>
                </a14:m>
                <a:endParaRPr kumimoji="1" lang="ja-JP" altLang="en-US" sz="2000" dirty="0"/>
              </a:p>
            </p:txBody>
          </p:sp>
        </mc:Choice>
        <mc:Fallback xmlns="">
          <p:sp>
            <p:nvSpPr>
              <p:cNvPr id="14" name="テキスト ボックス 13">
                <a:extLst>
                  <a:ext uri="{FF2B5EF4-FFF2-40B4-BE49-F238E27FC236}">
                    <a16:creationId xmlns:a16="http://schemas.microsoft.com/office/drawing/2014/main" id="{B744AB5E-6950-1131-7B3E-21C32BF77203}"/>
                  </a:ext>
                </a:extLst>
              </p:cNvPr>
              <p:cNvSpPr txBox="1">
                <a:spLocks noRot="1" noChangeAspect="1" noMove="1" noResize="1" noEditPoints="1" noAdjustHandles="1" noChangeArrowheads="1" noChangeShapeType="1" noTextEdit="1"/>
              </p:cNvSpPr>
              <p:nvPr/>
            </p:nvSpPr>
            <p:spPr>
              <a:xfrm>
                <a:off x="3092448" y="3364440"/>
                <a:ext cx="414780" cy="400174"/>
              </a:xfrm>
              <a:prstGeom prst="rect">
                <a:avLst/>
              </a:prstGeom>
              <a:blipFill>
                <a:blip r:embed="rId3"/>
                <a:stretch>
                  <a:fillRect/>
                </a:stretch>
              </a:blipFill>
            </p:spPr>
            <p:txBody>
              <a:bodyPr/>
              <a:lstStyle/>
              <a:p>
                <a:r>
                  <a:rPr lang="ja-JP" altLang="en-US">
                    <a:noFill/>
                  </a:rPr>
                  <a:t> </a:t>
                </a:r>
              </a:p>
            </p:txBody>
          </p:sp>
        </mc:Fallback>
      </mc:AlternateContent>
      <p:cxnSp>
        <p:nvCxnSpPr>
          <p:cNvPr id="15" name="直線矢印コネクタ 14">
            <a:extLst>
              <a:ext uri="{FF2B5EF4-FFF2-40B4-BE49-F238E27FC236}">
                <a16:creationId xmlns:a16="http://schemas.microsoft.com/office/drawing/2014/main" id="{CDD9A88E-1B9F-3030-8469-651A00C70BCF}"/>
              </a:ext>
            </a:extLst>
          </p:cNvPr>
          <p:cNvCxnSpPr>
            <a:cxnSpLocks/>
            <a:endCxn id="4" idx="2"/>
          </p:cNvCxnSpPr>
          <p:nvPr/>
        </p:nvCxnSpPr>
        <p:spPr>
          <a:xfrm>
            <a:off x="3299838" y="4512115"/>
            <a:ext cx="963596" cy="190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D0B94672-FA76-C86B-A6B3-58AB2CF7EB2F}"/>
              </a:ext>
            </a:extLst>
          </p:cNvPr>
          <p:cNvCxnSpPr>
            <a:cxnSpLocks/>
            <a:endCxn id="10" idx="2"/>
          </p:cNvCxnSpPr>
          <p:nvPr/>
        </p:nvCxnSpPr>
        <p:spPr>
          <a:xfrm>
            <a:off x="5299030" y="4584115"/>
            <a:ext cx="877598" cy="262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F4EBE3E8-94BF-980A-E0AD-C450F092FE27}"/>
              </a:ext>
            </a:extLst>
          </p:cNvPr>
          <p:cNvCxnSpPr>
            <a:cxnSpLocks/>
            <a:endCxn id="9" idx="2"/>
          </p:cNvCxnSpPr>
          <p:nvPr/>
        </p:nvCxnSpPr>
        <p:spPr>
          <a:xfrm>
            <a:off x="7258092" y="5221467"/>
            <a:ext cx="963124" cy="4702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01AC6C32-38B6-EA04-184A-ABA440F0688A}"/>
              </a:ext>
            </a:extLst>
          </p:cNvPr>
          <p:cNvCxnSpPr>
            <a:cxnSpLocks/>
            <a:stCxn id="4" idx="6"/>
          </p:cNvCxnSpPr>
          <p:nvPr/>
        </p:nvCxnSpPr>
        <p:spPr>
          <a:xfrm flipV="1">
            <a:off x="4407434" y="4584115"/>
            <a:ext cx="747596" cy="11829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31D0075E-6457-321D-E849-2791D49ECEA2}"/>
              </a:ext>
            </a:extLst>
          </p:cNvPr>
          <p:cNvCxnSpPr>
            <a:cxnSpLocks/>
            <a:stCxn id="10" idx="5"/>
          </p:cNvCxnSpPr>
          <p:nvPr/>
        </p:nvCxnSpPr>
        <p:spPr>
          <a:xfrm>
            <a:off x="6299540" y="4897322"/>
            <a:ext cx="814552" cy="32414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24DCB7F5-A156-362A-69F4-3F4B2DC171D0}"/>
              </a:ext>
            </a:extLst>
          </p:cNvPr>
          <p:cNvCxnSpPr>
            <a:cxnSpLocks/>
          </p:cNvCxnSpPr>
          <p:nvPr/>
        </p:nvCxnSpPr>
        <p:spPr>
          <a:xfrm>
            <a:off x="5210160" y="389511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6620DE04-37B4-DB5B-B623-59F7E3CE4C86}"/>
              </a:ext>
            </a:extLst>
          </p:cNvPr>
          <p:cNvCxnSpPr>
            <a:cxnSpLocks/>
          </p:cNvCxnSpPr>
          <p:nvPr/>
        </p:nvCxnSpPr>
        <p:spPr>
          <a:xfrm>
            <a:off x="7209666" y="451445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E0C7EEE5-9B73-9BAF-FCED-4B8C810E6A42}"/>
              </a:ext>
            </a:extLst>
          </p:cNvPr>
          <p:cNvCxnSpPr>
            <a:cxnSpLocks/>
          </p:cNvCxnSpPr>
          <p:nvPr/>
        </p:nvCxnSpPr>
        <p:spPr>
          <a:xfrm>
            <a:off x="2176300" y="4114656"/>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DAD60181-4976-0938-3DB3-645638087CEA}"/>
              </a:ext>
            </a:extLst>
          </p:cNvPr>
          <p:cNvCxnSpPr>
            <a:cxnSpLocks/>
          </p:cNvCxnSpPr>
          <p:nvPr/>
        </p:nvCxnSpPr>
        <p:spPr>
          <a:xfrm>
            <a:off x="1536849" y="519648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18637016-F544-75B8-3A76-2D8516969C45}"/>
              </a:ext>
            </a:extLst>
          </p:cNvPr>
          <p:cNvCxnSpPr>
            <a:cxnSpLocks/>
            <a:endCxn id="6" idx="6"/>
          </p:cNvCxnSpPr>
          <p:nvPr/>
        </p:nvCxnSpPr>
        <p:spPr>
          <a:xfrm flipH="1">
            <a:off x="1140601" y="4765361"/>
            <a:ext cx="982553" cy="153049"/>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73D56EC8-D7D1-E123-5116-3D64AE0A086A}"/>
              </a:ext>
            </a:extLst>
          </p:cNvPr>
          <p:cNvCxnSpPr>
            <a:cxnSpLocks/>
          </p:cNvCxnSpPr>
          <p:nvPr/>
        </p:nvCxnSpPr>
        <p:spPr>
          <a:xfrm flipH="1" flipV="1">
            <a:off x="2246066" y="4821666"/>
            <a:ext cx="478550" cy="671604"/>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6C9ACE3B-C729-92A0-C4E8-87FC46BA9B36}"/>
              </a:ext>
            </a:extLst>
          </p:cNvPr>
          <p:cNvCxnSpPr>
            <a:cxnSpLocks/>
          </p:cNvCxnSpPr>
          <p:nvPr/>
        </p:nvCxnSpPr>
        <p:spPr>
          <a:xfrm>
            <a:off x="1081278" y="5026562"/>
            <a:ext cx="359997" cy="73327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2" name="楕円 61">
            <a:extLst>
              <a:ext uri="{FF2B5EF4-FFF2-40B4-BE49-F238E27FC236}">
                <a16:creationId xmlns:a16="http://schemas.microsoft.com/office/drawing/2014/main" id="{92888B44-A4A3-C25A-9AE9-19546FA8EFA0}"/>
              </a:ext>
            </a:extLst>
          </p:cNvPr>
          <p:cNvSpPr/>
          <p:nvPr/>
        </p:nvSpPr>
        <p:spPr>
          <a:xfrm>
            <a:off x="4056382" y="561618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CD4A8F0D-91E7-2C90-F273-FC9E54BC95A4}"/>
              </a:ext>
            </a:extLst>
          </p:cNvPr>
          <p:cNvSpPr/>
          <p:nvPr/>
        </p:nvSpPr>
        <p:spPr>
          <a:xfrm>
            <a:off x="6274046" y="586013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761E6394-E500-7539-A2AC-DA8A6585BB88}"/>
              </a:ext>
            </a:extLst>
          </p:cNvPr>
          <p:cNvCxnSpPr>
            <a:cxnSpLocks/>
          </p:cNvCxnSpPr>
          <p:nvPr/>
        </p:nvCxnSpPr>
        <p:spPr>
          <a:xfrm>
            <a:off x="4939378" y="5211765"/>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C0121152-7C6B-1BDD-CE91-78501AF11ACB}"/>
              </a:ext>
            </a:extLst>
          </p:cNvPr>
          <p:cNvCxnSpPr>
            <a:cxnSpLocks/>
          </p:cNvCxnSpPr>
          <p:nvPr/>
        </p:nvCxnSpPr>
        <p:spPr>
          <a:xfrm>
            <a:off x="5570973" y="5392762"/>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楕円 72">
            <a:extLst>
              <a:ext uri="{FF2B5EF4-FFF2-40B4-BE49-F238E27FC236}">
                <a16:creationId xmlns:a16="http://schemas.microsoft.com/office/drawing/2014/main" id="{AEFAB5D9-6136-5BF9-6605-D7B60AF5E8B1}"/>
              </a:ext>
            </a:extLst>
          </p:cNvPr>
          <p:cNvSpPr/>
          <p:nvPr/>
        </p:nvSpPr>
        <p:spPr>
          <a:xfrm>
            <a:off x="6837848" y="412934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5A33F2D7-EEC6-6EEB-3009-0520FFE7C271}"/>
              </a:ext>
            </a:extLst>
          </p:cNvPr>
          <p:cNvSpPr/>
          <p:nvPr/>
        </p:nvSpPr>
        <p:spPr>
          <a:xfrm>
            <a:off x="10747204" y="482166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1F133A48-B91D-E83A-066E-13E699C404A2}"/>
              </a:ext>
            </a:extLst>
          </p:cNvPr>
          <p:cNvSpPr/>
          <p:nvPr/>
        </p:nvSpPr>
        <p:spPr>
          <a:xfrm>
            <a:off x="8729954" y="451211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直線矢印コネクタ 75">
            <a:extLst>
              <a:ext uri="{FF2B5EF4-FFF2-40B4-BE49-F238E27FC236}">
                <a16:creationId xmlns:a16="http://schemas.microsoft.com/office/drawing/2014/main" id="{94B50FEC-42FA-37B5-A764-148B693FB816}"/>
              </a:ext>
            </a:extLst>
          </p:cNvPr>
          <p:cNvCxnSpPr>
            <a:cxnSpLocks/>
            <a:endCxn id="75" idx="2"/>
          </p:cNvCxnSpPr>
          <p:nvPr/>
        </p:nvCxnSpPr>
        <p:spPr>
          <a:xfrm>
            <a:off x="7944165" y="4171553"/>
            <a:ext cx="785789" cy="412562"/>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C61727BD-2570-5110-2EFD-D6219717F546}"/>
              </a:ext>
            </a:extLst>
          </p:cNvPr>
          <p:cNvCxnSpPr>
            <a:cxnSpLocks/>
          </p:cNvCxnSpPr>
          <p:nvPr/>
        </p:nvCxnSpPr>
        <p:spPr>
          <a:xfrm>
            <a:off x="9858165" y="4715262"/>
            <a:ext cx="877599" cy="153424"/>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A167E756-5B37-025F-D4B6-CDB3311ED43E}"/>
              </a:ext>
            </a:extLst>
          </p:cNvPr>
          <p:cNvCxnSpPr>
            <a:cxnSpLocks/>
            <a:stCxn id="73" idx="6"/>
          </p:cNvCxnSpPr>
          <p:nvPr/>
        </p:nvCxnSpPr>
        <p:spPr>
          <a:xfrm flipV="1">
            <a:off x="6981848" y="4129346"/>
            <a:ext cx="818317" cy="72000"/>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258DFD57-4FF4-4524-5485-2B79FE8E7314}"/>
              </a:ext>
            </a:extLst>
          </p:cNvPr>
          <p:cNvCxnSpPr>
            <a:cxnSpLocks/>
          </p:cNvCxnSpPr>
          <p:nvPr/>
        </p:nvCxnSpPr>
        <p:spPr>
          <a:xfrm>
            <a:off x="8873953" y="4599748"/>
            <a:ext cx="814552" cy="5636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6555D6FA-FD38-2158-FF66-C9CEA1BC72F7}"/>
              </a:ext>
            </a:extLst>
          </p:cNvPr>
          <p:cNvCxnSpPr>
            <a:cxnSpLocks/>
          </p:cNvCxnSpPr>
          <p:nvPr/>
        </p:nvCxnSpPr>
        <p:spPr>
          <a:xfrm>
            <a:off x="7932772" y="346454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54918F55-6B8F-FA14-A155-AA7F1270309C}"/>
              </a:ext>
            </a:extLst>
          </p:cNvPr>
          <p:cNvCxnSpPr>
            <a:cxnSpLocks/>
          </p:cNvCxnSpPr>
          <p:nvPr/>
        </p:nvCxnSpPr>
        <p:spPr>
          <a:xfrm>
            <a:off x="9784080" y="401339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C94C73D3-2536-A44F-FD57-B4B8DDB10986}"/>
              </a:ext>
            </a:extLst>
          </p:cNvPr>
          <p:cNvCxnSpPr>
            <a:cxnSpLocks/>
          </p:cNvCxnSpPr>
          <p:nvPr/>
        </p:nvCxnSpPr>
        <p:spPr>
          <a:xfrm flipH="1">
            <a:off x="1580975" y="5567345"/>
            <a:ext cx="1105517" cy="292788"/>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8FC35139-87D9-5BD7-B10B-1826E1DE923D}"/>
                  </a:ext>
                </a:extLst>
              </p:cNvPr>
              <p:cNvSpPr txBox="1"/>
              <p:nvPr/>
            </p:nvSpPr>
            <p:spPr>
              <a:xfrm>
                <a:off x="8883697" y="3100555"/>
                <a:ext cx="2479843" cy="5850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3200" i="1" smtClean="0">
                              <a:solidFill>
                                <a:schemeClr val="accent2"/>
                              </a:solidFill>
                              <a:latin typeface="Cambria Math" panose="02040503050406030204" pitchFamily="18" charset="0"/>
                            </a:rPr>
                          </m:ctrlPr>
                        </m:sSubSupPr>
                        <m:e>
                          <m:r>
                            <a:rPr lang="en-US" altLang="ja-JP" sz="3200" i="1">
                              <a:solidFill>
                                <a:schemeClr val="accent2"/>
                              </a:solidFill>
                              <a:latin typeface="Cambria Math" panose="02040503050406030204" pitchFamily="18" charset="0"/>
                            </a:rPr>
                            <m:t>𝑀</m:t>
                          </m:r>
                        </m:e>
                        <m:sub>
                          <m:r>
                            <a:rPr lang="en-US" altLang="ja-JP" sz="3200" i="1">
                              <a:solidFill>
                                <a:schemeClr val="accent2"/>
                              </a:solidFill>
                              <a:latin typeface="Cambria Math" panose="02040503050406030204" pitchFamily="18" charset="0"/>
                            </a:rPr>
                            <m:t>𝑖</m:t>
                          </m:r>
                          <m:r>
                            <a:rPr lang="en-US" altLang="ja-JP" sz="3200" i="1">
                              <a:solidFill>
                                <a:schemeClr val="accent2"/>
                              </a:solidFill>
                              <a:latin typeface="Cambria Math" panose="02040503050406030204" pitchFamily="18" charset="0"/>
                            </a:rPr>
                            <m:t>−1</m:t>
                          </m:r>
                        </m:sub>
                        <m:sup>
                          <m:r>
                            <a:rPr lang="en-US" altLang="ja-JP" sz="3200" i="1">
                              <a:solidFill>
                                <a:schemeClr val="accent2"/>
                              </a:solidFill>
                              <a:latin typeface="Cambria Math" panose="02040503050406030204" pitchFamily="18" charset="0"/>
                            </a:rPr>
                            <m:t>∗</m:t>
                          </m:r>
                        </m:sup>
                      </m:sSubSup>
                      <m:r>
                        <a:rPr lang="en-US" altLang="ja-JP" sz="3200" i="1">
                          <a:latin typeface="Cambria Math" panose="02040503050406030204" pitchFamily="18" charset="0"/>
                        </a:rPr>
                        <m:t>⊕</m:t>
                      </m:r>
                      <m:r>
                        <a:rPr lang="en-US" altLang="ja-JP" sz="3200" i="1" smtClean="0">
                          <a:solidFill>
                            <a:srgbClr val="7030A0"/>
                          </a:solidFill>
                          <a:latin typeface="Cambria Math" panose="02040503050406030204" pitchFamily="18" charset="0"/>
                        </a:rPr>
                        <m:t>𝑀</m:t>
                      </m:r>
                    </m:oMath>
                  </m:oMathPara>
                </a14:m>
                <a:endParaRPr kumimoji="1" lang="ja-JP" altLang="en-US" sz="3200" dirty="0"/>
              </a:p>
            </p:txBody>
          </p:sp>
        </mc:Choice>
        <mc:Fallback xmlns="">
          <p:sp>
            <p:nvSpPr>
              <p:cNvPr id="8" name="テキスト ボックス 7">
                <a:extLst>
                  <a:ext uri="{FF2B5EF4-FFF2-40B4-BE49-F238E27FC236}">
                    <a16:creationId xmlns:a16="http://schemas.microsoft.com/office/drawing/2014/main" id="{8FC35139-87D9-5BD7-B10B-1826E1DE923D}"/>
                  </a:ext>
                </a:extLst>
              </p:cNvPr>
              <p:cNvSpPr txBox="1">
                <a:spLocks noRot="1" noChangeAspect="1" noMove="1" noResize="1" noEditPoints="1" noAdjustHandles="1" noChangeArrowheads="1" noChangeShapeType="1" noTextEdit="1"/>
              </p:cNvSpPr>
              <p:nvPr/>
            </p:nvSpPr>
            <p:spPr>
              <a:xfrm>
                <a:off x="8883697" y="3100555"/>
                <a:ext cx="2479843" cy="585097"/>
              </a:xfrm>
              <a:prstGeom prst="rect">
                <a:avLst/>
              </a:prstGeom>
              <a:blipFill>
                <a:blip r:embed="rId4"/>
                <a:stretch>
                  <a:fillRect/>
                </a:stretch>
              </a:blipFill>
            </p:spPr>
            <p:txBody>
              <a:bodyPr/>
              <a:lstStyle/>
              <a:p>
                <a:r>
                  <a:rPr lang="ja-JP" altLang="en-US">
                    <a:noFill/>
                  </a:rPr>
                  <a:t> </a:t>
                </a:r>
              </a:p>
            </p:txBody>
          </p:sp>
        </mc:Fallback>
      </mc:AlternateContent>
      <p:sp>
        <p:nvSpPr>
          <p:cNvPr id="11" name="楕円 10">
            <a:extLst>
              <a:ext uri="{FF2B5EF4-FFF2-40B4-BE49-F238E27FC236}">
                <a16:creationId xmlns:a16="http://schemas.microsoft.com/office/drawing/2014/main" id="{94D0749F-2229-F3CA-D7EC-4167C7545769}"/>
              </a:ext>
            </a:extLst>
          </p:cNvPr>
          <p:cNvSpPr/>
          <p:nvPr/>
        </p:nvSpPr>
        <p:spPr>
          <a:xfrm>
            <a:off x="9869864" y="583149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11">
            <a:extLst>
              <a:ext uri="{FF2B5EF4-FFF2-40B4-BE49-F238E27FC236}">
                <a16:creationId xmlns:a16="http://schemas.microsoft.com/office/drawing/2014/main" id="{44DD9D9F-FA0B-B4B8-918D-39302F67BA7E}"/>
              </a:ext>
            </a:extLst>
          </p:cNvPr>
          <p:cNvSpPr>
            <a:spLocks noGrp="1"/>
          </p:cNvSpPr>
          <p:nvPr>
            <p:ph type="sldNum" sz="quarter" idx="12"/>
          </p:nvPr>
        </p:nvSpPr>
        <p:spPr/>
        <p:txBody>
          <a:bodyPr/>
          <a:lstStyle/>
          <a:p>
            <a:fld id="{4B077F3A-4098-4199-8925-77865D1E3500}" type="slidenum">
              <a:rPr kumimoji="1" lang="ja-JP" altLang="en-US" smtClean="0"/>
              <a:t>39</a:t>
            </a:fld>
            <a:endParaRPr kumimoji="1" lang="ja-JP" altLang="en-US"/>
          </a:p>
        </p:txBody>
      </p:sp>
    </p:spTree>
    <p:extLst>
      <p:ext uri="{BB962C8B-B14F-4D97-AF65-F5344CB8AC3E}">
        <p14:creationId xmlns:p14="http://schemas.microsoft.com/office/powerpoint/2010/main" val="23465364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203DB-3B1E-73D1-3AC3-E3AE87CA3D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86EE83-98C3-3877-7079-B49FE15C501E}"/>
              </a:ext>
            </a:extLst>
          </p:cNvPr>
          <p:cNvSpPr>
            <a:spLocks noGrp="1"/>
          </p:cNvSpPr>
          <p:nvPr>
            <p:ph type="title"/>
          </p:nvPr>
        </p:nvSpPr>
        <p:spPr/>
        <p:txBody>
          <a:bodyPr/>
          <a:lstStyle/>
          <a:p>
            <a:r>
              <a:rPr lang="ja-JP" altLang="en-US" dirty="0"/>
              <a:t>最適性の説明１</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B4AC0BA-39C7-C870-B10F-B1B402E48BA6}"/>
                  </a:ext>
                </a:extLst>
              </p:cNvPr>
              <p:cNvSpPr>
                <a:spLocks noGrp="1"/>
              </p:cNvSpPr>
              <p:nvPr>
                <p:ph idx="1"/>
              </p:nvPr>
            </p:nvSpPr>
            <p:spPr>
              <a:xfrm>
                <a:off x="838200" y="1825625"/>
                <a:ext cx="10515600" cy="1499466"/>
              </a:xfrm>
            </p:spPr>
            <p:txBody>
              <a:bodyPr>
                <a:normAutofit/>
              </a:bodyPr>
              <a:lstStyle/>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Sub>
                  </m:oMath>
                </a14:m>
                <a:r>
                  <a:rPr kumimoji="1" lang="ja-JP" altLang="en-US" sz="2400" dirty="0"/>
                  <a:t> の最適マッチング </a:t>
                </a:r>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m:t>
                        </m:r>
                      </m:sup>
                    </m:sSubSup>
                  </m:oMath>
                </a14:m>
                <a:r>
                  <a:rPr kumimoji="1" lang="ja-JP" altLang="en-US" sz="2400" dirty="0"/>
                  <a:t> を固定</a:t>
                </a:r>
                <a:endParaRPr kumimoji="1" lang="en-US" altLang="ja-JP" sz="2400" dirty="0"/>
              </a:p>
              <a:p>
                <a:r>
                  <a:rPr kumimoji="1" lang="ja-JP" altLang="en-US" sz="2400" dirty="0"/>
                  <a:t>任意に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の最適マッチング </a:t>
                </a:r>
                <a14:m>
                  <m:oMath xmlns:m="http://schemas.openxmlformats.org/officeDocument/2006/math">
                    <m:r>
                      <a:rPr kumimoji="1" lang="en-US" altLang="ja-JP" sz="2400" b="0" i="1" smtClean="0">
                        <a:latin typeface="Cambria Math" panose="02040503050406030204" pitchFamily="18" charset="0"/>
                      </a:rPr>
                      <m:t>𝑀</m:t>
                    </m:r>
                  </m:oMath>
                </a14:m>
                <a:r>
                  <a:rPr kumimoji="1" lang="ja-JP" altLang="en-US" sz="2400" dirty="0"/>
                  <a:t> を取り，</a:t>
                </a:r>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b="0" i="1" smtClean="0">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𝑀</m:t>
                    </m:r>
                  </m:oMath>
                </a14:m>
                <a:r>
                  <a:rPr kumimoji="1" lang="ja-JP" altLang="en-US" sz="2400" dirty="0"/>
                  <a:t> を取る</a:t>
                </a:r>
                <a:endParaRPr kumimoji="1" lang="en-US" altLang="ja-JP" sz="2400" dirty="0"/>
              </a:p>
              <a:p>
                <a14:m>
                  <m:oMath xmlns:m="http://schemas.openxmlformats.org/officeDocument/2006/math">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sub>
                      <m:sup>
                        <m:r>
                          <a:rPr lang="en-US" altLang="ja-JP" sz="2400" i="1">
                            <a:latin typeface="Cambria Math" panose="02040503050406030204" pitchFamily="18" charset="0"/>
                          </a:rPr>
                          <m:t>∗</m:t>
                        </m:r>
                      </m:sup>
                    </m:sSubSup>
                    <m:r>
                      <a:rPr lang="en-US" altLang="ja-JP" sz="2400" i="1">
                        <a:latin typeface="Cambria Math" panose="02040503050406030204" pitchFamily="18" charset="0"/>
                      </a:rPr>
                      <m:t>⊕</m:t>
                    </m:r>
                    <m:r>
                      <a:rPr lang="en-US" altLang="ja-JP" sz="2400" i="1">
                        <a:latin typeface="Cambria Math" panose="02040503050406030204" pitchFamily="18" charset="0"/>
                      </a:rPr>
                      <m:t>𝑀</m:t>
                    </m:r>
                  </m:oMath>
                </a14:m>
                <a:r>
                  <a:rPr kumimoji="1" lang="ja-JP" altLang="en-US" sz="2400" dirty="0"/>
                  <a:t> は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a:t>
                </a:r>
                <a:r>
                  <a:rPr lang="ja-JP" altLang="en-US" sz="2400" dirty="0"/>
                  <a:t>を端点に持つ増加道 </a:t>
                </a:r>
                <a14:m>
                  <m:oMath xmlns:m="http://schemas.openxmlformats.org/officeDocument/2006/math">
                    <m:r>
                      <a:rPr lang="en-US" altLang="ja-JP" sz="2400" b="0" i="1" smtClean="0">
                        <a:latin typeface="Cambria Math" panose="02040503050406030204" pitchFamily="18" charset="0"/>
                      </a:rPr>
                      <m:t>𝑃</m:t>
                    </m:r>
                  </m:oMath>
                </a14:m>
                <a:r>
                  <a:rPr kumimoji="1" lang="ja-JP" altLang="en-US" sz="2400" dirty="0"/>
                  <a:t> が存在する</a:t>
                </a:r>
              </a:p>
            </p:txBody>
          </p:sp>
        </mc:Choice>
        <mc:Fallback xmlns="">
          <p:sp>
            <p:nvSpPr>
              <p:cNvPr id="3" name="コンテンツ プレースホルダー 2">
                <a:extLst>
                  <a:ext uri="{FF2B5EF4-FFF2-40B4-BE49-F238E27FC236}">
                    <a16:creationId xmlns:a16="http://schemas.microsoft.com/office/drawing/2014/main" id="{3B4AC0BA-39C7-C870-B10F-B1B402E48BA6}"/>
                  </a:ext>
                </a:extLst>
              </p:cNvPr>
              <p:cNvSpPr>
                <a:spLocks noGrp="1" noRot="1" noChangeAspect="1" noMove="1" noResize="1" noEditPoints="1" noAdjustHandles="1" noChangeArrowheads="1" noChangeShapeType="1" noTextEdit="1"/>
              </p:cNvSpPr>
              <p:nvPr>
                <p:ph idx="1"/>
              </p:nvPr>
            </p:nvSpPr>
            <p:spPr>
              <a:xfrm>
                <a:off x="838200" y="1825625"/>
                <a:ext cx="10515600" cy="1499466"/>
              </a:xfrm>
              <a:blipFill>
                <a:blip r:embed="rId2"/>
                <a:stretch>
                  <a:fillRect l="-812" t="-528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0B5A4633-39EC-D7F2-49F7-48A3774FDBC8}"/>
              </a:ext>
            </a:extLst>
          </p:cNvPr>
          <p:cNvSpPr/>
          <p:nvPr/>
        </p:nvSpPr>
        <p:spPr>
          <a:xfrm>
            <a:off x="4263434" y="4630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42C13736-862B-C456-C8DB-0AB2D411C794}"/>
              </a:ext>
            </a:extLst>
          </p:cNvPr>
          <p:cNvSpPr/>
          <p:nvPr/>
        </p:nvSpPr>
        <p:spPr>
          <a:xfrm>
            <a:off x="2724616" y="549327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ECEC1B0F-0AA5-15C3-B762-6FC2D09850C0}"/>
              </a:ext>
            </a:extLst>
          </p:cNvPr>
          <p:cNvSpPr/>
          <p:nvPr/>
        </p:nvSpPr>
        <p:spPr>
          <a:xfrm>
            <a:off x="996601" y="4846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8EC89685-14B1-C74F-080B-10A15E396BE6}"/>
              </a:ext>
            </a:extLst>
          </p:cNvPr>
          <p:cNvSpPr/>
          <p:nvPr/>
        </p:nvSpPr>
        <p:spPr>
          <a:xfrm>
            <a:off x="8221216" y="519648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AEF0151-9DFA-8A29-5DC7-497A86AAA3E6}"/>
              </a:ext>
            </a:extLst>
          </p:cNvPr>
          <p:cNvSpPr/>
          <p:nvPr/>
        </p:nvSpPr>
        <p:spPr>
          <a:xfrm>
            <a:off x="6176628" y="4774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38F22647-689D-EF0C-DC64-301B784C8BD3}"/>
              </a:ext>
            </a:extLst>
          </p:cNvPr>
          <p:cNvCxnSpPr>
            <a:cxnSpLocks/>
          </p:cNvCxnSpPr>
          <p:nvPr/>
        </p:nvCxnSpPr>
        <p:spPr>
          <a:xfrm>
            <a:off x="3299838" y="381804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567E86C4-19CB-EEF5-26B0-2DA7D0874487}"/>
                  </a:ext>
                </a:extLst>
              </p:cNvPr>
              <p:cNvSpPr txBox="1"/>
              <p:nvPr/>
            </p:nvSpPr>
            <p:spPr>
              <a:xfrm>
                <a:off x="3092448" y="336444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m:oMathPara>
                </a14:m>
                <a:endParaRPr kumimoji="1" lang="ja-JP" altLang="en-US" sz="2000" dirty="0"/>
              </a:p>
            </p:txBody>
          </p:sp>
        </mc:Choice>
        <mc:Fallback xmlns="">
          <p:sp>
            <p:nvSpPr>
              <p:cNvPr id="14" name="テキスト ボックス 13">
                <a:extLst>
                  <a:ext uri="{FF2B5EF4-FFF2-40B4-BE49-F238E27FC236}">
                    <a16:creationId xmlns:a16="http://schemas.microsoft.com/office/drawing/2014/main" id="{567E86C4-19CB-EEF5-26B0-2DA7D0874487}"/>
                  </a:ext>
                </a:extLst>
              </p:cNvPr>
              <p:cNvSpPr txBox="1">
                <a:spLocks noRot="1" noChangeAspect="1" noMove="1" noResize="1" noEditPoints="1" noAdjustHandles="1" noChangeArrowheads="1" noChangeShapeType="1" noTextEdit="1"/>
              </p:cNvSpPr>
              <p:nvPr/>
            </p:nvSpPr>
            <p:spPr>
              <a:xfrm>
                <a:off x="3092448" y="3364440"/>
                <a:ext cx="414780" cy="400174"/>
              </a:xfrm>
              <a:prstGeom prst="rect">
                <a:avLst/>
              </a:prstGeom>
              <a:blipFill>
                <a:blip r:embed="rId3"/>
                <a:stretch>
                  <a:fillRect/>
                </a:stretch>
              </a:blipFill>
            </p:spPr>
            <p:txBody>
              <a:bodyPr/>
              <a:lstStyle/>
              <a:p>
                <a:r>
                  <a:rPr lang="ja-JP" altLang="en-US">
                    <a:noFill/>
                  </a:rPr>
                  <a:t> </a:t>
                </a:r>
              </a:p>
            </p:txBody>
          </p:sp>
        </mc:Fallback>
      </mc:AlternateContent>
      <p:cxnSp>
        <p:nvCxnSpPr>
          <p:cNvPr id="15" name="直線矢印コネクタ 14">
            <a:extLst>
              <a:ext uri="{FF2B5EF4-FFF2-40B4-BE49-F238E27FC236}">
                <a16:creationId xmlns:a16="http://schemas.microsoft.com/office/drawing/2014/main" id="{C1466693-9B05-1639-AB4C-C734A1A7D2F9}"/>
              </a:ext>
            </a:extLst>
          </p:cNvPr>
          <p:cNvCxnSpPr>
            <a:cxnSpLocks/>
            <a:endCxn id="4" idx="2"/>
          </p:cNvCxnSpPr>
          <p:nvPr/>
        </p:nvCxnSpPr>
        <p:spPr>
          <a:xfrm>
            <a:off x="3299838" y="4512115"/>
            <a:ext cx="963596" cy="190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30B9EAE8-564A-B977-FC29-E01C169F2030}"/>
              </a:ext>
            </a:extLst>
          </p:cNvPr>
          <p:cNvCxnSpPr>
            <a:cxnSpLocks/>
            <a:endCxn id="10" idx="2"/>
          </p:cNvCxnSpPr>
          <p:nvPr/>
        </p:nvCxnSpPr>
        <p:spPr>
          <a:xfrm>
            <a:off x="5299030" y="4584115"/>
            <a:ext cx="877598" cy="262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16704127-398B-9B8C-BC67-29E3E83FEDED}"/>
              </a:ext>
            </a:extLst>
          </p:cNvPr>
          <p:cNvCxnSpPr>
            <a:cxnSpLocks/>
            <a:endCxn id="9" idx="2"/>
          </p:cNvCxnSpPr>
          <p:nvPr/>
        </p:nvCxnSpPr>
        <p:spPr>
          <a:xfrm>
            <a:off x="7258092" y="5221467"/>
            <a:ext cx="963124" cy="4702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DE7BE1E5-BC92-3B3B-2547-577F473A0A71}"/>
              </a:ext>
            </a:extLst>
          </p:cNvPr>
          <p:cNvCxnSpPr>
            <a:cxnSpLocks/>
            <a:stCxn id="4" idx="6"/>
          </p:cNvCxnSpPr>
          <p:nvPr/>
        </p:nvCxnSpPr>
        <p:spPr>
          <a:xfrm flipV="1">
            <a:off x="4407434" y="4584115"/>
            <a:ext cx="747596" cy="11829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1A2FFFB7-5B12-6CC4-0DA1-F9BCDC6A36E6}"/>
              </a:ext>
            </a:extLst>
          </p:cNvPr>
          <p:cNvCxnSpPr>
            <a:cxnSpLocks/>
            <a:stCxn id="10" idx="5"/>
          </p:cNvCxnSpPr>
          <p:nvPr/>
        </p:nvCxnSpPr>
        <p:spPr>
          <a:xfrm>
            <a:off x="6299540" y="4897322"/>
            <a:ext cx="814552" cy="32414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B5B500E3-1042-115A-5D7E-CD5FA471296C}"/>
              </a:ext>
            </a:extLst>
          </p:cNvPr>
          <p:cNvCxnSpPr>
            <a:cxnSpLocks/>
          </p:cNvCxnSpPr>
          <p:nvPr/>
        </p:nvCxnSpPr>
        <p:spPr>
          <a:xfrm>
            <a:off x="5210160" y="389511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881F2453-2A7A-E560-9104-DDD2AD80F541}"/>
              </a:ext>
            </a:extLst>
          </p:cNvPr>
          <p:cNvCxnSpPr>
            <a:cxnSpLocks/>
          </p:cNvCxnSpPr>
          <p:nvPr/>
        </p:nvCxnSpPr>
        <p:spPr>
          <a:xfrm>
            <a:off x="7209666" y="451445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FCA7C1C2-A996-BE91-FCF8-C51C7B5C5CC5}"/>
              </a:ext>
            </a:extLst>
          </p:cNvPr>
          <p:cNvCxnSpPr>
            <a:cxnSpLocks/>
          </p:cNvCxnSpPr>
          <p:nvPr/>
        </p:nvCxnSpPr>
        <p:spPr>
          <a:xfrm>
            <a:off x="2176300" y="4114656"/>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92AE6A60-88EF-E478-D16F-062DE59C810F}"/>
              </a:ext>
            </a:extLst>
          </p:cNvPr>
          <p:cNvCxnSpPr>
            <a:cxnSpLocks/>
          </p:cNvCxnSpPr>
          <p:nvPr/>
        </p:nvCxnSpPr>
        <p:spPr>
          <a:xfrm>
            <a:off x="1536849" y="519648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F7F4DBB8-CA40-41DD-2F7F-1A845D1CB5C9}"/>
              </a:ext>
            </a:extLst>
          </p:cNvPr>
          <p:cNvCxnSpPr>
            <a:cxnSpLocks/>
            <a:endCxn id="6" idx="6"/>
          </p:cNvCxnSpPr>
          <p:nvPr/>
        </p:nvCxnSpPr>
        <p:spPr>
          <a:xfrm flipH="1">
            <a:off x="1140601" y="4765361"/>
            <a:ext cx="982553" cy="153049"/>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D603A79F-2321-A6EA-0040-C91C0485B58B}"/>
              </a:ext>
            </a:extLst>
          </p:cNvPr>
          <p:cNvCxnSpPr>
            <a:cxnSpLocks/>
          </p:cNvCxnSpPr>
          <p:nvPr/>
        </p:nvCxnSpPr>
        <p:spPr>
          <a:xfrm flipH="1" flipV="1">
            <a:off x="2246066" y="4821666"/>
            <a:ext cx="478550" cy="671604"/>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7AA141BA-7A3B-0F31-153E-96D1521225A6}"/>
              </a:ext>
            </a:extLst>
          </p:cNvPr>
          <p:cNvCxnSpPr>
            <a:cxnSpLocks/>
          </p:cNvCxnSpPr>
          <p:nvPr/>
        </p:nvCxnSpPr>
        <p:spPr>
          <a:xfrm>
            <a:off x="1081278" y="5026562"/>
            <a:ext cx="359997" cy="73327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2" name="楕円 61">
            <a:extLst>
              <a:ext uri="{FF2B5EF4-FFF2-40B4-BE49-F238E27FC236}">
                <a16:creationId xmlns:a16="http://schemas.microsoft.com/office/drawing/2014/main" id="{3C7055A2-467A-EF9C-854E-FDB245EB9EFC}"/>
              </a:ext>
            </a:extLst>
          </p:cNvPr>
          <p:cNvSpPr/>
          <p:nvPr/>
        </p:nvSpPr>
        <p:spPr>
          <a:xfrm>
            <a:off x="4056382" y="561618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119A1749-995E-91DC-4FD1-9DF0A45E96A5}"/>
              </a:ext>
            </a:extLst>
          </p:cNvPr>
          <p:cNvSpPr/>
          <p:nvPr/>
        </p:nvSpPr>
        <p:spPr>
          <a:xfrm>
            <a:off x="6274046" y="586013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94D3523D-2D22-ED91-D503-1B6A0163927D}"/>
              </a:ext>
            </a:extLst>
          </p:cNvPr>
          <p:cNvCxnSpPr>
            <a:cxnSpLocks/>
          </p:cNvCxnSpPr>
          <p:nvPr/>
        </p:nvCxnSpPr>
        <p:spPr>
          <a:xfrm>
            <a:off x="4939378" y="5211765"/>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581E809F-969D-C02D-1FD8-CE15F96AF2EE}"/>
              </a:ext>
            </a:extLst>
          </p:cNvPr>
          <p:cNvCxnSpPr>
            <a:cxnSpLocks/>
          </p:cNvCxnSpPr>
          <p:nvPr/>
        </p:nvCxnSpPr>
        <p:spPr>
          <a:xfrm>
            <a:off x="5570973" y="5392762"/>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楕円 72">
            <a:extLst>
              <a:ext uri="{FF2B5EF4-FFF2-40B4-BE49-F238E27FC236}">
                <a16:creationId xmlns:a16="http://schemas.microsoft.com/office/drawing/2014/main" id="{B3420205-ACDC-06F1-7838-73B26A64AADF}"/>
              </a:ext>
            </a:extLst>
          </p:cNvPr>
          <p:cNvSpPr/>
          <p:nvPr/>
        </p:nvSpPr>
        <p:spPr>
          <a:xfrm>
            <a:off x="6837848" y="412934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7090890D-674B-B112-DF6F-4D6C9948C646}"/>
              </a:ext>
            </a:extLst>
          </p:cNvPr>
          <p:cNvSpPr/>
          <p:nvPr/>
        </p:nvSpPr>
        <p:spPr>
          <a:xfrm>
            <a:off x="10747204" y="482166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8185A713-164E-8ECF-4D8A-C3CFF14458F1}"/>
              </a:ext>
            </a:extLst>
          </p:cNvPr>
          <p:cNvSpPr/>
          <p:nvPr/>
        </p:nvSpPr>
        <p:spPr>
          <a:xfrm>
            <a:off x="8729954" y="451211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直線矢印コネクタ 75">
            <a:extLst>
              <a:ext uri="{FF2B5EF4-FFF2-40B4-BE49-F238E27FC236}">
                <a16:creationId xmlns:a16="http://schemas.microsoft.com/office/drawing/2014/main" id="{726BBCCC-6038-C995-A3F6-2E82CEDA8456}"/>
              </a:ext>
            </a:extLst>
          </p:cNvPr>
          <p:cNvCxnSpPr>
            <a:cxnSpLocks/>
            <a:endCxn id="75" idx="2"/>
          </p:cNvCxnSpPr>
          <p:nvPr/>
        </p:nvCxnSpPr>
        <p:spPr>
          <a:xfrm>
            <a:off x="7944165" y="4171553"/>
            <a:ext cx="785789" cy="412562"/>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D7845752-131B-94B0-5915-C2B5A32AB031}"/>
              </a:ext>
            </a:extLst>
          </p:cNvPr>
          <p:cNvCxnSpPr>
            <a:cxnSpLocks/>
          </p:cNvCxnSpPr>
          <p:nvPr/>
        </p:nvCxnSpPr>
        <p:spPr>
          <a:xfrm>
            <a:off x="9858165" y="4715262"/>
            <a:ext cx="877599" cy="153424"/>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EC6214A1-55AB-250F-0009-8EDE4A6E1A01}"/>
              </a:ext>
            </a:extLst>
          </p:cNvPr>
          <p:cNvCxnSpPr>
            <a:cxnSpLocks/>
            <a:stCxn id="73" idx="6"/>
          </p:cNvCxnSpPr>
          <p:nvPr/>
        </p:nvCxnSpPr>
        <p:spPr>
          <a:xfrm flipV="1">
            <a:off x="6981848" y="4129346"/>
            <a:ext cx="818317" cy="72000"/>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AF11892E-9548-87CF-406B-EEB859358B7D}"/>
              </a:ext>
            </a:extLst>
          </p:cNvPr>
          <p:cNvCxnSpPr>
            <a:cxnSpLocks/>
          </p:cNvCxnSpPr>
          <p:nvPr/>
        </p:nvCxnSpPr>
        <p:spPr>
          <a:xfrm>
            <a:off x="8873953" y="4599748"/>
            <a:ext cx="814552" cy="5636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2E4BE871-85BC-7101-79D5-6B47FFD2B9E4}"/>
              </a:ext>
            </a:extLst>
          </p:cNvPr>
          <p:cNvCxnSpPr>
            <a:cxnSpLocks/>
          </p:cNvCxnSpPr>
          <p:nvPr/>
        </p:nvCxnSpPr>
        <p:spPr>
          <a:xfrm>
            <a:off x="7932772" y="346454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7D48D4C8-998B-CA48-6282-045545B54504}"/>
              </a:ext>
            </a:extLst>
          </p:cNvPr>
          <p:cNvCxnSpPr>
            <a:cxnSpLocks/>
          </p:cNvCxnSpPr>
          <p:nvPr/>
        </p:nvCxnSpPr>
        <p:spPr>
          <a:xfrm>
            <a:off x="9784080" y="401339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48FA5FB3-6B0A-5EC8-F7F1-8081750E0D7E}"/>
              </a:ext>
            </a:extLst>
          </p:cNvPr>
          <p:cNvCxnSpPr>
            <a:cxnSpLocks/>
          </p:cNvCxnSpPr>
          <p:nvPr/>
        </p:nvCxnSpPr>
        <p:spPr>
          <a:xfrm flipH="1">
            <a:off x="1580975" y="5567345"/>
            <a:ext cx="1105517" cy="292788"/>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9" name="フリーフォーム: 図形 18">
            <a:extLst>
              <a:ext uri="{FF2B5EF4-FFF2-40B4-BE49-F238E27FC236}">
                <a16:creationId xmlns:a16="http://schemas.microsoft.com/office/drawing/2014/main" id="{686B7EBA-57FF-700F-90AA-82B71F68F17A}"/>
              </a:ext>
            </a:extLst>
          </p:cNvPr>
          <p:cNvSpPr/>
          <p:nvPr/>
        </p:nvSpPr>
        <p:spPr>
          <a:xfrm>
            <a:off x="3252436" y="4628804"/>
            <a:ext cx="5128182" cy="972718"/>
          </a:xfrm>
          <a:custGeom>
            <a:avLst/>
            <a:gdLst>
              <a:gd name="connsiteX0" fmla="*/ 0 w 5128182"/>
              <a:gd name="connsiteY0" fmla="*/ 0 h 972718"/>
              <a:gd name="connsiteX1" fmla="*/ 1150071 w 5128182"/>
              <a:gd name="connsiteY1" fmla="*/ 311085 h 972718"/>
              <a:gd name="connsiteX2" fmla="*/ 1970202 w 5128182"/>
              <a:gd name="connsiteY2" fmla="*/ 169683 h 972718"/>
              <a:gd name="connsiteX3" fmla="*/ 3978112 w 5128182"/>
              <a:gd name="connsiteY3" fmla="*/ 904974 h 972718"/>
              <a:gd name="connsiteX4" fmla="*/ 5128182 w 5128182"/>
              <a:gd name="connsiteY4" fmla="*/ 895547 h 972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8182" h="972718">
                <a:moveTo>
                  <a:pt x="0" y="0"/>
                </a:moveTo>
                <a:cubicBezTo>
                  <a:pt x="410852" y="141402"/>
                  <a:pt x="821704" y="282805"/>
                  <a:pt x="1150071" y="311085"/>
                </a:cubicBezTo>
                <a:cubicBezTo>
                  <a:pt x="1478438" y="339365"/>
                  <a:pt x="1498862" y="70702"/>
                  <a:pt x="1970202" y="169683"/>
                </a:cubicBezTo>
                <a:cubicBezTo>
                  <a:pt x="2441542" y="268664"/>
                  <a:pt x="3451782" y="783997"/>
                  <a:pt x="3978112" y="904974"/>
                </a:cubicBezTo>
                <a:cubicBezTo>
                  <a:pt x="4504442" y="1025951"/>
                  <a:pt x="4816312" y="960749"/>
                  <a:pt x="5128182" y="895547"/>
                </a:cubicBezTo>
              </a:path>
            </a:pathLst>
          </a:cu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CB08D801-7BA6-F3CF-EE2A-612102E97C42}"/>
                  </a:ext>
                </a:extLst>
              </p:cNvPr>
              <p:cNvSpPr txBox="1"/>
              <p:nvPr/>
            </p:nvSpPr>
            <p:spPr>
              <a:xfrm>
                <a:off x="7882882" y="5599242"/>
                <a:ext cx="121598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solidFill>
                            <a:schemeClr val="accent6">
                              <a:lumMod val="75000"/>
                            </a:schemeClr>
                          </a:solidFill>
                          <a:latin typeface="Cambria Math" panose="02040503050406030204" pitchFamily="18" charset="0"/>
                        </a:rPr>
                        <m:t>𝑃</m:t>
                      </m:r>
                    </m:oMath>
                  </m:oMathPara>
                </a14:m>
                <a:endParaRPr kumimoji="1" lang="ja-JP" altLang="en-US" sz="3200" dirty="0"/>
              </a:p>
            </p:txBody>
          </p:sp>
        </mc:Choice>
        <mc:Fallback xmlns="">
          <p:sp>
            <p:nvSpPr>
              <p:cNvPr id="20" name="テキスト ボックス 19">
                <a:extLst>
                  <a:ext uri="{FF2B5EF4-FFF2-40B4-BE49-F238E27FC236}">
                    <a16:creationId xmlns:a16="http://schemas.microsoft.com/office/drawing/2014/main" id="{CB08D801-7BA6-F3CF-EE2A-612102E97C42}"/>
                  </a:ext>
                </a:extLst>
              </p:cNvPr>
              <p:cNvSpPr txBox="1">
                <a:spLocks noRot="1" noChangeAspect="1" noMove="1" noResize="1" noEditPoints="1" noAdjustHandles="1" noChangeArrowheads="1" noChangeShapeType="1" noTextEdit="1"/>
              </p:cNvSpPr>
              <p:nvPr/>
            </p:nvSpPr>
            <p:spPr>
              <a:xfrm>
                <a:off x="7882882" y="5599242"/>
                <a:ext cx="1215980" cy="584775"/>
              </a:xfrm>
              <a:prstGeom prst="rect">
                <a:avLst/>
              </a:prstGeom>
              <a:blipFill>
                <a:blip r:embed="rId4"/>
                <a:stretch>
                  <a:fillRect/>
                </a:stretch>
              </a:blipFill>
            </p:spPr>
            <p:txBody>
              <a:bodyPr/>
              <a:lstStyle/>
              <a:p>
                <a:r>
                  <a:rPr lang="ja-JP" altLang="en-US">
                    <a:noFill/>
                  </a:rPr>
                  <a:t> </a:t>
                </a:r>
              </a:p>
            </p:txBody>
          </p:sp>
        </mc:Fallback>
      </mc:AlternateContent>
      <p:sp>
        <p:nvSpPr>
          <p:cNvPr id="21" name="楕円 20">
            <a:extLst>
              <a:ext uri="{FF2B5EF4-FFF2-40B4-BE49-F238E27FC236}">
                <a16:creationId xmlns:a16="http://schemas.microsoft.com/office/drawing/2014/main" id="{9991FCA1-C02D-645F-B557-E7F24AFEDE5E}"/>
              </a:ext>
            </a:extLst>
          </p:cNvPr>
          <p:cNvSpPr/>
          <p:nvPr/>
        </p:nvSpPr>
        <p:spPr>
          <a:xfrm>
            <a:off x="9869864" y="583149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7">
            <a:extLst>
              <a:ext uri="{FF2B5EF4-FFF2-40B4-BE49-F238E27FC236}">
                <a16:creationId xmlns:a16="http://schemas.microsoft.com/office/drawing/2014/main" id="{E83931C3-0AB5-6669-C933-6960D822D0B2}"/>
              </a:ext>
            </a:extLst>
          </p:cNvPr>
          <p:cNvSpPr>
            <a:spLocks noGrp="1"/>
          </p:cNvSpPr>
          <p:nvPr>
            <p:ph type="sldNum" sz="quarter" idx="12"/>
          </p:nvPr>
        </p:nvSpPr>
        <p:spPr/>
        <p:txBody>
          <a:bodyPr/>
          <a:lstStyle/>
          <a:p>
            <a:fld id="{4B077F3A-4098-4199-8925-77865D1E3500}" type="slidenum">
              <a:rPr kumimoji="1" lang="ja-JP" altLang="en-US" smtClean="0"/>
              <a:t>40</a:t>
            </a:fld>
            <a:endParaRPr kumimoji="1" lang="ja-JP" altLang="en-US"/>
          </a:p>
        </p:txBody>
      </p:sp>
    </p:spTree>
    <p:extLst>
      <p:ext uri="{BB962C8B-B14F-4D97-AF65-F5344CB8AC3E}">
        <p14:creationId xmlns:p14="http://schemas.microsoft.com/office/powerpoint/2010/main" val="10496334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5AAE7-554C-78B0-23CB-5519A8B98F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D9AC2F-32BC-05CE-EE7F-6AE4065D712E}"/>
              </a:ext>
            </a:extLst>
          </p:cNvPr>
          <p:cNvSpPr>
            <a:spLocks noGrp="1"/>
          </p:cNvSpPr>
          <p:nvPr>
            <p:ph type="title"/>
          </p:nvPr>
        </p:nvSpPr>
        <p:spPr/>
        <p:txBody>
          <a:bodyPr/>
          <a:lstStyle/>
          <a:p>
            <a:r>
              <a:rPr lang="ja-JP" altLang="en-US" dirty="0"/>
              <a:t>最適性の説明２</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8AA4DC9-429D-BA51-FAE0-8C22152E19DF}"/>
                  </a:ext>
                </a:extLst>
              </p:cNvPr>
              <p:cNvSpPr>
                <a:spLocks noGrp="1"/>
              </p:cNvSpPr>
              <p:nvPr>
                <p:ph idx="1"/>
              </p:nvPr>
            </p:nvSpPr>
            <p:spPr>
              <a:xfrm>
                <a:off x="838200" y="1825625"/>
                <a:ext cx="10515600" cy="1499466"/>
              </a:xfrm>
            </p:spPr>
            <p:txBody>
              <a:bodyPr>
                <a:normAutofit/>
              </a:bodyPr>
              <a:lstStyle/>
              <a:p>
                <a14:m>
                  <m:oMath xmlns:m="http://schemas.openxmlformats.org/officeDocument/2006/math">
                    <m:sSubSup>
                      <m:sSubSupPr>
                        <m:ctrlPr>
                          <a:rPr lang="en-US" altLang="ja-JP" sz="2400" i="1" smtClean="0">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b="0" i="1" smtClean="0">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𝑀</m:t>
                    </m:r>
                  </m:oMath>
                </a14:m>
                <a:r>
                  <a:rPr kumimoji="1" lang="ja-JP" altLang="en-US" sz="2400" dirty="0"/>
                  <a:t> </a:t>
                </a:r>
                <a:r>
                  <a:rPr lang="ja-JP" altLang="en-US" sz="2400" dirty="0"/>
                  <a:t>の </a:t>
                </a:r>
                <a14:m>
                  <m:oMath xmlns:m="http://schemas.openxmlformats.org/officeDocument/2006/math">
                    <m:r>
                      <a:rPr lang="en-US" altLang="ja-JP" sz="2400" b="0" i="1" smtClean="0">
                        <a:latin typeface="Cambria Math" panose="02040503050406030204" pitchFamily="18" charset="0"/>
                      </a:rPr>
                      <m:t>𝑃</m:t>
                    </m:r>
                  </m:oMath>
                </a14:m>
                <a:r>
                  <a:rPr kumimoji="1" lang="en-US" altLang="ja-JP" sz="2400" dirty="0"/>
                  <a:t> </a:t>
                </a:r>
                <a:r>
                  <a:rPr kumimoji="1" lang="ja-JP" altLang="en-US" sz="2400" dirty="0"/>
                  <a:t>以外の部分でかかるコストが異なると最適性に矛盾</a:t>
                </a:r>
                <a:endParaRPr kumimoji="1" lang="en-US" altLang="ja-JP" sz="2400" dirty="0"/>
              </a:p>
              <a:p>
                <a:r>
                  <a:rPr kumimoji="1" lang="ja-JP" altLang="en-US" sz="2400" dirty="0"/>
                  <a:t>よって </a:t>
                </a:r>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m:t>
                        </m:r>
                      </m:sup>
                    </m:sSub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𝑃</m:t>
                    </m:r>
                  </m:oMath>
                </a14:m>
                <a:r>
                  <a:rPr kumimoji="1" lang="en-US" altLang="ja-JP" sz="2400" dirty="0"/>
                  <a:t> </a:t>
                </a:r>
                <a:r>
                  <a:rPr kumimoji="1" lang="ja-JP" altLang="en-US" sz="2400" dirty="0"/>
                  <a:t>もまた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の最適マッチングとなる</a:t>
                </a:r>
                <a:endParaRPr kumimoji="1" lang="en-US" altLang="ja-JP" sz="2400" dirty="0"/>
              </a:p>
              <a:p>
                <a14:m>
                  <m:oMath xmlns:m="http://schemas.openxmlformats.org/officeDocument/2006/math">
                    <m:r>
                      <a:rPr kumimoji="1" lang="en-US" altLang="ja-JP" sz="2400" b="0" i="1" smtClean="0">
                        <a:latin typeface="Cambria Math" panose="02040503050406030204" pitchFamily="18" charset="0"/>
                      </a:rPr>
                      <m:t>𝜙</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𝑃</m:t>
                        </m:r>
                      </m:e>
                    </m:d>
                  </m:oMath>
                </a14:m>
                <a:r>
                  <a:rPr kumimoji="1" lang="en-US" altLang="ja-JP" sz="2400" dirty="0"/>
                  <a:t> </a:t>
                </a:r>
                <a:r>
                  <a:rPr kumimoji="1" lang="ja-JP" altLang="en-US" sz="2400" dirty="0"/>
                  <a:t>は </a:t>
                </a:r>
                <a14:m>
                  <m:oMath xmlns:m="http://schemas.openxmlformats.org/officeDocument/2006/math">
                    <m:r>
                      <a:rPr kumimoji="1" lang="en-US" altLang="ja-JP" sz="2400" b="0" i="1" smtClean="0">
                        <a:latin typeface="Cambria Math" panose="02040503050406030204" pitchFamily="18" charset="0"/>
                      </a:rPr>
                      <m:t>𝑑</m:t>
                    </m:r>
                    <m:d>
                      <m:dPr>
                        <m:ctrlPr>
                          <a:rPr kumimoji="1" lang="en-US" altLang="ja-JP" sz="2400" b="0" i="1" smtClean="0">
                            <a:latin typeface="Cambria Math" panose="02040503050406030204" pitchFamily="18" charset="0"/>
                          </a:rPr>
                        </m:ctrlPr>
                      </m:dPr>
                      <m:e>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i="1">
                            <a:latin typeface="Cambria Math" panose="02040503050406030204" pitchFamily="18" charset="0"/>
                          </a:rPr>
                          <m:t>⊕</m:t>
                        </m:r>
                        <m:r>
                          <a:rPr lang="en-US" altLang="ja-JP" sz="2400" i="1">
                            <a:latin typeface="Cambria Math" panose="02040503050406030204" pitchFamily="18" charset="0"/>
                          </a:rPr>
                          <m:t>𝑃</m:t>
                        </m:r>
                      </m:e>
                    </m:d>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𝑑</m:t>
                    </m:r>
                    <m:d>
                      <m:dPr>
                        <m:ctrlPr>
                          <a:rPr kumimoji="1" lang="en-US" altLang="ja-JP" sz="2400" b="0" i="1" smtClean="0">
                            <a:latin typeface="Cambria Math" panose="02040503050406030204" pitchFamily="18" charset="0"/>
                          </a:rPr>
                        </m:ctrlPr>
                      </m:dPr>
                      <m:e>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e>
                    </m:d>
                  </m:oMath>
                </a14:m>
                <a:r>
                  <a:rPr kumimoji="1" lang="en-US" altLang="ja-JP" sz="2400" dirty="0"/>
                  <a:t> </a:t>
                </a:r>
                <a:r>
                  <a:rPr kumimoji="1" lang="ja-JP" altLang="en-US" sz="2400" dirty="0"/>
                  <a:t>を意味するのでこれを最小化すれば良い</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98AA4DC9-429D-BA51-FAE0-8C22152E19DF}"/>
                  </a:ext>
                </a:extLst>
              </p:cNvPr>
              <p:cNvSpPr>
                <a:spLocks noGrp="1" noRot="1" noChangeAspect="1" noMove="1" noResize="1" noEditPoints="1" noAdjustHandles="1" noChangeArrowheads="1" noChangeShapeType="1" noTextEdit="1"/>
              </p:cNvSpPr>
              <p:nvPr>
                <p:ph idx="1"/>
              </p:nvPr>
            </p:nvSpPr>
            <p:spPr>
              <a:xfrm>
                <a:off x="838200" y="1825625"/>
                <a:ext cx="10515600" cy="1499466"/>
              </a:xfrm>
              <a:blipFill>
                <a:blip r:embed="rId2"/>
                <a:stretch>
                  <a:fillRect l="-812" t="-528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2C491EB7-F59A-69EE-9A46-88DB0ACE6D84}"/>
              </a:ext>
            </a:extLst>
          </p:cNvPr>
          <p:cNvSpPr/>
          <p:nvPr/>
        </p:nvSpPr>
        <p:spPr>
          <a:xfrm>
            <a:off x="4263434" y="4630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7DF80F7D-D1AF-CE7F-677D-128A9687B22A}"/>
              </a:ext>
            </a:extLst>
          </p:cNvPr>
          <p:cNvSpPr/>
          <p:nvPr/>
        </p:nvSpPr>
        <p:spPr>
          <a:xfrm>
            <a:off x="2724616" y="549327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54E8FA88-2B18-7319-A02B-2ABC1F77AB11}"/>
              </a:ext>
            </a:extLst>
          </p:cNvPr>
          <p:cNvSpPr/>
          <p:nvPr/>
        </p:nvSpPr>
        <p:spPr>
          <a:xfrm>
            <a:off x="996601" y="4846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9198C30B-6122-E10D-68BD-C3A683BBD6BF}"/>
              </a:ext>
            </a:extLst>
          </p:cNvPr>
          <p:cNvSpPr/>
          <p:nvPr/>
        </p:nvSpPr>
        <p:spPr>
          <a:xfrm>
            <a:off x="8221216" y="519648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864AA087-7409-07EA-630A-B2C939845128}"/>
              </a:ext>
            </a:extLst>
          </p:cNvPr>
          <p:cNvSpPr/>
          <p:nvPr/>
        </p:nvSpPr>
        <p:spPr>
          <a:xfrm>
            <a:off x="6176628" y="4774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E87AF786-8AFD-CC73-2D67-A09639DBF87D}"/>
              </a:ext>
            </a:extLst>
          </p:cNvPr>
          <p:cNvCxnSpPr>
            <a:cxnSpLocks/>
          </p:cNvCxnSpPr>
          <p:nvPr/>
        </p:nvCxnSpPr>
        <p:spPr>
          <a:xfrm>
            <a:off x="3299838" y="381804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D25423DF-55C8-1D32-43B8-90A8E9EE9E32}"/>
                  </a:ext>
                </a:extLst>
              </p:cNvPr>
              <p:cNvSpPr txBox="1"/>
              <p:nvPr/>
            </p:nvSpPr>
            <p:spPr>
              <a:xfrm>
                <a:off x="3092448" y="336444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m:oMathPara>
                </a14:m>
                <a:endParaRPr kumimoji="1" lang="ja-JP" altLang="en-US" sz="2000" dirty="0"/>
              </a:p>
            </p:txBody>
          </p:sp>
        </mc:Choice>
        <mc:Fallback xmlns="">
          <p:sp>
            <p:nvSpPr>
              <p:cNvPr id="14" name="テキスト ボックス 13">
                <a:extLst>
                  <a:ext uri="{FF2B5EF4-FFF2-40B4-BE49-F238E27FC236}">
                    <a16:creationId xmlns:a16="http://schemas.microsoft.com/office/drawing/2014/main" id="{D25423DF-55C8-1D32-43B8-90A8E9EE9E32}"/>
                  </a:ext>
                </a:extLst>
              </p:cNvPr>
              <p:cNvSpPr txBox="1">
                <a:spLocks noRot="1" noChangeAspect="1" noMove="1" noResize="1" noEditPoints="1" noAdjustHandles="1" noChangeArrowheads="1" noChangeShapeType="1" noTextEdit="1"/>
              </p:cNvSpPr>
              <p:nvPr/>
            </p:nvSpPr>
            <p:spPr>
              <a:xfrm>
                <a:off x="3092448" y="3364440"/>
                <a:ext cx="414780" cy="400174"/>
              </a:xfrm>
              <a:prstGeom prst="rect">
                <a:avLst/>
              </a:prstGeom>
              <a:blipFill>
                <a:blip r:embed="rId3"/>
                <a:stretch>
                  <a:fillRect/>
                </a:stretch>
              </a:blipFill>
            </p:spPr>
            <p:txBody>
              <a:bodyPr/>
              <a:lstStyle/>
              <a:p>
                <a:r>
                  <a:rPr lang="ja-JP" altLang="en-US">
                    <a:noFill/>
                  </a:rPr>
                  <a:t> </a:t>
                </a:r>
              </a:p>
            </p:txBody>
          </p:sp>
        </mc:Fallback>
      </mc:AlternateContent>
      <p:cxnSp>
        <p:nvCxnSpPr>
          <p:cNvPr id="15" name="直線矢印コネクタ 14">
            <a:extLst>
              <a:ext uri="{FF2B5EF4-FFF2-40B4-BE49-F238E27FC236}">
                <a16:creationId xmlns:a16="http://schemas.microsoft.com/office/drawing/2014/main" id="{61254CFE-E0A5-7D01-257B-D6ACC4FDEA47}"/>
              </a:ext>
            </a:extLst>
          </p:cNvPr>
          <p:cNvCxnSpPr>
            <a:cxnSpLocks/>
            <a:endCxn id="4" idx="2"/>
          </p:cNvCxnSpPr>
          <p:nvPr/>
        </p:nvCxnSpPr>
        <p:spPr>
          <a:xfrm>
            <a:off x="3299838" y="4512115"/>
            <a:ext cx="963596" cy="190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CFA9E494-8B02-5FFC-F595-A70E7F7756DA}"/>
              </a:ext>
            </a:extLst>
          </p:cNvPr>
          <p:cNvCxnSpPr>
            <a:cxnSpLocks/>
            <a:endCxn id="10" idx="2"/>
          </p:cNvCxnSpPr>
          <p:nvPr/>
        </p:nvCxnSpPr>
        <p:spPr>
          <a:xfrm>
            <a:off x="5299030" y="4584115"/>
            <a:ext cx="877598" cy="262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6600F7CD-7511-F3D1-3C3A-75C15DC3CD89}"/>
              </a:ext>
            </a:extLst>
          </p:cNvPr>
          <p:cNvCxnSpPr>
            <a:cxnSpLocks/>
            <a:endCxn id="9" idx="2"/>
          </p:cNvCxnSpPr>
          <p:nvPr/>
        </p:nvCxnSpPr>
        <p:spPr>
          <a:xfrm>
            <a:off x="7258092" y="5221467"/>
            <a:ext cx="963124" cy="4702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162702B2-B858-FBF3-D4BE-632900200F54}"/>
              </a:ext>
            </a:extLst>
          </p:cNvPr>
          <p:cNvCxnSpPr>
            <a:cxnSpLocks/>
            <a:stCxn id="4" idx="6"/>
          </p:cNvCxnSpPr>
          <p:nvPr/>
        </p:nvCxnSpPr>
        <p:spPr>
          <a:xfrm flipV="1">
            <a:off x="4407434" y="4584115"/>
            <a:ext cx="747596" cy="11829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5E2CB613-E69D-B0E6-3628-6C8611540204}"/>
              </a:ext>
            </a:extLst>
          </p:cNvPr>
          <p:cNvCxnSpPr>
            <a:cxnSpLocks/>
            <a:stCxn id="10" idx="5"/>
          </p:cNvCxnSpPr>
          <p:nvPr/>
        </p:nvCxnSpPr>
        <p:spPr>
          <a:xfrm>
            <a:off x="6299540" y="4897322"/>
            <a:ext cx="814552" cy="32414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F28BE665-51C1-9CF7-EDC2-CB399CC7AA19}"/>
              </a:ext>
            </a:extLst>
          </p:cNvPr>
          <p:cNvCxnSpPr>
            <a:cxnSpLocks/>
          </p:cNvCxnSpPr>
          <p:nvPr/>
        </p:nvCxnSpPr>
        <p:spPr>
          <a:xfrm>
            <a:off x="5210160" y="389511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39C2F187-18B2-E958-3EDB-71FDCC9B3282}"/>
              </a:ext>
            </a:extLst>
          </p:cNvPr>
          <p:cNvCxnSpPr>
            <a:cxnSpLocks/>
          </p:cNvCxnSpPr>
          <p:nvPr/>
        </p:nvCxnSpPr>
        <p:spPr>
          <a:xfrm>
            <a:off x="7209666" y="451445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8D34322C-B2C3-E397-AEC4-2FF7B220FF87}"/>
              </a:ext>
            </a:extLst>
          </p:cNvPr>
          <p:cNvCxnSpPr>
            <a:cxnSpLocks/>
          </p:cNvCxnSpPr>
          <p:nvPr/>
        </p:nvCxnSpPr>
        <p:spPr>
          <a:xfrm>
            <a:off x="2176300" y="4114656"/>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D6FD4733-E896-A9C0-56CF-355264163CEC}"/>
              </a:ext>
            </a:extLst>
          </p:cNvPr>
          <p:cNvCxnSpPr>
            <a:cxnSpLocks/>
          </p:cNvCxnSpPr>
          <p:nvPr/>
        </p:nvCxnSpPr>
        <p:spPr>
          <a:xfrm>
            <a:off x="1536849" y="519648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F9B4F1D8-746E-1159-2CA7-BD6CC6F4B27C}"/>
              </a:ext>
            </a:extLst>
          </p:cNvPr>
          <p:cNvCxnSpPr>
            <a:cxnSpLocks/>
            <a:endCxn id="6" idx="6"/>
          </p:cNvCxnSpPr>
          <p:nvPr/>
        </p:nvCxnSpPr>
        <p:spPr>
          <a:xfrm flipH="1">
            <a:off x="1140601" y="4765361"/>
            <a:ext cx="982553" cy="153049"/>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7E88B953-7007-714D-9D44-61815F1B699A}"/>
              </a:ext>
            </a:extLst>
          </p:cNvPr>
          <p:cNvCxnSpPr>
            <a:cxnSpLocks/>
          </p:cNvCxnSpPr>
          <p:nvPr/>
        </p:nvCxnSpPr>
        <p:spPr>
          <a:xfrm flipH="1" flipV="1">
            <a:off x="2246066" y="4821666"/>
            <a:ext cx="478550" cy="671604"/>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C0D4092C-4ADA-C17B-6EE3-4FD79F82D526}"/>
              </a:ext>
            </a:extLst>
          </p:cNvPr>
          <p:cNvCxnSpPr>
            <a:cxnSpLocks/>
          </p:cNvCxnSpPr>
          <p:nvPr/>
        </p:nvCxnSpPr>
        <p:spPr>
          <a:xfrm>
            <a:off x="1081278" y="5026562"/>
            <a:ext cx="359997" cy="73327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2" name="楕円 61">
            <a:extLst>
              <a:ext uri="{FF2B5EF4-FFF2-40B4-BE49-F238E27FC236}">
                <a16:creationId xmlns:a16="http://schemas.microsoft.com/office/drawing/2014/main" id="{E5A3DFA1-0C3F-227A-6C1D-9C74C204FD03}"/>
              </a:ext>
            </a:extLst>
          </p:cNvPr>
          <p:cNvSpPr/>
          <p:nvPr/>
        </p:nvSpPr>
        <p:spPr>
          <a:xfrm>
            <a:off x="4056382" y="561618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62D0446F-6DDC-1AF4-9699-A9BAC8E1DE8D}"/>
              </a:ext>
            </a:extLst>
          </p:cNvPr>
          <p:cNvSpPr/>
          <p:nvPr/>
        </p:nvSpPr>
        <p:spPr>
          <a:xfrm>
            <a:off x="6274046" y="586013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6B17EE46-12E9-6132-9AC7-06F5B457EA16}"/>
              </a:ext>
            </a:extLst>
          </p:cNvPr>
          <p:cNvCxnSpPr>
            <a:cxnSpLocks/>
          </p:cNvCxnSpPr>
          <p:nvPr/>
        </p:nvCxnSpPr>
        <p:spPr>
          <a:xfrm>
            <a:off x="4939378" y="5211765"/>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4C280E0D-F031-B267-1122-092617E516C8}"/>
              </a:ext>
            </a:extLst>
          </p:cNvPr>
          <p:cNvCxnSpPr>
            <a:cxnSpLocks/>
          </p:cNvCxnSpPr>
          <p:nvPr/>
        </p:nvCxnSpPr>
        <p:spPr>
          <a:xfrm>
            <a:off x="5570973" y="5392762"/>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楕円 72">
            <a:extLst>
              <a:ext uri="{FF2B5EF4-FFF2-40B4-BE49-F238E27FC236}">
                <a16:creationId xmlns:a16="http://schemas.microsoft.com/office/drawing/2014/main" id="{69F39999-4EC5-6EA6-C04F-F02EF0A2015E}"/>
              </a:ext>
            </a:extLst>
          </p:cNvPr>
          <p:cNvSpPr/>
          <p:nvPr/>
        </p:nvSpPr>
        <p:spPr>
          <a:xfrm>
            <a:off x="6837848" y="412934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E98AA168-F290-F960-A7AD-CD2F7C926795}"/>
              </a:ext>
            </a:extLst>
          </p:cNvPr>
          <p:cNvSpPr/>
          <p:nvPr/>
        </p:nvSpPr>
        <p:spPr>
          <a:xfrm>
            <a:off x="10747204" y="482166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0C2E1C1A-ABF7-8CC9-C181-9F66022B0BA8}"/>
              </a:ext>
            </a:extLst>
          </p:cNvPr>
          <p:cNvSpPr/>
          <p:nvPr/>
        </p:nvSpPr>
        <p:spPr>
          <a:xfrm>
            <a:off x="8729954" y="451211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直線矢印コネクタ 75">
            <a:extLst>
              <a:ext uri="{FF2B5EF4-FFF2-40B4-BE49-F238E27FC236}">
                <a16:creationId xmlns:a16="http://schemas.microsoft.com/office/drawing/2014/main" id="{747A8C5A-ED9D-D468-054F-D8420048C6FA}"/>
              </a:ext>
            </a:extLst>
          </p:cNvPr>
          <p:cNvCxnSpPr>
            <a:cxnSpLocks/>
            <a:endCxn id="75" idx="2"/>
          </p:cNvCxnSpPr>
          <p:nvPr/>
        </p:nvCxnSpPr>
        <p:spPr>
          <a:xfrm>
            <a:off x="7944165" y="4171553"/>
            <a:ext cx="785789" cy="412562"/>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832FD5DC-22AB-9134-A37F-0E09936A86BA}"/>
              </a:ext>
            </a:extLst>
          </p:cNvPr>
          <p:cNvCxnSpPr>
            <a:cxnSpLocks/>
          </p:cNvCxnSpPr>
          <p:nvPr/>
        </p:nvCxnSpPr>
        <p:spPr>
          <a:xfrm>
            <a:off x="9858165" y="4715262"/>
            <a:ext cx="877599" cy="153424"/>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3A25E482-EE87-2EA3-81C9-B367E906E6D4}"/>
              </a:ext>
            </a:extLst>
          </p:cNvPr>
          <p:cNvCxnSpPr>
            <a:cxnSpLocks/>
            <a:stCxn id="73" idx="6"/>
          </p:cNvCxnSpPr>
          <p:nvPr/>
        </p:nvCxnSpPr>
        <p:spPr>
          <a:xfrm flipV="1">
            <a:off x="6981848" y="4129346"/>
            <a:ext cx="818317" cy="72000"/>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DE184855-1A43-A746-AD91-9247439C3DB8}"/>
              </a:ext>
            </a:extLst>
          </p:cNvPr>
          <p:cNvCxnSpPr>
            <a:cxnSpLocks/>
          </p:cNvCxnSpPr>
          <p:nvPr/>
        </p:nvCxnSpPr>
        <p:spPr>
          <a:xfrm>
            <a:off x="8873953" y="4599748"/>
            <a:ext cx="814552" cy="5636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2E007DE0-7B7E-2024-28D6-40A2C706BC36}"/>
              </a:ext>
            </a:extLst>
          </p:cNvPr>
          <p:cNvCxnSpPr>
            <a:cxnSpLocks/>
          </p:cNvCxnSpPr>
          <p:nvPr/>
        </p:nvCxnSpPr>
        <p:spPr>
          <a:xfrm>
            <a:off x="7932772" y="346454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243D1519-6685-30E3-0C5C-C0EEB473C38D}"/>
              </a:ext>
            </a:extLst>
          </p:cNvPr>
          <p:cNvCxnSpPr>
            <a:cxnSpLocks/>
          </p:cNvCxnSpPr>
          <p:nvPr/>
        </p:nvCxnSpPr>
        <p:spPr>
          <a:xfrm>
            <a:off x="9784080" y="401339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22DD2176-8B63-B273-F92C-768C38B327D5}"/>
              </a:ext>
            </a:extLst>
          </p:cNvPr>
          <p:cNvCxnSpPr>
            <a:cxnSpLocks/>
          </p:cNvCxnSpPr>
          <p:nvPr/>
        </p:nvCxnSpPr>
        <p:spPr>
          <a:xfrm flipH="1">
            <a:off x="1580975" y="5567345"/>
            <a:ext cx="1105517" cy="292788"/>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9" name="フリーフォーム: 図形 18">
            <a:extLst>
              <a:ext uri="{FF2B5EF4-FFF2-40B4-BE49-F238E27FC236}">
                <a16:creationId xmlns:a16="http://schemas.microsoft.com/office/drawing/2014/main" id="{D3EA1375-3127-98E8-EBC7-BF99BC9E925F}"/>
              </a:ext>
            </a:extLst>
          </p:cNvPr>
          <p:cNvSpPr/>
          <p:nvPr/>
        </p:nvSpPr>
        <p:spPr>
          <a:xfrm>
            <a:off x="3252436" y="4628804"/>
            <a:ext cx="5128182" cy="972718"/>
          </a:xfrm>
          <a:custGeom>
            <a:avLst/>
            <a:gdLst>
              <a:gd name="connsiteX0" fmla="*/ 0 w 5128182"/>
              <a:gd name="connsiteY0" fmla="*/ 0 h 972718"/>
              <a:gd name="connsiteX1" fmla="*/ 1150071 w 5128182"/>
              <a:gd name="connsiteY1" fmla="*/ 311085 h 972718"/>
              <a:gd name="connsiteX2" fmla="*/ 1970202 w 5128182"/>
              <a:gd name="connsiteY2" fmla="*/ 169683 h 972718"/>
              <a:gd name="connsiteX3" fmla="*/ 3978112 w 5128182"/>
              <a:gd name="connsiteY3" fmla="*/ 904974 h 972718"/>
              <a:gd name="connsiteX4" fmla="*/ 5128182 w 5128182"/>
              <a:gd name="connsiteY4" fmla="*/ 895547 h 972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8182" h="972718">
                <a:moveTo>
                  <a:pt x="0" y="0"/>
                </a:moveTo>
                <a:cubicBezTo>
                  <a:pt x="410852" y="141402"/>
                  <a:pt x="821704" y="282805"/>
                  <a:pt x="1150071" y="311085"/>
                </a:cubicBezTo>
                <a:cubicBezTo>
                  <a:pt x="1478438" y="339365"/>
                  <a:pt x="1498862" y="70702"/>
                  <a:pt x="1970202" y="169683"/>
                </a:cubicBezTo>
                <a:cubicBezTo>
                  <a:pt x="2441542" y="268664"/>
                  <a:pt x="3451782" y="783997"/>
                  <a:pt x="3978112" y="904974"/>
                </a:cubicBezTo>
                <a:cubicBezTo>
                  <a:pt x="4504442" y="1025951"/>
                  <a:pt x="4816312" y="960749"/>
                  <a:pt x="5128182" y="895547"/>
                </a:cubicBezTo>
              </a:path>
            </a:pathLst>
          </a:cu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5EE91916-E090-7075-CAB8-133A07C9C1AF}"/>
                  </a:ext>
                </a:extLst>
              </p:cNvPr>
              <p:cNvSpPr txBox="1"/>
              <p:nvPr/>
            </p:nvSpPr>
            <p:spPr>
              <a:xfrm>
                <a:off x="7882882" y="5599242"/>
                <a:ext cx="121598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solidFill>
                            <a:schemeClr val="accent6">
                              <a:lumMod val="75000"/>
                            </a:schemeClr>
                          </a:solidFill>
                          <a:latin typeface="Cambria Math" panose="02040503050406030204" pitchFamily="18" charset="0"/>
                        </a:rPr>
                        <m:t>𝑃</m:t>
                      </m:r>
                    </m:oMath>
                  </m:oMathPara>
                </a14:m>
                <a:endParaRPr kumimoji="1" lang="ja-JP" altLang="en-US" sz="3200" dirty="0"/>
              </a:p>
            </p:txBody>
          </p:sp>
        </mc:Choice>
        <mc:Fallback xmlns="">
          <p:sp>
            <p:nvSpPr>
              <p:cNvPr id="20" name="テキスト ボックス 19">
                <a:extLst>
                  <a:ext uri="{FF2B5EF4-FFF2-40B4-BE49-F238E27FC236}">
                    <a16:creationId xmlns:a16="http://schemas.microsoft.com/office/drawing/2014/main" id="{5EE91916-E090-7075-CAB8-133A07C9C1AF}"/>
                  </a:ext>
                </a:extLst>
              </p:cNvPr>
              <p:cNvSpPr txBox="1">
                <a:spLocks noRot="1" noChangeAspect="1" noMove="1" noResize="1" noEditPoints="1" noAdjustHandles="1" noChangeArrowheads="1" noChangeShapeType="1" noTextEdit="1"/>
              </p:cNvSpPr>
              <p:nvPr/>
            </p:nvSpPr>
            <p:spPr>
              <a:xfrm>
                <a:off x="7882882" y="5599242"/>
                <a:ext cx="1215980" cy="584775"/>
              </a:xfrm>
              <a:prstGeom prst="rect">
                <a:avLst/>
              </a:prstGeom>
              <a:blipFill>
                <a:blip r:embed="rId4"/>
                <a:stretch>
                  <a:fillRect/>
                </a:stretch>
              </a:blipFill>
            </p:spPr>
            <p:txBody>
              <a:bodyPr/>
              <a:lstStyle/>
              <a:p>
                <a:r>
                  <a:rPr lang="ja-JP" altLang="en-US">
                    <a:noFill/>
                  </a:rPr>
                  <a:t> </a:t>
                </a:r>
              </a:p>
            </p:txBody>
          </p:sp>
        </mc:Fallback>
      </mc:AlternateContent>
      <p:sp>
        <p:nvSpPr>
          <p:cNvPr id="8" name="楕円 7">
            <a:extLst>
              <a:ext uri="{FF2B5EF4-FFF2-40B4-BE49-F238E27FC236}">
                <a16:creationId xmlns:a16="http://schemas.microsoft.com/office/drawing/2014/main" id="{E7E614B7-56F3-D3EC-3BB6-FC832A7D914D}"/>
              </a:ext>
            </a:extLst>
          </p:cNvPr>
          <p:cNvSpPr/>
          <p:nvPr/>
        </p:nvSpPr>
        <p:spPr>
          <a:xfrm>
            <a:off x="9869864" y="583149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F05F3429-D8BB-36F4-A627-1D8519173368}"/>
                  </a:ext>
                </a:extLst>
              </p:cNvPr>
              <p:cNvSpPr txBox="1"/>
              <p:nvPr/>
            </p:nvSpPr>
            <p:spPr>
              <a:xfrm>
                <a:off x="8342722" y="365125"/>
                <a:ext cx="3205113" cy="1028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ja-JP" sz="2400" i="1" smtClean="0">
                          <a:latin typeface="Cambria Math" panose="02040503050406030204" pitchFamily="18" charset="0"/>
                        </a:rPr>
                        <m:t>𝑑</m:t>
                      </m:r>
                      <m:d>
                        <m:dPr>
                          <m:ctrlPr>
                            <a:rPr lang="en-US" altLang="ja-JP" sz="2400" i="1">
                              <a:latin typeface="Cambria Math" panose="02040503050406030204" pitchFamily="18" charset="0"/>
                            </a:rPr>
                          </m:ctrlPr>
                        </m:dPr>
                        <m:e>
                          <m:r>
                            <a:rPr lang="en-US" altLang="ja-JP" sz="2400" b="0" i="1" smtClean="0">
                              <a:latin typeface="Cambria Math" panose="02040503050406030204" pitchFamily="18" charset="0"/>
                            </a:rPr>
                            <m:t>𝑀</m:t>
                          </m:r>
                        </m:e>
                      </m:d>
                      <m:r>
                        <a:rPr lang="en-US" altLang="ja-JP" sz="2400" i="1">
                          <a:latin typeface="Cambria Math" panose="02040503050406030204" pitchFamily="18" charset="0"/>
                        </a:rPr>
                        <m:t>≔</m:t>
                      </m:r>
                      <m:nary>
                        <m:naryPr>
                          <m:chr m:val="∑"/>
                          <m:supHide m:val="on"/>
                          <m:ctrlPr>
                            <a:rPr lang="en-US" altLang="ja-JP" sz="2400" i="1">
                              <a:latin typeface="Cambria Math" panose="02040503050406030204" pitchFamily="18" charset="0"/>
                            </a:rPr>
                          </m:ctrlPr>
                        </m:naryPr>
                        <m: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e>
                          </m:d>
                          <m:r>
                            <a:rPr lang="en-US" altLang="ja-JP" sz="2400" i="1">
                              <a:latin typeface="Cambria Math" panose="02040503050406030204" pitchFamily="18" charset="0"/>
                            </a:rPr>
                            <m:t>∈</m:t>
                          </m:r>
                          <m:r>
                            <a:rPr lang="en-US" altLang="ja-JP" sz="2400" b="0" i="1" smtClean="0">
                              <a:latin typeface="Cambria Math" panose="02040503050406030204" pitchFamily="18" charset="0"/>
                            </a:rPr>
                            <m:t>𝑀</m:t>
                          </m:r>
                        </m:sub>
                        <m:sup/>
                        <m:e>
                          <m:r>
                            <a:rPr lang="en-US" altLang="ja-JP" sz="2400" i="1">
                              <a:latin typeface="Cambria Math" panose="02040503050406030204" pitchFamily="18" charset="0"/>
                            </a:rPr>
                            <m:t>𝑑</m:t>
                          </m:r>
                          <m:r>
                            <a:rPr lang="en-US" altLang="ja-JP" sz="2400" i="1">
                              <a:latin typeface="Cambria Math" panose="02040503050406030204" pitchFamily="18" charset="0"/>
                            </a:rPr>
                            <m:t>(</m:t>
                          </m:r>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r>
                            <a:rPr lang="en-US" altLang="ja-JP" sz="2400" i="1">
                              <a:latin typeface="Cambria Math" panose="02040503050406030204" pitchFamily="18" charset="0"/>
                            </a:rPr>
                            <m:t>)</m:t>
                          </m:r>
                        </m:e>
                      </m:nary>
                    </m:oMath>
                  </m:oMathPara>
                </a14:m>
                <a:endParaRPr lang="en-US" altLang="ja-JP" sz="2400" dirty="0"/>
              </a:p>
            </p:txBody>
          </p:sp>
        </mc:Choice>
        <mc:Fallback xmlns="">
          <p:sp>
            <p:nvSpPr>
              <p:cNvPr id="11" name="テキスト ボックス 10">
                <a:extLst>
                  <a:ext uri="{FF2B5EF4-FFF2-40B4-BE49-F238E27FC236}">
                    <a16:creationId xmlns:a16="http://schemas.microsoft.com/office/drawing/2014/main" id="{F05F3429-D8BB-36F4-A627-1D8519173368}"/>
                  </a:ext>
                </a:extLst>
              </p:cNvPr>
              <p:cNvSpPr txBox="1">
                <a:spLocks noRot="1" noChangeAspect="1" noMove="1" noResize="1" noEditPoints="1" noAdjustHandles="1" noChangeArrowheads="1" noChangeShapeType="1" noTextEdit="1"/>
              </p:cNvSpPr>
              <p:nvPr/>
            </p:nvSpPr>
            <p:spPr>
              <a:xfrm>
                <a:off x="8342722" y="365125"/>
                <a:ext cx="3205113" cy="1028358"/>
              </a:xfrm>
              <a:prstGeom prst="rect">
                <a:avLst/>
              </a:prstGeom>
              <a:blipFill>
                <a:blip r:embed="rId5"/>
                <a:stretch>
                  <a:fillRect/>
                </a:stretch>
              </a:blipFill>
            </p:spPr>
            <p:txBody>
              <a:bodyPr/>
              <a:lstStyle/>
              <a:p>
                <a:r>
                  <a:rPr lang="ja-JP" altLang="en-US">
                    <a:noFill/>
                  </a:rPr>
                  <a:t> </a:t>
                </a:r>
              </a:p>
            </p:txBody>
          </p:sp>
        </mc:Fallback>
      </mc:AlternateContent>
      <p:sp>
        <p:nvSpPr>
          <p:cNvPr id="12" name="スライド番号プレースホルダー 11">
            <a:extLst>
              <a:ext uri="{FF2B5EF4-FFF2-40B4-BE49-F238E27FC236}">
                <a16:creationId xmlns:a16="http://schemas.microsoft.com/office/drawing/2014/main" id="{D3DA5723-463B-B97D-B4D6-EEFD9C0B9652}"/>
              </a:ext>
            </a:extLst>
          </p:cNvPr>
          <p:cNvSpPr>
            <a:spLocks noGrp="1"/>
          </p:cNvSpPr>
          <p:nvPr>
            <p:ph type="sldNum" sz="quarter" idx="12"/>
          </p:nvPr>
        </p:nvSpPr>
        <p:spPr/>
        <p:txBody>
          <a:bodyPr/>
          <a:lstStyle/>
          <a:p>
            <a:fld id="{4B077F3A-4098-4199-8925-77865D1E3500}" type="slidenum">
              <a:rPr kumimoji="1" lang="ja-JP" altLang="en-US" smtClean="0"/>
              <a:t>41</a:t>
            </a:fld>
            <a:endParaRPr kumimoji="1" lang="ja-JP" altLang="en-US"/>
          </a:p>
        </p:txBody>
      </p:sp>
    </p:spTree>
    <p:extLst>
      <p:ext uri="{BB962C8B-B14F-4D97-AF65-F5344CB8AC3E}">
        <p14:creationId xmlns:p14="http://schemas.microsoft.com/office/powerpoint/2010/main" val="175770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EB342-A0CF-32F4-4CD4-622FC5F4E6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6206FD-F1C1-64D1-ABD0-0EE416F03AF4}"/>
              </a:ext>
            </a:extLst>
          </p:cNvPr>
          <p:cNvSpPr>
            <a:spLocks noGrp="1"/>
          </p:cNvSpPr>
          <p:nvPr>
            <p:ph type="title"/>
          </p:nvPr>
        </p:nvSpPr>
        <p:spPr/>
        <p:txBody>
          <a:bodyPr/>
          <a:lstStyle/>
          <a:p>
            <a:r>
              <a:rPr lang="ja-JP" altLang="en-US" dirty="0"/>
              <a:t>最適性の説明２</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F9C5E6B-449F-77C8-7D0D-DE19DB6AFCA2}"/>
                  </a:ext>
                </a:extLst>
              </p:cNvPr>
              <p:cNvSpPr>
                <a:spLocks noGrp="1"/>
              </p:cNvSpPr>
              <p:nvPr>
                <p:ph idx="1"/>
              </p:nvPr>
            </p:nvSpPr>
            <p:spPr>
              <a:xfrm>
                <a:off x="838200" y="1825625"/>
                <a:ext cx="10515600" cy="1499466"/>
              </a:xfrm>
            </p:spPr>
            <p:txBody>
              <a:bodyPr>
                <a:normAutofit/>
              </a:bodyPr>
              <a:lstStyle/>
              <a:p>
                <a14:m>
                  <m:oMath xmlns:m="http://schemas.openxmlformats.org/officeDocument/2006/math">
                    <m:sSubSup>
                      <m:sSubSupPr>
                        <m:ctrlPr>
                          <a:rPr lang="en-US" altLang="ja-JP" sz="2400" i="1" smtClean="0">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b="0" i="1" smtClean="0">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𝑀</m:t>
                    </m:r>
                  </m:oMath>
                </a14:m>
                <a:r>
                  <a:rPr kumimoji="1" lang="ja-JP" altLang="en-US" sz="2400" dirty="0"/>
                  <a:t> </a:t>
                </a:r>
                <a:r>
                  <a:rPr lang="ja-JP" altLang="en-US" sz="2400" dirty="0"/>
                  <a:t>の </a:t>
                </a:r>
                <a14:m>
                  <m:oMath xmlns:m="http://schemas.openxmlformats.org/officeDocument/2006/math">
                    <m:r>
                      <a:rPr lang="en-US" altLang="ja-JP" sz="2400" b="0" i="1" smtClean="0">
                        <a:latin typeface="Cambria Math" panose="02040503050406030204" pitchFamily="18" charset="0"/>
                      </a:rPr>
                      <m:t>𝑃</m:t>
                    </m:r>
                  </m:oMath>
                </a14:m>
                <a:r>
                  <a:rPr kumimoji="1" lang="en-US" altLang="ja-JP" sz="2400" dirty="0"/>
                  <a:t> </a:t>
                </a:r>
                <a:r>
                  <a:rPr kumimoji="1" lang="ja-JP" altLang="en-US" sz="2400" dirty="0"/>
                  <a:t>以外の部分でかかるコストが異なると最適性に矛盾</a:t>
                </a:r>
                <a:endParaRPr kumimoji="1" lang="en-US" altLang="ja-JP" sz="2400" dirty="0"/>
              </a:p>
              <a:p>
                <a:r>
                  <a:rPr kumimoji="1" lang="ja-JP" altLang="en-US" sz="2400" dirty="0"/>
                  <a:t>よって </a:t>
                </a:r>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m:t>
                        </m:r>
                      </m:sup>
                    </m:sSub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𝑃</m:t>
                    </m:r>
                  </m:oMath>
                </a14:m>
                <a:r>
                  <a:rPr kumimoji="1" lang="en-US" altLang="ja-JP" sz="2400" dirty="0"/>
                  <a:t> </a:t>
                </a:r>
                <a:r>
                  <a:rPr kumimoji="1" lang="ja-JP" altLang="en-US" sz="2400" dirty="0"/>
                  <a:t>もまた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の最適マッチングとなる</a:t>
                </a:r>
                <a:endParaRPr kumimoji="1" lang="en-US" altLang="ja-JP" sz="2400" dirty="0"/>
              </a:p>
              <a:p>
                <a14:m>
                  <m:oMath xmlns:m="http://schemas.openxmlformats.org/officeDocument/2006/math">
                    <m:r>
                      <a:rPr kumimoji="1" lang="en-US" altLang="ja-JP" sz="2400" b="0" i="1" smtClean="0">
                        <a:latin typeface="Cambria Math" panose="02040503050406030204" pitchFamily="18" charset="0"/>
                      </a:rPr>
                      <m:t>𝜙</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𝑃</m:t>
                        </m:r>
                      </m:e>
                    </m:d>
                  </m:oMath>
                </a14:m>
                <a:r>
                  <a:rPr kumimoji="1" lang="en-US" altLang="ja-JP" sz="2400" dirty="0"/>
                  <a:t> </a:t>
                </a:r>
                <a:r>
                  <a:rPr kumimoji="1" lang="ja-JP" altLang="en-US" sz="2400" dirty="0"/>
                  <a:t>は </a:t>
                </a:r>
                <a14:m>
                  <m:oMath xmlns:m="http://schemas.openxmlformats.org/officeDocument/2006/math">
                    <m:r>
                      <a:rPr kumimoji="1" lang="en-US" altLang="ja-JP" sz="2400" b="0" i="1" smtClean="0">
                        <a:latin typeface="Cambria Math" panose="02040503050406030204" pitchFamily="18" charset="0"/>
                      </a:rPr>
                      <m:t>𝑑</m:t>
                    </m:r>
                    <m:d>
                      <m:dPr>
                        <m:ctrlPr>
                          <a:rPr kumimoji="1" lang="en-US" altLang="ja-JP" sz="2400" b="0" i="1" smtClean="0">
                            <a:latin typeface="Cambria Math" panose="02040503050406030204" pitchFamily="18" charset="0"/>
                          </a:rPr>
                        </m:ctrlPr>
                      </m:dPr>
                      <m:e>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i="1">
                            <a:latin typeface="Cambria Math" panose="02040503050406030204" pitchFamily="18" charset="0"/>
                          </a:rPr>
                          <m:t>⊕</m:t>
                        </m:r>
                        <m:r>
                          <a:rPr lang="en-US" altLang="ja-JP" sz="2400" i="1">
                            <a:latin typeface="Cambria Math" panose="02040503050406030204" pitchFamily="18" charset="0"/>
                          </a:rPr>
                          <m:t>𝑃</m:t>
                        </m:r>
                      </m:e>
                    </m:d>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𝑑</m:t>
                    </m:r>
                    <m:d>
                      <m:dPr>
                        <m:ctrlPr>
                          <a:rPr kumimoji="1" lang="en-US" altLang="ja-JP" sz="2400" b="0" i="1" smtClean="0">
                            <a:latin typeface="Cambria Math" panose="02040503050406030204" pitchFamily="18" charset="0"/>
                          </a:rPr>
                        </m:ctrlPr>
                      </m:dPr>
                      <m:e>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e>
                    </m:d>
                  </m:oMath>
                </a14:m>
                <a:r>
                  <a:rPr kumimoji="1" lang="en-US" altLang="ja-JP" sz="2400" dirty="0"/>
                  <a:t> </a:t>
                </a:r>
                <a:r>
                  <a:rPr kumimoji="1" lang="ja-JP" altLang="en-US" sz="2400" dirty="0"/>
                  <a:t>を意味するのでこれを最小化すれば良い</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DF9C5E6B-449F-77C8-7D0D-DE19DB6AFCA2}"/>
                  </a:ext>
                </a:extLst>
              </p:cNvPr>
              <p:cNvSpPr>
                <a:spLocks noGrp="1" noRot="1" noChangeAspect="1" noMove="1" noResize="1" noEditPoints="1" noAdjustHandles="1" noChangeArrowheads="1" noChangeShapeType="1" noTextEdit="1"/>
              </p:cNvSpPr>
              <p:nvPr>
                <p:ph idx="1"/>
              </p:nvPr>
            </p:nvSpPr>
            <p:spPr>
              <a:xfrm>
                <a:off x="838200" y="1825625"/>
                <a:ext cx="10515600" cy="1499466"/>
              </a:xfrm>
              <a:blipFill>
                <a:blip r:embed="rId2"/>
                <a:stretch>
                  <a:fillRect l="-812" t="-528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413B8950-BA67-387F-817C-9BF550F309B2}"/>
              </a:ext>
            </a:extLst>
          </p:cNvPr>
          <p:cNvSpPr/>
          <p:nvPr/>
        </p:nvSpPr>
        <p:spPr>
          <a:xfrm>
            <a:off x="4263434" y="4630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2881C4BB-3B89-1606-F03D-E56A6164B2F4}"/>
              </a:ext>
            </a:extLst>
          </p:cNvPr>
          <p:cNvSpPr/>
          <p:nvPr/>
        </p:nvSpPr>
        <p:spPr>
          <a:xfrm>
            <a:off x="2724616" y="549327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E8813837-D29E-FDC2-A6BD-6C2A1A14C24B}"/>
              </a:ext>
            </a:extLst>
          </p:cNvPr>
          <p:cNvSpPr/>
          <p:nvPr/>
        </p:nvSpPr>
        <p:spPr>
          <a:xfrm>
            <a:off x="996601" y="4846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2F112B72-6B58-4FE0-A841-AC33611B6BDB}"/>
              </a:ext>
            </a:extLst>
          </p:cNvPr>
          <p:cNvSpPr/>
          <p:nvPr/>
        </p:nvSpPr>
        <p:spPr>
          <a:xfrm>
            <a:off x="8221216" y="519648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C5CF7815-DB9B-3E5E-CCAC-198F6D802803}"/>
              </a:ext>
            </a:extLst>
          </p:cNvPr>
          <p:cNvSpPr/>
          <p:nvPr/>
        </p:nvSpPr>
        <p:spPr>
          <a:xfrm>
            <a:off x="6176628" y="4774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BD7632BA-F043-4892-C81B-66F1A7D24C18}"/>
              </a:ext>
            </a:extLst>
          </p:cNvPr>
          <p:cNvCxnSpPr>
            <a:cxnSpLocks/>
          </p:cNvCxnSpPr>
          <p:nvPr/>
        </p:nvCxnSpPr>
        <p:spPr>
          <a:xfrm>
            <a:off x="3299838" y="381804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F175B45D-57DC-D3DC-A2F1-B54C055EFFB9}"/>
                  </a:ext>
                </a:extLst>
              </p:cNvPr>
              <p:cNvSpPr txBox="1"/>
              <p:nvPr/>
            </p:nvSpPr>
            <p:spPr>
              <a:xfrm>
                <a:off x="3092448" y="336444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m:oMathPara>
                </a14:m>
                <a:endParaRPr kumimoji="1" lang="ja-JP" altLang="en-US" sz="2000" dirty="0"/>
              </a:p>
            </p:txBody>
          </p:sp>
        </mc:Choice>
        <mc:Fallback xmlns="">
          <p:sp>
            <p:nvSpPr>
              <p:cNvPr id="14" name="テキスト ボックス 13">
                <a:extLst>
                  <a:ext uri="{FF2B5EF4-FFF2-40B4-BE49-F238E27FC236}">
                    <a16:creationId xmlns:a16="http://schemas.microsoft.com/office/drawing/2014/main" id="{F175B45D-57DC-D3DC-A2F1-B54C055EFFB9}"/>
                  </a:ext>
                </a:extLst>
              </p:cNvPr>
              <p:cNvSpPr txBox="1">
                <a:spLocks noRot="1" noChangeAspect="1" noMove="1" noResize="1" noEditPoints="1" noAdjustHandles="1" noChangeArrowheads="1" noChangeShapeType="1" noTextEdit="1"/>
              </p:cNvSpPr>
              <p:nvPr/>
            </p:nvSpPr>
            <p:spPr>
              <a:xfrm>
                <a:off x="3092448" y="3364440"/>
                <a:ext cx="414780" cy="400174"/>
              </a:xfrm>
              <a:prstGeom prst="rect">
                <a:avLst/>
              </a:prstGeom>
              <a:blipFill>
                <a:blip r:embed="rId3"/>
                <a:stretch>
                  <a:fillRect/>
                </a:stretch>
              </a:blipFill>
            </p:spPr>
            <p:txBody>
              <a:bodyPr/>
              <a:lstStyle/>
              <a:p>
                <a:r>
                  <a:rPr lang="ja-JP" altLang="en-US">
                    <a:noFill/>
                  </a:rPr>
                  <a:t> </a:t>
                </a:r>
              </a:p>
            </p:txBody>
          </p:sp>
        </mc:Fallback>
      </mc:AlternateContent>
      <p:cxnSp>
        <p:nvCxnSpPr>
          <p:cNvPr id="27" name="直線矢印コネクタ 26">
            <a:extLst>
              <a:ext uri="{FF2B5EF4-FFF2-40B4-BE49-F238E27FC236}">
                <a16:creationId xmlns:a16="http://schemas.microsoft.com/office/drawing/2014/main" id="{E609701D-14E0-FEA9-3B47-285EBE929589}"/>
              </a:ext>
            </a:extLst>
          </p:cNvPr>
          <p:cNvCxnSpPr>
            <a:cxnSpLocks/>
            <a:stCxn id="4" idx="6"/>
          </p:cNvCxnSpPr>
          <p:nvPr/>
        </p:nvCxnSpPr>
        <p:spPr>
          <a:xfrm flipV="1">
            <a:off x="4407434" y="4584115"/>
            <a:ext cx="747596" cy="11829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322C97AF-AE66-FECB-872B-4A9EEF9F39FE}"/>
              </a:ext>
            </a:extLst>
          </p:cNvPr>
          <p:cNvCxnSpPr>
            <a:cxnSpLocks/>
            <a:stCxn id="10" idx="5"/>
          </p:cNvCxnSpPr>
          <p:nvPr/>
        </p:nvCxnSpPr>
        <p:spPr>
          <a:xfrm>
            <a:off x="6299540" y="4897322"/>
            <a:ext cx="814552" cy="324145"/>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BBB18420-4B98-7ACA-7AC2-5F0F08673BD8}"/>
              </a:ext>
            </a:extLst>
          </p:cNvPr>
          <p:cNvCxnSpPr>
            <a:cxnSpLocks/>
          </p:cNvCxnSpPr>
          <p:nvPr/>
        </p:nvCxnSpPr>
        <p:spPr>
          <a:xfrm>
            <a:off x="5210160" y="389511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9EAC7391-11C0-C7F0-E75C-1BDF25968EB7}"/>
              </a:ext>
            </a:extLst>
          </p:cNvPr>
          <p:cNvCxnSpPr>
            <a:cxnSpLocks/>
          </p:cNvCxnSpPr>
          <p:nvPr/>
        </p:nvCxnSpPr>
        <p:spPr>
          <a:xfrm>
            <a:off x="7209666" y="451445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B15C11A8-FB87-FFBA-1141-1C9FF45A168F}"/>
              </a:ext>
            </a:extLst>
          </p:cNvPr>
          <p:cNvCxnSpPr>
            <a:cxnSpLocks/>
          </p:cNvCxnSpPr>
          <p:nvPr/>
        </p:nvCxnSpPr>
        <p:spPr>
          <a:xfrm>
            <a:off x="2176300" y="4114656"/>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F4183E03-ABC0-536D-2AFE-33CCDA74E60F}"/>
              </a:ext>
            </a:extLst>
          </p:cNvPr>
          <p:cNvCxnSpPr>
            <a:cxnSpLocks/>
          </p:cNvCxnSpPr>
          <p:nvPr/>
        </p:nvCxnSpPr>
        <p:spPr>
          <a:xfrm>
            <a:off x="1536849" y="519648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61D05B45-FF2A-3A73-7AB5-20BEBA8F6702}"/>
              </a:ext>
            </a:extLst>
          </p:cNvPr>
          <p:cNvCxnSpPr>
            <a:cxnSpLocks/>
          </p:cNvCxnSpPr>
          <p:nvPr/>
        </p:nvCxnSpPr>
        <p:spPr>
          <a:xfrm flipH="1" flipV="1">
            <a:off x="2246066" y="4821666"/>
            <a:ext cx="478550" cy="671604"/>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4EDD9AF5-689A-E494-F42D-BB1FCB8D5ABF}"/>
              </a:ext>
            </a:extLst>
          </p:cNvPr>
          <p:cNvCxnSpPr>
            <a:cxnSpLocks/>
          </p:cNvCxnSpPr>
          <p:nvPr/>
        </p:nvCxnSpPr>
        <p:spPr>
          <a:xfrm>
            <a:off x="1081278" y="5026562"/>
            <a:ext cx="359997" cy="73327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2" name="楕円 61">
            <a:extLst>
              <a:ext uri="{FF2B5EF4-FFF2-40B4-BE49-F238E27FC236}">
                <a16:creationId xmlns:a16="http://schemas.microsoft.com/office/drawing/2014/main" id="{104D208E-C29E-D092-B00B-3AE18EDD74FC}"/>
              </a:ext>
            </a:extLst>
          </p:cNvPr>
          <p:cNvSpPr/>
          <p:nvPr/>
        </p:nvSpPr>
        <p:spPr>
          <a:xfrm>
            <a:off x="4056382" y="561618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BC9F4B25-3A37-53E4-BDE1-115270B544BB}"/>
              </a:ext>
            </a:extLst>
          </p:cNvPr>
          <p:cNvSpPr/>
          <p:nvPr/>
        </p:nvSpPr>
        <p:spPr>
          <a:xfrm>
            <a:off x="6274046" y="586013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8EEF2B45-2A15-D1B1-2A18-0B7722CCEC94}"/>
              </a:ext>
            </a:extLst>
          </p:cNvPr>
          <p:cNvCxnSpPr>
            <a:cxnSpLocks/>
          </p:cNvCxnSpPr>
          <p:nvPr/>
        </p:nvCxnSpPr>
        <p:spPr>
          <a:xfrm>
            <a:off x="4939378" y="5211765"/>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761537FE-77E9-8207-3E09-3B846F124722}"/>
              </a:ext>
            </a:extLst>
          </p:cNvPr>
          <p:cNvCxnSpPr>
            <a:cxnSpLocks/>
          </p:cNvCxnSpPr>
          <p:nvPr/>
        </p:nvCxnSpPr>
        <p:spPr>
          <a:xfrm>
            <a:off x="5570973" y="5392762"/>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楕円 72">
            <a:extLst>
              <a:ext uri="{FF2B5EF4-FFF2-40B4-BE49-F238E27FC236}">
                <a16:creationId xmlns:a16="http://schemas.microsoft.com/office/drawing/2014/main" id="{FF5582E2-6036-A3F9-87BB-E1A130F275FD}"/>
              </a:ext>
            </a:extLst>
          </p:cNvPr>
          <p:cNvSpPr/>
          <p:nvPr/>
        </p:nvSpPr>
        <p:spPr>
          <a:xfrm>
            <a:off x="6837848" y="412934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0477AFED-18A4-CAFE-F2A0-A616E2C1641C}"/>
              </a:ext>
            </a:extLst>
          </p:cNvPr>
          <p:cNvSpPr/>
          <p:nvPr/>
        </p:nvSpPr>
        <p:spPr>
          <a:xfrm>
            <a:off x="10747204" y="482166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5D0EE158-0DC9-D100-3CC7-EE27795131E7}"/>
              </a:ext>
            </a:extLst>
          </p:cNvPr>
          <p:cNvSpPr/>
          <p:nvPr/>
        </p:nvSpPr>
        <p:spPr>
          <a:xfrm>
            <a:off x="8729954" y="451211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8" name="直線矢印コネクタ 77">
            <a:extLst>
              <a:ext uri="{FF2B5EF4-FFF2-40B4-BE49-F238E27FC236}">
                <a16:creationId xmlns:a16="http://schemas.microsoft.com/office/drawing/2014/main" id="{3B0FAF26-558B-43CF-7671-6286004A935C}"/>
              </a:ext>
            </a:extLst>
          </p:cNvPr>
          <p:cNvCxnSpPr>
            <a:cxnSpLocks/>
            <a:stCxn id="73" idx="6"/>
          </p:cNvCxnSpPr>
          <p:nvPr/>
        </p:nvCxnSpPr>
        <p:spPr>
          <a:xfrm flipV="1">
            <a:off x="6981848" y="4129346"/>
            <a:ext cx="818317" cy="72000"/>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B9BA6121-9C95-A050-D750-CD44BE20425D}"/>
              </a:ext>
            </a:extLst>
          </p:cNvPr>
          <p:cNvCxnSpPr>
            <a:cxnSpLocks/>
          </p:cNvCxnSpPr>
          <p:nvPr/>
        </p:nvCxnSpPr>
        <p:spPr>
          <a:xfrm>
            <a:off x="8873953" y="4599748"/>
            <a:ext cx="814552" cy="5636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48C15B84-B7A2-2DAB-EF5A-11C9AFCB3786}"/>
              </a:ext>
            </a:extLst>
          </p:cNvPr>
          <p:cNvCxnSpPr>
            <a:cxnSpLocks/>
          </p:cNvCxnSpPr>
          <p:nvPr/>
        </p:nvCxnSpPr>
        <p:spPr>
          <a:xfrm>
            <a:off x="7932772" y="346454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A75B1059-42E3-6E24-6D19-633924D30AFB}"/>
              </a:ext>
            </a:extLst>
          </p:cNvPr>
          <p:cNvCxnSpPr>
            <a:cxnSpLocks/>
          </p:cNvCxnSpPr>
          <p:nvPr/>
        </p:nvCxnSpPr>
        <p:spPr>
          <a:xfrm>
            <a:off x="9784080" y="401339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フリーフォーム: 図形 18">
            <a:extLst>
              <a:ext uri="{FF2B5EF4-FFF2-40B4-BE49-F238E27FC236}">
                <a16:creationId xmlns:a16="http://schemas.microsoft.com/office/drawing/2014/main" id="{3B3A073C-D593-67AE-3548-87B7C33FC6A7}"/>
              </a:ext>
            </a:extLst>
          </p:cNvPr>
          <p:cNvSpPr/>
          <p:nvPr/>
        </p:nvSpPr>
        <p:spPr>
          <a:xfrm>
            <a:off x="3252436" y="4628804"/>
            <a:ext cx="5128182" cy="972718"/>
          </a:xfrm>
          <a:custGeom>
            <a:avLst/>
            <a:gdLst>
              <a:gd name="connsiteX0" fmla="*/ 0 w 5128182"/>
              <a:gd name="connsiteY0" fmla="*/ 0 h 972718"/>
              <a:gd name="connsiteX1" fmla="*/ 1150071 w 5128182"/>
              <a:gd name="connsiteY1" fmla="*/ 311085 h 972718"/>
              <a:gd name="connsiteX2" fmla="*/ 1970202 w 5128182"/>
              <a:gd name="connsiteY2" fmla="*/ 169683 h 972718"/>
              <a:gd name="connsiteX3" fmla="*/ 3978112 w 5128182"/>
              <a:gd name="connsiteY3" fmla="*/ 904974 h 972718"/>
              <a:gd name="connsiteX4" fmla="*/ 5128182 w 5128182"/>
              <a:gd name="connsiteY4" fmla="*/ 895547 h 972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8182" h="972718">
                <a:moveTo>
                  <a:pt x="0" y="0"/>
                </a:moveTo>
                <a:cubicBezTo>
                  <a:pt x="410852" y="141402"/>
                  <a:pt x="821704" y="282805"/>
                  <a:pt x="1150071" y="311085"/>
                </a:cubicBezTo>
                <a:cubicBezTo>
                  <a:pt x="1478438" y="339365"/>
                  <a:pt x="1498862" y="70702"/>
                  <a:pt x="1970202" y="169683"/>
                </a:cubicBezTo>
                <a:cubicBezTo>
                  <a:pt x="2441542" y="268664"/>
                  <a:pt x="3451782" y="783997"/>
                  <a:pt x="3978112" y="904974"/>
                </a:cubicBezTo>
                <a:cubicBezTo>
                  <a:pt x="4504442" y="1025951"/>
                  <a:pt x="4816312" y="960749"/>
                  <a:pt x="5128182" y="895547"/>
                </a:cubicBezTo>
              </a:path>
            </a:pathLst>
          </a:cu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43ED67BE-8643-5D6C-0441-BA99E532B587}"/>
                  </a:ext>
                </a:extLst>
              </p:cNvPr>
              <p:cNvSpPr txBox="1"/>
              <p:nvPr/>
            </p:nvSpPr>
            <p:spPr>
              <a:xfrm>
                <a:off x="7882882" y="5599242"/>
                <a:ext cx="121598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solidFill>
                            <a:schemeClr val="accent6">
                              <a:lumMod val="75000"/>
                            </a:schemeClr>
                          </a:solidFill>
                          <a:latin typeface="Cambria Math" panose="02040503050406030204" pitchFamily="18" charset="0"/>
                        </a:rPr>
                        <m:t>𝑃</m:t>
                      </m:r>
                    </m:oMath>
                  </m:oMathPara>
                </a14:m>
                <a:endParaRPr kumimoji="1" lang="ja-JP" altLang="en-US" sz="3200" dirty="0"/>
              </a:p>
            </p:txBody>
          </p:sp>
        </mc:Choice>
        <mc:Fallback xmlns="">
          <p:sp>
            <p:nvSpPr>
              <p:cNvPr id="20" name="テキスト ボックス 19">
                <a:extLst>
                  <a:ext uri="{FF2B5EF4-FFF2-40B4-BE49-F238E27FC236}">
                    <a16:creationId xmlns:a16="http://schemas.microsoft.com/office/drawing/2014/main" id="{43ED67BE-8643-5D6C-0441-BA99E532B587}"/>
                  </a:ext>
                </a:extLst>
              </p:cNvPr>
              <p:cNvSpPr txBox="1">
                <a:spLocks noRot="1" noChangeAspect="1" noMove="1" noResize="1" noEditPoints="1" noAdjustHandles="1" noChangeArrowheads="1" noChangeShapeType="1" noTextEdit="1"/>
              </p:cNvSpPr>
              <p:nvPr/>
            </p:nvSpPr>
            <p:spPr>
              <a:xfrm>
                <a:off x="7882882" y="5599242"/>
                <a:ext cx="1215980" cy="584775"/>
              </a:xfrm>
              <a:prstGeom prst="rect">
                <a:avLst/>
              </a:prstGeom>
              <a:blipFill>
                <a:blip r:embed="rId4"/>
                <a:stretch>
                  <a:fillRect/>
                </a:stretch>
              </a:blipFill>
            </p:spPr>
            <p:txBody>
              <a:bodyPr/>
              <a:lstStyle/>
              <a:p>
                <a:r>
                  <a:rPr lang="ja-JP" altLang="en-US">
                    <a:noFill/>
                  </a:rPr>
                  <a:t> </a:t>
                </a:r>
              </a:p>
            </p:txBody>
          </p:sp>
        </mc:Fallback>
      </mc:AlternateContent>
      <p:cxnSp>
        <p:nvCxnSpPr>
          <p:cNvPr id="8" name="直線矢印コネクタ 7">
            <a:extLst>
              <a:ext uri="{FF2B5EF4-FFF2-40B4-BE49-F238E27FC236}">
                <a16:creationId xmlns:a16="http://schemas.microsoft.com/office/drawing/2014/main" id="{9339FF4A-9E53-E519-114E-8838C015F9A7}"/>
              </a:ext>
            </a:extLst>
          </p:cNvPr>
          <p:cNvCxnSpPr>
            <a:cxnSpLocks/>
          </p:cNvCxnSpPr>
          <p:nvPr/>
        </p:nvCxnSpPr>
        <p:spPr>
          <a:xfrm>
            <a:off x="4196082" y="5696387"/>
            <a:ext cx="635894" cy="163746"/>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8BFC2770-4C2A-6FA4-B53E-EE7007EDD1C4}"/>
              </a:ext>
            </a:extLst>
          </p:cNvPr>
          <p:cNvCxnSpPr>
            <a:cxnSpLocks/>
          </p:cNvCxnSpPr>
          <p:nvPr/>
        </p:nvCxnSpPr>
        <p:spPr>
          <a:xfrm flipH="1">
            <a:off x="5570973" y="5932133"/>
            <a:ext cx="677655" cy="167639"/>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81D03694-C2D6-2B76-049B-B2FE06CFCE0B}"/>
                  </a:ext>
                </a:extLst>
              </p:cNvPr>
              <p:cNvSpPr txBox="1"/>
              <p:nvPr/>
            </p:nvSpPr>
            <p:spPr>
              <a:xfrm>
                <a:off x="9869864" y="3186260"/>
                <a:ext cx="1206628" cy="6467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sz="3600" b="0" i="1" smtClean="0">
                              <a:solidFill>
                                <a:schemeClr val="accent2"/>
                              </a:solidFill>
                              <a:latin typeface="Cambria Math" panose="02040503050406030204" pitchFamily="18" charset="0"/>
                            </a:rPr>
                          </m:ctrlPr>
                        </m:sSubSupPr>
                        <m:e>
                          <m:r>
                            <a:rPr kumimoji="1" lang="en-US" altLang="ja-JP" sz="3600" b="0" i="1" smtClean="0">
                              <a:solidFill>
                                <a:schemeClr val="accent2"/>
                              </a:solidFill>
                              <a:latin typeface="Cambria Math" panose="02040503050406030204" pitchFamily="18" charset="0"/>
                            </a:rPr>
                            <m:t>𝑀</m:t>
                          </m:r>
                        </m:e>
                        <m:sub>
                          <m:r>
                            <a:rPr kumimoji="1" lang="en-US" altLang="ja-JP" sz="3600" b="0" i="1" smtClean="0">
                              <a:solidFill>
                                <a:schemeClr val="accent2"/>
                              </a:solidFill>
                              <a:latin typeface="Cambria Math" panose="02040503050406030204" pitchFamily="18" charset="0"/>
                            </a:rPr>
                            <m:t>𝑖</m:t>
                          </m:r>
                          <m:r>
                            <a:rPr kumimoji="1" lang="en-US" altLang="ja-JP" sz="3600" b="0" i="1" smtClean="0">
                              <a:solidFill>
                                <a:schemeClr val="accent2"/>
                              </a:solidFill>
                              <a:latin typeface="Cambria Math" panose="02040503050406030204" pitchFamily="18" charset="0"/>
                            </a:rPr>
                            <m:t>−1</m:t>
                          </m:r>
                        </m:sub>
                        <m:sup>
                          <m:r>
                            <a:rPr kumimoji="1" lang="en-US" altLang="ja-JP" sz="3600" b="0" i="1" smtClean="0">
                              <a:solidFill>
                                <a:schemeClr val="accent2"/>
                              </a:solidFill>
                              <a:latin typeface="Cambria Math" panose="02040503050406030204" pitchFamily="18" charset="0"/>
                            </a:rPr>
                            <m:t>∗</m:t>
                          </m:r>
                        </m:sup>
                      </m:sSubSup>
                    </m:oMath>
                  </m:oMathPara>
                </a14:m>
                <a:endParaRPr kumimoji="1" lang="ja-JP" altLang="en-US" sz="3600" dirty="0"/>
              </a:p>
            </p:txBody>
          </p:sp>
        </mc:Choice>
        <mc:Fallback xmlns="">
          <p:sp>
            <p:nvSpPr>
              <p:cNvPr id="12" name="テキスト ボックス 11">
                <a:extLst>
                  <a:ext uri="{FF2B5EF4-FFF2-40B4-BE49-F238E27FC236}">
                    <a16:creationId xmlns:a16="http://schemas.microsoft.com/office/drawing/2014/main" id="{81D03694-C2D6-2B76-049B-B2FE06CFCE0B}"/>
                  </a:ext>
                </a:extLst>
              </p:cNvPr>
              <p:cNvSpPr txBox="1">
                <a:spLocks noRot="1" noChangeAspect="1" noMove="1" noResize="1" noEditPoints="1" noAdjustHandles="1" noChangeArrowheads="1" noChangeShapeType="1" noTextEdit="1"/>
              </p:cNvSpPr>
              <p:nvPr/>
            </p:nvSpPr>
            <p:spPr>
              <a:xfrm>
                <a:off x="9869864" y="3186260"/>
                <a:ext cx="1206628" cy="646716"/>
              </a:xfrm>
              <a:prstGeom prst="rect">
                <a:avLst/>
              </a:prstGeom>
              <a:blipFill>
                <a:blip r:embed="rId5"/>
                <a:stretch>
                  <a:fillRect/>
                </a:stretch>
              </a:blipFill>
            </p:spPr>
            <p:txBody>
              <a:bodyPr/>
              <a:lstStyle/>
              <a:p>
                <a:r>
                  <a:rPr lang="ja-JP" altLang="en-US">
                    <a:noFill/>
                  </a:rPr>
                  <a:t> </a:t>
                </a:r>
              </a:p>
            </p:txBody>
          </p:sp>
        </mc:Fallback>
      </mc:AlternateContent>
      <p:sp>
        <p:nvSpPr>
          <p:cNvPr id="16" name="楕円 15">
            <a:extLst>
              <a:ext uri="{FF2B5EF4-FFF2-40B4-BE49-F238E27FC236}">
                <a16:creationId xmlns:a16="http://schemas.microsoft.com/office/drawing/2014/main" id="{7C57AA26-DEF7-395F-B4A8-DACD9226CC41}"/>
              </a:ext>
            </a:extLst>
          </p:cNvPr>
          <p:cNvSpPr/>
          <p:nvPr/>
        </p:nvSpPr>
        <p:spPr>
          <a:xfrm>
            <a:off x="9869864" y="583149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FF38395B-6277-37C2-06D6-AC6DD1DC3DE9}"/>
                  </a:ext>
                </a:extLst>
              </p:cNvPr>
              <p:cNvSpPr txBox="1"/>
              <p:nvPr/>
            </p:nvSpPr>
            <p:spPr>
              <a:xfrm>
                <a:off x="8342722" y="365125"/>
                <a:ext cx="3205113" cy="1028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ja-JP" sz="2400" i="1" smtClean="0">
                          <a:latin typeface="Cambria Math" panose="02040503050406030204" pitchFamily="18" charset="0"/>
                        </a:rPr>
                        <m:t>𝑑</m:t>
                      </m:r>
                      <m:d>
                        <m:dPr>
                          <m:ctrlPr>
                            <a:rPr lang="en-US" altLang="ja-JP" sz="2400" i="1">
                              <a:latin typeface="Cambria Math" panose="02040503050406030204" pitchFamily="18" charset="0"/>
                            </a:rPr>
                          </m:ctrlPr>
                        </m:dPr>
                        <m:e>
                          <m:r>
                            <a:rPr lang="en-US" altLang="ja-JP" sz="2400" b="0" i="1" smtClean="0">
                              <a:latin typeface="Cambria Math" panose="02040503050406030204" pitchFamily="18" charset="0"/>
                            </a:rPr>
                            <m:t>𝑀</m:t>
                          </m:r>
                        </m:e>
                      </m:d>
                      <m:r>
                        <a:rPr lang="en-US" altLang="ja-JP" sz="2400" i="1">
                          <a:latin typeface="Cambria Math" panose="02040503050406030204" pitchFamily="18" charset="0"/>
                        </a:rPr>
                        <m:t>≔</m:t>
                      </m:r>
                      <m:nary>
                        <m:naryPr>
                          <m:chr m:val="∑"/>
                          <m:supHide m:val="on"/>
                          <m:ctrlPr>
                            <a:rPr lang="en-US" altLang="ja-JP" sz="2400" i="1">
                              <a:latin typeface="Cambria Math" panose="02040503050406030204" pitchFamily="18" charset="0"/>
                            </a:rPr>
                          </m:ctrlPr>
                        </m:naryPr>
                        <m: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e>
                          </m:d>
                          <m:r>
                            <a:rPr lang="en-US" altLang="ja-JP" sz="2400" i="1">
                              <a:latin typeface="Cambria Math" panose="02040503050406030204" pitchFamily="18" charset="0"/>
                            </a:rPr>
                            <m:t>∈</m:t>
                          </m:r>
                          <m:r>
                            <a:rPr lang="en-US" altLang="ja-JP" sz="2400" b="0" i="1" smtClean="0">
                              <a:latin typeface="Cambria Math" panose="02040503050406030204" pitchFamily="18" charset="0"/>
                            </a:rPr>
                            <m:t>𝑀</m:t>
                          </m:r>
                        </m:sub>
                        <m:sup/>
                        <m:e>
                          <m:r>
                            <a:rPr lang="en-US" altLang="ja-JP" sz="2400" i="1">
                              <a:latin typeface="Cambria Math" panose="02040503050406030204" pitchFamily="18" charset="0"/>
                            </a:rPr>
                            <m:t>𝑑</m:t>
                          </m:r>
                          <m:r>
                            <a:rPr lang="en-US" altLang="ja-JP" sz="2400" i="1">
                              <a:latin typeface="Cambria Math" panose="02040503050406030204" pitchFamily="18" charset="0"/>
                            </a:rPr>
                            <m:t>(</m:t>
                          </m:r>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r>
                            <a:rPr lang="en-US" altLang="ja-JP" sz="2400" i="1">
                              <a:latin typeface="Cambria Math" panose="02040503050406030204" pitchFamily="18" charset="0"/>
                            </a:rPr>
                            <m:t>)</m:t>
                          </m:r>
                        </m:e>
                      </m:nary>
                    </m:oMath>
                  </m:oMathPara>
                </a14:m>
                <a:endParaRPr lang="en-US" altLang="ja-JP" sz="2400" dirty="0"/>
              </a:p>
            </p:txBody>
          </p:sp>
        </mc:Choice>
        <mc:Fallback xmlns="">
          <p:sp>
            <p:nvSpPr>
              <p:cNvPr id="17" name="テキスト ボックス 16">
                <a:extLst>
                  <a:ext uri="{FF2B5EF4-FFF2-40B4-BE49-F238E27FC236}">
                    <a16:creationId xmlns:a16="http://schemas.microsoft.com/office/drawing/2014/main" id="{FF38395B-6277-37C2-06D6-AC6DD1DC3DE9}"/>
                  </a:ext>
                </a:extLst>
              </p:cNvPr>
              <p:cNvSpPr txBox="1">
                <a:spLocks noRot="1" noChangeAspect="1" noMove="1" noResize="1" noEditPoints="1" noAdjustHandles="1" noChangeArrowheads="1" noChangeShapeType="1" noTextEdit="1"/>
              </p:cNvSpPr>
              <p:nvPr/>
            </p:nvSpPr>
            <p:spPr>
              <a:xfrm>
                <a:off x="8342722" y="365125"/>
                <a:ext cx="3205113" cy="1028358"/>
              </a:xfrm>
              <a:prstGeom prst="rect">
                <a:avLst/>
              </a:prstGeom>
              <a:blipFill>
                <a:blip r:embed="rId6"/>
                <a:stretch>
                  <a:fillRect/>
                </a:stretch>
              </a:blipFill>
            </p:spPr>
            <p:txBody>
              <a:bodyPr/>
              <a:lstStyle/>
              <a:p>
                <a:r>
                  <a:rPr lang="ja-JP" altLang="en-US">
                    <a:noFill/>
                  </a:rPr>
                  <a:t> </a:t>
                </a:r>
              </a:p>
            </p:txBody>
          </p:sp>
        </mc:Fallback>
      </mc:AlternateContent>
      <p:sp>
        <p:nvSpPr>
          <p:cNvPr id="7" name="スライド番号プレースホルダー 6">
            <a:extLst>
              <a:ext uri="{FF2B5EF4-FFF2-40B4-BE49-F238E27FC236}">
                <a16:creationId xmlns:a16="http://schemas.microsoft.com/office/drawing/2014/main" id="{04188B06-A63D-0509-3822-714C30081C2E}"/>
              </a:ext>
            </a:extLst>
          </p:cNvPr>
          <p:cNvSpPr>
            <a:spLocks noGrp="1"/>
          </p:cNvSpPr>
          <p:nvPr>
            <p:ph type="sldNum" sz="quarter" idx="12"/>
          </p:nvPr>
        </p:nvSpPr>
        <p:spPr/>
        <p:txBody>
          <a:bodyPr/>
          <a:lstStyle/>
          <a:p>
            <a:fld id="{4B077F3A-4098-4199-8925-77865D1E3500}" type="slidenum">
              <a:rPr kumimoji="1" lang="ja-JP" altLang="en-US" smtClean="0"/>
              <a:t>42</a:t>
            </a:fld>
            <a:endParaRPr kumimoji="1" lang="ja-JP" altLang="en-US"/>
          </a:p>
        </p:txBody>
      </p:sp>
    </p:spTree>
    <p:extLst>
      <p:ext uri="{BB962C8B-B14F-4D97-AF65-F5344CB8AC3E}">
        <p14:creationId xmlns:p14="http://schemas.microsoft.com/office/powerpoint/2010/main" val="18782823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4088E-D2C2-44BE-5786-8F785211CF8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E95FC0-3A76-A7BF-3C83-0387295A80CA}"/>
              </a:ext>
            </a:extLst>
          </p:cNvPr>
          <p:cNvSpPr>
            <a:spLocks noGrp="1"/>
          </p:cNvSpPr>
          <p:nvPr>
            <p:ph type="title"/>
          </p:nvPr>
        </p:nvSpPr>
        <p:spPr/>
        <p:txBody>
          <a:bodyPr/>
          <a:lstStyle/>
          <a:p>
            <a:r>
              <a:rPr lang="ja-JP" altLang="en-US" dirty="0"/>
              <a:t>最適性の説明２</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4935E7A-C6E7-9D93-5103-4669014F431F}"/>
                  </a:ext>
                </a:extLst>
              </p:cNvPr>
              <p:cNvSpPr>
                <a:spLocks noGrp="1"/>
              </p:cNvSpPr>
              <p:nvPr>
                <p:ph idx="1"/>
              </p:nvPr>
            </p:nvSpPr>
            <p:spPr>
              <a:xfrm>
                <a:off x="838200" y="1825625"/>
                <a:ext cx="10515600" cy="1499466"/>
              </a:xfrm>
            </p:spPr>
            <p:txBody>
              <a:bodyPr>
                <a:normAutofit/>
              </a:bodyPr>
              <a:lstStyle/>
              <a:p>
                <a14:m>
                  <m:oMath xmlns:m="http://schemas.openxmlformats.org/officeDocument/2006/math">
                    <m:sSubSup>
                      <m:sSubSupPr>
                        <m:ctrlPr>
                          <a:rPr lang="en-US" altLang="ja-JP" sz="2400" i="1" smtClean="0">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b="0" i="1" smtClean="0">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𝑀</m:t>
                    </m:r>
                  </m:oMath>
                </a14:m>
                <a:r>
                  <a:rPr kumimoji="1" lang="ja-JP" altLang="en-US" sz="2400" dirty="0"/>
                  <a:t> </a:t>
                </a:r>
                <a:r>
                  <a:rPr lang="ja-JP" altLang="en-US" sz="2400" dirty="0"/>
                  <a:t>の </a:t>
                </a:r>
                <a14:m>
                  <m:oMath xmlns:m="http://schemas.openxmlformats.org/officeDocument/2006/math">
                    <m:r>
                      <a:rPr lang="en-US" altLang="ja-JP" sz="2400" b="0" i="1" smtClean="0">
                        <a:latin typeface="Cambria Math" panose="02040503050406030204" pitchFamily="18" charset="0"/>
                      </a:rPr>
                      <m:t>𝑃</m:t>
                    </m:r>
                  </m:oMath>
                </a14:m>
                <a:r>
                  <a:rPr kumimoji="1" lang="en-US" altLang="ja-JP" sz="2400" dirty="0"/>
                  <a:t> </a:t>
                </a:r>
                <a:r>
                  <a:rPr kumimoji="1" lang="ja-JP" altLang="en-US" sz="2400" dirty="0"/>
                  <a:t>以外の部分でかかるコストが異なると最適性に矛盾</a:t>
                </a:r>
                <a:endParaRPr kumimoji="1" lang="en-US" altLang="ja-JP" sz="2400" dirty="0"/>
              </a:p>
              <a:p>
                <a:r>
                  <a:rPr kumimoji="1" lang="ja-JP" altLang="en-US" sz="2400" dirty="0"/>
                  <a:t>よって </a:t>
                </a:r>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m:t>
                        </m:r>
                      </m:sup>
                    </m:sSub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𝑃</m:t>
                    </m:r>
                  </m:oMath>
                </a14:m>
                <a:r>
                  <a:rPr kumimoji="1" lang="en-US" altLang="ja-JP" sz="2400" dirty="0"/>
                  <a:t> </a:t>
                </a:r>
                <a:r>
                  <a:rPr kumimoji="1" lang="ja-JP" altLang="en-US" sz="2400" dirty="0"/>
                  <a:t>もまた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の最適マッチングとなる</a:t>
                </a:r>
                <a:endParaRPr kumimoji="1" lang="en-US" altLang="ja-JP" sz="2400" dirty="0"/>
              </a:p>
              <a:p>
                <a14:m>
                  <m:oMath xmlns:m="http://schemas.openxmlformats.org/officeDocument/2006/math">
                    <m:r>
                      <a:rPr kumimoji="1" lang="en-US" altLang="ja-JP" sz="2400" b="0" i="1" smtClean="0">
                        <a:latin typeface="Cambria Math" panose="02040503050406030204" pitchFamily="18" charset="0"/>
                      </a:rPr>
                      <m:t>𝜙</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𝑃</m:t>
                        </m:r>
                      </m:e>
                    </m:d>
                  </m:oMath>
                </a14:m>
                <a:r>
                  <a:rPr kumimoji="1" lang="en-US" altLang="ja-JP" sz="2400" dirty="0"/>
                  <a:t> </a:t>
                </a:r>
                <a:r>
                  <a:rPr kumimoji="1" lang="ja-JP" altLang="en-US" sz="2400" dirty="0"/>
                  <a:t>は </a:t>
                </a:r>
                <a14:m>
                  <m:oMath xmlns:m="http://schemas.openxmlformats.org/officeDocument/2006/math">
                    <m:r>
                      <a:rPr kumimoji="1" lang="en-US" altLang="ja-JP" sz="2400" b="0" i="1" smtClean="0">
                        <a:latin typeface="Cambria Math" panose="02040503050406030204" pitchFamily="18" charset="0"/>
                      </a:rPr>
                      <m:t>𝑑</m:t>
                    </m:r>
                    <m:d>
                      <m:dPr>
                        <m:ctrlPr>
                          <a:rPr kumimoji="1" lang="en-US" altLang="ja-JP" sz="2400" b="0" i="1" smtClean="0">
                            <a:latin typeface="Cambria Math" panose="02040503050406030204" pitchFamily="18" charset="0"/>
                          </a:rPr>
                        </m:ctrlPr>
                      </m:dPr>
                      <m:e>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r>
                          <a:rPr lang="en-US" altLang="ja-JP" sz="2400" i="1">
                            <a:latin typeface="Cambria Math" panose="02040503050406030204" pitchFamily="18" charset="0"/>
                          </a:rPr>
                          <m:t>⊕</m:t>
                        </m:r>
                        <m:r>
                          <a:rPr lang="en-US" altLang="ja-JP" sz="2400" i="1">
                            <a:latin typeface="Cambria Math" panose="02040503050406030204" pitchFamily="18" charset="0"/>
                          </a:rPr>
                          <m:t>𝑃</m:t>
                        </m:r>
                      </m:e>
                    </m:d>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𝑑</m:t>
                    </m:r>
                    <m:d>
                      <m:dPr>
                        <m:ctrlPr>
                          <a:rPr kumimoji="1" lang="en-US" altLang="ja-JP" sz="2400" b="0" i="1" smtClean="0">
                            <a:latin typeface="Cambria Math" panose="02040503050406030204" pitchFamily="18" charset="0"/>
                          </a:rPr>
                        </m:ctrlPr>
                      </m:dPr>
                      <m:e>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e>
                    </m:d>
                  </m:oMath>
                </a14:m>
                <a:r>
                  <a:rPr kumimoji="1" lang="en-US" altLang="ja-JP" sz="2400" dirty="0"/>
                  <a:t> </a:t>
                </a:r>
                <a:r>
                  <a:rPr kumimoji="1" lang="ja-JP" altLang="en-US" sz="2400" dirty="0"/>
                  <a:t>を意味するのでこれを最小化すれば良い</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B4935E7A-C6E7-9D93-5103-4669014F431F}"/>
                  </a:ext>
                </a:extLst>
              </p:cNvPr>
              <p:cNvSpPr>
                <a:spLocks noGrp="1" noRot="1" noChangeAspect="1" noMove="1" noResize="1" noEditPoints="1" noAdjustHandles="1" noChangeArrowheads="1" noChangeShapeType="1" noTextEdit="1"/>
              </p:cNvSpPr>
              <p:nvPr>
                <p:ph idx="1"/>
              </p:nvPr>
            </p:nvSpPr>
            <p:spPr>
              <a:xfrm>
                <a:off x="838200" y="1825625"/>
                <a:ext cx="10515600" cy="1499466"/>
              </a:xfrm>
              <a:blipFill>
                <a:blip r:embed="rId2"/>
                <a:stretch>
                  <a:fillRect l="-812" t="-5285"/>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9F3EB28F-035B-D52C-7075-78C5AFB39135}"/>
              </a:ext>
            </a:extLst>
          </p:cNvPr>
          <p:cNvSpPr/>
          <p:nvPr/>
        </p:nvSpPr>
        <p:spPr>
          <a:xfrm>
            <a:off x="4263434" y="4630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E3068655-E7D4-C1E5-CDD3-920EDC059A86}"/>
              </a:ext>
            </a:extLst>
          </p:cNvPr>
          <p:cNvSpPr/>
          <p:nvPr/>
        </p:nvSpPr>
        <p:spPr>
          <a:xfrm>
            <a:off x="2724616" y="549327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5DF6A399-2047-DB5A-4731-59284B2E3995}"/>
              </a:ext>
            </a:extLst>
          </p:cNvPr>
          <p:cNvSpPr/>
          <p:nvPr/>
        </p:nvSpPr>
        <p:spPr>
          <a:xfrm>
            <a:off x="996601" y="4846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686A9EF0-EC7B-8493-8744-1ADEF3C3B80C}"/>
              </a:ext>
            </a:extLst>
          </p:cNvPr>
          <p:cNvSpPr/>
          <p:nvPr/>
        </p:nvSpPr>
        <p:spPr>
          <a:xfrm>
            <a:off x="8221216" y="519648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4DC7AA72-8F8A-6243-D64F-FA0B2575E621}"/>
              </a:ext>
            </a:extLst>
          </p:cNvPr>
          <p:cNvSpPr/>
          <p:nvPr/>
        </p:nvSpPr>
        <p:spPr>
          <a:xfrm>
            <a:off x="6176628" y="477441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04AC7F02-4BD4-1479-1813-49EC0A0EE922}"/>
              </a:ext>
            </a:extLst>
          </p:cNvPr>
          <p:cNvCxnSpPr>
            <a:cxnSpLocks/>
          </p:cNvCxnSpPr>
          <p:nvPr/>
        </p:nvCxnSpPr>
        <p:spPr>
          <a:xfrm>
            <a:off x="3299838" y="3818048"/>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3BD82D50-AE2D-61D3-5486-49A62483D84F}"/>
                  </a:ext>
                </a:extLst>
              </p:cNvPr>
              <p:cNvSpPr txBox="1"/>
              <p:nvPr/>
            </p:nvSpPr>
            <p:spPr>
              <a:xfrm>
                <a:off x="3092448" y="3364440"/>
                <a:ext cx="414780" cy="4001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m:oMathPara>
                </a14:m>
                <a:endParaRPr kumimoji="1" lang="ja-JP" altLang="en-US" sz="2000" dirty="0"/>
              </a:p>
            </p:txBody>
          </p:sp>
        </mc:Choice>
        <mc:Fallback xmlns="">
          <p:sp>
            <p:nvSpPr>
              <p:cNvPr id="14" name="テキスト ボックス 13">
                <a:extLst>
                  <a:ext uri="{FF2B5EF4-FFF2-40B4-BE49-F238E27FC236}">
                    <a16:creationId xmlns:a16="http://schemas.microsoft.com/office/drawing/2014/main" id="{3BD82D50-AE2D-61D3-5486-49A62483D84F}"/>
                  </a:ext>
                </a:extLst>
              </p:cNvPr>
              <p:cNvSpPr txBox="1">
                <a:spLocks noRot="1" noChangeAspect="1" noMove="1" noResize="1" noEditPoints="1" noAdjustHandles="1" noChangeArrowheads="1" noChangeShapeType="1" noTextEdit="1"/>
              </p:cNvSpPr>
              <p:nvPr/>
            </p:nvSpPr>
            <p:spPr>
              <a:xfrm>
                <a:off x="3092448" y="3364440"/>
                <a:ext cx="414780" cy="400174"/>
              </a:xfrm>
              <a:prstGeom prst="rect">
                <a:avLst/>
              </a:prstGeom>
              <a:blipFill>
                <a:blip r:embed="rId3"/>
                <a:stretch>
                  <a:fillRect/>
                </a:stretch>
              </a:blipFill>
            </p:spPr>
            <p:txBody>
              <a:bodyPr/>
              <a:lstStyle/>
              <a:p>
                <a:r>
                  <a:rPr lang="ja-JP" altLang="en-US">
                    <a:noFill/>
                  </a:rPr>
                  <a:t> </a:t>
                </a:r>
              </a:p>
            </p:txBody>
          </p:sp>
        </mc:Fallback>
      </mc:AlternateContent>
      <p:cxnSp>
        <p:nvCxnSpPr>
          <p:cNvPr id="15" name="直線矢印コネクタ 14">
            <a:extLst>
              <a:ext uri="{FF2B5EF4-FFF2-40B4-BE49-F238E27FC236}">
                <a16:creationId xmlns:a16="http://schemas.microsoft.com/office/drawing/2014/main" id="{4A678677-D608-A340-78CE-ABAD5F0D2B75}"/>
              </a:ext>
            </a:extLst>
          </p:cNvPr>
          <p:cNvCxnSpPr>
            <a:cxnSpLocks/>
            <a:endCxn id="4" idx="2"/>
          </p:cNvCxnSpPr>
          <p:nvPr/>
        </p:nvCxnSpPr>
        <p:spPr>
          <a:xfrm>
            <a:off x="3299838" y="4512115"/>
            <a:ext cx="963596" cy="190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B85A353C-0895-C6D5-7661-D695CF17B45C}"/>
              </a:ext>
            </a:extLst>
          </p:cNvPr>
          <p:cNvCxnSpPr>
            <a:cxnSpLocks/>
            <a:endCxn id="10" idx="2"/>
          </p:cNvCxnSpPr>
          <p:nvPr/>
        </p:nvCxnSpPr>
        <p:spPr>
          <a:xfrm>
            <a:off x="5299030" y="4584115"/>
            <a:ext cx="877598" cy="26229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B4A90DBD-7528-022B-BD69-8E909956E727}"/>
              </a:ext>
            </a:extLst>
          </p:cNvPr>
          <p:cNvCxnSpPr>
            <a:cxnSpLocks/>
            <a:endCxn id="9" idx="2"/>
          </p:cNvCxnSpPr>
          <p:nvPr/>
        </p:nvCxnSpPr>
        <p:spPr>
          <a:xfrm>
            <a:off x="7258092" y="5221467"/>
            <a:ext cx="963124" cy="4702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A221EF7E-A7F5-1CFE-4DDA-1E51065BF4E2}"/>
              </a:ext>
            </a:extLst>
          </p:cNvPr>
          <p:cNvCxnSpPr>
            <a:cxnSpLocks/>
          </p:cNvCxnSpPr>
          <p:nvPr/>
        </p:nvCxnSpPr>
        <p:spPr>
          <a:xfrm>
            <a:off x="5210160" y="3895119"/>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1D22E3C8-24B9-F92F-EC1F-F1BC6905A108}"/>
              </a:ext>
            </a:extLst>
          </p:cNvPr>
          <p:cNvCxnSpPr>
            <a:cxnSpLocks/>
          </p:cNvCxnSpPr>
          <p:nvPr/>
        </p:nvCxnSpPr>
        <p:spPr>
          <a:xfrm>
            <a:off x="7209666" y="451445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4F1E6B3C-5088-3E6F-9DB7-18CE2CF705FC}"/>
              </a:ext>
            </a:extLst>
          </p:cNvPr>
          <p:cNvCxnSpPr>
            <a:cxnSpLocks/>
          </p:cNvCxnSpPr>
          <p:nvPr/>
        </p:nvCxnSpPr>
        <p:spPr>
          <a:xfrm>
            <a:off x="2176300" y="4114656"/>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88F0FABA-5509-7B2A-FC13-23A1F73B9411}"/>
              </a:ext>
            </a:extLst>
          </p:cNvPr>
          <p:cNvCxnSpPr>
            <a:cxnSpLocks/>
          </p:cNvCxnSpPr>
          <p:nvPr/>
        </p:nvCxnSpPr>
        <p:spPr>
          <a:xfrm>
            <a:off x="1536849" y="5196487"/>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51F95960-0DA1-C5E5-E2A5-8615AE622B96}"/>
              </a:ext>
            </a:extLst>
          </p:cNvPr>
          <p:cNvCxnSpPr>
            <a:cxnSpLocks/>
          </p:cNvCxnSpPr>
          <p:nvPr/>
        </p:nvCxnSpPr>
        <p:spPr>
          <a:xfrm flipH="1" flipV="1">
            <a:off x="2246066" y="4821666"/>
            <a:ext cx="478550" cy="671604"/>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C67DB957-8512-1DC1-7ED5-9D76851121CE}"/>
              </a:ext>
            </a:extLst>
          </p:cNvPr>
          <p:cNvCxnSpPr>
            <a:cxnSpLocks/>
          </p:cNvCxnSpPr>
          <p:nvPr/>
        </p:nvCxnSpPr>
        <p:spPr>
          <a:xfrm>
            <a:off x="1081278" y="5026562"/>
            <a:ext cx="359997" cy="73327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2" name="楕円 61">
            <a:extLst>
              <a:ext uri="{FF2B5EF4-FFF2-40B4-BE49-F238E27FC236}">
                <a16:creationId xmlns:a16="http://schemas.microsoft.com/office/drawing/2014/main" id="{E381BCC6-38DD-1D70-AB6A-80A83AFCD1E5}"/>
              </a:ext>
            </a:extLst>
          </p:cNvPr>
          <p:cNvSpPr/>
          <p:nvPr/>
        </p:nvSpPr>
        <p:spPr>
          <a:xfrm>
            <a:off x="4056382" y="561618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32236219-F6BD-5941-0167-F1CEFFCFA7A3}"/>
              </a:ext>
            </a:extLst>
          </p:cNvPr>
          <p:cNvSpPr/>
          <p:nvPr/>
        </p:nvSpPr>
        <p:spPr>
          <a:xfrm>
            <a:off x="6274046" y="586013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10E515C6-7241-030F-E2A7-04B6446C05F0}"/>
              </a:ext>
            </a:extLst>
          </p:cNvPr>
          <p:cNvCxnSpPr>
            <a:cxnSpLocks/>
          </p:cNvCxnSpPr>
          <p:nvPr/>
        </p:nvCxnSpPr>
        <p:spPr>
          <a:xfrm>
            <a:off x="4939378" y="5211765"/>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41A2F932-8B7C-75C7-93E5-64C7E697AFB1}"/>
              </a:ext>
            </a:extLst>
          </p:cNvPr>
          <p:cNvCxnSpPr>
            <a:cxnSpLocks/>
          </p:cNvCxnSpPr>
          <p:nvPr/>
        </p:nvCxnSpPr>
        <p:spPr>
          <a:xfrm>
            <a:off x="5570973" y="5392762"/>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楕円 72">
            <a:extLst>
              <a:ext uri="{FF2B5EF4-FFF2-40B4-BE49-F238E27FC236}">
                <a16:creationId xmlns:a16="http://schemas.microsoft.com/office/drawing/2014/main" id="{F63568B4-BEE8-B832-E4DA-9421F63E5A63}"/>
              </a:ext>
            </a:extLst>
          </p:cNvPr>
          <p:cNvSpPr/>
          <p:nvPr/>
        </p:nvSpPr>
        <p:spPr>
          <a:xfrm>
            <a:off x="6837848" y="412934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0C8D4B59-64C1-E7CA-FF6C-D0C8123362D8}"/>
              </a:ext>
            </a:extLst>
          </p:cNvPr>
          <p:cNvSpPr/>
          <p:nvPr/>
        </p:nvSpPr>
        <p:spPr>
          <a:xfrm>
            <a:off x="10747204" y="482166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C6AB10BE-9754-BE67-7940-BA8CD5F955E9}"/>
              </a:ext>
            </a:extLst>
          </p:cNvPr>
          <p:cNvSpPr/>
          <p:nvPr/>
        </p:nvSpPr>
        <p:spPr>
          <a:xfrm>
            <a:off x="8729954" y="451211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8" name="直線矢印コネクタ 77">
            <a:extLst>
              <a:ext uri="{FF2B5EF4-FFF2-40B4-BE49-F238E27FC236}">
                <a16:creationId xmlns:a16="http://schemas.microsoft.com/office/drawing/2014/main" id="{F9FCEC85-05BD-1BF3-1C33-37D8EBBC9595}"/>
              </a:ext>
            </a:extLst>
          </p:cNvPr>
          <p:cNvCxnSpPr>
            <a:cxnSpLocks/>
            <a:stCxn id="73" idx="6"/>
          </p:cNvCxnSpPr>
          <p:nvPr/>
        </p:nvCxnSpPr>
        <p:spPr>
          <a:xfrm flipV="1">
            <a:off x="6981848" y="4129346"/>
            <a:ext cx="818317" cy="72000"/>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1724B1B6-A76A-D7AB-1CAB-8B2266A92919}"/>
              </a:ext>
            </a:extLst>
          </p:cNvPr>
          <p:cNvCxnSpPr>
            <a:cxnSpLocks/>
          </p:cNvCxnSpPr>
          <p:nvPr/>
        </p:nvCxnSpPr>
        <p:spPr>
          <a:xfrm>
            <a:off x="8873953" y="4599748"/>
            <a:ext cx="814552" cy="56367"/>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A1A1FD50-CCD8-531C-1A0B-734F965DEA18}"/>
              </a:ext>
            </a:extLst>
          </p:cNvPr>
          <p:cNvCxnSpPr>
            <a:cxnSpLocks/>
          </p:cNvCxnSpPr>
          <p:nvPr/>
        </p:nvCxnSpPr>
        <p:spPr>
          <a:xfrm>
            <a:off x="7932772" y="346454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065851A2-A3D7-D056-0415-21A592AD2A33}"/>
              </a:ext>
            </a:extLst>
          </p:cNvPr>
          <p:cNvCxnSpPr>
            <a:cxnSpLocks/>
          </p:cNvCxnSpPr>
          <p:nvPr/>
        </p:nvCxnSpPr>
        <p:spPr>
          <a:xfrm>
            <a:off x="9784080" y="4013393"/>
            <a:ext cx="0" cy="707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フリーフォーム: 図形 18">
            <a:extLst>
              <a:ext uri="{FF2B5EF4-FFF2-40B4-BE49-F238E27FC236}">
                <a16:creationId xmlns:a16="http://schemas.microsoft.com/office/drawing/2014/main" id="{C7BE0ED3-D2E7-C329-F455-76EB59301863}"/>
              </a:ext>
            </a:extLst>
          </p:cNvPr>
          <p:cNvSpPr/>
          <p:nvPr/>
        </p:nvSpPr>
        <p:spPr>
          <a:xfrm>
            <a:off x="3252436" y="4628804"/>
            <a:ext cx="5128182" cy="972718"/>
          </a:xfrm>
          <a:custGeom>
            <a:avLst/>
            <a:gdLst>
              <a:gd name="connsiteX0" fmla="*/ 0 w 5128182"/>
              <a:gd name="connsiteY0" fmla="*/ 0 h 972718"/>
              <a:gd name="connsiteX1" fmla="*/ 1150071 w 5128182"/>
              <a:gd name="connsiteY1" fmla="*/ 311085 h 972718"/>
              <a:gd name="connsiteX2" fmla="*/ 1970202 w 5128182"/>
              <a:gd name="connsiteY2" fmla="*/ 169683 h 972718"/>
              <a:gd name="connsiteX3" fmla="*/ 3978112 w 5128182"/>
              <a:gd name="connsiteY3" fmla="*/ 904974 h 972718"/>
              <a:gd name="connsiteX4" fmla="*/ 5128182 w 5128182"/>
              <a:gd name="connsiteY4" fmla="*/ 895547 h 972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8182" h="972718">
                <a:moveTo>
                  <a:pt x="0" y="0"/>
                </a:moveTo>
                <a:cubicBezTo>
                  <a:pt x="410852" y="141402"/>
                  <a:pt x="821704" y="282805"/>
                  <a:pt x="1150071" y="311085"/>
                </a:cubicBezTo>
                <a:cubicBezTo>
                  <a:pt x="1478438" y="339365"/>
                  <a:pt x="1498862" y="70702"/>
                  <a:pt x="1970202" y="169683"/>
                </a:cubicBezTo>
                <a:cubicBezTo>
                  <a:pt x="2441542" y="268664"/>
                  <a:pt x="3451782" y="783997"/>
                  <a:pt x="3978112" y="904974"/>
                </a:cubicBezTo>
                <a:cubicBezTo>
                  <a:pt x="4504442" y="1025951"/>
                  <a:pt x="4816312" y="960749"/>
                  <a:pt x="5128182" y="895547"/>
                </a:cubicBezTo>
              </a:path>
            </a:pathLst>
          </a:cu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C447EBB-F4F3-756C-9D1B-B2CA6C42593C}"/>
                  </a:ext>
                </a:extLst>
              </p:cNvPr>
              <p:cNvSpPr txBox="1"/>
              <p:nvPr/>
            </p:nvSpPr>
            <p:spPr>
              <a:xfrm>
                <a:off x="7882882" y="5599242"/>
                <a:ext cx="121598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solidFill>
                            <a:schemeClr val="accent6">
                              <a:lumMod val="75000"/>
                            </a:schemeClr>
                          </a:solidFill>
                          <a:latin typeface="Cambria Math" panose="02040503050406030204" pitchFamily="18" charset="0"/>
                        </a:rPr>
                        <m:t>𝑃</m:t>
                      </m:r>
                    </m:oMath>
                  </m:oMathPara>
                </a14:m>
                <a:endParaRPr kumimoji="1" lang="ja-JP" altLang="en-US" sz="3200" dirty="0"/>
              </a:p>
            </p:txBody>
          </p:sp>
        </mc:Choice>
        <mc:Fallback xmlns="">
          <p:sp>
            <p:nvSpPr>
              <p:cNvPr id="20" name="テキスト ボックス 19">
                <a:extLst>
                  <a:ext uri="{FF2B5EF4-FFF2-40B4-BE49-F238E27FC236}">
                    <a16:creationId xmlns:a16="http://schemas.microsoft.com/office/drawing/2014/main" id="{BC447EBB-F4F3-756C-9D1B-B2CA6C42593C}"/>
                  </a:ext>
                </a:extLst>
              </p:cNvPr>
              <p:cNvSpPr txBox="1">
                <a:spLocks noRot="1" noChangeAspect="1" noMove="1" noResize="1" noEditPoints="1" noAdjustHandles="1" noChangeArrowheads="1" noChangeShapeType="1" noTextEdit="1"/>
              </p:cNvSpPr>
              <p:nvPr/>
            </p:nvSpPr>
            <p:spPr>
              <a:xfrm>
                <a:off x="7882882" y="5599242"/>
                <a:ext cx="1215980" cy="584775"/>
              </a:xfrm>
              <a:prstGeom prst="rect">
                <a:avLst/>
              </a:prstGeom>
              <a:blipFill>
                <a:blip r:embed="rId4"/>
                <a:stretch>
                  <a:fillRect/>
                </a:stretch>
              </a:blipFill>
            </p:spPr>
            <p:txBody>
              <a:bodyPr/>
              <a:lstStyle/>
              <a:p>
                <a:r>
                  <a:rPr lang="ja-JP" altLang="en-US">
                    <a:noFill/>
                  </a:rPr>
                  <a:t> </a:t>
                </a:r>
              </a:p>
            </p:txBody>
          </p:sp>
        </mc:Fallback>
      </mc:AlternateContent>
      <p:cxnSp>
        <p:nvCxnSpPr>
          <p:cNvPr id="8" name="直線矢印コネクタ 7">
            <a:extLst>
              <a:ext uri="{FF2B5EF4-FFF2-40B4-BE49-F238E27FC236}">
                <a16:creationId xmlns:a16="http://schemas.microsoft.com/office/drawing/2014/main" id="{10C4E35A-CA7A-3049-66A9-577F099F676E}"/>
              </a:ext>
            </a:extLst>
          </p:cNvPr>
          <p:cNvCxnSpPr>
            <a:cxnSpLocks/>
          </p:cNvCxnSpPr>
          <p:nvPr/>
        </p:nvCxnSpPr>
        <p:spPr>
          <a:xfrm>
            <a:off x="4196082" y="5696387"/>
            <a:ext cx="635894" cy="163746"/>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E1F884ED-B852-2BB3-AA87-9E5570DF157C}"/>
              </a:ext>
            </a:extLst>
          </p:cNvPr>
          <p:cNvCxnSpPr>
            <a:cxnSpLocks/>
          </p:cNvCxnSpPr>
          <p:nvPr/>
        </p:nvCxnSpPr>
        <p:spPr>
          <a:xfrm flipH="1">
            <a:off x="5570973" y="5932133"/>
            <a:ext cx="677655" cy="167639"/>
          </a:xfrm>
          <a:prstGeom prst="straightConnector1">
            <a:avLst/>
          </a:prstGeom>
          <a:ln w="44450">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2" name="楕円 11">
            <a:extLst>
              <a:ext uri="{FF2B5EF4-FFF2-40B4-BE49-F238E27FC236}">
                <a16:creationId xmlns:a16="http://schemas.microsoft.com/office/drawing/2014/main" id="{E0EB26D2-5282-655B-88D4-BCC3E23E1D4B}"/>
              </a:ext>
            </a:extLst>
          </p:cNvPr>
          <p:cNvSpPr/>
          <p:nvPr/>
        </p:nvSpPr>
        <p:spPr>
          <a:xfrm>
            <a:off x="9869864" y="583149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9ABBE908-89D9-BEDB-363F-43EF98A94DAA}"/>
                  </a:ext>
                </a:extLst>
              </p:cNvPr>
              <p:cNvSpPr txBox="1"/>
              <p:nvPr/>
            </p:nvSpPr>
            <p:spPr>
              <a:xfrm>
                <a:off x="8342722" y="365125"/>
                <a:ext cx="3205113" cy="1028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ja-JP" sz="2400" i="1" smtClean="0">
                          <a:latin typeface="Cambria Math" panose="02040503050406030204" pitchFamily="18" charset="0"/>
                        </a:rPr>
                        <m:t>𝑑</m:t>
                      </m:r>
                      <m:d>
                        <m:dPr>
                          <m:ctrlPr>
                            <a:rPr lang="en-US" altLang="ja-JP" sz="2400" i="1">
                              <a:latin typeface="Cambria Math" panose="02040503050406030204" pitchFamily="18" charset="0"/>
                            </a:rPr>
                          </m:ctrlPr>
                        </m:dPr>
                        <m:e>
                          <m:r>
                            <a:rPr lang="en-US" altLang="ja-JP" sz="2400" b="0" i="1" smtClean="0">
                              <a:latin typeface="Cambria Math" panose="02040503050406030204" pitchFamily="18" charset="0"/>
                            </a:rPr>
                            <m:t>𝑀</m:t>
                          </m:r>
                        </m:e>
                      </m:d>
                      <m:r>
                        <a:rPr lang="en-US" altLang="ja-JP" sz="2400" i="1">
                          <a:latin typeface="Cambria Math" panose="02040503050406030204" pitchFamily="18" charset="0"/>
                        </a:rPr>
                        <m:t>≔</m:t>
                      </m:r>
                      <m:nary>
                        <m:naryPr>
                          <m:chr m:val="∑"/>
                          <m:supHide m:val="on"/>
                          <m:ctrlPr>
                            <a:rPr lang="en-US" altLang="ja-JP" sz="2400" i="1">
                              <a:latin typeface="Cambria Math" panose="02040503050406030204" pitchFamily="18" charset="0"/>
                            </a:rPr>
                          </m:ctrlPr>
                        </m:naryPr>
                        <m: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e>
                          </m:d>
                          <m:r>
                            <a:rPr lang="en-US" altLang="ja-JP" sz="2400" i="1">
                              <a:latin typeface="Cambria Math" panose="02040503050406030204" pitchFamily="18" charset="0"/>
                            </a:rPr>
                            <m:t>∈</m:t>
                          </m:r>
                          <m:r>
                            <a:rPr lang="en-US" altLang="ja-JP" sz="2400" b="0" i="1" smtClean="0">
                              <a:latin typeface="Cambria Math" panose="02040503050406030204" pitchFamily="18" charset="0"/>
                            </a:rPr>
                            <m:t>𝑀</m:t>
                          </m:r>
                        </m:sub>
                        <m:sup/>
                        <m:e>
                          <m:r>
                            <a:rPr lang="en-US" altLang="ja-JP" sz="2400" i="1">
                              <a:latin typeface="Cambria Math" panose="02040503050406030204" pitchFamily="18" charset="0"/>
                            </a:rPr>
                            <m:t>𝑑</m:t>
                          </m:r>
                          <m:r>
                            <a:rPr lang="en-US" altLang="ja-JP" sz="2400" i="1">
                              <a:latin typeface="Cambria Math" panose="02040503050406030204" pitchFamily="18" charset="0"/>
                            </a:rPr>
                            <m:t>(</m:t>
                          </m:r>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r>
                            <a:rPr lang="en-US" altLang="ja-JP" sz="2400" i="1">
                              <a:latin typeface="Cambria Math" panose="02040503050406030204" pitchFamily="18" charset="0"/>
                            </a:rPr>
                            <m:t>)</m:t>
                          </m:r>
                        </m:e>
                      </m:nary>
                    </m:oMath>
                  </m:oMathPara>
                </a14:m>
                <a:endParaRPr lang="en-US" altLang="ja-JP" sz="2400" dirty="0"/>
              </a:p>
            </p:txBody>
          </p:sp>
        </mc:Choice>
        <mc:Fallback xmlns="">
          <p:sp>
            <p:nvSpPr>
              <p:cNvPr id="16" name="テキスト ボックス 15">
                <a:extLst>
                  <a:ext uri="{FF2B5EF4-FFF2-40B4-BE49-F238E27FC236}">
                    <a16:creationId xmlns:a16="http://schemas.microsoft.com/office/drawing/2014/main" id="{9ABBE908-89D9-BEDB-363F-43EF98A94DAA}"/>
                  </a:ext>
                </a:extLst>
              </p:cNvPr>
              <p:cNvSpPr txBox="1">
                <a:spLocks noRot="1" noChangeAspect="1" noMove="1" noResize="1" noEditPoints="1" noAdjustHandles="1" noChangeArrowheads="1" noChangeShapeType="1" noTextEdit="1"/>
              </p:cNvSpPr>
              <p:nvPr/>
            </p:nvSpPr>
            <p:spPr>
              <a:xfrm>
                <a:off x="8342722" y="365125"/>
                <a:ext cx="3205113" cy="1028358"/>
              </a:xfrm>
              <a:prstGeom prst="rect">
                <a:avLst/>
              </a:prstGeom>
              <a:blipFill>
                <a:blip r:embed="rId5"/>
                <a:stretch>
                  <a:fillRect/>
                </a:stretch>
              </a:blipFill>
            </p:spPr>
            <p:txBody>
              <a:bodyPr/>
              <a:lstStyle/>
              <a:p>
                <a:r>
                  <a:rPr lang="ja-JP" altLang="en-US">
                    <a:noFill/>
                  </a:rPr>
                  <a:t> </a:t>
                </a:r>
              </a:p>
            </p:txBody>
          </p:sp>
        </mc:Fallback>
      </mc:AlternateContent>
      <p:sp>
        <p:nvSpPr>
          <p:cNvPr id="7" name="スライド番号プレースホルダー 6">
            <a:extLst>
              <a:ext uri="{FF2B5EF4-FFF2-40B4-BE49-F238E27FC236}">
                <a16:creationId xmlns:a16="http://schemas.microsoft.com/office/drawing/2014/main" id="{BB89618E-61EF-B90F-A31B-F82A103CD810}"/>
              </a:ext>
            </a:extLst>
          </p:cNvPr>
          <p:cNvSpPr>
            <a:spLocks noGrp="1"/>
          </p:cNvSpPr>
          <p:nvPr>
            <p:ph type="sldNum" sz="quarter" idx="12"/>
          </p:nvPr>
        </p:nvSpPr>
        <p:spPr/>
        <p:txBody>
          <a:bodyPr/>
          <a:lstStyle/>
          <a:p>
            <a:fld id="{4B077F3A-4098-4199-8925-77865D1E3500}" type="slidenum">
              <a:rPr kumimoji="1" lang="ja-JP" altLang="en-US" smtClean="0"/>
              <a:t>43</a:t>
            </a:fld>
            <a:endParaRPr kumimoji="1" lang="ja-JP" altLang="en-US"/>
          </a:p>
        </p:txBody>
      </p:sp>
    </p:spTree>
    <p:extLst>
      <p:ext uri="{BB962C8B-B14F-4D97-AF65-F5344CB8AC3E}">
        <p14:creationId xmlns:p14="http://schemas.microsoft.com/office/powerpoint/2010/main" val="148852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A4930-23AC-44C1-745E-F2A2B3BEE014}"/>
              </a:ext>
            </a:extLst>
          </p:cNvPr>
          <p:cNvSpPr>
            <a:spLocks noGrp="1"/>
          </p:cNvSpPr>
          <p:nvPr>
            <p:ph type="title"/>
          </p:nvPr>
        </p:nvSpPr>
        <p:spPr/>
        <p:txBody>
          <a:bodyPr/>
          <a:lstStyle/>
          <a:p>
            <a:r>
              <a:rPr lang="en-US" altLang="ja-JP" dirty="0"/>
              <a:t>Permutation </a:t>
            </a:r>
            <a:r>
              <a:rPr lang="ja-JP" altLang="en-US" dirty="0"/>
              <a:t>アルゴリズム</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3D98C33-EAAB-3844-DEA2-DBD87EE1A760}"/>
                  </a:ext>
                </a:extLst>
              </p:cNvPr>
              <p:cNvSpPr>
                <a:spLocks noGrp="1"/>
              </p:cNvSpPr>
              <p:nvPr>
                <p:ph idx="1"/>
              </p:nvPr>
            </p:nvSpPr>
            <p:spPr>
              <a:xfrm>
                <a:off x="838200" y="2620651"/>
                <a:ext cx="10515600" cy="3780433"/>
              </a:xfrm>
              <a:solidFill>
                <a:schemeClr val="accent4">
                  <a:lumMod val="20000"/>
                  <a:lumOff val="80000"/>
                </a:schemeClr>
              </a:solidFill>
            </p:spPr>
            <p:txBody>
              <a:bodyPr anchor="ctr">
                <a:normAutofit/>
              </a:bodyPr>
              <a:lstStyle/>
              <a:p>
                <a:pPr marL="0" indent="0">
                  <a:buNone/>
                </a:pPr>
                <a:r>
                  <a:rPr kumimoji="1" lang="ja-JP" altLang="en-US" sz="2400" b="0" dirty="0"/>
                  <a:t>初期化</a:t>
                </a:r>
                <a:r>
                  <a:rPr kumimoji="1" lang="en-US" altLang="ja-JP" sz="2400" b="0" dirty="0"/>
                  <a:t>: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0</m:t>
                        </m:r>
                      </m:sub>
                    </m:sSub>
                    <m:r>
                      <a:rPr kumimoji="1" lang="en-US" altLang="ja-JP" sz="2400" b="0" i="1" smtClean="0">
                        <a:latin typeface="Cambria Math" panose="02040503050406030204" pitchFamily="18" charset="0"/>
                      </a:rPr>
                      <m:t>←∅, </m:t>
                    </m:r>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0</m:t>
                        </m:r>
                      </m:sub>
                      <m:sup>
                        <m:r>
                          <a:rPr kumimoji="1" lang="en-US" altLang="ja-JP" sz="2400" b="0" i="1" smtClean="0">
                            <a:latin typeface="Cambria Math" panose="02040503050406030204" pitchFamily="18" charset="0"/>
                          </a:rPr>
                          <m:t>∗</m:t>
                        </m:r>
                      </m:sup>
                    </m:sSubSup>
                    <m:r>
                      <a:rPr kumimoji="1" lang="en-US" altLang="ja-JP" sz="2400" b="0" i="1" smtClean="0">
                        <a:latin typeface="Cambria Math" panose="02040503050406030204" pitchFamily="18" charset="0"/>
                      </a:rPr>
                      <m:t>←∅</m:t>
                    </m:r>
                  </m:oMath>
                </a14:m>
                <a:endParaRPr kumimoji="1" lang="en-US" altLang="ja-JP" sz="2400" dirty="0"/>
              </a:p>
              <a:p>
                <a:pPr marL="0" indent="0">
                  <a:buNone/>
                </a:pPr>
                <a:r>
                  <a:rPr lang="en-US" altLang="ja-JP" sz="2400" dirty="0"/>
                  <a:t>For </a:t>
                </a:r>
                <a14:m>
                  <m:oMath xmlns:m="http://schemas.openxmlformats.org/officeDocument/2006/math">
                    <m:r>
                      <a:rPr lang="en-US" altLang="ja-JP" sz="2400" b="0" i="1" smtClean="0">
                        <a:latin typeface="Cambria Math" panose="02040503050406030204" pitchFamily="18" charset="0"/>
                      </a:rPr>
                      <m:t>𝑖</m:t>
                    </m:r>
                    <m:r>
                      <a:rPr lang="en-US" altLang="ja-JP" sz="2400" b="0" i="1" smtClean="0">
                        <a:latin typeface="Cambria Math" panose="02040503050406030204" pitchFamily="18" charset="0"/>
                      </a:rPr>
                      <m:t>=1,…,</m:t>
                    </m:r>
                    <m:r>
                      <a:rPr lang="en-US" altLang="ja-JP" sz="2400" b="0" i="1" smtClean="0">
                        <a:latin typeface="Cambria Math" panose="02040503050406030204" pitchFamily="18" charset="0"/>
                      </a:rPr>
                      <m:t>𝑛</m:t>
                    </m:r>
                  </m:oMath>
                </a14:m>
                <a:r>
                  <a:rPr kumimoji="1" lang="ja-JP" altLang="en-US" sz="2400" dirty="0"/>
                  <a:t> </a:t>
                </a:r>
                <a:r>
                  <a:rPr lang="en-US" altLang="ja-JP" sz="2400" dirty="0"/>
                  <a:t>do</a:t>
                </a:r>
              </a:p>
              <a:p>
                <a:pPr marL="457200" lvl="1" indent="0">
                  <a:buNone/>
                </a:pPr>
                <a:r>
                  <a:rPr lang="ja-JP" altLang="en-US" dirty="0"/>
                  <a:t>新しいリクエスト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𝑟</m:t>
                        </m:r>
                      </m:e>
                      <m:sub>
                        <m:r>
                          <a:rPr lang="en-US" altLang="ja-JP" b="0" i="1" smtClean="0">
                            <a:latin typeface="Cambria Math" panose="02040503050406030204" pitchFamily="18" charset="0"/>
                          </a:rPr>
                          <m:t>𝑖</m:t>
                        </m:r>
                      </m:sub>
                    </m:sSub>
                  </m:oMath>
                </a14:m>
                <a:r>
                  <a:rPr lang="en-US" altLang="ja-JP" dirty="0"/>
                  <a:t> </a:t>
                </a:r>
                <a:r>
                  <a:rPr lang="ja-JP" altLang="en-US" dirty="0"/>
                  <a:t>を受け取る．</a:t>
                </a:r>
                <a:endParaRPr lang="en-US" altLang="ja-JP" dirty="0"/>
              </a:p>
              <a:p>
                <a:pPr marL="457200" lvl="1" indent="0">
                  <a:buNone/>
                </a:pPr>
                <a14:m>
                  <m:oMath xmlns:m="http://schemas.openxmlformats.org/officeDocument/2006/math">
                    <m:r>
                      <a:rPr lang="en-US" altLang="ja-JP" b="0" i="1" smtClean="0">
                        <a:latin typeface="Cambria Math" panose="02040503050406030204" pitchFamily="18" charset="0"/>
                      </a:rPr>
                      <m:t>𝜙</m:t>
                    </m:r>
                  </m:oMath>
                </a14:m>
                <a:r>
                  <a:rPr lang="en-US" altLang="ja-JP" dirty="0"/>
                  <a:t> </a:t>
                </a:r>
                <a:r>
                  <a:rPr lang="ja-JP" altLang="en-US" dirty="0"/>
                  <a:t>を最小化するような </a:t>
                </a:r>
                <a14:m>
                  <m:oMath xmlns:m="http://schemas.openxmlformats.org/officeDocument/2006/math">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𝑀</m:t>
                        </m:r>
                      </m:e>
                      <m:sub>
                        <m:r>
                          <a:rPr lang="en-US" altLang="ja-JP" i="1">
                            <a:latin typeface="Cambria Math" panose="02040503050406030204" pitchFamily="18" charset="0"/>
                          </a:rPr>
                          <m:t>𝑖</m:t>
                        </m:r>
                        <m:r>
                          <a:rPr lang="en-US" altLang="ja-JP" i="1">
                            <a:latin typeface="Cambria Math" panose="02040503050406030204" pitchFamily="18" charset="0"/>
                          </a:rPr>
                          <m:t>−1</m:t>
                        </m:r>
                      </m:sub>
                      <m:sup>
                        <m:r>
                          <a:rPr lang="en-US" altLang="ja-JP" i="1">
                            <a:latin typeface="Cambria Math" panose="02040503050406030204" pitchFamily="18" charset="0"/>
                          </a:rPr>
                          <m:t>∗</m:t>
                        </m:r>
                      </m:sup>
                    </m:sSubSup>
                  </m:oMath>
                </a14:m>
                <a:r>
                  <a:rPr lang="en-US" altLang="ja-JP" dirty="0"/>
                  <a:t> </a:t>
                </a:r>
                <a:r>
                  <a:rPr lang="ja-JP" altLang="en-US" dirty="0"/>
                  <a:t>に対する増加道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𝑃</m:t>
                        </m:r>
                      </m:e>
                      <m:sub>
                        <m:r>
                          <a:rPr lang="en-US" altLang="ja-JP" b="0" i="1" smtClean="0">
                            <a:latin typeface="Cambria Math" panose="02040503050406030204" pitchFamily="18" charset="0"/>
                          </a:rPr>
                          <m:t>𝑖</m:t>
                        </m:r>
                      </m:sub>
                    </m:sSub>
                  </m:oMath>
                </a14:m>
                <a:r>
                  <a:rPr lang="en-US" altLang="ja-JP" dirty="0"/>
                  <a:t> </a:t>
                </a:r>
                <a:r>
                  <a:rPr lang="ja-JP" altLang="en-US" dirty="0"/>
                  <a:t>を求める．</a:t>
                </a:r>
                <a:endParaRPr lang="en-US" altLang="ja-JP" dirty="0"/>
              </a:p>
              <a:p>
                <a:pPr marL="457200" lvl="1" indent="0">
                  <a:buNone/>
                </a:pP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𝑃</m:t>
                        </m:r>
                      </m:e>
                      <m:sub>
                        <m:r>
                          <a:rPr lang="en-US" altLang="ja-JP" b="0" i="1" smtClean="0">
                            <a:latin typeface="Cambria Math" panose="02040503050406030204" pitchFamily="18" charset="0"/>
                          </a:rPr>
                          <m:t>𝑖</m:t>
                        </m:r>
                      </m:sub>
                    </m:sSub>
                  </m:oMath>
                </a14:m>
                <a:r>
                  <a:rPr lang="en-US" altLang="ja-JP" dirty="0"/>
                  <a:t> </a:t>
                </a:r>
                <a:r>
                  <a:rPr lang="ja-JP" altLang="en-US" dirty="0"/>
                  <a:t>の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𝑟</m:t>
                        </m:r>
                      </m:e>
                      <m:sub>
                        <m:r>
                          <a:rPr lang="en-US" altLang="ja-JP" b="0" i="1" smtClean="0">
                            <a:latin typeface="Cambria Math" panose="02040503050406030204" pitchFamily="18" charset="0"/>
                          </a:rPr>
                          <m:t>𝑖</m:t>
                        </m:r>
                      </m:sub>
                    </m:sSub>
                  </m:oMath>
                </a14:m>
                <a:r>
                  <a:rPr lang="en-US" altLang="ja-JP" dirty="0"/>
                  <a:t> </a:t>
                </a:r>
                <a:r>
                  <a:rPr lang="ja-JP" altLang="en-US" dirty="0"/>
                  <a:t>でない方の端点（未使用サーバ）を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𝑠</m:t>
                        </m:r>
                      </m:e>
                      <m:sub>
                        <m:r>
                          <a:rPr lang="en-US" altLang="ja-JP" b="0" i="1" smtClean="0">
                            <a:latin typeface="Cambria Math" panose="02040503050406030204" pitchFamily="18" charset="0"/>
                          </a:rPr>
                          <m:t>𝑖</m:t>
                        </m:r>
                      </m:sub>
                    </m:sSub>
                  </m:oMath>
                </a14:m>
                <a:r>
                  <a:rPr lang="en-US" altLang="ja-JP" dirty="0"/>
                  <a:t> </a:t>
                </a:r>
                <a:r>
                  <a:rPr lang="ja-JP" altLang="en-US" dirty="0"/>
                  <a:t>とする．</a:t>
                </a:r>
                <a:endParaRPr lang="en-US" altLang="ja-JP" dirty="0"/>
              </a:p>
              <a:p>
                <a:pPr marL="457200" lvl="1" indent="0">
                  <a:buNone/>
                </a:pPr>
                <a:r>
                  <a:rPr lang="ja-JP" altLang="en-US" dirty="0"/>
                  <a:t>更新：</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𝑀</m:t>
                        </m:r>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𝑀</m:t>
                        </m:r>
                      </m:e>
                      <m:sub>
                        <m:r>
                          <a:rPr lang="en-US" altLang="ja-JP" b="0" i="1" smtClean="0">
                            <a:latin typeface="Cambria Math" panose="02040503050406030204" pitchFamily="18" charset="0"/>
                          </a:rPr>
                          <m:t>𝑖</m:t>
                        </m:r>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d>
                      <m:dPr>
                        <m:begChr m:val="{"/>
                        <m:endChr m:val="}"/>
                        <m:ctrlPr>
                          <a:rPr lang="en-US" altLang="ja-JP" b="0" i="1" smtClean="0">
                            <a:latin typeface="Cambria Math" panose="02040503050406030204" pitchFamily="18" charset="0"/>
                          </a:rPr>
                        </m:ctrlPr>
                      </m:dPr>
                      <m:e>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𝑟</m:t>
                                </m:r>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𝑠</m:t>
                                </m:r>
                              </m:e>
                              <m:sub>
                                <m:r>
                                  <a:rPr lang="en-US" altLang="ja-JP" b="0" i="1" smtClean="0">
                                    <a:latin typeface="Cambria Math" panose="02040503050406030204" pitchFamily="18" charset="0"/>
                                  </a:rPr>
                                  <m:t>𝑖</m:t>
                                </m:r>
                              </m:sub>
                            </m:sSub>
                          </m:e>
                        </m:d>
                      </m:e>
                    </m:d>
                    <m:r>
                      <a:rPr lang="en-US" altLang="ja-JP" b="0" i="1" smtClean="0">
                        <a:latin typeface="Cambria Math" panose="02040503050406030204" pitchFamily="18" charset="0"/>
                      </a:rPr>
                      <m:t>, </m:t>
                    </m:r>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𝑀</m:t>
                        </m:r>
                      </m:e>
                      <m:sub>
                        <m:r>
                          <a:rPr lang="en-US" altLang="ja-JP" b="0" i="1" smtClean="0">
                            <a:latin typeface="Cambria Math" panose="02040503050406030204" pitchFamily="18" charset="0"/>
                          </a:rPr>
                          <m:t>𝑖</m:t>
                        </m:r>
                      </m:sub>
                      <m:sup>
                        <m:r>
                          <a:rPr lang="en-US" altLang="ja-JP" b="0" i="1" smtClean="0">
                            <a:latin typeface="Cambria Math" panose="02040503050406030204" pitchFamily="18" charset="0"/>
                          </a:rPr>
                          <m:t>∗</m:t>
                        </m:r>
                      </m:sup>
                    </m:sSubSup>
                    <m:r>
                      <a:rPr lang="en-US" altLang="ja-JP" b="0" i="1" smtClean="0">
                        <a:latin typeface="Cambria Math" panose="02040503050406030204" pitchFamily="18" charset="0"/>
                      </a:rPr>
                      <m:t>←</m:t>
                    </m:r>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𝑀</m:t>
                        </m:r>
                      </m:e>
                      <m:sub>
                        <m:r>
                          <a:rPr lang="en-US" altLang="ja-JP" b="0" i="1" smtClean="0">
                            <a:latin typeface="Cambria Math" panose="02040503050406030204" pitchFamily="18" charset="0"/>
                          </a:rPr>
                          <m:t>𝑖</m:t>
                        </m:r>
                        <m:r>
                          <a:rPr lang="en-US" altLang="ja-JP" b="0" i="1" smtClean="0">
                            <a:latin typeface="Cambria Math" panose="02040503050406030204" pitchFamily="18" charset="0"/>
                          </a:rPr>
                          <m:t>−1</m:t>
                        </m:r>
                      </m:sub>
                      <m:sup>
                        <m:r>
                          <a:rPr lang="en-US" altLang="ja-JP" b="0" i="1" smtClean="0">
                            <a:latin typeface="Cambria Math" panose="02040503050406030204" pitchFamily="18" charset="0"/>
                          </a:rPr>
                          <m:t>∗</m:t>
                        </m:r>
                      </m:sup>
                    </m:sSubSup>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𝑃</m:t>
                        </m:r>
                      </m:e>
                      <m:sub>
                        <m:r>
                          <a:rPr lang="en-US" altLang="ja-JP" b="0" i="1" smtClean="0">
                            <a:latin typeface="Cambria Math" panose="02040503050406030204" pitchFamily="18" charset="0"/>
                          </a:rPr>
                          <m:t>𝑖</m:t>
                        </m:r>
                      </m:sub>
                    </m:sSub>
                  </m:oMath>
                </a14:m>
                <a:endParaRPr lang="en-US" altLang="ja-JP" dirty="0"/>
              </a:p>
              <a:p>
                <a:pPr marL="0" indent="0">
                  <a:buNone/>
                </a:pPr>
                <a:r>
                  <a:rPr lang="en-US" altLang="ja-JP" sz="2400" dirty="0"/>
                  <a:t>end for</a:t>
                </a:r>
              </a:p>
              <a:p>
                <a:pPr marL="0" indent="0">
                  <a:buNone/>
                </a:pPr>
                <a:r>
                  <a:rPr lang="en-US" altLang="ja-JP" sz="2400" dirty="0"/>
                  <a:t>Output: </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𝑀</m:t>
                        </m:r>
                      </m:e>
                      <m:sub>
                        <m:r>
                          <a:rPr lang="en-US" altLang="ja-JP" sz="2400" b="0" i="1" smtClean="0">
                            <a:latin typeface="Cambria Math" panose="02040503050406030204" pitchFamily="18" charset="0"/>
                          </a:rPr>
                          <m:t>𝑛</m:t>
                        </m:r>
                      </m:sub>
                    </m:sSub>
                  </m:oMath>
                </a14:m>
                <a:endParaRPr lang="en-US" altLang="ja-JP" sz="2400" dirty="0"/>
              </a:p>
            </p:txBody>
          </p:sp>
        </mc:Choice>
        <mc:Fallback xmlns="">
          <p:sp>
            <p:nvSpPr>
              <p:cNvPr id="3" name="コンテンツ プレースホルダー 2">
                <a:extLst>
                  <a:ext uri="{FF2B5EF4-FFF2-40B4-BE49-F238E27FC236}">
                    <a16:creationId xmlns:a16="http://schemas.microsoft.com/office/drawing/2014/main" id="{C3D98C33-EAAB-3844-DEA2-DBD87EE1A760}"/>
                  </a:ext>
                </a:extLst>
              </p:cNvPr>
              <p:cNvSpPr>
                <a:spLocks noGrp="1" noRot="1" noChangeAspect="1" noMove="1" noResize="1" noEditPoints="1" noAdjustHandles="1" noChangeArrowheads="1" noChangeShapeType="1" noTextEdit="1"/>
              </p:cNvSpPr>
              <p:nvPr>
                <p:ph idx="1"/>
              </p:nvPr>
            </p:nvSpPr>
            <p:spPr>
              <a:xfrm>
                <a:off x="838200" y="2620651"/>
                <a:ext cx="10515600" cy="3780433"/>
              </a:xfrm>
              <a:blipFill>
                <a:blip r:embed="rId2"/>
                <a:stretch>
                  <a:fillRect l="-92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F34F7A4A-27CA-0EF4-27C8-BB81228887D7}"/>
                  </a:ext>
                </a:extLst>
              </p:cNvPr>
              <p:cNvSpPr txBox="1"/>
              <p:nvPr/>
            </p:nvSpPr>
            <p:spPr>
              <a:xfrm>
                <a:off x="838201" y="1690688"/>
                <a:ext cx="10515600" cy="831253"/>
              </a:xfrm>
              <a:prstGeom prst="rect">
                <a:avLst/>
              </a:prstGeom>
              <a:noFill/>
            </p:spPr>
            <p:txBody>
              <a:bodyPr wrap="square" rtlCol="0">
                <a:spAutoFit/>
              </a:bodyPr>
              <a:lstStyle/>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sub>
                    </m:sSub>
                  </m:oMath>
                </a14:m>
                <a:r>
                  <a:rPr kumimoji="1" lang="en-US" altLang="ja-JP" sz="2400" dirty="0"/>
                  <a:t>: </a:t>
                </a:r>
                <a:r>
                  <a:rPr kumimoji="1" lang="ja-JP" altLang="en-US" sz="2400" dirty="0"/>
                  <a:t>アルゴリズムが実際に出力する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𝑖</m:t>
                        </m:r>
                      </m:sub>
                    </m:sSub>
                  </m:oMath>
                </a14:m>
                <a:r>
                  <a:rPr kumimoji="1" lang="ja-JP" altLang="en-US" sz="2400" dirty="0"/>
                  <a:t> の割り当て</a:t>
                </a:r>
                <a:endParaRPr kumimoji="1" lang="en-US" altLang="ja-JP" sz="2400" dirty="0"/>
              </a:p>
              <a:p>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𝑀</m:t>
                        </m:r>
                      </m:e>
                      <m:sub>
                        <m:r>
                          <a:rPr kumimoji="1" lang="en-US" altLang="ja-JP" sz="2400" b="0" i="1" smtClean="0">
                            <a:latin typeface="Cambria Math" panose="02040503050406030204" pitchFamily="18" charset="0"/>
                          </a:rPr>
                          <m:t>𝑖</m:t>
                        </m:r>
                      </m:sub>
                      <m:sup>
                        <m:r>
                          <a:rPr kumimoji="1" lang="en-US" altLang="ja-JP" sz="2400" b="0" i="1" smtClean="0">
                            <a:latin typeface="Cambria Math" panose="02040503050406030204" pitchFamily="18" charset="0"/>
                          </a:rPr>
                          <m:t>∗</m:t>
                        </m:r>
                      </m:sup>
                    </m:sSubSup>
                  </m:oMath>
                </a14:m>
                <a:r>
                  <a:rPr kumimoji="1" lang="en-US" altLang="ja-JP" sz="2400" dirty="0"/>
                  <a:t>: </a:t>
                </a:r>
                <a:r>
                  <a:rPr lang="ja-JP" altLang="en-US" sz="2400" dirty="0"/>
                  <a:t>アルゴリズムが仮想的に内部で求める </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𝑟</m:t>
                        </m:r>
                      </m:e>
                      <m:sub>
                        <m:r>
                          <a:rPr lang="en-US" altLang="ja-JP" sz="2400" b="0" i="1" smtClean="0">
                            <a:latin typeface="Cambria Math" panose="02040503050406030204" pitchFamily="18" charset="0"/>
                          </a:rPr>
                          <m:t>1</m:t>
                        </m:r>
                      </m:sub>
                    </m:sSub>
                    <m:r>
                      <a:rPr lang="en-US" altLang="ja-JP" sz="2400" b="0" i="1" smtClean="0">
                        <a:latin typeface="Cambria Math" panose="02040503050406030204" pitchFamily="18" charset="0"/>
                      </a:rPr>
                      <m:t>,…,</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𝑟</m:t>
                        </m:r>
                      </m:e>
                      <m:sub>
                        <m:r>
                          <a:rPr lang="en-US" altLang="ja-JP" sz="2400" b="0" i="1" smtClean="0">
                            <a:latin typeface="Cambria Math" panose="02040503050406030204" pitchFamily="18" charset="0"/>
                          </a:rPr>
                          <m:t>𝑖</m:t>
                        </m:r>
                      </m:sub>
                    </m:sSub>
                  </m:oMath>
                </a14:m>
                <a:r>
                  <a:rPr kumimoji="1" lang="ja-JP" altLang="en-US" sz="2400" dirty="0"/>
                  <a:t> の最適割り当て</a:t>
                </a:r>
              </a:p>
            </p:txBody>
          </p:sp>
        </mc:Choice>
        <mc:Fallback xmlns="">
          <p:sp>
            <p:nvSpPr>
              <p:cNvPr id="4" name="テキスト ボックス 3">
                <a:extLst>
                  <a:ext uri="{FF2B5EF4-FFF2-40B4-BE49-F238E27FC236}">
                    <a16:creationId xmlns:a16="http://schemas.microsoft.com/office/drawing/2014/main" id="{F34F7A4A-27CA-0EF4-27C8-BB81228887D7}"/>
                  </a:ext>
                </a:extLst>
              </p:cNvPr>
              <p:cNvSpPr txBox="1">
                <a:spLocks noRot="1" noChangeAspect="1" noMove="1" noResize="1" noEditPoints="1" noAdjustHandles="1" noChangeArrowheads="1" noChangeShapeType="1" noTextEdit="1"/>
              </p:cNvSpPr>
              <p:nvPr/>
            </p:nvSpPr>
            <p:spPr>
              <a:xfrm>
                <a:off x="838201" y="1690688"/>
                <a:ext cx="10515600" cy="831253"/>
              </a:xfrm>
              <a:prstGeom prst="rect">
                <a:avLst/>
              </a:prstGeom>
              <a:blipFill>
                <a:blip r:embed="rId3"/>
                <a:stretch>
                  <a:fillRect l="-174" t="-8029" b="-16788"/>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13902E05-D04C-4DC1-9E70-7894F3F8E205}"/>
              </a:ext>
            </a:extLst>
          </p:cNvPr>
          <p:cNvSpPr>
            <a:spLocks noGrp="1"/>
          </p:cNvSpPr>
          <p:nvPr>
            <p:ph type="sldNum" sz="quarter" idx="12"/>
          </p:nvPr>
        </p:nvSpPr>
        <p:spPr/>
        <p:txBody>
          <a:bodyPr/>
          <a:lstStyle/>
          <a:p>
            <a:fld id="{4B077F3A-4098-4199-8925-77865D1E3500}" type="slidenum">
              <a:rPr kumimoji="1" lang="ja-JP" altLang="en-US" smtClean="0"/>
              <a:t>44</a:t>
            </a:fld>
            <a:endParaRPr kumimoji="1" lang="ja-JP" altLang="en-US"/>
          </a:p>
        </p:txBody>
      </p:sp>
    </p:spTree>
    <p:extLst>
      <p:ext uri="{BB962C8B-B14F-4D97-AF65-F5344CB8AC3E}">
        <p14:creationId xmlns:p14="http://schemas.microsoft.com/office/powerpoint/2010/main" val="16868990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A6E727-9245-750C-EC8A-2B70215C8770}"/>
              </a:ext>
            </a:extLst>
          </p:cNvPr>
          <p:cNvSpPr>
            <a:spLocks noGrp="1"/>
          </p:cNvSpPr>
          <p:nvPr>
            <p:ph type="title"/>
          </p:nvPr>
        </p:nvSpPr>
        <p:spPr/>
        <p:txBody>
          <a:bodyPr/>
          <a:lstStyle/>
          <a:p>
            <a:r>
              <a:rPr kumimoji="1" lang="en-US" altLang="ja-JP" dirty="0"/>
              <a:t>Robust-Matching </a:t>
            </a:r>
            <a:r>
              <a:rPr kumimoji="1" lang="ja-JP" altLang="en-US" dirty="0"/>
              <a:t>アルゴリズム（</a:t>
            </a:r>
            <a:r>
              <a:rPr kumimoji="1" lang="en-US" altLang="ja-JP" dirty="0"/>
              <a:t>RM</a:t>
            </a:r>
            <a:r>
              <a:rPr kumimoji="1" lang="ja-JP" altLang="en-US" dirty="0"/>
              <a:t>）</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026060F-450D-E595-5742-B6DC4F595961}"/>
                  </a:ext>
                </a:extLst>
              </p:cNvPr>
              <p:cNvSpPr>
                <a:spLocks noGrp="1"/>
              </p:cNvSpPr>
              <p:nvPr>
                <p:ph idx="1"/>
              </p:nvPr>
            </p:nvSpPr>
            <p:spPr/>
            <p:txBody>
              <a:bodyPr>
                <a:noAutofit/>
              </a:bodyPr>
              <a:lstStyle/>
              <a:p>
                <a:pPr marL="0" indent="0">
                  <a:buNone/>
                </a:pPr>
                <a:r>
                  <a:rPr kumimoji="1" lang="en-US" altLang="ja-JP" sz="2400" dirty="0"/>
                  <a:t>Permutation </a:t>
                </a:r>
                <a:r>
                  <a:rPr kumimoji="1" lang="ja-JP" altLang="en-US" sz="2400" dirty="0"/>
                  <a:t>アルゴリズムの一般化 </a:t>
                </a:r>
                <a:r>
                  <a:rPr kumimoji="1" lang="en-US" altLang="ja-JP" sz="2400" dirty="0"/>
                  <a:t>[Raghvendra, 2016]</a:t>
                </a:r>
              </a:p>
              <a:p>
                <a:pPr marL="0" indent="0">
                  <a:buNone/>
                </a:pPr>
                <a14:m>
                  <m:oMath xmlns:m="http://schemas.openxmlformats.org/officeDocument/2006/math">
                    <m:r>
                      <a:rPr kumimoji="1" lang="en-US" altLang="ja-JP" sz="2400" b="0" i="1" smtClean="0">
                        <a:latin typeface="Cambria Math" panose="02040503050406030204" pitchFamily="18" charset="0"/>
                      </a:rPr>
                      <m:t>𝜙</m:t>
                    </m:r>
                  </m:oMath>
                </a14:m>
                <a:r>
                  <a:rPr kumimoji="1" lang="en-US" altLang="ja-JP" sz="2400" dirty="0"/>
                  <a:t> </a:t>
                </a:r>
                <a:r>
                  <a:rPr kumimoji="1" lang="ja-JP" altLang="en-US" sz="2400" dirty="0"/>
                  <a:t>の代わりにパラメータ </a:t>
                </a:r>
                <a14:m>
                  <m:oMath xmlns:m="http://schemas.openxmlformats.org/officeDocument/2006/math">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≥1</m:t>
                    </m:r>
                  </m:oMath>
                </a14:m>
                <a:r>
                  <a:rPr kumimoji="1" lang="en-US" altLang="ja-JP" sz="2400" dirty="0"/>
                  <a:t> </a:t>
                </a:r>
                <a:r>
                  <a:rPr kumimoji="1" lang="ja-JP" altLang="en-US" sz="2400" dirty="0"/>
                  <a:t>を用いて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𝜙</m:t>
                        </m:r>
                      </m:e>
                      <m:sub>
                        <m:r>
                          <a:rPr kumimoji="1" lang="en-US" altLang="ja-JP" sz="2400" b="0" i="1" smtClean="0">
                            <a:latin typeface="Cambria Math" panose="02040503050406030204" pitchFamily="18" charset="0"/>
                          </a:rPr>
                          <m:t>𝑡</m:t>
                        </m:r>
                      </m:sub>
                    </m:sSub>
                  </m:oMath>
                </a14:m>
                <a:r>
                  <a:rPr kumimoji="1" lang="en-US" altLang="ja-JP" sz="2400" dirty="0"/>
                  <a:t> </a:t>
                </a:r>
                <a:r>
                  <a:rPr kumimoji="1" lang="ja-JP" altLang="en-US" sz="2400" dirty="0"/>
                  <a:t>を最小化する増加道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𝑃</m:t>
                        </m:r>
                      </m:e>
                      <m:sub>
                        <m:r>
                          <a:rPr kumimoji="1" lang="en-US" altLang="ja-JP" sz="2400" b="0" i="1" smtClean="0">
                            <a:latin typeface="Cambria Math" panose="02040503050406030204" pitchFamily="18" charset="0"/>
                          </a:rPr>
                          <m:t>𝑖</m:t>
                        </m:r>
                      </m:sub>
                    </m:sSub>
                  </m:oMath>
                </a14:m>
                <a:r>
                  <a:rPr kumimoji="1" lang="en-US" altLang="ja-JP" sz="2400" dirty="0"/>
                  <a:t> </a:t>
                </a:r>
                <a:r>
                  <a:rPr kumimoji="1" lang="ja-JP" altLang="en-US" sz="2400" dirty="0"/>
                  <a:t>を用いる</a:t>
                </a:r>
                <a:endParaRPr kumimoji="1" lang="en-US" altLang="ja-JP" sz="2400" dirty="0"/>
              </a:p>
              <a:p>
                <a:pPr marL="0" indent="0">
                  <a:buNone/>
                </a:pPr>
                <a:endParaRPr kumimoji="1" lang="en-US" altLang="ja-JP" sz="8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400" b="0" i="1" smtClean="0">
                              <a:latin typeface="Cambria Math" panose="02040503050406030204" pitchFamily="18" charset="0"/>
                            </a:rPr>
                          </m:ctrlPr>
                        </m:sSubPr>
                        <m:e>
                          <m:r>
                            <a:rPr lang="en-US" altLang="ja-JP" sz="2400" i="1">
                              <a:latin typeface="Cambria Math" panose="02040503050406030204" pitchFamily="18" charset="0"/>
                            </a:rPr>
                            <m:t>𝜙</m:t>
                          </m:r>
                        </m:e>
                        <m:sub>
                          <m:r>
                            <a:rPr lang="en-US" altLang="ja-JP" sz="2400" b="0" i="1" smtClean="0">
                              <a:latin typeface="Cambria Math" panose="02040503050406030204" pitchFamily="18" charset="0"/>
                            </a:rPr>
                            <m:t>𝑡</m:t>
                          </m:r>
                        </m:sub>
                      </m:sSub>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e>
                      </m:d>
                      <m:r>
                        <a:rPr lang="en-US" altLang="ja-JP" sz="2400" i="1">
                          <a:latin typeface="Cambria Math" panose="02040503050406030204" pitchFamily="18" charset="0"/>
                        </a:rPr>
                        <m:t>≔</m:t>
                      </m:r>
                      <m:r>
                        <a:rPr lang="en-US" altLang="ja-JP" sz="2400" b="0" i="1" smtClean="0">
                          <a:solidFill>
                            <a:srgbClr val="C00000"/>
                          </a:solidFill>
                          <a:latin typeface="Cambria Math" panose="02040503050406030204" pitchFamily="18" charset="0"/>
                        </a:rPr>
                        <m:t>𝑡</m:t>
                      </m:r>
                      <m:r>
                        <a:rPr lang="en-US" altLang="ja-JP" sz="2400" b="0" i="1" smtClean="0">
                          <a:solidFill>
                            <a:srgbClr val="C00000"/>
                          </a:solidFill>
                          <a:latin typeface="Cambria Math" panose="02040503050406030204" pitchFamily="18" charset="0"/>
                        </a:rPr>
                        <m:t>⋅</m:t>
                      </m:r>
                      <m:nary>
                        <m:naryPr>
                          <m:chr m:val="∑"/>
                          <m:supHide m:val="on"/>
                          <m:ctrlPr>
                            <a:rPr lang="en-US" altLang="ja-JP" sz="2400" i="1">
                              <a:latin typeface="Cambria Math" panose="02040503050406030204" pitchFamily="18" charset="0"/>
                            </a:rPr>
                          </m:ctrlPr>
                        </m:naryPr>
                        <m: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e>
                          </m:d>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r>
                            <a:rPr lang="en-US" altLang="ja-JP" sz="2400" i="1">
                              <a:latin typeface="Cambria Math" panose="02040503050406030204" pitchFamily="18" charset="0"/>
                            </a:rPr>
                            <m:t>∖</m:t>
                          </m:r>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sub>
                        <m:sup/>
                        <m:e>
                          <m:r>
                            <a:rPr lang="en-US" altLang="ja-JP" sz="2400" i="1">
                              <a:latin typeface="Cambria Math" panose="02040503050406030204" pitchFamily="18" charset="0"/>
                            </a:rPr>
                            <m:t>𝑑</m:t>
                          </m:r>
                          <m:r>
                            <a:rPr lang="en-US" altLang="ja-JP" sz="2400" i="1">
                              <a:latin typeface="Cambria Math" panose="02040503050406030204" pitchFamily="18" charset="0"/>
                            </a:rPr>
                            <m:t>(</m:t>
                          </m:r>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r>
                            <a:rPr lang="en-US" altLang="ja-JP" sz="2400" i="1">
                              <a:latin typeface="Cambria Math" panose="02040503050406030204" pitchFamily="18" charset="0"/>
                            </a:rPr>
                            <m:t>)</m:t>
                          </m:r>
                        </m:e>
                      </m:nary>
                      <m:r>
                        <a:rPr lang="en-US" altLang="ja-JP" sz="2400" i="1">
                          <a:latin typeface="Cambria Math" panose="02040503050406030204" pitchFamily="18" charset="0"/>
                        </a:rPr>
                        <m:t>−</m:t>
                      </m:r>
                      <m:nary>
                        <m:naryPr>
                          <m:chr m:val="∑"/>
                          <m:supHide m:val="on"/>
                          <m:ctrlPr>
                            <a:rPr lang="en-US" altLang="ja-JP" sz="2400" i="1">
                              <a:latin typeface="Cambria Math" panose="02040503050406030204" pitchFamily="18" charset="0"/>
                            </a:rPr>
                          </m:ctrlPr>
                        </m:naryPr>
                        <m: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e>
                          </m:d>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r>
                            <a:rPr lang="en-US" altLang="ja-JP" sz="2400" i="1">
                              <a:latin typeface="Cambria Math" panose="02040503050406030204" pitchFamily="18" charset="0"/>
                            </a:rPr>
                            <m:t>∩</m:t>
                          </m:r>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sub>
                        <m:sup/>
                        <m:e>
                          <m:r>
                            <a:rPr lang="en-US" altLang="ja-JP" sz="2400" i="1">
                              <a:latin typeface="Cambria Math" panose="02040503050406030204" pitchFamily="18" charset="0"/>
                            </a:rPr>
                            <m:t>𝑑</m:t>
                          </m:r>
                          <m:r>
                            <a:rPr lang="en-US" altLang="ja-JP" sz="2400" i="1">
                              <a:latin typeface="Cambria Math" panose="02040503050406030204" pitchFamily="18" charset="0"/>
                            </a:rPr>
                            <m:t>(</m:t>
                          </m:r>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r>
                            <a:rPr lang="en-US" altLang="ja-JP" sz="2400" i="1">
                              <a:latin typeface="Cambria Math" panose="02040503050406030204" pitchFamily="18" charset="0"/>
                            </a:rPr>
                            <m:t>)</m:t>
                          </m:r>
                        </m:e>
                      </m:nary>
                    </m:oMath>
                  </m:oMathPara>
                </a14:m>
                <a:endParaRPr kumimoji="1" lang="en-US" altLang="ja-JP" sz="2400" dirty="0"/>
              </a:p>
              <a:p>
                <a:pPr marL="0" indent="0">
                  <a:buNone/>
                </a:pPr>
                <a:r>
                  <a:rPr kumimoji="1" lang="ja-JP" altLang="en-US" b="1" i="1" dirty="0">
                    <a:latin typeface="Cambria Math" panose="02040503050406030204" pitchFamily="18" charset="0"/>
                  </a:rPr>
                  <a:t>特徴</a:t>
                </a:r>
                <a:endParaRPr kumimoji="1" lang="en-US" altLang="ja-JP" b="1" i="1" dirty="0">
                  <a:latin typeface="Cambria Math" panose="02040503050406030204" pitchFamily="18" charset="0"/>
                </a:endParaRPr>
              </a:p>
              <a:p>
                <a14:m>
                  <m:oMath xmlns:m="http://schemas.openxmlformats.org/officeDocument/2006/math">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=1</m:t>
                    </m:r>
                  </m:oMath>
                </a14:m>
                <a:r>
                  <a:rPr kumimoji="1" lang="en-US" altLang="ja-JP" sz="2400" dirty="0"/>
                  <a:t> </a:t>
                </a:r>
                <a:r>
                  <a:rPr kumimoji="1" lang="ja-JP" altLang="en-US" sz="2400" dirty="0"/>
                  <a:t>なら </a:t>
                </a:r>
                <a:r>
                  <a:rPr kumimoji="1" lang="en-US" altLang="ja-JP" sz="2400" dirty="0"/>
                  <a:t>Permutation </a:t>
                </a:r>
                <a:r>
                  <a:rPr kumimoji="1" lang="ja-JP" altLang="en-US" sz="2400" dirty="0"/>
                  <a:t>に一致（競合比 </a:t>
                </a:r>
                <a14:m>
                  <m:oMath xmlns:m="http://schemas.openxmlformats.org/officeDocument/2006/math">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m:t>
                    </m:r>
                  </m:oMath>
                </a14:m>
                <a:r>
                  <a:rPr kumimoji="1" lang="ja-JP" altLang="en-US" sz="2400" dirty="0"/>
                  <a:t>）</a:t>
                </a:r>
                <a:endParaRPr kumimoji="1" lang="en-US" altLang="ja-JP" sz="2400" dirty="0"/>
              </a:p>
              <a:p>
                <a:r>
                  <a:rPr lang="ja-JP" altLang="en-US" sz="2400" dirty="0"/>
                  <a:t>（</a:t>
                </a:r>
                <a14:m>
                  <m:oMath xmlns:m="http://schemas.openxmlformats.org/officeDocument/2006/math">
                    <m:r>
                      <a:rPr kumimoji="1" lang="en-US" altLang="ja-JP" sz="2400" b="0" i="1" smtClean="0">
                        <a:latin typeface="Cambria Math" panose="02040503050406030204" pitchFamily="18" charset="0"/>
                      </a:rPr>
                      <m:t>𝑡</m:t>
                    </m:r>
                  </m:oMath>
                </a14:m>
                <a:r>
                  <a:rPr kumimoji="1" lang="en-US" altLang="ja-JP" sz="2400" dirty="0"/>
                  <a:t> </a:t>
                </a:r>
                <a:r>
                  <a:rPr kumimoji="1" lang="ja-JP" altLang="en-US" sz="2400" dirty="0"/>
                  <a:t>を定数扱いするなら</a:t>
                </a:r>
                <a:r>
                  <a:rPr lang="ja-JP" altLang="en-US" sz="2400" dirty="0"/>
                  <a:t>）任意の </a:t>
                </a:r>
                <a14:m>
                  <m:oMath xmlns:m="http://schemas.openxmlformats.org/officeDocument/2006/math">
                    <m:r>
                      <a:rPr lang="en-US" altLang="ja-JP" sz="2400" b="0" i="1" smtClean="0">
                        <a:latin typeface="Cambria Math" panose="02040503050406030204" pitchFamily="18" charset="0"/>
                      </a:rPr>
                      <m:t>𝑡</m:t>
                    </m:r>
                  </m:oMath>
                </a14:m>
                <a:r>
                  <a:rPr kumimoji="1" lang="en-US" altLang="ja-JP" sz="2400" dirty="0"/>
                  <a:t> </a:t>
                </a:r>
                <a:r>
                  <a:rPr kumimoji="1" lang="ja-JP" altLang="en-US" sz="2400" dirty="0"/>
                  <a:t>に対して競合比 </a:t>
                </a:r>
                <a14:m>
                  <m:oMath xmlns:m="http://schemas.openxmlformats.org/officeDocument/2006/math">
                    <m:r>
                      <a:rPr kumimoji="1" lang="en-US" altLang="ja-JP" sz="2400" b="0" i="1" smtClean="0">
                        <a:latin typeface="Cambria Math" panose="02040503050406030204" pitchFamily="18" charset="0"/>
                      </a:rPr>
                      <m:t>𝑂</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𝑛</m:t>
                        </m:r>
                      </m:e>
                    </m:d>
                  </m:oMath>
                </a14:m>
                <a:endParaRPr kumimoji="1" lang="en-US" altLang="ja-JP" sz="2400" dirty="0"/>
              </a:p>
              <a:p>
                <a14:m>
                  <m:oMath xmlns:m="http://schemas.openxmlformats.org/officeDocument/2006/math">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m:t>
                    </m:r>
                  </m:oMath>
                </a14:m>
                <a:r>
                  <a:rPr kumimoji="1" lang="en-US" altLang="ja-JP" sz="2400" dirty="0"/>
                  <a:t> </a:t>
                </a:r>
                <a:r>
                  <a:rPr lang="ja-JP" altLang="en-US" sz="2400" dirty="0"/>
                  <a:t>のときも</a:t>
                </a:r>
                <a:r>
                  <a:rPr kumimoji="1" lang="ja-JP" altLang="en-US" sz="2400" dirty="0"/>
                  <a:t>最善の競合比 </a:t>
                </a:r>
                <a14:m>
                  <m:oMath xmlns:m="http://schemas.openxmlformats.org/officeDocument/2006/math">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m:t>
                    </m:r>
                  </m:oMath>
                </a14:m>
                <a:r>
                  <a:rPr kumimoji="1" lang="en-US" altLang="ja-JP" sz="2400" dirty="0"/>
                  <a:t> </a:t>
                </a:r>
                <a:r>
                  <a:rPr lang="ja-JP" altLang="en-US" sz="2400" dirty="0"/>
                  <a:t>に漸近</a:t>
                </a:r>
                <a:endParaRPr kumimoji="1" lang="en-US" altLang="ja-JP" sz="2400" dirty="0"/>
              </a:p>
              <a:p>
                <a:r>
                  <a:rPr lang="ja-JP" altLang="en-US" sz="2400" dirty="0"/>
                  <a:t>他の様々な設定でも柔軟に最適性を達成（一部は後述）</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E026060F-450D-E595-5742-B6DC4F595961}"/>
                  </a:ext>
                </a:extLst>
              </p:cNvPr>
              <p:cNvSpPr>
                <a:spLocks noGrp="1" noRot="1" noChangeAspect="1" noMove="1" noResize="1" noEditPoints="1" noAdjustHandles="1" noChangeArrowheads="1" noChangeShapeType="1" noTextEdit="1"/>
              </p:cNvSpPr>
              <p:nvPr>
                <p:ph idx="1"/>
              </p:nvPr>
            </p:nvSpPr>
            <p:spPr>
              <a:blipFill>
                <a:blip r:embed="rId2"/>
                <a:stretch>
                  <a:fillRect l="-1217" t="-2241" b="-294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6910EA45-9FFF-CE82-EBF6-D78801381973}"/>
              </a:ext>
            </a:extLst>
          </p:cNvPr>
          <p:cNvSpPr>
            <a:spLocks noGrp="1"/>
          </p:cNvSpPr>
          <p:nvPr>
            <p:ph type="sldNum" sz="quarter" idx="12"/>
          </p:nvPr>
        </p:nvSpPr>
        <p:spPr/>
        <p:txBody>
          <a:bodyPr/>
          <a:lstStyle/>
          <a:p>
            <a:fld id="{4B077F3A-4098-4199-8925-77865D1E3500}" type="slidenum">
              <a:rPr kumimoji="1" lang="ja-JP" altLang="en-US" smtClean="0"/>
              <a:t>45</a:t>
            </a:fld>
            <a:endParaRPr kumimoji="1" lang="ja-JP" altLang="en-US"/>
          </a:p>
        </p:txBody>
      </p:sp>
    </p:spTree>
    <p:extLst>
      <p:ext uri="{BB962C8B-B14F-4D97-AF65-F5344CB8AC3E}">
        <p14:creationId xmlns:p14="http://schemas.microsoft.com/office/powerpoint/2010/main" val="34803454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04B017-7FCA-2C01-DC9E-5DB3A3D042AB}"/>
              </a:ext>
            </a:extLst>
          </p:cNvPr>
          <p:cNvSpPr>
            <a:spLocks noGrp="1"/>
          </p:cNvSpPr>
          <p:nvPr>
            <p:ph type="title"/>
          </p:nvPr>
        </p:nvSpPr>
        <p:spPr/>
        <p:txBody>
          <a:bodyPr/>
          <a:lstStyle/>
          <a:p>
            <a:r>
              <a:rPr kumimoji="1" lang="en-US" altLang="ja-JP" dirty="0"/>
              <a:t>RM </a:t>
            </a:r>
            <a:r>
              <a:rPr kumimoji="1" lang="ja-JP" altLang="en-US" dirty="0"/>
              <a:t>のパラメータの直感的意味</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25E0F79-6A0C-4644-649C-7D20BAB8185B}"/>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i="1">
                              <a:latin typeface="Cambria Math" panose="02040503050406030204" pitchFamily="18" charset="0"/>
                            </a:rPr>
                            <m:t>𝜙</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𝑃</m:t>
                              </m:r>
                            </m:e>
                            <m:sub>
                              <m:r>
                                <a:rPr lang="en-US" altLang="ja-JP" sz="2000" i="1">
                                  <a:latin typeface="Cambria Math" panose="02040503050406030204" pitchFamily="18" charset="0"/>
                                </a:rPr>
                                <m:t>𝑖</m:t>
                              </m:r>
                            </m:sub>
                          </m:sSub>
                        </m:e>
                      </m:d>
                      <m:r>
                        <a:rPr lang="en-US" altLang="ja-JP" sz="2000" i="1">
                          <a:latin typeface="Cambria Math" panose="02040503050406030204" pitchFamily="18" charset="0"/>
                        </a:rPr>
                        <m:t>≔</m:t>
                      </m:r>
                      <m:r>
                        <a:rPr lang="en-US" altLang="ja-JP" sz="2000" i="1">
                          <a:solidFill>
                            <a:srgbClr val="C00000"/>
                          </a:solidFill>
                          <a:latin typeface="Cambria Math" panose="02040503050406030204" pitchFamily="18" charset="0"/>
                        </a:rPr>
                        <m:t>𝑡</m:t>
                      </m:r>
                      <m:r>
                        <a:rPr lang="en-US" altLang="ja-JP" sz="2000" i="1">
                          <a:solidFill>
                            <a:srgbClr val="C00000"/>
                          </a:solidFill>
                          <a:latin typeface="Cambria Math" panose="02040503050406030204" pitchFamily="18" charset="0"/>
                        </a:rPr>
                        <m:t>⋅</m:t>
                      </m:r>
                      <m:nary>
                        <m:naryPr>
                          <m:chr m:val="∑"/>
                          <m:supHide m:val="on"/>
                          <m:ctrlPr>
                            <a:rPr lang="en-US" altLang="ja-JP" sz="2000" i="1">
                              <a:latin typeface="Cambria Math" panose="02040503050406030204" pitchFamily="18" charset="0"/>
                            </a:rPr>
                          </m:ctrlPr>
                        </m:naryPr>
                        <m: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𝑟</m:t>
                              </m:r>
                              <m:r>
                                <a:rPr lang="en-US" altLang="ja-JP" sz="2000" i="1">
                                  <a:latin typeface="Cambria Math" panose="02040503050406030204" pitchFamily="18" charset="0"/>
                                </a:rPr>
                                <m:t>,</m:t>
                              </m:r>
                              <m:r>
                                <a:rPr lang="en-US" altLang="ja-JP" sz="2000" i="1">
                                  <a:latin typeface="Cambria Math" panose="02040503050406030204" pitchFamily="18" charset="0"/>
                                </a:rPr>
                                <m:t>𝑠</m:t>
                              </m:r>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𝑃</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𝑀</m:t>
                              </m:r>
                            </m:e>
                            <m:sub>
                              <m: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sub>
                        <m:sup/>
                        <m:e>
                          <m:r>
                            <a:rPr lang="en-US" altLang="ja-JP" sz="2000" i="1">
                              <a:latin typeface="Cambria Math" panose="02040503050406030204" pitchFamily="18" charset="0"/>
                            </a:rPr>
                            <m:t>𝑑</m:t>
                          </m:r>
                          <m:r>
                            <a:rPr lang="en-US" altLang="ja-JP" sz="2000" i="1">
                              <a:latin typeface="Cambria Math" panose="02040503050406030204" pitchFamily="18" charset="0"/>
                            </a:rPr>
                            <m:t>(</m:t>
                          </m:r>
                          <m:r>
                            <a:rPr lang="en-US" altLang="ja-JP" sz="2000" i="1">
                              <a:latin typeface="Cambria Math" panose="02040503050406030204" pitchFamily="18" charset="0"/>
                            </a:rPr>
                            <m:t>𝑟</m:t>
                          </m:r>
                          <m:r>
                            <a:rPr lang="en-US" altLang="ja-JP" sz="2000" i="1">
                              <a:latin typeface="Cambria Math" panose="02040503050406030204" pitchFamily="18" charset="0"/>
                            </a:rPr>
                            <m:t>,</m:t>
                          </m:r>
                          <m:r>
                            <a:rPr lang="en-US" altLang="ja-JP" sz="2000" i="1">
                              <a:latin typeface="Cambria Math" panose="02040503050406030204" pitchFamily="18" charset="0"/>
                            </a:rPr>
                            <m:t>𝑠</m:t>
                          </m:r>
                          <m:r>
                            <a:rPr lang="en-US" altLang="ja-JP" sz="2000" i="1">
                              <a:latin typeface="Cambria Math" panose="02040503050406030204" pitchFamily="18" charset="0"/>
                            </a:rPr>
                            <m:t>)</m:t>
                          </m:r>
                        </m:e>
                      </m:nary>
                      <m:r>
                        <a:rPr lang="en-US" altLang="ja-JP" sz="2000" i="1">
                          <a:latin typeface="Cambria Math" panose="02040503050406030204" pitchFamily="18" charset="0"/>
                        </a:rPr>
                        <m:t>−</m:t>
                      </m:r>
                      <m:nary>
                        <m:naryPr>
                          <m:chr m:val="∑"/>
                          <m:supHide m:val="on"/>
                          <m:ctrlPr>
                            <a:rPr lang="en-US" altLang="ja-JP" sz="2000" i="1">
                              <a:latin typeface="Cambria Math" panose="02040503050406030204" pitchFamily="18" charset="0"/>
                            </a:rPr>
                          </m:ctrlPr>
                        </m:naryPr>
                        <m: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𝑟</m:t>
                              </m:r>
                              <m:r>
                                <a:rPr lang="en-US" altLang="ja-JP" sz="2000" i="1">
                                  <a:latin typeface="Cambria Math" panose="02040503050406030204" pitchFamily="18" charset="0"/>
                                </a:rPr>
                                <m:t>,</m:t>
                              </m:r>
                              <m:r>
                                <a:rPr lang="en-US" altLang="ja-JP" sz="2000" i="1">
                                  <a:latin typeface="Cambria Math" panose="02040503050406030204" pitchFamily="18" charset="0"/>
                                </a:rPr>
                                <m:t>𝑠</m:t>
                              </m:r>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𝑃</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𝑀</m:t>
                              </m:r>
                            </m:e>
                            <m:sub>
                              <m: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sub>
                        <m:sup/>
                        <m:e>
                          <m:r>
                            <a:rPr lang="en-US" altLang="ja-JP" sz="2000" i="1">
                              <a:latin typeface="Cambria Math" panose="02040503050406030204" pitchFamily="18" charset="0"/>
                            </a:rPr>
                            <m:t>𝑑</m:t>
                          </m:r>
                          <m:r>
                            <a:rPr lang="en-US" altLang="ja-JP" sz="2000" i="1">
                              <a:latin typeface="Cambria Math" panose="02040503050406030204" pitchFamily="18" charset="0"/>
                            </a:rPr>
                            <m:t>(</m:t>
                          </m:r>
                          <m:r>
                            <a:rPr lang="en-US" altLang="ja-JP" sz="2000" i="1">
                              <a:latin typeface="Cambria Math" panose="02040503050406030204" pitchFamily="18" charset="0"/>
                            </a:rPr>
                            <m:t>𝑟</m:t>
                          </m:r>
                          <m:r>
                            <a:rPr lang="en-US" altLang="ja-JP" sz="2000" i="1">
                              <a:latin typeface="Cambria Math" panose="02040503050406030204" pitchFamily="18" charset="0"/>
                            </a:rPr>
                            <m:t>,</m:t>
                          </m:r>
                          <m:r>
                            <a:rPr lang="en-US" altLang="ja-JP" sz="2000" i="1">
                              <a:latin typeface="Cambria Math" panose="02040503050406030204" pitchFamily="18" charset="0"/>
                            </a:rPr>
                            <m:t>𝑠</m:t>
                          </m:r>
                          <m:r>
                            <a:rPr lang="en-US" altLang="ja-JP" sz="2000" i="1">
                              <a:latin typeface="Cambria Math" panose="02040503050406030204" pitchFamily="18" charset="0"/>
                            </a:rPr>
                            <m:t>)</m:t>
                          </m:r>
                        </m:e>
                      </m:nary>
                    </m:oMath>
                  </m:oMathPara>
                </a14:m>
                <a:endParaRPr kumimoji="1" lang="en-US" altLang="ja-JP" sz="2000" dirty="0"/>
              </a:p>
              <a:p>
                <a:pPr marL="0" indent="0">
                  <a:buNone/>
                </a:pPr>
                <a:endParaRPr kumimoji="1" lang="en-US" altLang="ja-JP" sz="800" dirty="0"/>
              </a:p>
              <a:p>
                <a:pPr marL="0" indent="0">
                  <a:buNone/>
                </a:pPr>
                <a:r>
                  <a:rPr kumimoji="1" lang="ja-JP" altLang="en-US" dirty="0"/>
                  <a:t>仮想的割り当て </a:t>
                </a:r>
                <a14:m>
                  <m:oMath xmlns:m="http://schemas.openxmlformats.org/officeDocument/2006/math">
                    <m:sSubSup>
                      <m:sSubSupPr>
                        <m:ctrlPr>
                          <a:rPr kumimoji="1" lang="en-US" altLang="ja-JP" b="0" i="1" smtClean="0">
                            <a:latin typeface="Cambria Math" panose="02040503050406030204" pitchFamily="18" charset="0"/>
                          </a:rPr>
                        </m:ctrlPr>
                      </m:sSubSupPr>
                      <m:e>
                        <m:r>
                          <a:rPr kumimoji="1" lang="en-US" altLang="ja-JP" b="0" i="1" smtClean="0">
                            <a:latin typeface="Cambria Math" panose="02040503050406030204" pitchFamily="18" charset="0"/>
                          </a:rPr>
                          <m:t>𝑀</m:t>
                        </m:r>
                      </m:e>
                      <m:sub>
                        <m:r>
                          <a:rPr kumimoji="1" lang="en-US" altLang="ja-JP" b="0" i="1" smtClean="0">
                            <a:latin typeface="Cambria Math" panose="02040503050406030204" pitchFamily="18" charset="0"/>
                          </a:rPr>
                          <m:t>𝑖</m:t>
                        </m:r>
                      </m:sub>
                      <m:sup>
                        <m:r>
                          <a:rPr kumimoji="1" lang="en-US" altLang="ja-JP" b="0" i="1" smtClean="0">
                            <a:latin typeface="Cambria Math" panose="02040503050406030204" pitchFamily="18" charset="0"/>
                          </a:rPr>
                          <m:t>∗</m:t>
                        </m:r>
                      </m:sup>
                    </m:sSubSup>
                  </m:oMath>
                </a14:m>
                <a:r>
                  <a:rPr kumimoji="1" lang="ja-JP" altLang="en-US" dirty="0"/>
                  <a:t> を求める際に以下をバランスする</a:t>
                </a:r>
                <a:endParaRPr kumimoji="1" lang="en-US" altLang="ja-JP" dirty="0"/>
              </a:p>
              <a:p>
                <a:pPr marL="0" indent="0">
                  <a:buNone/>
                </a:pPr>
                <a:endParaRPr lang="en-US" altLang="ja-JP" sz="800" dirty="0"/>
              </a:p>
              <a:p>
                <a:pPr marL="0" indent="0">
                  <a:buNone/>
                </a:pPr>
                <a:r>
                  <a:rPr kumimoji="1" lang="en-US" altLang="ja-JP" sz="2400" b="1" dirty="0"/>
                  <a:t>1.</a:t>
                </a:r>
                <a:r>
                  <a:rPr kumimoji="1" lang="ja-JP" altLang="en-US" sz="2400" b="1" dirty="0"/>
                  <a:t>「付け替え」をどれくらい嫌うか</a:t>
                </a:r>
                <a:endParaRPr lang="en-US" altLang="ja-JP" sz="2400" b="1" dirty="0"/>
              </a:p>
              <a:p>
                <a:pPr marL="457200" lvl="1" indent="0">
                  <a:buNone/>
                </a:pPr>
                <a14:m>
                  <m:oMath xmlns:m="http://schemas.openxmlformats.org/officeDocument/2006/math">
                    <m:r>
                      <a:rPr kumimoji="1" lang="en-US" altLang="ja-JP" b="0" i="1" smtClean="0">
                        <a:latin typeface="Cambria Math" panose="02040503050406030204" pitchFamily="18" charset="0"/>
                      </a:rPr>
                      <m:t>𝑡</m:t>
                    </m:r>
                  </m:oMath>
                </a14:m>
                <a:r>
                  <a:rPr kumimoji="1" lang="en-US" altLang="ja-JP" dirty="0"/>
                  <a:t> </a:t>
                </a:r>
                <a:r>
                  <a:rPr kumimoji="1" lang="ja-JP" altLang="en-US" dirty="0"/>
                  <a:t>が大きいほど辺の本数が少ない増加道を選びやすくなる</a:t>
                </a:r>
                <a:endParaRPr lang="en-US" altLang="ja-JP" dirty="0"/>
              </a:p>
              <a:p>
                <a:pPr marL="0" indent="0">
                  <a:buNone/>
                </a:pPr>
                <a:r>
                  <a:rPr lang="en-US" altLang="ja-JP" sz="2400" b="1" dirty="0"/>
                  <a:t>2. </a:t>
                </a:r>
                <a:r>
                  <a:rPr lang="ja-JP" altLang="en-US" sz="2400" b="1" dirty="0"/>
                  <a:t>そのトレードオフとして最適性をどのくらい犠牲にするか</a:t>
                </a:r>
                <a:endParaRPr lang="en-US" altLang="ja-JP" sz="2400" b="1" dirty="0"/>
              </a:p>
              <a:p>
                <a:pPr marL="457200" lvl="1" indent="0">
                  <a:buNone/>
                </a:pPr>
                <a14:m>
                  <m:oMath xmlns:m="http://schemas.openxmlformats.org/officeDocument/2006/math">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𝑀</m:t>
                        </m:r>
                      </m:e>
                      <m:sub>
                        <m:r>
                          <a:rPr lang="en-US" altLang="ja-JP" b="0" i="1" smtClean="0">
                            <a:latin typeface="Cambria Math" panose="02040503050406030204" pitchFamily="18" charset="0"/>
                          </a:rPr>
                          <m:t>𝑖</m:t>
                        </m:r>
                      </m:sub>
                      <m:sup>
                        <m:r>
                          <a:rPr lang="en-US" altLang="ja-JP" b="0" i="1" smtClean="0">
                            <a:latin typeface="Cambria Math" panose="02040503050406030204" pitchFamily="18" charset="0"/>
                          </a:rPr>
                          <m:t>∗</m:t>
                        </m:r>
                      </m:sup>
                    </m:sSubSup>
                  </m:oMath>
                </a14:m>
                <a:r>
                  <a:rPr lang="en-US" altLang="ja-JP" dirty="0"/>
                  <a:t> </a:t>
                </a:r>
                <a:r>
                  <a:rPr lang="ja-JP" altLang="en-US" dirty="0"/>
                  <a:t>は </a:t>
                </a:r>
                <a:r>
                  <a:rPr lang="en-US" altLang="ja-JP" dirty="0"/>
                  <a:t>Permutation </a:t>
                </a:r>
                <a:r>
                  <a:rPr lang="ja-JP" altLang="en-US" dirty="0"/>
                  <a:t>の場合は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𝑟</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𝑟</m:t>
                        </m:r>
                      </m:e>
                      <m:sub>
                        <m:r>
                          <a:rPr lang="en-US" altLang="ja-JP" b="0" i="1" smtClean="0">
                            <a:latin typeface="Cambria Math" panose="02040503050406030204" pitchFamily="18" charset="0"/>
                          </a:rPr>
                          <m:t>𝑖</m:t>
                        </m:r>
                      </m:sub>
                    </m:sSub>
                  </m:oMath>
                </a14:m>
                <a:r>
                  <a:rPr lang="en-US" altLang="ja-JP" dirty="0"/>
                  <a:t> </a:t>
                </a:r>
                <a:r>
                  <a:rPr lang="ja-JP" altLang="en-US" dirty="0"/>
                  <a:t>の最適割り当てだったが，</a:t>
                </a:r>
                <a:r>
                  <a:rPr lang="en-US" altLang="ja-JP" dirty="0"/>
                  <a:t>RM</a:t>
                </a:r>
                <a:r>
                  <a:rPr lang="ja-JP" altLang="en-US" dirty="0"/>
                  <a:t>では最適割り当てコストの </a:t>
                </a:r>
                <a14:m>
                  <m:oMath xmlns:m="http://schemas.openxmlformats.org/officeDocument/2006/math">
                    <m:r>
                      <a:rPr lang="en-US" altLang="ja-JP" b="0" i="1" smtClean="0">
                        <a:latin typeface="Cambria Math" panose="02040503050406030204" pitchFamily="18" charset="0"/>
                      </a:rPr>
                      <m:t>𝑡</m:t>
                    </m:r>
                  </m:oMath>
                </a14:m>
                <a:r>
                  <a:rPr lang="en-US" altLang="ja-JP" dirty="0"/>
                  <a:t> </a:t>
                </a:r>
                <a:r>
                  <a:rPr lang="ja-JP" altLang="en-US" dirty="0"/>
                  <a:t>倍以下という保証になる</a:t>
                </a:r>
                <a:endParaRPr lang="en-US" altLang="ja-JP" dirty="0"/>
              </a:p>
              <a:p>
                <a:pPr marL="0" indent="0">
                  <a:buNone/>
                </a:pPr>
                <a:endParaRPr lang="en-US" altLang="ja-JP" sz="2400" dirty="0"/>
              </a:p>
            </p:txBody>
          </p:sp>
        </mc:Choice>
        <mc:Fallback xmlns="">
          <p:sp>
            <p:nvSpPr>
              <p:cNvPr id="3" name="コンテンツ プレースホルダー 2">
                <a:extLst>
                  <a:ext uri="{FF2B5EF4-FFF2-40B4-BE49-F238E27FC236}">
                    <a16:creationId xmlns:a16="http://schemas.microsoft.com/office/drawing/2014/main" id="{B25E0F79-6A0C-4644-649C-7D20BAB8185B}"/>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EA7B51AF-411C-E185-37FA-B6DFAFF813EC}"/>
              </a:ext>
            </a:extLst>
          </p:cNvPr>
          <p:cNvSpPr>
            <a:spLocks noGrp="1"/>
          </p:cNvSpPr>
          <p:nvPr>
            <p:ph type="sldNum" sz="quarter" idx="12"/>
          </p:nvPr>
        </p:nvSpPr>
        <p:spPr/>
        <p:txBody>
          <a:bodyPr/>
          <a:lstStyle/>
          <a:p>
            <a:fld id="{4B077F3A-4098-4199-8925-77865D1E3500}" type="slidenum">
              <a:rPr kumimoji="1" lang="ja-JP" altLang="en-US" smtClean="0"/>
              <a:t>46</a:t>
            </a:fld>
            <a:endParaRPr kumimoji="1" lang="ja-JP" altLang="en-US"/>
          </a:p>
        </p:txBody>
      </p:sp>
    </p:spTree>
    <p:extLst>
      <p:ext uri="{BB962C8B-B14F-4D97-AF65-F5344CB8AC3E}">
        <p14:creationId xmlns:p14="http://schemas.microsoft.com/office/powerpoint/2010/main" val="12498185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EC9DF9-104E-CA89-C99A-597B055DF061}"/>
              </a:ext>
            </a:extLst>
          </p:cNvPr>
          <p:cNvSpPr>
            <a:spLocks noGrp="1"/>
          </p:cNvSpPr>
          <p:nvPr>
            <p:ph type="title"/>
          </p:nvPr>
        </p:nvSpPr>
        <p:spPr/>
        <p:txBody>
          <a:bodyPr/>
          <a:lstStyle/>
          <a:p>
            <a:r>
              <a:rPr kumimoji="1" lang="ja-JP" altLang="en-US" dirty="0"/>
              <a:t>決定的アルゴリズムの結論と課題</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A39436A-EE4D-6E5D-E731-4F7503A9C453}"/>
                  </a:ext>
                </a:extLst>
              </p:cNvPr>
              <p:cNvSpPr>
                <a:spLocks noGrp="1"/>
              </p:cNvSpPr>
              <p:nvPr>
                <p:ph idx="1"/>
              </p:nvPr>
            </p:nvSpPr>
            <p:spPr/>
            <p:txBody>
              <a:bodyPr>
                <a:normAutofit/>
              </a:bodyPr>
              <a:lstStyle/>
              <a:p>
                <a:pPr marL="0" indent="0">
                  <a:buNone/>
                </a:pPr>
                <a:r>
                  <a:rPr kumimoji="1" lang="ja-JP" altLang="en-US" sz="2400" b="1" dirty="0"/>
                  <a:t>結論</a:t>
                </a:r>
                <a:endParaRPr kumimoji="1" lang="en-US" altLang="ja-JP" sz="2400" b="1" dirty="0"/>
              </a:p>
              <a:p>
                <a14:m>
                  <m:oMath xmlns:m="http://schemas.openxmlformats.org/officeDocument/2006/math">
                    <m:r>
                      <a:rPr kumimoji="1" lang="en-US" altLang="ja-JP" sz="2400" b="0" i="1" smtClean="0">
                        <a:latin typeface="Cambria Math" panose="02040503050406030204" pitchFamily="18" charset="0"/>
                      </a:rPr>
                      <m:t>𝑂𝑀𝑀</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𝑛</m:t>
                        </m:r>
                      </m:e>
                    </m:d>
                  </m:oMath>
                </a14:m>
                <a:r>
                  <a:rPr kumimoji="1" lang="ja-JP" altLang="en-US" sz="2400" dirty="0"/>
                  <a:t> に対するアルゴリズムの競合比は最善でも </a:t>
                </a:r>
                <a14:m>
                  <m:oMath xmlns:m="http://schemas.openxmlformats.org/officeDocument/2006/math">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m:t>
                    </m:r>
                  </m:oMath>
                </a14:m>
                <a:r>
                  <a:rPr kumimoji="1" lang="ja-JP" altLang="en-US" sz="2400" dirty="0"/>
                  <a:t> であり，それは増加道法に基づく </a:t>
                </a:r>
                <a:r>
                  <a:rPr kumimoji="1" lang="en-US" altLang="ja-JP" sz="2400" dirty="0"/>
                  <a:t>Permutation </a:t>
                </a:r>
                <a:r>
                  <a:rPr kumimoji="1" lang="ja-JP" altLang="en-US" sz="2400" dirty="0"/>
                  <a:t>アルゴリズムによって達成される．</a:t>
                </a:r>
                <a:endParaRPr kumimoji="1" lang="en-US" altLang="ja-JP" sz="2400" dirty="0"/>
              </a:p>
              <a:p>
                <a:r>
                  <a:rPr kumimoji="1" lang="ja-JP" altLang="en-US" sz="2400" dirty="0"/>
                  <a:t>一見自然に見える貪欲法の競合比は </a:t>
                </a:r>
                <a14:m>
                  <m:oMath xmlns:m="http://schemas.openxmlformats.org/officeDocument/2006/math">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2</m:t>
                        </m:r>
                      </m:e>
                      <m:sup>
                        <m:r>
                          <a:rPr kumimoji="1" lang="en-US" altLang="ja-JP" sz="2400" b="0" i="1" smtClean="0">
                            <a:latin typeface="Cambria Math" panose="02040503050406030204" pitchFamily="18" charset="0"/>
                          </a:rPr>
                          <m:t>𝑛</m:t>
                        </m:r>
                      </m:sup>
                    </m:sSup>
                    <m:r>
                      <a:rPr kumimoji="1" lang="en-US" altLang="ja-JP" sz="2400" b="0" i="1" smtClean="0">
                        <a:latin typeface="Cambria Math" panose="02040503050406030204" pitchFamily="18" charset="0"/>
                      </a:rPr>
                      <m:t>−1</m:t>
                    </m:r>
                  </m:oMath>
                </a14:m>
                <a:r>
                  <a:rPr kumimoji="1" lang="ja-JP" altLang="en-US" sz="2400" dirty="0"/>
                  <a:t> となり，競合比という観点から見ると性能は劣る．</a:t>
                </a:r>
                <a:endParaRPr kumimoji="1" lang="en-US" altLang="ja-JP" sz="2400" dirty="0"/>
              </a:p>
              <a:p>
                <a:pPr marL="0" indent="0">
                  <a:buNone/>
                </a:pPr>
                <a:r>
                  <a:rPr lang="ja-JP" altLang="en-US" sz="2400" b="1" dirty="0"/>
                  <a:t>課題</a:t>
                </a:r>
                <a:endParaRPr lang="en-US" altLang="ja-JP" sz="2400" b="1" dirty="0"/>
              </a:p>
              <a:p>
                <a:r>
                  <a:rPr kumimoji="1" lang="ja-JP" altLang="en-US" sz="2400" dirty="0"/>
                  <a:t>競合比 </a:t>
                </a:r>
                <a14:m>
                  <m:oMath xmlns:m="http://schemas.openxmlformats.org/officeDocument/2006/math">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m:t>
                    </m:r>
                  </m:oMath>
                </a14:m>
                <a:r>
                  <a:rPr kumimoji="1" lang="ja-JP" altLang="en-US" sz="2400" dirty="0"/>
                  <a:t> </a:t>
                </a:r>
                <a:r>
                  <a:rPr lang="ja-JP" altLang="en-US" sz="2400" dirty="0"/>
                  <a:t>という結論が悲観的すぎる．</a:t>
                </a:r>
                <a:endParaRPr lang="en-US" altLang="ja-JP" sz="2400" dirty="0"/>
              </a:p>
              <a:p>
                <a:pPr marL="0" indent="0">
                  <a:buNone/>
                </a:pPr>
                <a:endParaRPr lang="en-US" altLang="ja-JP" sz="2400" dirty="0"/>
              </a:p>
              <a:p>
                <a:pPr marL="0" indent="0">
                  <a:buNone/>
                </a:pPr>
                <a:r>
                  <a:rPr lang="ja-JP" altLang="en-US" sz="2400" dirty="0"/>
                  <a:t>原因：任意に悪意のあるリクエスト列を作成できるという仮定が強すぎる．</a:t>
                </a:r>
                <a:endParaRPr lang="en-US" altLang="ja-JP" sz="2400" dirty="0"/>
              </a:p>
              <a:p>
                <a:pPr marL="0" indent="0">
                  <a:buNone/>
                </a:pPr>
                <a:r>
                  <a:rPr kumimoji="1" lang="ja-JP" altLang="en-US" sz="2400" dirty="0"/>
                  <a:t>もう少しアルゴリズム側にとって有利な（＝現実的な）設定を考えたい．</a:t>
                </a:r>
              </a:p>
            </p:txBody>
          </p:sp>
        </mc:Choice>
        <mc:Fallback xmlns="">
          <p:sp>
            <p:nvSpPr>
              <p:cNvPr id="3" name="コンテンツ プレースホルダー 2">
                <a:extLst>
                  <a:ext uri="{FF2B5EF4-FFF2-40B4-BE49-F238E27FC236}">
                    <a16:creationId xmlns:a16="http://schemas.microsoft.com/office/drawing/2014/main" id="{9A39436A-EE4D-6E5D-E731-4F7503A9C453}"/>
                  </a:ext>
                </a:extLst>
              </p:cNvPr>
              <p:cNvSpPr>
                <a:spLocks noGrp="1" noRot="1" noChangeAspect="1" noMove="1" noResize="1" noEditPoints="1" noAdjustHandles="1" noChangeArrowheads="1" noChangeShapeType="1" noTextEdit="1"/>
              </p:cNvSpPr>
              <p:nvPr>
                <p:ph idx="1"/>
              </p:nvPr>
            </p:nvSpPr>
            <p:spPr>
              <a:blipFill>
                <a:blip r:embed="rId2"/>
                <a:stretch>
                  <a:fillRect l="-928" t="-1541" r="-1159" b="-18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9F0DFBF7-3CF7-55A7-5FAE-ED7FD88C483D}"/>
              </a:ext>
            </a:extLst>
          </p:cNvPr>
          <p:cNvSpPr>
            <a:spLocks noGrp="1"/>
          </p:cNvSpPr>
          <p:nvPr>
            <p:ph type="sldNum" sz="quarter" idx="12"/>
          </p:nvPr>
        </p:nvSpPr>
        <p:spPr/>
        <p:txBody>
          <a:bodyPr/>
          <a:lstStyle/>
          <a:p>
            <a:fld id="{4B077F3A-4098-4199-8925-77865D1E3500}" type="slidenum">
              <a:rPr kumimoji="1" lang="ja-JP" altLang="en-US" smtClean="0"/>
              <a:t>47</a:t>
            </a:fld>
            <a:endParaRPr kumimoji="1" lang="ja-JP" altLang="en-US"/>
          </a:p>
        </p:txBody>
      </p:sp>
    </p:spTree>
    <p:extLst>
      <p:ext uri="{BB962C8B-B14F-4D97-AF65-F5344CB8AC3E}">
        <p14:creationId xmlns:p14="http://schemas.microsoft.com/office/powerpoint/2010/main" val="2147490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BA8095-7E40-7F2E-C830-F46403634ABA}"/>
              </a:ext>
            </a:extLst>
          </p:cNvPr>
          <p:cNvSpPr>
            <a:spLocks noGrp="1"/>
          </p:cNvSpPr>
          <p:nvPr>
            <p:ph type="title"/>
          </p:nvPr>
        </p:nvSpPr>
        <p:spPr/>
        <p:txBody>
          <a:bodyPr/>
          <a:lstStyle/>
          <a:p>
            <a:r>
              <a:rPr kumimoji="1" lang="ja-JP" altLang="en-US" dirty="0"/>
              <a:t>乱択化</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F1CD6A7-BDA1-C48E-2976-8594D64E1E0F}"/>
                  </a:ext>
                </a:extLst>
              </p:cNvPr>
              <p:cNvSpPr>
                <a:spLocks noGrp="1"/>
              </p:cNvSpPr>
              <p:nvPr>
                <p:ph idx="1"/>
              </p:nvPr>
            </p:nvSpPr>
            <p:spPr/>
            <p:txBody>
              <a:bodyPr>
                <a:normAutofit/>
              </a:bodyPr>
              <a:lstStyle/>
              <a:p>
                <a:pPr marL="0" indent="0">
                  <a:buNone/>
                </a:pPr>
                <a:r>
                  <a:rPr kumimoji="1" lang="ja-JP" altLang="en-US" sz="2400" dirty="0"/>
                  <a:t>乱数を用いて確率的にマッチングを出力することを考える．</a:t>
                </a:r>
                <a:endParaRPr kumimoji="1" lang="en-US" altLang="ja-JP" sz="2400" dirty="0"/>
              </a:p>
              <a:p>
                <a:pPr marL="0" indent="0">
                  <a:buNone/>
                </a:pPr>
                <a:r>
                  <a:rPr lang="ja-JP" altLang="en-US" sz="2400" dirty="0"/>
                  <a:t>リクエスト列の作成者：アルゴリズムは既知，乱数の実現値は</a:t>
                </a:r>
                <a:r>
                  <a:rPr lang="ja-JP" altLang="en-US" sz="2400" b="1" dirty="0"/>
                  <a:t>未知</a:t>
                </a:r>
                <a:r>
                  <a:rPr lang="ja-JP" altLang="en-US" sz="2400" dirty="0"/>
                  <a:t>．</a:t>
                </a:r>
                <a:endParaRPr lang="en-US" altLang="ja-JP" sz="2400" dirty="0"/>
              </a:p>
              <a:p>
                <a:pPr marL="0" indent="0">
                  <a:buNone/>
                </a:pPr>
                <a:r>
                  <a:rPr kumimoji="1" lang="ja-JP" altLang="en-US" sz="2400" dirty="0"/>
                  <a:t>アルゴリズムの</a:t>
                </a:r>
                <a:r>
                  <a:rPr kumimoji="1" lang="ja-JP" altLang="en-US" sz="2400" b="1" dirty="0"/>
                  <a:t>平均コスト</a:t>
                </a:r>
                <a:r>
                  <a:rPr kumimoji="1" lang="ja-JP" altLang="en-US" sz="2400" dirty="0"/>
                  <a:t>を下げることを目的にする．</a:t>
                </a:r>
                <a:endParaRPr kumimoji="1" lang="en-US" altLang="ja-JP" sz="2400" dirty="0"/>
              </a:p>
              <a:p>
                <a:pPr marL="0" indent="0">
                  <a:buNone/>
                </a:pPr>
                <a:endParaRPr lang="en-US" altLang="ja-JP" sz="2400" dirty="0"/>
              </a:p>
              <a:p>
                <a:pPr marL="0" indent="0">
                  <a:buNone/>
                </a:pPr>
                <a:r>
                  <a:rPr kumimoji="1" lang="ja-JP" altLang="en-US" sz="2400" dirty="0"/>
                  <a:t>乱択アルゴリズム </a:t>
                </a:r>
                <a14:m>
                  <m:oMath xmlns:m="http://schemas.openxmlformats.org/officeDocument/2006/math">
                    <m:r>
                      <a:rPr kumimoji="1" lang="en-US" altLang="ja-JP" sz="2400" b="0" i="1" smtClean="0">
                        <a:latin typeface="Cambria Math" panose="02040503050406030204" pitchFamily="18" charset="0"/>
                      </a:rPr>
                      <m:t>𝐴𝐿𝐺</m:t>
                    </m:r>
                  </m:oMath>
                </a14:m>
                <a:r>
                  <a:rPr kumimoji="1" lang="ja-JP" altLang="en-US" sz="2400" dirty="0"/>
                  <a:t> に対する競合比の定義は下式に置き換える：</a:t>
                </a:r>
                <a:endParaRPr kumimoji="1" lang="en-US" altLang="ja-JP" sz="2400" dirty="0"/>
              </a:p>
              <a:p>
                <a:pPr marL="0" indent="0">
                  <a:buNone/>
                </a:pPr>
                <a:endParaRPr kumimoji="1" lang="en-US" altLang="ja-JP" sz="800" dirty="0"/>
              </a:p>
              <a:p>
                <a:pPr marL="0" indent="0">
                  <a:buNone/>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𝔼</m:t>
                      </m:r>
                      <m:d>
                        <m:dPr>
                          <m:begChr m:val="["/>
                          <m:endChr m:val="]"/>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𝐴𝐿𝐺</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𝜎</m:t>
                              </m:r>
                            </m:e>
                          </m:d>
                        </m:e>
                      </m:d>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𝛼</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𝑂𝑃𝑇</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𝜎</m:t>
                          </m:r>
                        </m:e>
                      </m:d>
                    </m:oMath>
                  </m:oMathPara>
                </a14:m>
                <a:endParaRPr kumimoji="1" lang="en-US" altLang="ja-JP" sz="2400" dirty="0"/>
              </a:p>
              <a:p>
                <a:pPr marL="0" indent="0">
                  <a:buNone/>
                </a:pPr>
                <a:r>
                  <a:rPr lang="ja-JP" altLang="en-US" sz="2400" dirty="0"/>
                  <a:t>上式が成り立つとき </a:t>
                </a:r>
                <a14:m>
                  <m:oMath xmlns:m="http://schemas.openxmlformats.org/officeDocument/2006/math">
                    <m:r>
                      <a:rPr lang="en-US" altLang="ja-JP" sz="2400" b="0" i="1" smtClean="0">
                        <a:latin typeface="Cambria Math" panose="02040503050406030204" pitchFamily="18" charset="0"/>
                      </a:rPr>
                      <m:t>𝐴𝐿𝐺</m:t>
                    </m:r>
                  </m:oMath>
                </a14:m>
                <a:r>
                  <a:rPr kumimoji="1" lang="ja-JP" altLang="en-US" sz="2400" dirty="0"/>
                  <a:t> を </a:t>
                </a:r>
                <a14:m>
                  <m:oMath xmlns:m="http://schemas.openxmlformats.org/officeDocument/2006/math">
                    <m:r>
                      <a:rPr kumimoji="1" lang="en-US" altLang="ja-JP" sz="2400" b="0" i="1" smtClean="0">
                        <a:latin typeface="Cambria Math" panose="02040503050406030204" pitchFamily="18" charset="0"/>
                      </a:rPr>
                      <m:t>𝛼</m:t>
                    </m:r>
                  </m:oMath>
                </a14:m>
                <a:r>
                  <a:rPr kumimoji="1" lang="en-US" altLang="ja-JP" sz="2400" dirty="0"/>
                  <a:t>-</a:t>
                </a:r>
                <a:r>
                  <a:rPr kumimoji="1" lang="ja-JP" altLang="en-US" sz="2400" dirty="0"/>
                  <a:t>競合的といい，</a:t>
                </a:r>
                <a14:m>
                  <m:oMath xmlns:m="http://schemas.openxmlformats.org/officeDocument/2006/math">
                    <m:r>
                      <a:rPr kumimoji="1" lang="en-US" altLang="ja-JP" sz="2400" b="0" i="1" smtClean="0">
                        <a:latin typeface="Cambria Math" panose="02040503050406030204" pitchFamily="18" charset="0"/>
                      </a:rPr>
                      <m:t>𝛼</m:t>
                    </m:r>
                  </m:oMath>
                </a14:m>
                <a:r>
                  <a:rPr kumimoji="1" lang="en-US" altLang="ja-JP" sz="2400" dirty="0"/>
                  <a:t>-</a:t>
                </a:r>
                <a:r>
                  <a:rPr kumimoji="1" lang="ja-JP" altLang="en-US" sz="2400" dirty="0"/>
                  <a:t>競合的となるような </a:t>
                </a:r>
                <a14:m>
                  <m:oMath xmlns:m="http://schemas.openxmlformats.org/officeDocument/2006/math">
                    <m:r>
                      <a:rPr kumimoji="1" lang="en-US" altLang="ja-JP" sz="2400" b="0" i="1" smtClean="0">
                        <a:latin typeface="Cambria Math" panose="02040503050406030204" pitchFamily="18" charset="0"/>
                      </a:rPr>
                      <m:t>𝛼</m:t>
                    </m:r>
                  </m:oMath>
                </a14:m>
                <a:r>
                  <a:rPr kumimoji="1" lang="ja-JP" altLang="en-US" sz="2400" dirty="0"/>
                  <a:t> の下限値を </a:t>
                </a:r>
                <a14:m>
                  <m:oMath xmlns:m="http://schemas.openxmlformats.org/officeDocument/2006/math">
                    <m:r>
                      <a:rPr kumimoji="1" lang="en-US" altLang="ja-JP" sz="2400" b="0" i="1" smtClean="0">
                        <a:latin typeface="Cambria Math" panose="02040503050406030204" pitchFamily="18" charset="0"/>
                      </a:rPr>
                      <m:t>𝐴𝐿𝐺</m:t>
                    </m:r>
                  </m:oMath>
                </a14:m>
                <a:r>
                  <a:rPr kumimoji="1" lang="ja-JP" altLang="en-US" sz="2400" dirty="0"/>
                  <a:t> の競合比という．</a:t>
                </a:r>
              </a:p>
            </p:txBody>
          </p:sp>
        </mc:Choice>
        <mc:Fallback xmlns="">
          <p:sp>
            <p:nvSpPr>
              <p:cNvPr id="3" name="コンテンツ プレースホルダー 2">
                <a:extLst>
                  <a:ext uri="{FF2B5EF4-FFF2-40B4-BE49-F238E27FC236}">
                    <a16:creationId xmlns:a16="http://schemas.microsoft.com/office/drawing/2014/main" id="{7F1CD6A7-BDA1-C48E-2976-8594D64E1E0F}"/>
                  </a:ext>
                </a:extLst>
              </p:cNvPr>
              <p:cNvSpPr>
                <a:spLocks noGrp="1" noRot="1" noChangeAspect="1" noMove="1" noResize="1" noEditPoints="1" noAdjustHandles="1" noChangeArrowheads="1" noChangeShapeType="1" noTextEdit="1"/>
              </p:cNvSpPr>
              <p:nvPr>
                <p:ph idx="1"/>
              </p:nvPr>
            </p:nvSpPr>
            <p:spPr>
              <a:blipFill>
                <a:blip r:embed="rId2"/>
                <a:stretch>
                  <a:fillRect l="-928" t="-1541"/>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E30DC9DE-8264-6780-F841-2FE72E9F38B8}"/>
              </a:ext>
            </a:extLst>
          </p:cNvPr>
          <p:cNvSpPr txBox="1"/>
          <p:nvPr/>
        </p:nvSpPr>
        <p:spPr>
          <a:xfrm>
            <a:off x="9171710" y="2598727"/>
            <a:ext cx="2041235" cy="369332"/>
          </a:xfrm>
          <a:prstGeom prst="rect">
            <a:avLst/>
          </a:prstGeom>
          <a:noFill/>
        </p:spPr>
        <p:txBody>
          <a:bodyPr wrap="square" rtlCol="0">
            <a:spAutoFit/>
          </a:bodyPr>
          <a:lstStyle/>
          <a:p>
            <a:r>
              <a:rPr kumimoji="1" lang="en-US" altLang="ja-JP" dirty="0"/>
              <a:t>Oblivious Adversary</a:t>
            </a:r>
            <a:endParaRPr kumimoji="1" lang="ja-JP" altLang="en-US" dirty="0"/>
          </a:p>
        </p:txBody>
      </p:sp>
      <p:sp>
        <p:nvSpPr>
          <p:cNvPr id="5" name="スライド番号プレースホルダー 4">
            <a:extLst>
              <a:ext uri="{FF2B5EF4-FFF2-40B4-BE49-F238E27FC236}">
                <a16:creationId xmlns:a16="http://schemas.microsoft.com/office/drawing/2014/main" id="{E2087BF2-1C2E-CBED-CBFA-81EC089F7618}"/>
              </a:ext>
            </a:extLst>
          </p:cNvPr>
          <p:cNvSpPr>
            <a:spLocks noGrp="1"/>
          </p:cNvSpPr>
          <p:nvPr>
            <p:ph type="sldNum" sz="quarter" idx="12"/>
          </p:nvPr>
        </p:nvSpPr>
        <p:spPr/>
        <p:txBody>
          <a:bodyPr/>
          <a:lstStyle/>
          <a:p>
            <a:fld id="{4B077F3A-4098-4199-8925-77865D1E3500}" type="slidenum">
              <a:rPr kumimoji="1" lang="ja-JP" altLang="en-US" smtClean="0"/>
              <a:t>48</a:t>
            </a:fld>
            <a:endParaRPr kumimoji="1" lang="ja-JP" altLang="en-US"/>
          </a:p>
        </p:txBody>
      </p:sp>
    </p:spTree>
    <p:extLst>
      <p:ext uri="{BB962C8B-B14F-4D97-AF65-F5344CB8AC3E}">
        <p14:creationId xmlns:p14="http://schemas.microsoft.com/office/powerpoint/2010/main" val="33333395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F6468B-6304-F540-4D96-84161C5D38F4}"/>
              </a:ext>
            </a:extLst>
          </p:cNvPr>
          <p:cNvSpPr>
            <a:spLocks noGrp="1"/>
          </p:cNvSpPr>
          <p:nvPr>
            <p:ph type="title"/>
          </p:nvPr>
        </p:nvSpPr>
        <p:spPr/>
        <p:txBody>
          <a:bodyPr/>
          <a:lstStyle/>
          <a:p>
            <a:r>
              <a:rPr kumimoji="1" lang="ja-JP" altLang="en-US" dirty="0"/>
              <a:t>乱択アルゴリズムの競合比</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743D03C-4213-0FC7-F58D-10D7C52D6E4A}"/>
                  </a:ext>
                </a:extLst>
              </p:cNvPr>
              <p:cNvSpPr>
                <a:spLocks noGrp="1"/>
              </p:cNvSpPr>
              <p:nvPr>
                <p:ph idx="1"/>
              </p:nvPr>
            </p:nvSpPr>
            <p:spPr>
              <a:xfrm>
                <a:off x="838200" y="1825625"/>
                <a:ext cx="10515600" cy="2811030"/>
              </a:xfrm>
              <a:solidFill>
                <a:schemeClr val="accent2">
                  <a:lumMod val="20000"/>
                  <a:lumOff val="80000"/>
                </a:schemeClr>
              </a:solidFill>
            </p:spPr>
            <p:txBody>
              <a:bodyPr anchor="ctr"/>
              <a:lstStyle/>
              <a:p>
                <a:pPr marL="0" indent="0">
                  <a:buNone/>
                </a:pPr>
                <a:r>
                  <a:rPr lang="ja-JP" altLang="en-US" b="1" dirty="0"/>
                  <a:t>競合比上界</a:t>
                </a:r>
                <a:endParaRPr lang="en-US" altLang="ja-JP" b="1" dirty="0"/>
              </a:p>
              <a:p>
                <a:pPr marL="0" indent="0">
                  <a:buNone/>
                </a:pPr>
                <a:r>
                  <a:rPr lang="en-US" altLang="ja-JP" sz="2400" dirty="0"/>
                  <a:t>Randomized Greedy [Meyerson et al.,</a:t>
                </a:r>
                <a:r>
                  <a:rPr lang="ja-JP" altLang="en-US" sz="2400" dirty="0"/>
                  <a:t> </a:t>
                </a:r>
                <a:r>
                  <a:rPr lang="en-US" altLang="ja-JP" sz="2400" dirty="0"/>
                  <a:t>2006]</a:t>
                </a:r>
              </a:p>
              <a:p>
                <a:r>
                  <a:rPr kumimoji="1" lang="ja-JP" altLang="en-US" sz="2400" dirty="0"/>
                  <a:t>一様距離空間において競合比 </a:t>
                </a:r>
                <a14:m>
                  <m:oMath xmlns:m="http://schemas.openxmlformats.org/officeDocument/2006/math">
                    <m:r>
                      <a:rPr kumimoji="1" lang="en-US" altLang="ja-JP" sz="2400" b="0" i="1" smtClean="0">
                        <a:latin typeface="Cambria Math" panose="02040503050406030204" pitchFamily="18" charset="0"/>
                      </a:rPr>
                      <m:t>𝑂</m:t>
                    </m:r>
                    <m:d>
                      <m:dPr>
                        <m:ctrlPr>
                          <a:rPr kumimoji="1" lang="en-US" altLang="ja-JP" sz="2400" b="0" i="1" smtClean="0">
                            <a:latin typeface="Cambria Math" panose="02040503050406030204" pitchFamily="18" charset="0"/>
                          </a:rPr>
                        </m:ctrlPr>
                      </m:dPr>
                      <m:e>
                        <m:r>
                          <m:rPr>
                            <m:sty m:val="p"/>
                          </m:rPr>
                          <a:rPr kumimoji="1" lang="en-US" altLang="ja-JP" sz="2400" b="0" i="1" smtClean="0">
                            <a:latin typeface="Cambria Math" panose="02040503050406030204" pitchFamily="18" charset="0"/>
                          </a:rPr>
                          <m:t>log</m:t>
                        </m:r>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𝑛</m:t>
                        </m:r>
                      </m:e>
                    </m:d>
                  </m:oMath>
                </a14:m>
                <a:r>
                  <a:rPr kumimoji="1" lang="ja-JP" altLang="en-US" sz="2400" dirty="0"/>
                  <a:t> </a:t>
                </a:r>
                <a:endParaRPr kumimoji="1" lang="en-US" altLang="ja-JP" sz="2400" dirty="0"/>
              </a:p>
              <a:p>
                <a:r>
                  <a:rPr lang="ja-JP" altLang="en-US" sz="2400" dirty="0"/>
                  <a:t>一般の距離空間では </a:t>
                </a:r>
                <a14:m>
                  <m:oMath xmlns:m="http://schemas.openxmlformats.org/officeDocument/2006/math">
                    <m:r>
                      <a:rPr lang="en-US" altLang="ja-JP" sz="2400" b="0" i="1" smtClean="0">
                        <a:latin typeface="Cambria Math" panose="02040503050406030204" pitchFamily="18" charset="0"/>
                      </a:rPr>
                      <m:t>𝑂</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m:rPr>
                            <m:sty m:val="p"/>
                          </m:rPr>
                          <a:rPr lang="en-US" altLang="ja-JP" sz="2400" b="0" i="0" smtClean="0">
                            <a:latin typeface="Cambria Math" panose="02040503050406030204" pitchFamily="18" charset="0"/>
                          </a:rPr>
                          <m:t>log</m:t>
                        </m:r>
                      </m:e>
                      <m:sup>
                        <m:r>
                          <a:rPr lang="en-US" altLang="ja-JP" sz="2400" b="0" i="1" smtClean="0">
                            <a:latin typeface="Cambria Math" panose="02040503050406030204" pitchFamily="18" charset="0"/>
                          </a:rPr>
                          <m:t>3</m:t>
                        </m:r>
                      </m:sup>
                    </m:sSup>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m:t>
                    </m:r>
                  </m:oMath>
                </a14:m>
                <a:endParaRPr kumimoji="1" lang="en-US" altLang="ja-JP" sz="2400" dirty="0"/>
              </a:p>
              <a:p>
                <a:pPr marL="0" indent="0">
                  <a:buNone/>
                </a:pPr>
                <a:r>
                  <a:rPr lang="en-US" altLang="ja-JP" sz="2400" dirty="0"/>
                  <a:t>[Bansal et al., 2007]</a:t>
                </a:r>
              </a:p>
              <a:p>
                <a:r>
                  <a:rPr kumimoji="1" lang="ja-JP" altLang="en-US" sz="2400" dirty="0"/>
                  <a:t>競合比 </a:t>
                </a:r>
                <a14:m>
                  <m:oMath xmlns:m="http://schemas.openxmlformats.org/officeDocument/2006/math">
                    <m:r>
                      <a:rPr kumimoji="1" lang="en-US" altLang="ja-JP" sz="2400" b="0" i="1" smtClean="0">
                        <a:latin typeface="Cambria Math" panose="02040503050406030204" pitchFamily="18" charset="0"/>
                      </a:rPr>
                      <m:t>𝑂</m:t>
                    </m:r>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m:rPr>
                            <m:sty m:val="p"/>
                          </m:rPr>
                          <a:rPr kumimoji="1" lang="en-US" altLang="ja-JP" sz="2400" b="0" i="0" smtClean="0">
                            <a:latin typeface="Cambria Math" panose="02040503050406030204" pitchFamily="18" charset="0"/>
                          </a:rPr>
                          <m:t>log</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m:t>
                    </m:r>
                  </m:oMath>
                </a14:m>
                <a:r>
                  <a:rPr kumimoji="1" lang="ja-JP" altLang="en-US" sz="2400" dirty="0"/>
                  <a:t> に改善</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B743D03C-4213-0FC7-F58D-10D7C52D6E4A}"/>
                  </a:ext>
                </a:extLst>
              </p:cNvPr>
              <p:cNvSpPr>
                <a:spLocks noGrp="1" noRot="1" noChangeAspect="1" noMove="1" noResize="1" noEditPoints="1" noAdjustHandles="1" noChangeArrowheads="1" noChangeShapeType="1" noTextEdit="1"/>
              </p:cNvSpPr>
              <p:nvPr>
                <p:ph idx="1"/>
              </p:nvPr>
            </p:nvSpPr>
            <p:spPr>
              <a:xfrm>
                <a:off x="838200" y="1825625"/>
                <a:ext cx="10515600" cy="2811030"/>
              </a:xfrm>
              <a:blipFill>
                <a:blip r:embed="rId2"/>
                <a:stretch>
                  <a:fillRect l="-1217" t="-1948" b="-454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6D5B035C-C567-E620-6F86-4560D4B7632B}"/>
                  </a:ext>
                </a:extLst>
              </p:cNvPr>
              <p:cNvSpPr txBox="1"/>
              <p:nvPr/>
            </p:nvSpPr>
            <p:spPr>
              <a:xfrm>
                <a:off x="838200" y="5061527"/>
                <a:ext cx="10515600" cy="1015663"/>
              </a:xfrm>
              <a:prstGeom prst="rect">
                <a:avLst/>
              </a:prstGeom>
              <a:solidFill>
                <a:schemeClr val="accent2">
                  <a:lumMod val="20000"/>
                  <a:lumOff val="80000"/>
                </a:schemeClr>
              </a:solidFill>
            </p:spPr>
            <p:txBody>
              <a:bodyPr wrap="square" rtlCol="0" anchor="ctr">
                <a:spAutoFit/>
              </a:bodyPr>
              <a:lstStyle/>
              <a:p>
                <a:r>
                  <a:rPr lang="ja-JP" altLang="en-US" sz="2800" b="1" dirty="0"/>
                  <a:t>競合比下界</a:t>
                </a:r>
                <a:endParaRPr lang="en-US" altLang="ja-JP" sz="2800" b="1" dirty="0"/>
              </a:p>
              <a:p>
                <a:endParaRPr lang="en-US" altLang="ja-JP" sz="800" b="1" dirty="0"/>
              </a:p>
              <a:p>
                <a:pPr marL="342900" indent="-342900">
                  <a:buFont typeface="Arial" panose="020B0604020202020204" pitchFamily="34" charset="0"/>
                  <a:buChar char="•"/>
                </a:pPr>
                <a:r>
                  <a:rPr lang="ja-JP" altLang="en-US" sz="2400" dirty="0"/>
                  <a:t>任意の乱択アルゴリズムの競合比は </a:t>
                </a:r>
                <a14:m>
                  <m:oMath xmlns:m="http://schemas.openxmlformats.org/officeDocument/2006/math">
                    <m:r>
                      <m:rPr>
                        <m:sty m:val="p"/>
                      </m:rPr>
                      <a:rPr lang="en-US" altLang="ja-JP" sz="2400" b="0" i="0" smtClean="0">
                        <a:latin typeface="Cambria Math" panose="02040503050406030204" pitchFamily="18" charset="0"/>
                      </a:rPr>
                      <m:t>Ω</m:t>
                    </m:r>
                    <m:r>
                      <a:rPr lang="en-US" altLang="ja-JP" sz="2400" b="0" i="1" smtClean="0">
                        <a:latin typeface="Cambria Math" panose="02040503050406030204" pitchFamily="18" charset="0"/>
                      </a:rPr>
                      <m:t>(</m:t>
                    </m:r>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m:t>
                    </m:r>
                  </m:oMath>
                </a14:m>
                <a:r>
                  <a:rPr lang="en-US" altLang="ja-JP" sz="2400" dirty="0"/>
                  <a:t> [Meyerson et al.,</a:t>
                </a:r>
                <a:r>
                  <a:rPr lang="ja-JP" altLang="en-US" sz="2400" dirty="0"/>
                  <a:t> </a:t>
                </a:r>
                <a:r>
                  <a:rPr lang="en-US" altLang="ja-JP" sz="2400" dirty="0"/>
                  <a:t>2006]</a:t>
                </a:r>
              </a:p>
            </p:txBody>
          </p:sp>
        </mc:Choice>
        <mc:Fallback xmlns="">
          <p:sp>
            <p:nvSpPr>
              <p:cNvPr id="4" name="テキスト ボックス 3">
                <a:extLst>
                  <a:ext uri="{FF2B5EF4-FFF2-40B4-BE49-F238E27FC236}">
                    <a16:creationId xmlns:a16="http://schemas.microsoft.com/office/drawing/2014/main" id="{6D5B035C-C567-E620-6F86-4560D4B7632B}"/>
                  </a:ext>
                </a:extLst>
              </p:cNvPr>
              <p:cNvSpPr txBox="1">
                <a:spLocks noRot="1" noChangeAspect="1" noMove="1" noResize="1" noEditPoints="1" noAdjustHandles="1" noChangeArrowheads="1" noChangeShapeType="1" noTextEdit="1"/>
              </p:cNvSpPr>
              <p:nvPr/>
            </p:nvSpPr>
            <p:spPr>
              <a:xfrm>
                <a:off x="838200" y="5061527"/>
                <a:ext cx="10515600" cy="1015663"/>
              </a:xfrm>
              <a:prstGeom prst="rect">
                <a:avLst/>
              </a:prstGeom>
              <a:blipFill>
                <a:blip r:embed="rId3"/>
                <a:stretch>
                  <a:fillRect l="-1217" t="-4192" b="-14371"/>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0F46657B-2621-A2E6-13B9-5A909929F5F9}"/>
              </a:ext>
            </a:extLst>
          </p:cNvPr>
          <p:cNvSpPr>
            <a:spLocks noGrp="1"/>
          </p:cNvSpPr>
          <p:nvPr>
            <p:ph type="sldNum" sz="quarter" idx="12"/>
          </p:nvPr>
        </p:nvSpPr>
        <p:spPr/>
        <p:txBody>
          <a:bodyPr/>
          <a:lstStyle/>
          <a:p>
            <a:fld id="{4B077F3A-4098-4199-8925-77865D1E3500}" type="slidenum">
              <a:rPr kumimoji="1" lang="ja-JP" altLang="en-US" smtClean="0"/>
              <a:t>49</a:t>
            </a:fld>
            <a:endParaRPr kumimoji="1" lang="ja-JP" altLang="en-US"/>
          </a:p>
        </p:txBody>
      </p:sp>
    </p:spTree>
    <p:extLst>
      <p:ext uri="{BB962C8B-B14F-4D97-AF65-F5344CB8AC3E}">
        <p14:creationId xmlns:p14="http://schemas.microsoft.com/office/powerpoint/2010/main" val="35398198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67B900-91D3-CF6F-756F-A3667380CDDF}"/>
              </a:ext>
            </a:extLst>
          </p:cNvPr>
          <p:cNvSpPr>
            <a:spLocks noGrp="1"/>
          </p:cNvSpPr>
          <p:nvPr>
            <p:ph type="title"/>
          </p:nvPr>
        </p:nvSpPr>
        <p:spPr/>
        <p:txBody>
          <a:bodyPr/>
          <a:lstStyle/>
          <a:p>
            <a:r>
              <a:rPr lang="ja-JP" altLang="en-US" dirty="0"/>
              <a:t>扱う範囲</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F3EB175-392B-0BEE-6BCB-AF3202E6A09E}"/>
                  </a:ext>
                </a:extLst>
              </p:cNvPr>
              <p:cNvSpPr>
                <a:spLocks noGrp="1"/>
              </p:cNvSpPr>
              <p:nvPr>
                <p:ph idx="1"/>
              </p:nvPr>
            </p:nvSpPr>
            <p:spPr/>
            <p:txBody>
              <a:bodyPr>
                <a:normAutofit/>
              </a:bodyPr>
              <a:lstStyle/>
              <a:p>
                <a:r>
                  <a:rPr kumimoji="1" lang="ja-JP" altLang="en-US" sz="2400" dirty="0"/>
                  <a:t>一様距離空間における解析</a:t>
                </a:r>
                <a:endParaRPr kumimoji="1" lang="en-US" altLang="ja-JP" sz="2400" dirty="0"/>
              </a:p>
              <a:p>
                <a:r>
                  <a:rPr lang="en-US" altLang="ja-JP" sz="2400" dirty="0"/>
                  <a:t>[Meyerson et al., 2006], [Bansal et al., 2007] </a:t>
                </a:r>
                <a:r>
                  <a:rPr lang="ja-JP" altLang="en-US" sz="2400" dirty="0"/>
                  <a:t>の提案した解析上のテクニック</a:t>
                </a:r>
                <a:endParaRPr lang="en-US" altLang="ja-JP" sz="2400" dirty="0"/>
              </a:p>
              <a:p>
                <a:endParaRPr kumimoji="1" lang="en-US" altLang="ja-JP" sz="2400" dirty="0"/>
              </a:p>
              <a:p>
                <a:pPr marL="0" indent="0">
                  <a:buNone/>
                </a:pPr>
                <a14:m>
                  <m:oMath xmlns:m="http://schemas.openxmlformats.org/officeDocument/2006/math">
                    <m:r>
                      <a:rPr lang="en-US" altLang="ja-JP" sz="2400" i="1">
                        <a:latin typeface="Cambria Math" panose="02040503050406030204" pitchFamily="18" charset="0"/>
                      </a:rPr>
                      <m:t>𝑂</m:t>
                    </m:r>
                    <m:r>
                      <a:rPr lang="en-US" altLang="ja-JP" sz="2400" i="1">
                        <a:latin typeface="Cambria Math" panose="02040503050406030204" pitchFamily="18" charset="0"/>
                      </a:rPr>
                      <m:t>(</m:t>
                    </m:r>
                    <m:sSup>
                      <m:sSupPr>
                        <m:ctrlPr>
                          <a:rPr lang="en-US" altLang="ja-JP" sz="2400" i="1">
                            <a:latin typeface="Cambria Math" panose="02040503050406030204" pitchFamily="18" charset="0"/>
                          </a:rPr>
                        </m:ctrlPr>
                      </m:sSupPr>
                      <m:e>
                        <m:r>
                          <m:rPr>
                            <m:sty m:val="p"/>
                          </m:rPr>
                          <a:rPr lang="en-US" altLang="ja-JP" sz="2400">
                            <a:latin typeface="Cambria Math" panose="02040503050406030204" pitchFamily="18" charset="0"/>
                          </a:rPr>
                          <m:t>log</m:t>
                        </m:r>
                      </m:e>
                      <m:sup>
                        <m:r>
                          <a:rPr lang="en-US" altLang="ja-JP" sz="2400" i="1">
                            <a:latin typeface="Cambria Math" panose="02040503050406030204" pitchFamily="18" charset="0"/>
                          </a:rPr>
                          <m:t>2</m:t>
                        </m:r>
                      </m:sup>
                    </m:sSup>
                    <m:r>
                      <a:rPr lang="en-US" altLang="ja-JP" sz="2400" i="1">
                        <a:latin typeface="Cambria Math" panose="02040503050406030204" pitchFamily="18" charset="0"/>
                      </a:rPr>
                      <m:t> </m:t>
                    </m:r>
                    <m:r>
                      <a:rPr lang="en-US" altLang="ja-JP" sz="2400" i="1">
                        <a:latin typeface="Cambria Math" panose="02040503050406030204" pitchFamily="18" charset="0"/>
                      </a:rPr>
                      <m:t>𝑛</m:t>
                    </m:r>
                    <m:r>
                      <a:rPr lang="en-US" altLang="ja-JP" sz="2400" i="1">
                        <a:latin typeface="Cambria Math" panose="02040503050406030204" pitchFamily="18" charset="0"/>
                      </a:rPr>
                      <m:t>)</m:t>
                    </m:r>
                  </m:oMath>
                </a14:m>
                <a:r>
                  <a:rPr lang="en-US" altLang="ja-JP" sz="2400" dirty="0"/>
                  <a:t>-</a:t>
                </a:r>
                <a:r>
                  <a:rPr lang="ja-JP" altLang="en-US" sz="2400" dirty="0"/>
                  <a:t>競合的なアルゴリズムの具体的な解析までは踏み込まない </a:t>
                </a:r>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7F3EB175-392B-0BEE-6BCB-AF3202E6A09E}"/>
                  </a:ext>
                </a:extLst>
              </p:cNvPr>
              <p:cNvSpPr>
                <a:spLocks noGrp="1" noRot="1" noChangeAspect="1" noMove="1" noResize="1" noEditPoints="1" noAdjustHandles="1" noChangeArrowheads="1" noChangeShapeType="1" noTextEdit="1"/>
              </p:cNvSpPr>
              <p:nvPr>
                <p:ph idx="1"/>
              </p:nvPr>
            </p:nvSpPr>
            <p:spPr>
              <a:blipFill>
                <a:blip r:embed="rId2"/>
                <a:stretch>
                  <a:fillRect l="-812" t="-18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D690516A-46F0-4018-783A-6D9D9FC4A423}"/>
              </a:ext>
            </a:extLst>
          </p:cNvPr>
          <p:cNvSpPr>
            <a:spLocks noGrp="1"/>
          </p:cNvSpPr>
          <p:nvPr>
            <p:ph type="sldNum" sz="quarter" idx="12"/>
          </p:nvPr>
        </p:nvSpPr>
        <p:spPr/>
        <p:txBody>
          <a:bodyPr/>
          <a:lstStyle/>
          <a:p>
            <a:fld id="{4B077F3A-4098-4199-8925-77865D1E3500}" type="slidenum">
              <a:rPr kumimoji="1" lang="ja-JP" altLang="en-US" smtClean="0"/>
              <a:t>50</a:t>
            </a:fld>
            <a:endParaRPr kumimoji="1" lang="ja-JP" altLang="en-US"/>
          </a:p>
        </p:txBody>
      </p:sp>
    </p:spTree>
    <p:extLst>
      <p:ext uri="{BB962C8B-B14F-4D97-AF65-F5344CB8AC3E}">
        <p14:creationId xmlns:p14="http://schemas.microsoft.com/office/powerpoint/2010/main" val="8298660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C40087-CE48-52D4-9F23-0AB0CF355372}"/>
              </a:ext>
            </a:extLst>
          </p:cNvPr>
          <p:cNvSpPr>
            <a:spLocks noGrp="1"/>
          </p:cNvSpPr>
          <p:nvPr>
            <p:ph type="title"/>
          </p:nvPr>
        </p:nvSpPr>
        <p:spPr/>
        <p:txBody>
          <a:bodyPr/>
          <a:lstStyle/>
          <a:p>
            <a:r>
              <a:rPr kumimoji="1" lang="ja-JP" altLang="en-US" dirty="0"/>
              <a:t>競合比下界</a:t>
            </a:r>
          </a:p>
        </p:txBody>
      </p:sp>
      <p:sp>
        <p:nvSpPr>
          <p:cNvPr id="3" name="コンテンツ プレースホルダー 2">
            <a:extLst>
              <a:ext uri="{FF2B5EF4-FFF2-40B4-BE49-F238E27FC236}">
                <a16:creationId xmlns:a16="http://schemas.microsoft.com/office/drawing/2014/main" id="{DF588921-F279-5913-E83F-2D53B8EBA916}"/>
              </a:ext>
            </a:extLst>
          </p:cNvPr>
          <p:cNvSpPr>
            <a:spLocks noGrp="1"/>
          </p:cNvSpPr>
          <p:nvPr>
            <p:ph idx="1"/>
          </p:nvPr>
        </p:nvSpPr>
        <p:spPr>
          <a:xfrm>
            <a:off x="838199" y="1690688"/>
            <a:ext cx="6808173" cy="3269239"/>
          </a:xfrm>
        </p:spPr>
        <p:txBody>
          <a:bodyPr>
            <a:normAutofit fontScale="92500"/>
          </a:bodyPr>
          <a:lstStyle/>
          <a:p>
            <a:pPr marL="0" indent="0">
              <a:buNone/>
            </a:pPr>
            <a:r>
              <a:rPr kumimoji="1" lang="ja-JP" altLang="en-US" sz="2400" dirty="0"/>
              <a:t>一様距離空間上で考える</a:t>
            </a:r>
            <a:endParaRPr kumimoji="1" lang="en-US" altLang="ja-JP" sz="2400" dirty="0"/>
          </a:p>
          <a:p>
            <a:pPr marL="0" indent="0">
              <a:buNone/>
            </a:pPr>
            <a:r>
              <a:rPr lang="ja-JP" altLang="en-US" sz="2400" dirty="0"/>
              <a:t>コスト </a:t>
            </a:r>
            <a:r>
              <a:rPr lang="en-US" altLang="ja-JP" sz="2400" dirty="0"/>
              <a:t>0 </a:t>
            </a:r>
            <a:r>
              <a:rPr lang="ja-JP" altLang="en-US" sz="2400" dirty="0"/>
              <a:t>でリクエストの割り当てができるなら必ずするアルゴリズムしか考える必要はない</a:t>
            </a:r>
            <a:endParaRPr lang="en-US" altLang="ja-JP" sz="2400" dirty="0"/>
          </a:p>
          <a:p>
            <a:pPr marL="0" indent="0">
              <a:buNone/>
            </a:pPr>
            <a:r>
              <a:rPr kumimoji="1" lang="ja-JP" altLang="en-US" sz="2400" dirty="0"/>
              <a:t>リクエストは次のように置く</a:t>
            </a:r>
            <a:endParaRPr kumimoji="1" lang="en-US" altLang="ja-JP" sz="2400" dirty="0"/>
          </a:p>
          <a:p>
            <a:r>
              <a:rPr lang="en-US" altLang="ja-JP" sz="2400" dirty="0"/>
              <a:t>1</a:t>
            </a:r>
            <a:r>
              <a:rPr lang="ja-JP" altLang="en-US" sz="2400" dirty="0"/>
              <a:t>つ目はサーバの無い場所</a:t>
            </a:r>
            <a:endParaRPr lang="en-US" altLang="ja-JP" sz="2400" dirty="0"/>
          </a:p>
          <a:p>
            <a:r>
              <a:rPr kumimoji="1" lang="en-US" altLang="ja-JP" sz="2400" dirty="0"/>
              <a:t>2</a:t>
            </a:r>
            <a:r>
              <a:rPr kumimoji="1" lang="ja-JP" altLang="en-US" sz="2400" dirty="0"/>
              <a:t>つ目は最も使用不可である確率の高いサーバの</a:t>
            </a:r>
            <a:r>
              <a:rPr lang="ja-JP" altLang="en-US" sz="2400" dirty="0"/>
              <a:t>上</a:t>
            </a:r>
            <a:endParaRPr kumimoji="1" lang="en-US" altLang="ja-JP" sz="2400" dirty="0"/>
          </a:p>
          <a:p>
            <a:r>
              <a:rPr kumimoji="1" lang="ja-JP" altLang="en-US" sz="2400" dirty="0"/>
              <a:t>以降はまだリクエストを置いていないサーバの中で最も使用不可である確率の高い場所</a:t>
            </a:r>
            <a:endParaRPr kumimoji="1" lang="en-US" altLang="ja-JP" sz="2400" dirty="0"/>
          </a:p>
          <a:p>
            <a:endParaRPr kumimoji="1" lang="ja-JP" altLang="en-US" dirty="0"/>
          </a:p>
        </p:txBody>
      </p:sp>
      <p:sp>
        <p:nvSpPr>
          <p:cNvPr id="4" name="楕円 3">
            <a:extLst>
              <a:ext uri="{FF2B5EF4-FFF2-40B4-BE49-F238E27FC236}">
                <a16:creationId xmlns:a16="http://schemas.microsoft.com/office/drawing/2014/main" id="{16789BA9-17B1-B369-83CB-8C173650B3B4}"/>
              </a:ext>
            </a:extLst>
          </p:cNvPr>
          <p:cNvSpPr/>
          <p:nvPr/>
        </p:nvSpPr>
        <p:spPr>
          <a:xfrm>
            <a:off x="9681427" y="208713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C9E92C02-C11D-681B-A930-FB71B45AAF74}"/>
              </a:ext>
            </a:extLst>
          </p:cNvPr>
          <p:cNvSpPr/>
          <p:nvPr/>
        </p:nvSpPr>
        <p:spPr>
          <a:xfrm>
            <a:off x="8559209" y="243349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19AE157D-0D88-FFAE-E6FF-0EAFC2562751}"/>
              </a:ext>
            </a:extLst>
          </p:cNvPr>
          <p:cNvSpPr/>
          <p:nvPr/>
        </p:nvSpPr>
        <p:spPr>
          <a:xfrm>
            <a:off x="8532358" y="378662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DCD56F85-BEE8-51B5-2972-DD466A047989}"/>
              </a:ext>
            </a:extLst>
          </p:cNvPr>
          <p:cNvSpPr/>
          <p:nvPr/>
        </p:nvSpPr>
        <p:spPr>
          <a:xfrm>
            <a:off x="10795441" y="2867608"/>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A2D78471-A7EF-927A-2D8D-37D544220B43}"/>
              </a:ext>
            </a:extLst>
          </p:cNvPr>
          <p:cNvSpPr/>
          <p:nvPr/>
        </p:nvSpPr>
        <p:spPr>
          <a:xfrm>
            <a:off x="10061150" y="428539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矢印コネクタ 8">
            <a:extLst>
              <a:ext uri="{FF2B5EF4-FFF2-40B4-BE49-F238E27FC236}">
                <a16:creationId xmlns:a16="http://schemas.microsoft.com/office/drawing/2014/main" id="{36E6EAB6-4DC4-6679-B414-F481C97F10BC}"/>
              </a:ext>
            </a:extLst>
          </p:cNvPr>
          <p:cNvCxnSpPr>
            <a:cxnSpLocks/>
          </p:cNvCxnSpPr>
          <p:nvPr/>
        </p:nvCxnSpPr>
        <p:spPr>
          <a:xfrm>
            <a:off x="9558985" y="3011608"/>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66109867-641C-9857-544C-A5A1756894DD}"/>
                  </a:ext>
                </a:extLst>
              </p:cNvPr>
              <p:cNvSpPr txBox="1"/>
              <p:nvPr/>
            </p:nvSpPr>
            <p:spPr>
              <a:xfrm>
                <a:off x="9341930" y="2577499"/>
                <a:ext cx="434109"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r>
                            <a:rPr kumimoji="1" lang="en-US" altLang="ja-JP" b="0" i="1" smtClean="0">
                              <a:latin typeface="Cambria Math" panose="02040503050406030204" pitchFamily="18" charset="0"/>
                            </a:rPr>
                            <m:t>1</m:t>
                          </m:r>
                        </m:sub>
                      </m:sSub>
                    </m:oMath>
                  </m:oMathPara>
                </a14:m>
                <a:endParaRPr kumimoji="1" lang="ja-JP" altLang="en-US" dirty="0"/>
              </a:p>
            </p:txBody>
          </p:sp>
        </mc:Choice>
        <mc:Fallback xmlns="">
          <p:sp>
            <p:nvSpPr>
              <p:cNvPr id="11" name="テキスト ボックス 10">
                <a:extLst>
                  <a:ext uri="{FF2B5EF4-FFF2-40B4-BE49-F238E27FC236}">
                    <a16:creationId xmlns:a16="http://schemas.microsoft.com/office/drawing/2014/main" id="{66109867-641C-9857-544C-A5A1756894DD}"/>
                  </a:ext>
                </a:extLst>
              </p:cNvPr>
              <p:cNvSpPr txBox="1">
                <a:spLocks noRot="1" noChangeAspect="1" noMove="1" noResize="1" noEditPoints="1" noAdjustHandles="1" noChangeArrowheads="1" noChangeShapeType="1" noTextEdit="1"/>
              </p:cNvSpPr>
              <p:nvPr/>
            </p:nvSpPr>
            <p:spPr>
              <a:xfrm>
                <a:off x="9341930" y="2577499"/>
                <a:ext cx="434109" cy="369397"/>
              </a:xfrm>
              <a:prstGeom prst="rect">
                <a:avLst/>
              </a:prstGeom>
              <a:blipFill>
                <a:blip r:embed="rId2"/>
                <a:stretch>
                  <a:fillRect/>
                </a:stretch>
              </a:blipFill>
            </p:spPr>
            <p:txBody>
              <a:bodyPr/>
              <a:lstStyle/>
              <a:p>
                <a:r>
                  <a:rPr lang="ja-JP" altLang="en-US">
                    <a:noFill/>
                  </a:rPr>
                  <a:t> </a:t>
                </a:r>
              </a:p>
            </p:txBody>
          </p:sp>
        </mc:Fallback>
      </mc:AlternateContent>
      <p:cxnSp>
        <p:nvCxnSpPr>
          <p:cNvPr id="12" name="直線矢印コネクタ 11">
            <a:extLst>
              <a:ext uri="{FF2B5EF4-FFF2-40B4-BE49-F238E27FC236}">
                <a16:creationId xmlns:a16="http://schemas.microsoft.com/office/drawing/2014/main" id="{1524653C-6B7E-076D-6190-161596329142}"/>
              </a:ext>
            </a:extLst>
          </p:cNvPr>
          <p:cNvCxnSpPr>
            <a:cxnSpLocks/>
          </p:cNvCxnSpPr>
          <p:nvPr/>
        </p:nvCxnSpPr>
        <p:spPr>
          <a:xfrm>
            <a:off x="9757567" y="151578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4334C731-E3D5-E8CB-047E-5ED1B4F30784}"/>
                  </a:ext>
                </a:extLst>
              </p:cNvPr>
              <p:cNvSpPr txBox="1"/>
              <p:nvPr/>
            </p:nvSpPr>
            <p:spPr>
              <a:xfrm>
                <a:off x="9558984" y="1081674"/>
                <a:ext cx="434109"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r>
                            <a:rPr kumimoji="1" lang="en-US" altLang="ja-JP" b="0" i="1" smtClean="0">
                              <a:latin typeface="Cambria Math" panose="02040503050406030204" pitchFamily="18" charset="0"/>
                            </a:rPr>
                            <m:t>2</m:t>
                          </m:r>
                        </m:sub>
                      </m:sSub>
                    </m:oMath>
                  </m:oMathPara>
                </a14:m>
                <a:endParaRPr kumimoji="1" lang="ja-JP" altLang="en-US" dirty="0"/>
              </a:p>
            </p:txBody>
          </p:sp>
        </mc:Choice>
        <mc:Fallback xmlns="">
          <p:sp>
            <p:nvSpPr>
              <p:cNvPr id="13" name="テキスト ボックス 12">
                <a:extLst>
                  <a:ext uri="{FF2B5EF4-FFF2-40B4-BE49-F238E27FC236}">
                    <a16:creationId xmlns:a16="http://schemas.microsoft.com/office/drawing/2014/main" id="{4334C731-E3D5-E8CB-047E-5ED1B4F30784}"/>
                  </a:ext>
                </a:extLst>
              </p:cNvPr>
              <p:cNvSpPr txBox="1">
                <a:spLocks noRot="1" noChangeAspect="1" noMove="1" noResize="1" noEditPoints="1" noAdjustHandles="1" noChangeArrowheads="1" noChangeShapeType="1" noTextEdit="1"/>
              </p:cNvSpPr>
              <p:nvPr/>
            </p:nvSpPr>
            <p:spPr>
              <a:xfrm>
                <a:off x="9558984" y="1081674"/>
                <a:ext cx="434109" cy="369397"/>
              </a:xfrm>
              <a:prstGeom prst="rect">
                <a:avLst/>
              </a:prstGeom>
              <a:blipFill>
                <a:blip r:embed="rId3"/>
                <a:stretch>
                  <a:fillRect/>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7D38667F-7896-22FE-8F2A-B18EC233D422}"/>
              </a:ext>
            </a:extLst>
          </p:cNvPr>
          <p:cNvSpPr txBox="1"/>
          <p:nvPr/>
        </p:nvSpPr>
        <p:spPr>
          <a:xfrm>
            <a:off x="7904286" y="2164187"/>
            <a:ext cx="628072" cy="369332"/>
          </a:xfrm>
          <a:prstGeom prst="rect">
            <a:avLst/>
          </a:prstGeom>
          <a:noFill/>
        </p:spPr>
        <p:txBody>
          <a:bodyPr wrap="square" rtlCol="0" anchor="ctr">
            <a:spAutoFit/>
          </a:bodyPr>
          <a:lstStyle/>
          <a:p>
            <a:pPr algn="ctr"/>
            <a:r>
              <a:rPr kumimoji="1" lang="en-US" altLang="ja-JP" dirty="0"/>
              <a:t>0.1</a:t>
            </a:r>
            <a:endParaRPr kumimoji="1" lang="ja-JP" altLang="en-US" dirty="0"/>
          </a:p>
        </p:txBody>
      </p:sp>
      <p:sp>
        <p:nvSpPr>
          <p:cNvPr id="15" name="テキスト ボックス 14">
            <a:extLst>
              <a:ext uri="{FF2B5EF4-FFF2-40B4-BE49-F238E27FC236}">
                <a16:creationId xmlns:a16="http://schemas.microsoft.com/office/drawing/2014/main" id="{94C92459-15BA-625C-EDA4-BAAF2A6CBC1F}"/>
              </a:ext>
            </a:extLst>
          </p:cNvPr>
          <p:cNvSpPr txBox="1"/>
          <p:nvPr/>
        </p:nvSpPr>
        <p:spPr>
          <a:xfrm>
            <a:off x="7846232" y="3417295"/>
            <a:ext cx="628072" cy="369332"/>
          </a:xfrm>
          <a:prstGeom prst="rect">
            <a:avLst/>
          </a:prstGeom>
          <a:noFill/>
        </p:spPr>
        <p:txBody>
          <a:bodyPr wrap="square" rtlCol="0" anchor="ctr">
            <a:spAutoFit/>
          </a:bodyPr>
          <a:lstStyle/>
          <a:p>
            <a:pPr algn="ctr"/>
            <a:r>
              <a:rPr kumimoji="1" lang="en-US" altLang="ja-JP" dirty="0"/>
              <a:t>0.2</a:t>
            </a:r>
            <a:endParaRPr kumimoji="1" lang="ja-JP" altLang="en-US" dirty="0"/>
          </a:p>
        </p:txBody>
      </p:sp>
      <p:sp>
        <p:nvSpPr>
          <p:cNvPr id="16" name="テキスト ボックス 15">
            <a:extLst>
              <a:ext uri="{FF2B5EF4-FFF2-40B4-BE49-F238E27FC236}">
                <a16:creationId xmlns:a16="http://schemas.microsoft.com/office/drawing/2014/main" id="{4E911817-4B37-790E-E4C3-2E8CFB56ACC9}"/>
              </a:ext>
            </a:extLst>
          </p:cNvPr>
          <p:cNvSpPr txBox="1"/>
          <p:nvPr/>
        </p:nvSpPr>
        <p:spPr>
          <a:xfrm>
            <a:off x="9365021" y="3988058"/>
            <a:ext cx="628072" cy="369332"/>
          </a:xfrm>
          <a:prstGeom prst="rect">
            <a:avLst/>
          </a:prstGeom>
          <a:noFill/>
        </p:spPr>
        <p:txBody>
          <a:bodyPr wrap="square" rtlCol="0" anchor="ctr">
            <a:spAutoFit/>
          </a:bodyPr>
          <a:lstStyle/>
          <a:p>
            <a:pPr algn="ctr"/>
            <a:r>
              <a:rPr kumimoji="1" lang="en-US" altLang="ja-JP" dirty="0"/>
              <a:t>0.3</a:t>
            </a:r>
            <a:endParaRPr kumimoji="1" lang="ja-JP" altLang="en-US" dirty="0"/>
          </a:p>
        </p:txBody>
      </p:sp>
      <p:sp>
        <p:nvSpPr>
          <p:cNvPr id="17" name="テキスト ボックス 16">
            <a:extLst>
              <a:ext uri="{FF2B5EF4-FFF2-40B4-BE49-F238E27FC236}">
                <a16:creationId xmlns:a16="http://schemas.microsoft.com/office/drawing/2014/main" id="{FC424AB9-6368-94D1-F265-B15BD66D169F}"/>
              </a:ext>
            </a:extLst>
          </p:cNvPr>
          <p:cNvSpPr txBox="1"/>
          <p:nvPr/>
        </p:nvSpPr>
        <p:spPr>
          <a:xfrm>
            <a:off x="10440999" y="3108447"/>
            <a:ext cx="628072" cy="369332"/>
          </a:xfrm>
          <a:prstGeom prst="rect">
            <a:avLst/>
          </a:prstGeom>
          <a:noFill/>
        </p:spPr>
        <p:txBody>
          <a:bodyPr wrap="square" rtlCol="0" anchor="ctr">
            <a:spAutoFit/>
          </a:bodyPr>
          <a:lstStyle/>
          <a:p>
            <a:pPr algn="ctr"/>
            <a:r>
              <a:rPr kumimoji="1" lang="en-US" altLang="ja-JP" dirty="0"/>
              <a:t>0.4</a:t>
            </a:r>
            <a:endParaRPr kumimoji="1" lang="ja-JP" altLang="en-US" dirty="0"/>
          </a:p>
        </p:txBody>
      </p:sp>
      <p:cxnSp>
        <p:nvCxnSpPr>
          <p:cNvPr id="18" name="直線矢印コネクタ 17">
            <a:extLst>
              <a:ext uri="{FF2B5EF4-FFF2-40B4-BE49-F238E27FC236}">
                <a16:creationId xmlns:a16="http://schemas.microsoft.com/office/drawing/2014/main" id="{9DE1EF82-342D-0FFE-FE7E-E3C816FFC904}"/>
              </a:ext>
            </a:extLst>
          </p:cNvPr>
          <p:cNvCxnSpPr>
            <a:cxnSpLocks/>
          </p:cNvCxnSpPr>
          <p:nvPr/>
        </p:nvCxnSpPr>
        <p:spPr>
          <a:xfrm>
            <a:off x="10860601" y="2272454"/>
            <a:ext cx="0" cy="56301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FC369575-0BA6-2390-CDA7-DF2E055613B5}"/>
                  </a:ext>
                </a:extLst>
              </p:cNvPr>
              <p:cNvSpPr txBox="1"/>
              <p:nvPr/>
            </p:nvSpPr>
            <p:spPr>
              <a:xfrm>
                <a:off x="10643546" y="1838345"/>
                <a:ext cx="434109"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C00000"/>
                              </a:solidFill>
                              <a:latin typeface="Cambria Math" panose="02040503050406030204" pitchFamily="18" charset="0"/>
                            </a:rPr>
                          </m:ctrlPr>
                        </m:sSubPr>
                        <m:e>
                          <m:r>
                            <a:rPr kumimoji="1" lang="en-US" altLang="ja-JP" b="0" i="1" smtClean="0">
                              <a:solidFill>
                                <a:srgbClr val="C00000"/>
                              </a:solidFill>
                              <a:latin typeface="Cambria Math" panose="02040503050406030204" pitchFamily="18" charset="0"/>
                            </a:rPr>
                            <m:t>𝑟</m:t>
                          </m:r>
                        </m:e>
                        <m:sub>
                          <m:r>
                            <a:rPr kumimoji="1" lang="en-US" altLang="ja-JP" b="0" i="1" smtClean="0">
                              <a:solidFill>
                                <a:srgbClr val="C00000"/>
                              </a:solidFill>
                              <a:latin typeface="Cambria Math" panose="02040503050406030204" pitchFamily="18" charset="0"/>
                            </a:rPr>
                            <m:t>3</m:t>
                          </m:r>
                        </m:sub>
                      </m:sSub>
                    </m:oMath>
                  </m:oMathPara>
                </a14:m>
                <a:endParaRPr kumimoji="1" lang="ja-JP" altLang="en-US" dirty="0">
                  <a:solidFill>
                    <a:srgbClr val="C00000"/>
                  </a:solidFill>
                </a:endParaRPr>
              </a:p>
            </p:txBody>
          </p:sp>
        </mc:Choice>
        <mc:Fallback xmlns="">
          <p:sp>
            <p:nvSpPr>
              <p:cNvPr id="19" name="テキスト ボックス 18">
                <a:extLst>
                  <a:ext uri="{FF2B5EF4-FFF2-40B4-BE49-F238E27FC236}">
                    <a16:creationId xmlns:a16="http://schemas.microsoft.com/office/drawing/2014/main" id="{FC369575-0BA6-2390-CDA7-DF2E055613B5}"/>
                  </a:ext>
                </a:extLst>
              </p:cNvPr>
              <p:cNvSpPr txBox="1">
                <a:spLocks noRot="1" noChangeAspect="1" noMove="1" noResize="1" noEditPoints="1" noAdjustHandles="1" noChangeArrowheads="1" noChangeShapeType="1" noTextEdit="1"/>
              </p:cNvSpPr>
              <p:nvPr/>
            </p:nvSpPr>
            <p:spPr>
              <a:xfrm>
                <a:off x="10643546" y="1838345"/>
                <a:ext cx="434109" cy="369397"/>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FD8B32E-674C-6F06-77BE-3CD819050E08}"/>
                  </a:ext>
                </a:extLst>
              </p:cNvPr>
              <p:cNvSpPr txBox="1"/>
              <p:nvPr/>
            </p:nvSpPr>
            <p:spPr>
              <a:xfrm>
                <a:off x="838200" y="4956990"/>
                <a:ext cx="9805346" cy="1345625"/>
              </a:xfrm>
              <a:prstGeom prst="rect">
                <a:avLst/>
              </a:prstGeom>
              <a:noFill/>
            </p:spPr>
            <p:txBody>
              <a:bodyPr wrap="square" rtlCol="0">
                <a:spAutoFit/>
              </a:bodyPr>
              <a:lstStyle/>
              <a:p>
                <a14:m>
                  <m:oMath xmlns:m="http://schemas.openxmlformats.org/officeDocument/2006/math">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≥2</m:t>
                    </m:r>
                  </m:oMath>
                </a14:m>
                <a:r>
                  <a:rPr kumimoji="1" lang="ja-JP" altLang="en-US" sz="2400" dirty="0"/>
                  <a:t> 番目のリクエストの期待コスト＝</a:t>
                </a:r>
                <a14:m>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den>
                    </m:f>
                  </m:oMath>
                </a14:m>
                <a:endParaRPr kumimoji="1" lang="en-US" altLang="ja-JP" sz="2400" b="0" dirty="0"/>
              </a:p>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𝔼</m:t>
                      </m:r>
                      <m:d>
                        <m:dPr>
                          <m:begChr m:val="["/>
                          <m:endChr m:val="]"/>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𝐴𝐿𝐺</m:t>
                          </m:r>
                        </m:e>
                      </m:d>
                      <m:r>
                        <a:rPr kumimoji="1" lang="en-US" altLang="ja-JP" sz="2400" b="0" i="1" smtClean="0">
                          <a:latin typeface="Cambria Math" panose="02040503050406030204" pitchFamily="18" charset="0"/>
                        </a:rPr>
                        <m:t>=1+</m:t>
                      </m:r>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𝑛</m:t>
                          </m:r>
                        </m:den>
                      </m:f>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m:t>
                          </m:r>
                        </m:den>
                      </m:f>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2</m:t>
                          </m:r>
                        </m:den>
                      </m:f>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𝐻</m:t>
                          </m:r>
                        </m:e>
                        <m:sub>
                          <m:r>
                            <a:rPr kumimoji="1" lang="en-US" altLang="ja-JP" sz="2400" b="0" i="1" smtClean="0">
                              <a:latin typeface="Cambria Math" panose="02040503050406030204" pitchFamily="18" charset="0"/>
                            </a:rPr>
                            <m:t>𝑛</m:t>
                          </m:r>
                        </m:sub>
                      </m:sSub>
                      <m:r>
                        <a:rPr kumimoji="1" lang="en-US" altLang="ja-JP" sz="2400" b="0" i="1" smtClean="0">
                          <a:latin typeface="Cambria Math" panose="02040503050406030204" pitchFamily="18" charset="0"/>
                        </a:rPr>
                        <m:t>=</m:t>
                      </m:r>
                      <m:r>
                        <m:rPr>
                          <m:sty m:val="p"/>
                        </m:rPr>
                        <a:rPr kumimoji="1" lang="en-US" altLang="ja-JP" sz="2400" b="0" i="0" smtClean="0">
                          <a:latin typeface="Cambria Math" panose="02040503050406030204" pitchFamily="18" charset="0"/>
                        </a:rPr>
                        <m:t>Ω</m:t>
                      </m:r>
                      <m:d>
                        <m:dPr>
                          <m:ctrlPr>
                            <a:rPr kumimoji="1" lang="en-US" altLang="ja-JP" sz="2400" b="0" i="1" smtClean="0">
                              <a:latin typeface="Cambria Math" panose="02040503050406030204" pitchFamily="18" charset="0"/>
                            </a:rPr>
                          </m:ctrlPr>
                        </m:dPr>
                        <m:e>
                          <m:r>
                            <m:rPr>
                              <m:sty m:val="p"/>
                            </m:rPr>
                            <a:rPr kumimoji="1" lang="en-US" altLang="ja-JP" sz="2400" b="0" i="1" smtClean="0">
                              <a:latin typeface="Cambria Math" panose="02040503050406030204" pitchFamily="18" charset="0"/>
                            </a:rPr>
                            <m:t>log</m:t>
                          </m:r>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𝑛</m:t>
                          </m:r>
                        </m:e>
                      </m:d>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𝑂𝑃𝑇</m:t>
                      </m:r>
                      <m:r>
                        <a:rPr kumimoji="1" lang="en-US" altLang="ja-JP" sz="2400" b="0" i="1" smtClean="0">
                          <a:latin typeface="Cambria Math" panose="02040503050406030204" pitchFamily="18" charset="0"/>
                        </a:rPr>
                        <m:t>=1</m:t>
                      </m:r>
                    </m:oMath>
                  </m:oMathPara>
                </a14:m>
                <a:endParaRPr kumimoji="1" lang="ja-JP" altLang="en-US" sz="2400" dirty="0"/>
              </a:p>
            </p:txBody>
          </p:sp>
        </mc:Choice>
        <mc:Fallback xmlns="">
          <p:sp>
            <p:nvSpPr>
              <p:cNvPr id="20" name="テキスト ボックス 19">
                <a:extLst>
                  <a:ext uri="{FF2B5EF4-FFF2-40B4-BE49-F238E27FC236}">
                    <a16:creationId xmlns:a16="http://schemas.microsoft.com/office/drawing/2014/main" id="{BFD8B32E-674C-6F06-77BE-3CD819050E08}"/>
                  </a:ext>
                </a:extLst>
              </p:cNvPr>
              <p:cNvSpPr txBox="1">
                <a:spLocks noRot="1" noChangeAspect="1" noMove="1" noResize="1" noEditPoints="1" noAdjustHandles="1" noChangeArrowheads="1" noChangeShapeType="1" noTextEdit="1"/>
              </p:cNvSpPr>
              <p:nvPr/>
            </p:nvSpPr>
            <p:spPr>
              <a:xfrm>
                <a:off x="838200" y="4956990"/>
                <a:ext cx="9805346" cy="1345625"/>
              </a:xfrm>
              <a:prstGeom prst="rect">
                <a:avLst/>
              </a:prstGeom>
              <a:blipFill>
                <a:blip r:embed="rId5"/>
                <a:stretch>
                  <a:fillRect/>
                </a:stretch>
              </a:blipFill>
            </p:spPr>
            <p:txBody>
              <a:bodyPr/>
              <a:lstStyle/>
              <a:p>
                <a:r>
                  <a:rPr lang="ja-JP" altLang="en-US">
                    <a:noFill/>
                  </a:rPr>
                  <a:t> </a:t>
                </a:r>
              </a:p>
            </p:txBody>
          </p:sp>
        </mc:Fallback>
      </mc:AlternateContent>
      <p:sp>
        <p:nvSpPr>
          <p:cNvPr id="10" name="スライド番号プレースホルダー 9">
            <a:extLst>
              <a:ext uri="{FF2B5EF4-FFF2-40B4-BE49-F238E27FC236}">
                <a16:creationId xmlns:a16="http://schemas.microsoft.com/office/drawing/2014/main" id="{B6FFAA49-FF06-B48E-E7DE-4865EF1C87F5}"/>
              </a:ext>
            </a:extLst>
          </p:cNvPr>
          <p:cNvSpPr>
            <a:spLocks noGrp="1"/>
          </p:cNvSpPr>
          <p:nvPr>
            <p:ph type="sldNum" sz="quarter" idx="12"/>
          </p:nvPr>
        </p:nvSpPr>
        <p:spPr/>
        <p:txBody>
          <a:bodyPr/>
          <a:lstStyle/>
          <a:p>
            <a:fld id="{4B077F3A-4098-4199-8925-77865D1E3500}" type="slidenum">
              <a:rPr kumimoji="1" lang="ja-JP" altLang="en-US" smtClean="0"/>
              <a:t>51</a:t>
            </a:fld>
            <a:endParaRPr kumimoji="1" lang="ja-JP" altLang="en-US"/>
          </a:p>
        </p:txBody>
      </p:sp>
    </p:spTree>
    <p:extLst>
      <p:ext uri="{BB962C8B-B14F-4D97-AF65-F5344CB8AC3E}">
        <p14:creationId xmlns:p14="http://schemas.microsoft.com/office/powerpoint/2010/main" val="3038555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7AB84B-E026-2740-7EB1-0F4F686C5C13}"/>
              </a:ext>
            </a:extLst>
          </p:cNvPr>
          <p:cNvSpPr>
            <a:spLocks noGrp="1"/>
          </p:cNvSpPr>
          <p:nvPr>
            <p:ph type="title"/>
          </p:nvPr>
        </p:nvSpPr>
        <p:spPr/>
        <p:txBody>
          <a:bodyPr/>
          <a:lstStyle/>
          <a:p>
            <a:r>
              <a:rPr kumimoji="1" lang="ja-JP" altLang="en-US" dirty="0"/>
              <a:t>一様距離空間上の競合比上界１</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47F613F-FA1C-1A3A-8087-723ED3E22D35}"/>
                  </a:ext>
                </a:extLst>
              </p:cNvPr>
              <p:cNvSpPr>
                <a:spLocks noGrp="1"/>
              </p:cNvSpPr>
              <p:nvPr>
                <p:ph idx="1"/>
              </p:nvPr>
            </p:nvSpPr>
            <p:spPr>
              <a:xfrm>
                <a:off x="838200" y="1825625"/>
                <a:ext cx="10515600" cy="1926243"/>
              </a:xfrm>
            </p:spPr>
            <p:txBody>
              <a:bodyPr/>
              <a:lstStyle/>
              <a:p>
                <a:pPr marL="0" indent="0">
                  <a:buNone/>
                </a:pPr>
                <a:r>
                  <a:rPr kumimoji="1" lang="ja-JP" altLang="en-US" b="1" dirty="0"/>
                  <a:t>アルゴリズム </a:t>
                </a:r>
                <a14:m>
                  <m:oMath xmlns:m="http://schemas.openxmlformats.org/officeDocument/2006/math">
                    <m:r>
                      <a:rPr kumimoji="1" lang="en-US" altLang="ja-JP" b="1" i="1" smtClean="0">
                        <a:latin typeface="Cambria Math" panose="02040503050406030204" pitchFamily="18" charset="0"/>
                      </a:rPr>
                      <m:t>𝑨𝑳𝑮</m:t>
                    </m:r>
                  </m:oMath>
                </a14:m>
                <a:endParaRPr kumimoji="1" lang="en-US" altLang="ja-JP" b="1" dirty="0"/>
              </a:p>
              <a:p>
                <a:r>
                  <a:rPr lang="ja-JP" altLang="en-US" sz="2400" dirty="0"/>
                  <a:t>コスト </a:t>
                </a:r>
                <a:r>
                  <a:rPr lang="en-US" altLang="ja-JP" sz="2400" dirty="0"/>
                  <a:t>0 </a:t>
                </a:r>
                <a:r>
                  <a:rPr lang="ja-JP" altLang="en-US" sz="2400" dirty="0"/>
                  <a:t>での割り当てが可能であれば必ずする</a:t>
                </a:r>
                <a:endParaRPr lang="en-US" altLang="ja-JP" sz="2400" dirty="0"/>
              </a:p>
              <a:p>
                <a:r>
                  <a:rPr kumimoji="1" lang="ja-JP" altLang="en-US" sz="2400" dirty="0"/>
                  <a:t>そうでなければ空いているサーバから一様ランダムに選んで割り当てる</a:t>
                </a:r>
                <a:endParaRPr kumimoji="1" lang="en-US" altLang="ja-JP" sz="2400" dirty="0"/>
              </a:p>
              <a:p>
                <a:pPr marL="0" indent="0">
                  <a:buNone/>
                </a:pPr>
                <a:r>
                  <a:rPr lang="ja-JP" altLang="en-US" sz="2400" dirty="0"/>
                  <a:t>このアルゴリズムが </a:t>
                </a:r>
                <a14:m>
                  <m:oMath xmlns:m="http://schemas.openxmlformats.org/officeDocument/2006/math">
                    <m:r>
                      <a:rPr lang="en-US" altLang="ja-JP" sz="2400" b="0" i="1" smtClean="0">
                        <a:latin typeface="Cambria Math" panose="02040503050406030204" pitchFamily="18" charset="0"/>
                      </a:rPr>
                      <m:t>𝑂</m:t>
                    </m:r>
                    <m:d>
                      <m:dPr>
                        <m:ctrlPr>
                          <a:rPr lang="en-US" altLang="ja-JP" sz="2400" b="0" i="1" smtClean="0">
                            <a:latin typeface="Cambria Math" panose="02040503050406030204" pitchFamily="18" charset="0"/>
                          </a:rPr>
                        </m:ctrlPr>
                      </m:dPr>
                      <m:e>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e>
                    </m:d>
                  </m:oMath>
                </a14:m>
                <a:r>
                  <a:rPr kumimoji="1" lang="ja-JP" altLang="en-US" sz="2400" dirty="0"/>
                  <a:t> 競合的となることを示す．</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947F613F-FA1C-1A3A-8087-723ED3E22D35}"/>
                  </a:ext>
                </a:extLst>
              </p:cNvPr>
              <p:cNvSpPr>
                <a:spLocks noGrp="1" noRot="1" noChangeAspect="1" noMove="1" noResize="1" noEditPoints="1" noAdjustHandles="1" noChangeArrowheads="1" noChangeShapeType="1" noTextEdit="1"/>
              </p:cNvSpPr>
              <p:nvPr>
                <p:ph idx="1"/>
              </p:nvPr>
            </p:nvSpPr>
            <p:spPr>
              <a:xfrm>
                <a:off x="838200" y="1825625"/>
                <a:ext cx="10515600" cy="1926243"/>
              </a:xfrm>
              <a:blipFill>
                <a:blip r:embed="rId2"/>
                <a:stretch>
                  <a:fillRect l="-1217" t="-4114" b="-411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DDE74CDD-C34E-BA5B-70A2-0B6BEF17A953}"/>
                  </a:ext>
                </a:extLst>
              </p:cNvPr>
              <p:cNvSpPr txBox="1"/>
              <p:nvPr/>
            </p:nvSpPr>
            <p:spPr>
              <a:xfrm>
                <a:off x="763571" y="3886805"/>
                <a:ext cx="10590229" cy="1015663"/>
              </a:xfrm>
              <a:prstGeom prst="rect">
                <a:avLst/>
              </a:prstGeom>
              <a:noFill/>
            </p:spPr>
            <p:txBody>
              <a:bodyPr wrap="square" rtlCol="0">
                <a:spAutoFit/>
              </a:bodyPr>
              <a:lstStyle/>
              <a:p>
                <a:r>
                  <a:rPr kumimoji="1" lang="ja-JP" altLang="en-US" sz="2000" dirty="0"/>
                  <a:t>任意に </a:t>
                </a:r>
                <a14:m>
                  <m:oMath xmlns:m="http://schemas.openxmlformats.org/officeDocument/2006/math">
                    <m:r>
                      <a:rPr kumimoji="1" lang="en-US" altLang="ja-JP" sz="2000" b="0" i="1" smtClean="0">
                        <a:latin typeface="Cambria Math" panose="02040503050406030204" pitchFamily="18" charset="0"/>
                      </a:rPr>
                      <m:t>𝜎</m:t>
                    </m:r>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𝑛</m:t>
                        </m:r>
                      </m:sub>
                    </m:sSub>
                  </m:oMath>
                </a14:m>
                <a:r>
                  <a:rPr kumimoji="1" lang="ja-JP" altLang="en-US" sz="2000" dirty="0"/>
                  <a:t> を固定</a:t>
                </a:r>
                <a:r>
                  <a:rPr lang="ja-JP" altLang="en-US" sz="2000" dirty="0"/>
                  <a:t>する</a:t>
                </a:r>
                <a:endParaRPr lang="en-US" altLang="ja-JP" sz="2000" dirty="0"/>
              </a:p>
              <a:p>
                <a14:m>
                  <m:oMath xmlns:m="http://schemas.openxmlformats.org/officeDocument/2006/math">
                    <m:r>
                      <a:rPr kumimoji="1" lang="en-US" altLang="ja-JP" sz="2000" b="0" i="1" smtClean="0">
                        <a:latin typeface="Cambria Math" panose="02040503050406030204" pitchFamily="18" charset="0"/>
                      </a:rPr>
                      <m:t>𝑂𝑃𝑇</m:t>
                    </m:r>
                  </m:oMath>
                </a14:m>
                <a:r>
                  <a:rPr kumimoji="1" lang="ja-JP" altLang="en-US" sz="2000" dirty="0"/>
                  <a:t> </a:t>
                </a:r>
                <a:r>
                  <a:rPr lang="ja-JP" altLang="en-US" sz="2000" dirty="0"/>
                  <a:t>がコスト </a:t>
                </a:r>
                <a:r>
                  <a:rPr lang="en-US" altLang="ja-JP" sz="2000" dirty="0"/>
                  <a:t>1 </a:t>
                </a:r>
                <a:r>
                  <a:rPr lang="ja-JP" altLang="en-US" sz="2000" dirty="0"/>
                  <a:t>を払うようなリクエストはサーバ上に無いとしてよい（あったとしてもサーバの無い点に移動すれば </a:t>
                </a:r>
                <a14:m>
                  <m:oMath xmlns:m="http://schemas.openxmlformats.org/officeDocument/2006/math">
                    <m:r>
                      <a:rPr lang="en-US" altLang="ja-JP" sz="2000" b="0" i="1" smtClean="0">
                        <a:latin typeface="Cambria Math" panose="02040503050406030204" pitchFamily="18" charset="0"/>
                      </a:rPr>
                      <m:t>𝑂𝑃𝑇</m:t>
                    </m:r>
                  </m:oMath>
                </a14:m>
                <a:r>
                  <a:rPr lang="ja-JP" altLang="en-US" sz="2000" dirty="0"/>
                  <a:t> は不変，</a:t>
                </a:r>
                <a14:m>
                  <m:oMath xmlns:m="http://schemas.openxmlformats.org/officeDocument/2006/math">
                    <m:r>
                      <a:rPr lang="en-US" altLang="ja-JP" sz="2000" b="0" i="1" smtClean="0">
                        <a:latin typeface="Cambria Math" panose="02040503050406030204" pitchFamily="18" charset="0"/>
                      </a:rPr>
                      <m:t>𝐴𝐿𝐺</m:t>
                    </m:r>
                  </m:oMath>
                </a14:m>
                <a:r>
                  <a:rPr lang="ja-JP" altLang="en-US" sz="2000" dirty="0"/>
                  <a:t> は減らない）</a:t>
                </a:r>
                <a:endParaRPr lang="en-US" altLang="ja-JP" sz="2000" dirty="0"/>
              </a:p>
            </p:txBody>
          </p:sp>
        </mc:Choice>
        <mc:Fallback xmlns="">
          <p:sp>
            <p:nvSpPr>
              <p:cNvPr id="4" name="テキスト ボックス 3">
                <a:extLst>
                  <a:ext uri="{FF2B5EF4-FFF2-40B4-BE49-F238E27FC236}">
                    <a16:creationId xmlns:a16="http://schemas.microsoft.com/office/drawing/2014/main" id="{DDE74CDD-C34E-BA5B-70A2-0B6BEF17A953}"/>
                  </a:ext>
                </a:extLst>
              </p:cNvPr>
              <p:cNvSpPr txBox="1">
                <a:spLocks noRot="1" noChangeAspect="1" noMove="1" noResize="1" noEditPoints="1" noAdjustHandles="1" noChangeArrowheads="1" noChangeShapeType="1" noTextEdit="1"/>
              </p:cNvSpPr>
              <p:nvPr/>
            </p:nvSpPr>
            <p:spPr>
              <a:xfrm>
                <a:off x="763571" y="3886805"/>
                <a:ext cx="10590229" cy="1015663"/>
              </a:xfrm>
              <a:prstGeom prst="rect">
                <a:avLst/>
              </a:prstGeom>
              <a:blipFill>
                <a:blip r:embed="rId3"/>
                <a:stretch>
                  <a:fillRect l="-575" t="-3614" b="-10241"/>
                </a:stretch>
              </a:blipFill>
            </p:spPr>
            <p:txBody>
              <a:bodyPr/>
              <a:lstStyle/>
              <a:p>
                <a:r>
                  <a:rPr lang="ja-JP" altLang="en-US">
                    <a:noFill/>
                  </a:rPr>
                  <a:t> </a:t>
                </a:r>
              </a:p>
            </p:txBody>
          </p:sp>
        </mc:Fallback>
      </mc:AlternateContent>
      <p:sp>
        <p:nvSpPr>
          <p:cNvPr id="6" name="楕円 5">
            <a:extLst>
              <a:ext uri="{FF2B5EF4-FFF2-40B4-BE49-F238E27FC236}">
                <a16:creationId xmlns:a16="http://schemas.microsoft.com/office/drawing/2014/main" id="{8CB39CD1-8435-716C-381A-8807E11CD6A2}"/>
              </a:ext>
            </a:extLst>
          </p:cNvPr>
          <p:cNvSpPr/>
          <p:nvPr/>
        </p:nvSpPr>
        <p:spPr>
          <a:xfrm>
            <a:off x="4238188"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D007E9E4-582E-F24A-1CF1-F42FA1C51E5A}"/>
              </a:ext>
            </a:extLst>
          </p:cNvPr>
          <p:cNvSpPr/>
          <p:nvPr/>
        </p:nvSpPr>
        <p:spPr>
          <a:xfrm>
            <a:off x="4852147"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7440FCA8-B6B0-69FC-E85F-556C8D006AAE}"/>
              </a:ext>
            </a:extLst>
          </p:cNvPr>
          <p:cNvSpPr/>
          <p:nvPr/>
        </p:nvSpPr>
        <p:spPr>
          <a:xfrm>
            <a:off x="5466106"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13DA20EA-D46D-4B79-CA3A-C962303063FB}"/>
              </a:ext>
            </a:extLst>
          </p:cNvPr>
          <p:cNvSpPr/>
          <p:nvPr/>
        </p:nvSpPr>
        <p:spPr>
          <a:xfrm>
            <a:off x="6080065"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F096F2F7-6E50-E2B9-66C4-BF0646F8A7BD}"/>
              </a:ext>
            </a:extLst>
          </p:cNvPr>
          <p:cNvSpPr/>
          <p:nvPr/>
        </p:nvSpPr>
        <p:spPr>
          <a:xfrm>
            <a:off x="6694024"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8F0609C3-12E5-01DB-6230-0ED7888C1D0E}"/>
              </a:ext>
            </a:extLst>
          </p:cNvPr>
          <p:cNvSpPr/>
          <p:nvPr/>
        </p:nvSpPr>
        <p:spPr>
          <a:xfrm>
            <a:off x="7307983"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3BA5F9E3-C0FB-ACCE-6A0E-726F45556A4B}"/>
              </a:ext>
            </a:extLst>
          </p:cNvPr>
          <p:cNvSpPr/>
          <p:nvPr/>
        </p:nvSpPr>
        <p:spPr>
          <a:xfrm>
            <a:off x="7921942"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CCC34EF9-66DA-D21C-DD57-E4DC3983641A}"/>
              </a:ext>
            </a:extLst>
          </p:cNvPr>
          <p:cNvSpPr/>
          <p:nvPr/>
        </p:nvSpPr>
        <p:spPr>
          <a:xfrm>
            <a:off x="8535901"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41D8DC44-677F-10A4-F81F-119D9F82B050}"/>
              </a:ext>
            </a:extLst>
          </p:cNvPr>
          <p:cNvSpPr/>
          <p:nvPr/>
        </p:nvSpPr>
        <p:spPr>
          <a:xfrm>
            <a:off x="9149860"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783F2D1B-ED77-F833-F380-A4BCD93A9DBC}"/>
              </a:ext>
            </a:extLst>
          </p:cNvPr>
          <p:cNvSpPr/>
          <p:nvPr/>
        </p:nvSpPr>
        <p:spPr>
          <a:xfrm>
            <a:off x="9763819"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85143311-D828-90A4-A754-77407B443543}"/>
              </a:ext>
            </a:extLst>
          </p:cNvPr>
          <p:cNvSpPr/>
          <p:nvPr/>
        </p:nvSpPr>
        <p:spPr>
          <a:xfrm>
            <a:off x="10377775"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E1F285C9-A7D5-DEA0-6AA8-04F5E43F6A97}"/>
              </a:ext>
            </a:extLst>
          </p:cNvPr>
          <p:cNvCxnSpPr>
            <a:cxnSpLocks/>
          </p:cNvCxnSpPr>
          <p:nvPr/>
        </p:nvCxnSpPr>
        <p:spPr>
          <a:xfrm>
            <a:off x="1264731" y="5460691"/>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57982A28-03A8-07A1-DDEF-66B5A5FFA42D}"/>
                  </a:ext>
                </a:extLst>
              </p:cNvPr>
              <p:cNvSpPr txBox="1"/>
              <p:nvPr/>
            </p:nvSpPr>
            <p:spPr>
              <a:xfrm>
                <a:off x="1047676" y="5040035"/>
                <a:ext cx="434109" cy="3931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𝑡</m:t>
                              </m:r>
                            </m:e>
                            <m:sub>
                              <m:r>
                                <a:rPr kumimoji="1" lang="en-US" altLang="ja-JP" b="0" i="1" smtClean="0">
                                  <a:latin typeface="Cambria Math" panose="02040503050406030204" pitchFamily="18" charset="0"/>
                                </a:rPr>
                                <m:t>1</m:t>
                              </m:r>
                            </m:sub>
                          </m:sSub>
                        </m:sub>
                      </m:sSub>
                    </m:oMath>
                  </m:oMathPara>
                </a14:m>
                <a:endParaRPr kumimoji="1" lang="ja-JP" altLang="en-US" dirty="0"/>
              </a:p>
            </p:txBody>
          </p:sp>
        </mc:Choice>
        <mc:Fallback xmlns="">
          <p:sp>
            <p:nvSpPr>
              <p:cNvPr id="21" name="テキスト ボックス 20">
                <a:extLst>
                  <a:ext uri="{FF2B5EF4-FFF2-40B4-BE49-F238E27FC236}">
                    <a16:creationId xmlns:a16="http://schemas.microsoft.com/office/drawing/2014/main" id="{57982A28-03A8-07A1-DDEF-66B5A5FFA42D}"/>
                  </a:ext>
                </a:extLst>
              </p:cNvPr>
              <p:cNvSpPr txBox="1">
                <a:spLocks noRot="1" noChangeAspect="1" noMove="1" noResize="1" noEditPoints="1" noAdjustHandles="1" noChangeArrowheads="1" noChangeShapeType="1" noTextEdit="1"/>
              </p:cNvSpPr>
              <p:nvPr/>
            </p:nvSpPr>
            <p:spPr>
              <a:xfrm>
                <a:off x="1047676" y="5040035"/>
                <a:ext cx="434109" cy="393121"/>
              </a:xfrm>
              <a:prstGeom prst="rect">
                <a:avLst/>
              </a:prstGeom>
              <a:blipFill>
                <a:blip r:embed="rId4"/>
                <a:stretch>
                  <a:fillRect/>
                </a:stretch>
              </a:blipFill>
            </p:spPr>
            <p:txBody>
              <a:bodyPr/>
              <a:lstStyle/>
              <a:p>
                <a:r>
                  <a:rPr lang="ja-JP" altLang="en-US">
                    <a:noFill/>
                  </a:rPr>
                  <a:t> </a:t>
                </a:r>
              </a:p>
            </p:txBody>
          </p:sp>
        </mc:Fallback>
      </mc:AlternateContent>
      <p:cxnSp>
        <p:nvCxnSpPr>
          <p:cNvPr id="22" name="直線矢印コネクタ 21">
            <a:extLst>
              <a:ext uri="{FF2B5EF4-FFF2-40B4-BE49-F238E27FC236}">
                <a16:creationId xmlns:a16="http://schemas.microsoft.com/office/drawing/2014/main" id="{DFFEF436-4449-A2DD-08DA-51FC805D25D1}"/>
              </a:ext>
            </a:extLst>
          </p:cNvPr>
          <p:cNvCxnSpPr>
            <a:cxnSpLocks/>
          </p:cNvCxnSpPr>
          <p:nvPr/>
        </p:nvCxnSpPr>
        <p:spPr>
          <a:xfrm>
            <a:off x="1738258" y="5460691"/>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557B186A-BBAE-22BF-E936-5FC646007DEA}"/>
                  </a:ext>
                </a:extLst>
              </p:cNvPr>
              <p:cNvSpPr txBox="1"/>
              <p:nvPr/>
            </p:nvSpPr>
            <p:spPr>
              <a:xfrm>
                <a:off x="1511889" y="5054350"/>
                <a:ext cx="434109"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𝑡</m:t>
                              </m:r>
                            </m:e>
                            <m:sub>
                              <m:r>
                                <a:rPr kumimoji="1" lang="en-US" altLang="ja-JP" b="0" i="1" smtClean="0">
                                  <a:latin typeface="Cambria Math" panose="02040503050406030204" pitchFamily="18" charset="0"/>
                                </a:rPr>
                                <m:t>2</m:t>
                              </m:r>
                            </m:sub>
                          </m:sSub>
                        </m:sub>
                      </m:sSub>
                    </m:oMath>
                  </m:oMathPara>
                </a14:m>
                <a:endParaRPr kumimoji="1" lang="ja-JP" altLang="en-US" dirty="0"/>
              </a:p>
            </p:txBody>
          </p:sp>
        </mc:Choice>
        <mc:Fallback xmlns="">
          <p:sp>
            <p:nvSpPr>
              <p:cNvPr id="23" name="テキスト ボックス 22">
                <a:extLst>
                  <a:ext uri="{FF2B5EF4-FFF2-40B4-BE49-F238E27FC236}">
                    <a16:creationId xmlns:a16="http://schemas.microsoft.com/office/drawing/2014/main" id="{557B186A-BBAE-22BF-E936-5FC646007DEA}"/>
                  </a:ext>
                </a:extLst>
              </p:cNvPr>
              <p:cNvSpPr txBox="1">
                <a:spLocks noRot="1" noChangeAspect="1" noMove="1" noResize="1" noEditPoints="1" noAdjustHandles="1" noChangeArrowheads="1" noChangeShapeType="1" noTextEdit="1"/>
              </p:cNvSpPr>
              <p:nvPr/>
            </p:nvSpPr>
            <p:spPr>
              <a:xfrm>
                <a:off x="1511889" y="5054350"/>
                <a:ext cx="434109" cy="404213"/>
              </a:xfrm>
              <a:prstGeom prst="rect">
                <a:avLst/>
              </a:prstGeom>
              <a:blipFill>
                <a:blip r:embed="rId5"/>
                <a:stretch>
                  <a:fillRect/>
                </a:stretch>
              </a:blipFill>
            </p:spPr>
            <p:txBody>
              <a:bodyPr/>
              <a:lstStyle/>
              <a:p>
                <a:r>
                  <a:rPr lang="ja-JP" altLang="en-US">
                    <a:noFill/>
                  </a:rPr>
                  <a:t> </a:t>
                </a:r>
              </a:p>
            </p:txBody>
          </p:sp>
        </mc:Fallback>
      </mc:AlternateContent>
      <p:cxnSp>
        <p:nvCxnSpPr>
          <p:cNvPr id="27" name="直線矢印コネクタ 26">
            <a:extLst>
              <a:ext uri="{FF2B5EF4-FFF2-40B4-BE49-F238E27FC236}">
                <a16:creationId xmlns:a16="http://schemas.microsoft.com/office/drawing/2014/main" id="{755B5A8E-A64B-E408-0100-1D65B16AED35}"/>
              </a:ext>
            </a:extLst>
          </p:cNvPr>
          <p:cNvCxnSpPr>
            <a:cxnSpLocks/>
          </p:cNvCxnSpPr>
          <p:nvPr/>
        </p:nvCxnSpPr>
        <p:spPr>
          <a:xfrm>
            <a:off x="3158838" y="5460691"/>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988F0DD3-8F7B-859D-D3D5-071067ABB321}"/>
                  </a:ext>
                </a:extLst>
              </p:cNvPr>
              <p:cNvSpPr txBox="1"/>
              <p:nvPr/>
            </p:nvSpPr>
            <p:spPr>
              <a:xfrm>
                <a:off x="2941783" y="5040035"/>
                <a:ext cx="434109"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𝑡</m:t>
                              </m:r>
                            </m:e>
                            <m:sub>
                              <m:r>
                                <a:rPr kumimoji="1" lang="en-US" altLang="ja-JP" b="0" i="1" smtClean="0">
                                  <a:latin typeface="Cambria Math" panose="02040503050406030204" pitchFamily="18" charset="0"/>
                                </a:rPr>
                                <m:t>𝑚</m:t>
                              </m:r>
                            </m:sub>
                          </m:sSub>
                        </m:sub>
                      </m:sSub>
                    </m:oMath>
                  </m:oMathPara>
                </a14:m>
                <a:endParaRPr kumimoji="1" lang="ja-JP" altLang="en-US" dirty="0"/>
              </a:p>
            </p:txBody>
          </p:sp>
        </mc:Choice>
        <mc:Fallback xmlns="">
          <p:sp>
            <p:nvSpPr>
              <p:cNvPr id="28" name="テキスト ボックス 27">
                <a:extLst>
                  <a:ext uri="{FF2B5EF4-FFF2-40B4-BE49-F238E27FC236}">
                    <a16:creationId xmlns:a16="http://schemas.microsoft.com/office/drawing/2014/main" id="{988F0DD3-8F7B-859D-D3D5-071067ABB321}"/>
                  </a:ext>
                </a:extLst>
              </p:cNvPr>
              <p:cNvSpPr txBox="1">
                <a:spLocks noRot="1" noChangeAspect="1" noMove="1" noResize="1" noEditPoints="1" noAdjustHandles="1" noChangeArrowheads="1" noChangeShapeType="1" noTextEdit="1"/>
              </p:cNvSpPr>
              <p:nvPr/>
            </p:nvSpPr>
            <p:spPr>
              <a:xfrm>
                <a:off x="2941783" y="5040035"/>
                <a:ext cx="434109" cy="404213"/>
              </a:xfrm>
              <a:prstGeom prst="rect">
                <a:avLst/>
              </a:prstGeom>
              <a:blipFill>
                <a:blip r:embed="rId6"/>
                <a:stretch>
                  <a:fillRect/>
                </a:stretch>
              </a:blipFill>
            </p:spPr>
            <p:txBody>
              <a:bodyPr/>
              <a:lstStyle/>
              <a:p>
                <a:r>
                  <a:rPr lang="ja-JP" altLang="en-US">
                    <a:noFill/>
                  </a:rPr>
                  <a:t> </a:t>
                </a:r>
              </a:p>
            </p:txBody>
          </p:sp>
        </mc:Fallback>
      </mc:AlternateContent>
      <p:cxnSp>
        <p:nvCxnSpPr>
          <p:cNvPr id="30" name="直線矢印コネクタ 29">
            <a:extLst>
              <a:ext uri="{FF2B5EF4-FFF2-40B4-BE49-F238E27FC236}">
                <a16:creationId xmlns:a16="http://schemas.microsoft.com/office/drawing/2014/main" id="{659D1464-7BCE-34BA-54D7-2B28E86D7B84}"/>
              </a:ext>
            </a:extLst>
          </p:cNvPr>
          <p:cNvCxnSpPr>
            <a:cxnSpLocks/>
          </p:cNvCxnSpPr>
          <p:nvPr/>
        </p:nvCxnSpPr>
        <p:spPr>
          <a:xfrm>
            <a:off x="4308381"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7654A3F0-F364-A346-622D-E0FEF0A6C053}"/>
              </a:ext>
            </a:extLst>
          </p:cNvPr>
          <p:cNvCxnSpPr>
            <a:cxnSpLocks/>
          </p:cNvCxnSpPr>
          <p:nvPr/>
        </p:nvCxnSpPr>
        <p:spPr>
          <a:xfrm>
            <a:off x="4924147"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E8B6B483-2CAF-EF9A-102B-BE9D5477F983}"/>
              </a:ext>
            </a:extLst>
          </p:cNvPr>
          <p:cNvCxnSpPr>
            <a:cxnSpLocks/>
          </p:cNvCxnSpPr>
          <p:nvPr/>
        </p:nvCxnSpPr>
        <p:spPr>
          <a:xfrm>
            <a:off x="5538106"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32120EF7-A0F4-392C-563D-CB401C81FDE0}"/>
              </a:ext>
            </a:extLst>
          </p:cNvPr>
          <p:cNvCxnSpPr>
            <a:cxnSpLocks/>
          </p:cNvCxnSpPr>
          <p:nvPr/>
        </p:nvCxnSpPr>
        <p:spPr>
          <a:xfrm>
            <a:off x="6152065"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0879B745-D177-5FCD-7CE7-FEBB7F1BD7D9}"/>
              </a:ext>
            </a:extLst>
          </p:cNvPr>
          <p:cNvCxnSpPr>
            <a:cxnSpLocks/>
          </p:cNvCxnSpPr>
          <p:nvPr/>
        </p:nvCxnSpPr>
        <p:spPr>
          <a:xfrm>
            <a:off x="6766024"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F330DA73-59B1-71DC-DDFB-C9B895543BED}"/>
              </a:ext>
            </a:extLst>
          </p:cNvPr>
          <p:cNvCxnSpPr>
            <a:cxnSpLocks/>
          </p:cNvCxnSpPr>
          <p:nvPr/>
        </p:nvCxnSpPr>
        <p:spPr>
          <a:xfrm>
            <a:off x="7380371"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F1ED8727-0F39-6407-1E31-0FCD9DE30751}"/>
                  </a:ext>
                </a:extLst>
              </p:cNvPr>
              <p:cNvSpPr txBox="1"/>
              <p:nvPr/>
            </p:nvSpPr>
            <p:spPr>
              <a:xfrm>
                <a:off x="4091326" y="5010852"/>
                <a:ext cx="434109" cy="3931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1</m:t>
                              </m:r>
                            </m:sub>
                          </m:sSub>
                        </m:sub>
                      </m:sSub>
                    </m:oMath>
                  </m:oMathPara>
                </a14:m>
                <a:endParaRPr kumimoji="1" lang="ja-JP" altLang="en-US" dirty="0"/>
              </a:p>
            </p:txBody>
          </p:sp>
        </mc:Choice>
        <mc:Fallback xmlns="">
          <p:sp>
            <p:nvSpPr>
              <p:cNvPr id="37" name="テキスト ボックス 36">
                <a:extLst>
                  <a:ext uri="{FF2B5EF4-FFF2-40B4-BE49-F238E27FC236}">
                    <a16:creationId xmlns:a16="http://schemas.microsoft.com/office/drawing/2014/main" id="{F1ED8727-0F39-6407-1E31-0FCD9DE30751}"/>
                  </a:ext>
                </a:extLst>
              </p:cNvPr>
              <p:cNvSpPr txBox="1">
                <a:spLocks noRot="1" noChangeAspect="1" noMove="1" noResize="1" noEditPoints="1" noAdjustHandles="1" noChangeArrowheads="1" noChangeShapeType="1" noTextEdit="1"/>
              </p:cNvSpPr>
              <p:nvPr/>
            </p:nvSpPr>
            <p:spPr>
              <a:xfrm>
                <a:off x="4091326" y="5010852"/>
                <a:ext cx="434109" cy="393121"/>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00030E3D-D906-5F58-2614-53BF9DA8229E}"/>
                  </a:ext>
                </a:extLst>
              </p:cNvPr>
              <p:cNvSpPr txBox="1"/>
              <p:nvPr/>
            </p:nvSpPr>
            <p:spPr>
              <a:xfrm>
                <a:off x="4721686" y="5010852"/>
                <a:ext cx="434109"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2</m:t>
                              </m:r>
                            </m:sub>
                          </m:sSub>
                        </m:sub>
                      </m:sSub>
                    </m:oMath>
                  </m:oMathPara>
                </a14:m>
                <a:endParaRPr kumimoji="1" lang="ja-JP" altLang="en-US" dirty="0"/>
              </a:p>
            </p:txBody>
          </p:sp>
        </mc:Choice>
        <mc:Fallback xmlns="">
          <p:sp>
            <p:nvSpPr>
              <p:cNvPr id="38" name="テキスト ボックス 37">
                <a:extLst>
                  <a:ext uri="{FF2B5EF4-FFF2-40B4-BE49-F238E27FC236}">
                    <a16:creationId xmlns:a16="http://schemas.microsoft.com/office/drawing/2014/main" id="{00030E3D-D906-5F58-2614-53BF9DA8229E}"/>
                  </a:ext>
                </a:extLst>
              </p:cNvPr>
              <p:cNvSpPr txBox="1">
                <a:spLocks noRot="1" noChangeAspect="1" noMove="1" noResize="1" noEditPoints="1" noAdjustHandles="1" noChangeArrowheads="1" noChangeShapeType="1" noTextEdit="1"/>
              </p:cNvSpPr>
              <p:nvPr/>
            </p:nvSpPr>
            <p:spPr>
              <a:xfrm>
                <a:off x="4721686" y="5010852"/>
                <a:ext cx="434109" cy="404213"/>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4BB05766-68C4-C074-157A-950F457E5E87}"/>
                  </a:ext>
                </a:extLst>
              </p:cNvPr>
              <p:cNvSpPr txBox="1"/>
              <p:nvPr/>
            </p:nvSpPr>
            <p:spPr>
              <a:xfrm>
                <a:off x="6955135" y="4995264"/>
                <a:ext cx="849696"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m:t>
                              </m:r>
                            </m:sub>
                          </m:sSub>
                        </m:sub>
                      </m:sSub>
                    </m:oMath>
                  </m:oMathPara>
                </a14:m>
                <a:endParaRPr kumimoji="1" lang="ja-JP" altLang="en-US" dirty="0"/>
              </a:p>
            </p:txBody>
          </p:sp>
        </mc:Choice>
        <mc:Fallback xmlns="">
          <p:sp>
            <p:nvSpPr>
              <p:cNvPr id="41" name="テキスト ボックス 40">
                <a:extLst>
                  <a:ext uri="{FF2B5EF4-FFF2-40B4-BE49-F238E27FC236}">
                    <a16:creationId xmlns:a16="http://schemas.microsoft.com/office/drawing/2014/main" id="{4BB05766-68C4-C074-157A-950F457E5E87}"/>
                  </a:ext>
                </a:extLst>
              </p:cNvPr>
              <p:cNvSpPr txBox="1">
                <a:spLocks noRot="1" noChangeAspect="1" noMove="1" noResize="1" noEditPoints="1" noAdjustHandles="1" noChangeArrowheads="1" noChangeShapeType="1" noTextEdit="1"/>
              </p:cNvSpPr>
              <p:nvPr/>
            </p:nvSpPr>
            <p:spPr>
              <a:xfrm>
                <a:off x="6955135" y="4995264"/>
                <a:ext cx="849696" cy="404213"/>
              </a:xfrm>
              <a:prstGeom prst="rect">
                <a:avLst/>
              </a:prstGeom>
              <a:blipFill>
                <a:blip r:embed="rId9"/>
                <a:stretch>
                  <a:fillRect/>
                </a:stretch>
              </a:blipFill>
            </p:spPr>
            <p:txBody>
              <a:bodyPr/>
              <a:lstStyle/>
              <a:p>
                <a:r>
                  <a:rPr lang="ja-JP" altLang="en-US">
                    <a:noFill/>
                  </a:rPr>
                  <a:t> </a:t>
                </a:r>
              </a:p>
            </p:txBody>
          </p:sp>
        </mc:Fallback>
      </mc:AlternateContent>
      <p:cxnSp>
        <p:nvCxnSpPr>
          <p:cNvPr id="42" name="直線矢印コネクタ 41">
            <a:extLst>
              <a:ext uri="{FF2B5EF4-FFF2-40B4-BE49-F238E27FC236}">
                <a16:creationId xmlns:a16="http://schemas.microsoft.com/office/drawing/2014/main" id="{362416B9-B484-204B-F528-11A1F4EADC82}"/>
              </a:ext>
            </a:extLst>
          </p:cNvPr>
          <p:cNvCxnSpPr>
            <a:cxnSpLocks/>
          </p:cNvCxnSpPr>
          <p:nvPr/>
        </p:nvCxnSpPr>
        <p:spPr>
          <a:xfrm>
            <a:off x="2211785" y="5460691"/>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2AA62D81-FB64-F44B-7CCB-C417A61D4F1B}"/>
              </a:ext>
            </a:extLst>
          </p:cNvPr>
          <p:cNvCxnSpPr>
            <a:cxnSpLocks/>
          </p:cNvCxnSpPr>
          <p:nvPr/>
        </p:nvCxnSpPr>
        <p:spPr>
          <a:xfrm>
            <a:off x="2685312" y="5460691"/>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FFEEC518-9731-10BC-9DB3-EA65F00C5168}"/>
              </a:ext>
            </a:extLst>
          </p:cNvPr>
          <p:cNvSpPr>
            <a:spLocks noGrp="1"/>
          </p:cNvSpPr>
          <p:nvPr>
            <p:ph type="sldNum" sz="quarter" idx="12"/>
          </p:nvPr>
        </p:nvSpPr>
        <p:spPr/>
        <p:txBody>
          <a:bodyPr/>
          <a:lstStyle/>
          <a:p>
            <a:fld id="{4B077F3A-4098-4199-8925-77865D1E3500}" type="slidenum">
              <a:rPr kumimoji="1" lang="ja-JP" altLang="en-US" smtClean="0"/>
              <a:t>52</a:t>
            </a:fld>
            <a:endParaRPr kumimoji="1" lang="ja-JP" altLang="en-US"/>
          </a:p>
        </p:txBody>
      </p:sp>
    </p:spTree>
    <p:extLst>
      <p:ext uri="{BB962C8B-B14F-4D97-AF65-F5344CB8AC3E}">
        <p14:creationId xmlns:p14="http://schemas.microsoft.com/office/powerpoint/2010/main" val="7461517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6479A-2512-3EF6-30BA-BA465BA81B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895A7B-DDA3-DB08-16B8-479F10359E12}"/>
              </a:ext>
            </a:extLst>
          </p:cNvPr>
          <p:cNvSpPr>
            <a:spLocks noGrp="1"/>
          </p:cNvSpPr>
          <p:nvPr>
            <p:ph type="title"/>
          </p:nvPr>
        </p:nvSpPr>
        <p:spPr/>
        <p:txBody>
          <a:bodyPr/>
          <a:lstStyle/>
          <a:p>
            <a:r>
              <a:rPr kumimoji="1" lang="ja-JP" altLang="en-US" dirty="0"/>
              <a:t>一様距離空間上の競合比上界２</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A99563D-09B0-892A-9615-2B0F6E24355B}"/>
                  </a:ext>
                </a:extLst>
              </p:cNvPr>
              <p:cNvSpPr>
                <a:spLocks noGrp="1"/>
              </p:cNvSpPr>
              <p:nvPr>
                <p:ph idx="1"/>
              </p:nvPr>
            </p:nvSpPr>
            <p:spPr>
              <a:xfrm>
                <a:off x="838200" y="1825625"/>
                <a:ext cx="10515600" cy="2223548"/>
              </a:xfrm>
            </p:spPr>
            <p:txBody>
              <a:bodyPr>
                <a:normAutofit/>
              </a:bodyPr>
              <a:lstStyle/>
              <a:p>
                <a:pPr marL="0" indent="0">
                  <a:buNone/>
                </a:pPr>
                <a:r>
                  <a:rPr kumimoji="1" lang="ja-JP" altLang="en-US" sz="2400" dirty="0"/>
                  <a:t>リクエスト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𝑢</m:t>
                            </m:r>
                          </m:e>
                          <m:sub>
                            <m:r>
                              <a:rPr kumimoji="1" lang="en-US" altLang="ja-JP" sz="2400" b="0" i="1" smtClean="0">
                                <a:latin typeface="Cambria Math" panose="02040503050406030204" pitchFamily="18" charset="0"/>
                              </a:rPr>
                              <m:t>𝑖</m:t>
                            </m:r>
                          </m:sub>
                        </m:sSub>
                      </m:sub>
                    </m:sSub>
                  </m:oMath>
                </a14:m>
                <a:r>
                  <a:rPr kumimoji="1" lang="en-US" altLang="ja-JP" sz="2400" dirty="0"/>
                  <a:t> </a:t>
                </a:r>
                <a:r>
                  <a:rPr kumimoji="1" lang="ja-JP" altLang="en-US" sz="2400" dirty="0"/>
                  <a:t>の割り当て直前に注目する（</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𝑡</m:t>
                        </m:r>
                      </m:e>
                      <m:sub>
                        <m:r>
                          <a:rPr kumimoji="1" lang="en-US" altLang="ja-JP" sz="2400" b="0" i="1" smtClean="0">
                            <a:latin typeface="Cambria Math" panose="02040503050406030204" pitchFamily="18" charset="0"/>
                          </a:rPr>
                          <m:t>𝑗</m:t>
                        </m:r>
                      </m:sub>
                    </m:sSub>
                    <m:r>
                      <a:rPr kumimoji="1" lang="en-US" altLang="ja-JP" sz="2400" b="0" i="1" smtClean="0">
                        <a:latin typeface="Cambria Math" panose="02040503050406030204" pitchFamily="18" charset="0"/>
                      </a:rPr>
                      <m:t>&lt;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𝑢</m:t>
                        </m:r>
                      </m:e>
                      <m:sub>
                        <m:r>
                          <a:rPr kumimoji="1" lang="en-US" altLang="ja-JP" sz="2400" b="0" i="1" smtClean="0">
                            <a:latin typeface="Cambria Math" panose="02040503050406030204" pitchFamily="18" charset="0"/>
                          </a:rPr>
                          <m:t>𝑖</m:t>
                        </m:r>
                      </m:sub>
                    </m:sSub>
                    <m:r>
                      <a:rPr kumimoji="1" lang="en-US" altLang="ja-JP" sz="2400" b="0" i="1" smtClean="0">
                        <a:latin typeface="Cambria Math" panose="02040503050406030204" pitchFamily="18" charset="0"/>
                      </a:rPr>
                      <m:t>&lt;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𝑡</m:t>
                        </m:r>
                      </m:e>
                      <m:sub>
                        <m:r>
                          <a:rPr kumimoji="1" lang="en-US" altLang="ja-JP" sz="2400" b="0" i="1" smtClean="0">
                            <a:latin typeface="Cambria Math" panose="02040503050406030204" pitchFamily="18" charset="0"/>
                          </a:rPr>
                          <m:t>𝑗</m:t>
                        </m:r>
                        <m:r>
                          <a:rPr kumimoji="1" lang="en-US" altLang="ja-JP" sz="2400" b="0" i="1" smtClean="0">
                            <a:latin typeface="Cambria Math" panose="02040503050406030204" pitchFamily="18" charset="0"/>
                          </a:rPr>
                          <m:t>+1</m:t>
                        </m:r>
                      </m:sub>
                    </m:sSub>
                  </m:oMath>
                </a14:m>
                <a:r>
                  <a:rPr kumimoji="1" lang="ja-JP" altLang="en-US" sz="2400" dirty="0"/>
                  <a:t>）</a:t>
                </a:r>
                <a:endParaRPr kumimoji="1" lang="en-US" altLang="ja-JP" sz="2400" dirty="0"/>
              </a:p>
              <a:p>
                <a:pPr marL="0" indent="0">
                  <a:buNone/>
                </a:pPr>
                <a:r>
                  <a:rPr lang="ja-JP" altLang="en-US" sz="2000" dirty="0"/>
                  <a:t>サーバ上には </a:t>
                </a:r>
                <a14:m>
                  <m:oMath xmlns:m="http://schemas.openxmlformats.org/officeDocument/2006/math">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−1</m:t>
                    </m:r>
                  </m:oMath>
                </a14:m>
                <a:r>
                  <a:rPr kumimoji="1" lang="en-US" altLang="ja-JP" sz="2000" dirty="0"/>
                  <a:t> </a:t>
                </a:r>
                <a:r>
                  <a:rPr kumimoji="1" lang="ja-JP" altLang="en-US" sz="2000" dirty="0"/>
                  <a:t>個のリクエスト</a:t>
                </a:r>
                <a:endParaRPr kumimoji="1" lang="en-US" altLang="ja-JP" sz="2000" dirty="0"/>
              </a:p>
              <a:p>
                <a:pPr marL="0" indent="0">
                  <a:buNone/>
                </a:pPr>
                <a:r>
                  <a:rPr lang="ja-JP" altLang="en-US" sz="2000" dirty="0"/>
                  <a:t>サーバの無い場所に </a:t>
                </a:r>
                <a14:m>
                  <m:oMath xmlns:m="http://schemas.openxmlformats.org/officeDocument/2006/math">
                    <m:r>
                      <a:rPr lang="en-US" altLang="ja-JP" sz="2000" b="0" i="1" smtClean="0">
                        <a:latin typeface="Cambria Math" panose="02040503050406030204" pitchFamily="18" charset="0"/>
                      </a:rPr>
                      <m:t>𝑗</m:t>
                    </m:r>
                  </m:oMath>
                </a14:m>
                <a:r>
                  <a:rPr kumimoji="1" lang="en-US" altLang="ja-JP" sz="2000" dirty="0"/>
                  <a:t> </a:t>
                </a:r>
                <a:r>
                  <a:rPr kumimoji="1" lang="ja-JP" altLang="en-US" sz="2000" dirty="0"/>
                  <a:t>個のリクエストがある</a:t>
                </a:r>
                <a:endParaRPr kumimoji="1" lang="en-US" altLang="ja-JP" sz="2000" dirty="0"/>
              </a:p>
              <a:p>
                <a:pPr marL="0" indent="0">
                  <a:buNone/>
                </a:pPr>
                <a:r>
                  <a:rPr lang="ja-JP" altLang="en-US" sz="2400" dirty="0"/>
                  <a:t>まだリクエストがその上に無い </a:t>
                </a:r>
                <a14:m>
                  <m:oMath xmlns:m="http://schemas.openxmlformats.org/officeDocument/2006/math">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𝑖</m:t>
                    </m:r>
                    <m:r>
                      <a:rPr lang="en-US" altLang="ja-JP" sz="2400" b="0" i="1" smtClean="0">
                        <a:latin typeface="Cambria Math" panose="02040503050406030204" pitchFamily="18" charset="0"/>
                      </a:rPr>
                      <m:t>+1</m:t>
                    </m:r>
                  </m:oMath>
                </a14:m>
                <a:r>
                  <a:rPr kumimoji="1" lang="en-US" altLang="ja-JP" sz="2400" dirty="0"/>
                  <a:t> </a:t>
                </a:r>
                <a:r>
                  <a:rPr kumimoji="1" lang="ja-JP" altLang="en-US" sz="2400" dirty="0"/>
                  <a:t>個のサーバの内 </a:t>
                </a:r>
                <a14:m>
                  <m:oMath xmlns:m="http://schemas.openxmlformats.org/officeDocument/2006/math">
                    <m:r>
                      <a:rPr kumimoji="1" lang="en-US" altLang="ja-JP" sz="2400" b="0" i="1" smtClean="0">
                        <a:latin typeface="Cambria Math" panose="02040503050406030204" pitchFamily="18" charset="0"/>
                      </a:rPr>
                      <m:t>𝑗</m:t>
                    </m:r>
                  </m:oMath>
                </a14:m>
                <a:r>
                  <a:rPr kumimoji="1" lang="en-US" altLang="ja-JP" sz="2400" dirty="0"/>
                  <a:t> </a:t>
                </a:r>
                <a:r>
                  <a:rPr kumimoji="1" lang="ja-JP" altLang="en-US" sz="2400" dirty="0"/>
                  <a:t>個は利用不可能</a:t>
                </a:r>
                <a:endParaRPr kumimoji="1" lang="en-US" altLang="ja-JP" sz="2400" dirty="0"/>
              </a:p>
              <a:p>
                <a:pPr marL="0" indent="0">
                  <a:buNone/>
                </a:pPr>
                <a:r>
                  <a:rPr kumimoji="1" lang="ja-JP" altLang="en-US" sz="2400" dirty="0"/>
                  <a:t>リクエストが置かれていないサーバはすべて対等</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DA99563D-09B0-892A-9615-2B0F6E24355B}"/>
                  </a:ext>
                </a:extLst>
              </p:cNvPr>
              <p:cNvSpPr>
                <a:spLocks noGrp="1" noRot="1" noChangeAspect="1" noMove="1" noResize="1" noEditPoints="1" noAdjustHandles="1" noChangeArrowheads="1" noChangeShapeType="1" noTextEdit="1"/>
              </p:cNvSpPr>
              <p:nvPr>
                <p:ph idx="1"/>
              </p:nvPr>
            </p:nvSpPr>
            <p:spPr>
              <a:xfrm>
                <a:off x="838200" y="1825625"/>
                <a:ext cx="10515600" cy="2223548"/>
              </a:xfrm>
              <a:blipFill>
                <a:blip r:embed="rId2"/>
                <a:stretch>
                  <a:fillRect l="-928" t="-1918" b="-4658"/>
                </a:stretch>
              </a:blipFill>
            </p:spPr>
            <p:txBody>
              <a:bodyPr/>
              <a:lstStyle/>
              <a:p>
                <a:r>
                  <a:rPr lang="ja-JP" altLang="en-US">
                    <a:noFill/>
                  </a:rPr>
                  <a:t> </a:t>
                </a:r>
              </a:p>
            </p:txBody>
          </p:sp>
        </mc:Fallback>
      </mc:AlternateContent>
      <p:sp>
        <p:nvSpPr>
          <p:cNvPr id="6" name="楕円 5">
            <a:extLst>
              <a:ext uri="{FF2B5EF4-FFF2-40B4-BE49-F238E27FC236}">
                <a16:creationId xmlns:a16="http://schemas.microsoft.com/office/drawing/2014/main" id="{92ACFA66-067E-1F3D-2C45-7F844946C9BB}"/>
              </a:ext>
            </a:extLst>
          </p:cNvPr>
          <p:cNvSpPr/>
          <p:nvPr/>
        </p:nvSpPr>
        <p:spPr>
          <a:xfrm>
            <a:off x="4238188"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42210DD5-59B7-5A09-029D-EA9318E06A5C}"/>
              </a:ext>
            </a:extLst>
          </p:cNvPr>
          <p:cNvSpPr/>
          <p:nvPr/>
        </p:nvSpPr>
        <p:spPr>
          <a:xfrm>
            <a:off x="4852147"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9E6A5187-18EE-BB0B-368E-E1D279CF3A0A}"/>
              </a:ext>
            </a:extLst>
          </p:cNvPr>
          <p:cNvSpPr/>
          <p:nvPr/>
        </p:nvSpPr>
        <p:spPr>
          <a:xfrm>
            <a:off x="5466106"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87161831-442E-E2E3-7758-90CB411A5B99}"/>
              </a:ext>
            </a:extLst>
          </p:cNvPr>
          <p:cNvSpPr/>
          <p:nvPr/>
        </p:nvSpPr>
        <p:spPr>
          <a:xfrm>
            <a:off x="6080065"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1423E26F-8F96-3AED-5CCC-77372E63E931}"/>
              </a:ext>
            </a:extLst>
          </p:cNvPr>
          <p:cNvSpPr/>
          <p:nvPr/>
        </p:nvSpPr>
        <p:spPr>
          <a:xfrm>
            <a:off x="6694024"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2B553B6F-40F1-8375-D241-756C2C524397}"/>
              </a:ext>
            </a:extLst>
          </p:cNvPr>
          <p:cNvSpPr/>
          <p:nvPr/>
        </p:nvSpPr>
        <p:spPr>
          <a:xfrm>
            <a:off x="7307983"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7B7BCDB0-629E-216E-4EFA-9384D3EF5F08}"/>
              </a:ext>
            </a:extLst>
          </p:cNvPr>
          <p:cNvSpPr/>
          <p:nvPr/>
        </p:nvSpPr>
        <p:spPr>
          <a:xfrm>
            <a:off x="7921942"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7525BF63-353F-4183-615E-220BE9CABFCE}"/>
              </a:ext>
            </a:extLst>
          </p:cNvPr>
          <p:cNvSpPr/>
          <p:nvPr/>
        </p:nvSpPr>
        <p:spPr>
          <a:xfrm>
            <a:off x="8535901"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F9B44E52-818C-E94B-9DEC-B7B81BC4FBBF}"/>
              </a:ext>
            </a:extLst>
          </p:cNvPr>
          <p:cNvSpPr/>
          <p:nvPr/>
        </p:nvSpPr>
        <p:spPr>
          <a:xfrm>
            <a:off x="9149860"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6C738555-BE75-550D-6701-A61D4A554C7E}"/>
              </a:ext>
            </a:extLst>
          </p:cNvPr>
          <p:cNvSpPr/>
          <p:nvPr/>
        </p:nvSpPr>
        <p:spPr>
          <a:xfrm>
            <a:off x="9763819"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8846062D-F2B3-A66E-3029-33E1DDA3B1EA}"/>
              </a:ext>
            </a:extLst>
          </p:cNvPr>
          <p:cNvSpPr/>
          <p:nvPr/>
        </p:nvSpPr>
        <p:spPr>
          <a:xfrm>
            <a:off x="10377775"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D91F782C-F6A1-5688-A2D1-8814D35BBE7D}"/>
              </a:ext>
            </a:extLst>
          </p:cNvPr>
          <p:cNvCxnSpPr>
            <a:cxnSpLocks/>
          </p:cNvCxnSpPr>
          <p:nvPr/>
        </p:nvCxnSpPr>
        <p:spPr>
          <a:xfrm>
            <a:off x="1264731" y="5460691"/>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479BB854-787D-101D-8087-559222169867}"/>
                  </a:ext>
                </a:extLst>
              </p:cNvPr>
              <p:cNvSpPr txBox="1"/>
              <p:nvPr/>
            </p:nvSpPr>
            <p:spPr>
              <a:xfrm>
                <a:off x="1047676" y="5040035"/>
                <a:ext cx="434109" cy="3931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𝑡</m:t>
                              </m:r>
                            </m:e>
                            <m:sub>
                              <m:r>
                                <a:rPr kumimoji="1" lang="en-US" altLang="ja-JP" b="0" i="1" smtClean="0">
                                  <a:latin typeface="Cambria Math" panose="02040503050406030204" pitchFamily="18" charset="0"/>
                                </a:rPr>
                                <m:t>1</m:t>
                              </m:r>
                            </m:sub>
                          </m:sSub>
                        </m:sub>
                      </m:sSub>
                    </m:oMath>
                  </m:oMathPara>
                </a14:m>
                <a:endParaRPr kumimoji="1" lang="ja-JP" altLang="en-US" dirty="0"/>
              </a:p>
            </p:txBody>
          </p:sp>
        </mc:Choice>
        <mc:Fallback xmlns="">
          <p:sp>
            <p:nvSpPr>
              <p:cNvPr id="21" name="テキスト ボックス 20">
                <a:extLst>
                  <a:ext uri="{FF2B5EF4-FFF2-40B4-BE49-F238E27FC236}">
                    <a16:creationId xmlns:a16="http://schemas.microsoft.com/office/drawing/2014/main" id="{479BB854-787D-101D-8087-559222169867}"/>
                  </a:ext>
                </a:extLst>
              </p:cNvPr>
              <p:cNvSpPr txBox="1">
                <a:spLocks noRot="1" noChangeAspect="1" noMove="1" noResize="1" noEditPoints="1" noAdjustHandles="1" noChangeArrowheads="1" noChangeShapeType="1" noTextEdit="1"/>
              </p:cNvSpPr>
              <p:nvPr/>
            </p:nvSpPr>
            <p:spPr>
              <a:xfrm>
                <a:off x="1047676" y="5040035"/>
                <a:ext cx="434109" cy="393121"/>
              </a:xfrm>
              <a:prstGeom prst="rect">
                <a:avLst/>
              </a:prstGeom>
              <a:blipFill>
                <a:blip r:embed="rId3"/>
                <a:stretch>
                  <a:fillRect/>
                </a:stretch>
              </a:blipFill>
            </p:spPr>
            <p:txBody>
              <a:bodyPr/>
              <a:lstStyle/>
              <a:p>
                <a:r>
                  <a:rPr lang="ja-JP" altLang="en-US">
                    <a:noFill/>
                  </a:rPr>
                  <a:t> </a:t>
                </a:r>
              </a:p>
            </p:txBody>
          </p:sp>
        </mc:Fallback>
      </mc:AlternateContent>
      <p:cxnSp>
        <p:nvCxnSpPr>
          <p:cNvPr id="22" name="直線矢印コネクタ 21">
            <a:extLst>
              <a:ext uri="{FF2B5EF4-FFF2-40B4-BE49-F238E27FC236}">
                <a16:creationId xmlns:a16="http://schemas.microsoft.com/office/drawing/2014/main" id="{C1660205-84F8-EA92-91A8-A55DFEC4B114}"/>
              </a:ext>
            </a:extLst>
          </p:cNvPr>
          <p:cNvCxnSpPr>
            <a:cxnSpLocks/>
          </p:cNvCxnSpPr>
          <p:nvPr/>
        </p:nvCxnSpPr>
        <p:spPr>
          <a:xfrm>
            <a:off x="1738258" y="5460691"/>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421783D6-9725-2978-9C66-FF6456715ABD}"/>
                  </a:ext>
                </a:extLst>
              </p:cNvPr>
              <p:cNvSpPr txBox="1"/>
              <p:nvPr/>
            </p:nvSpPr>
            <p:spPr>
              <a:xfrm>
                <a:off x="1511889" y="5054350"/>
                <a:ext cx="434109"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𝑡</m:t>
                              </m:r>
                            </m:e>
                            <m:sub>
                              <m:r>
                                <a:rPr kumimoji="1" lang="en-US" altLang="ja-JP" b="0" i="1" smtClean="0">
                                  <a:latin typeface="Cambria Math" panose="02040503050406030204" pitchFamily="18" charset="0"/>
                                </a:rPr>
                                <m:t>2</m:t>
                              </m:r>
                            </m:sub>
                          </m:sSub>
                        </m:sub>
                      </m:sSub>
                    </m:oMath>
                  </m:oMathPara>
                </a14:m>
                <a:endParaRPr kumimoji="1" lang="ja-JP" altLang="en-US" dirty="0"/>
              </a:p>
            </p:txBody>
          </p:sp>
        </mc:Choice>
        <mc:Fallback xmlns="">
          <p:sp>
            <p:nvSpPr>
              <p:cNvPr id="23" name="テキスト ボックス 22">
                <a:extLst>
                  <a:ext uri="{FF2B5EF4-FFF2-40B4-BE49-F238E27FC236}">
                    <a16:creationId xmlns:a16="http://schemas.microsoft.com/office/drawing/2014/main" id="{421783D6-9725-2978-9C66-FF6456715ABD}"/>
                  </a:ext>
                </a:extLst>
              </p:cNvPr>
              <p:cNvSpPr txBox="1">
                <a:spLocks noRot="1" noChangeAspect="1" noMove="1" noResize="1" noEditPoints="1" noAdjustHandles="1" noChangeArrowheads="1" noChangeShapeType="1" noTextEdit="1"/>
              </p:cNvSpPr>
              <p:nvPr/>
            </p:nvSpPr>
            <p:spPr>
              <a:xfrm>
                <a:off x="1511889" y="5054350"/>
                <a:ext cx="434109" cy="404213"/>
              </a:xfrm>
              <a:prstGeom prst="rect">
                <a:avLst/>
              </a:prstGeom>
              <a:blipFill>
                <a:blip r:embed="rId4"/>
                <a:stretch>
                  <a:fillRect/>
                </a:stretch>
              </a:blipFill>
            </p:spPr>
            <p:txBody>
              <a:bodyPr/>
              <a:lstStyle/>
              <a:p>
                <a:r>
                  <a:rPr lang="ja-JP" altLang="en-US">
                    <a:noFill/>
                  </a:rPr>
                  <a:t> </a:t>
                </a:r>
              </a:p>
            </p:txBody>
          </p:sp>
        </mc:Fallback>
      </mc:AlternateContent>
      <p:cxnSp>
        <p:nvCxnSpPr>
          <p:cNvPr id="27" name="直線矢印コネクタ 26">
            <a:extLst>
              <a:ext uri="{FF2B5EF4-FFF2-40B4-BE49-F238E27FC236}">
                <a16:creationId xmlns:a16="http://schemas.microsoft.com/office/drawing/2014/main" id="{80FCFC24-BC5A-41FB-24EF-2FB5C438A82D}"/>
              </a:ext>
            </a:extLst>
          </p:cNvPr>
          <p:cNvCxnSpPr>
            <a:cxnSpLocks/>
          </p:cNvCxnSpPr>
          <p:nvPr/>
        </p:nvCxnSpPr>
        <p:spPr>
          <a:xfrm>
            <a:off x="3158838" y="5460691"/>
            <a:ext cx="0" cy="563010"/>
          </a:xfrm>
          <a:prstGeom prst="straightConnector1">
            <a:avLst/>
          </a:prstGeom>
          <a:ln w="31750">
            <a:solidFill>
              <a:schemeClr val="tx1">
                <a:alpha val="2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71C42C7D-1763-218F-D3BA-852534929840}"/>
                  </a:ext>
                </a:extLst>
              </p:cNvPr>
              <p:cNvSpPr txBox="1"/>
              <p:nvPr/>
            </p:nvSpPr>
            <p:spPr>
              <a:xfrm>
                <a:off x="2464704" y="5028943"/>
                <a:ext cx="434109" cy="4243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𝑡</m:t>
                              </m:r>
                            </m:e>
                            <m:sub>
                              <m:r>
                                <a:rPr kumimoji="1" lang="en-US" altLang="ja-JP" b="0" i="1" smtClean="0">
                                  <a:latin typeface="Cambria Math" panose="02040503050406030204" pitchFamily="18" charset="0"/>
                                </a:rPr>
                                <m:t>𝑗</m:t>
                              </m:r>
                            </m:sub>
                          </m:sSub>
                        </m:sub>
                      </m:sSub>
                    </m:oMath>
                  </m:oMathPara>
                </a14:m>
                <a:endParaRPr kumimoji="1" lang="ja-JP" altLang="en-US" dirty="0"/>
              </a:p>
            </p:txBody>
          </p:sp>
        </mc:Choice>
        <mc:Fallback xmlns="">
          <p:sp>
            <p:nvSpPr>
              <p:cNvPr id="28" name="テキスト ボックス 27">
                <a:extLst>
                  <a:ext uri="{FF2B5EF4-FFF2-40B4-BE49-F238E27FC236}">
                    <a16:creationId xmlns:a16="http://schemas.microsoft.com/office/drawing/2014/main" id="{71C42C7D-1763-218F-D3BA-852534929840}"/>
                  </a:ext>
                </a:extLst>
              </p:cNvPr>
              <p:cNvSpPr txBox="1">
                <a:spLocks noRot="1" noChangeAspect="1" noMove="1" noResize="1" noEditPoints="1" noAdjustHandles="1" noChangeArrowheads="1" noChangeShapeType="1" noTextEdit="1"/>
              </p:cNvSpPr>
              <p:nvPr/>
            </p:nvSpPr>
            <p:spPr>
              <a:xfrm>
                <a:off x="2464704" y="5028943"/>
                <a:ext cx="434109" cy="424347"/>
              </a:xfrm>
              <a:prstGeom prst="rect">
                <a:avLst/>
              </a:prstGeom>
              <a:blipFill>
                <a:blip r:embed="rId5"/>
                <a:stretch>
                  <a:fillRect b="-5714"/>
                </a:stretch>
              </a:blipFill>
            </p:spPr>
            <p:txBody>
              <a:bodyPr/>
              <a:lstStyle/>
              <a:p>
                <a:r>
                  <a:rPr lang="ja-JP" altLang="en-US">
                    <a:noFill/>
                  </a:rPr>
                  <a:t> </a:t>
                </a:r>
              </a:p>
            </p:txBody>
          </p:sp>
        </mc:Fallback>
      </mc:AlternateContent>
      <p:cxnSp>
        <p:nvCxnSpPr>
          <p:cNvPr id="30" name="直線矢印コネクタ 29">
            <a:extLst>
              <a:ext uri="{FF2B5EF4-FFF2-40B4-BE49-F238E27FC236}">
                <a16:creationId xmlns:a16="http://schemas.microsoft.com/office/drawing/2014/main" id="{7A41F4BD-DFC4-B234-ABB5-C8B8B96CB1A3}"/>
              </a:ext>
            </a:extLst>
          </p:cNvPr>
          <p:cNvCxnSpPr>
            <a:cxnSpLocks/>
          </p:cNvCxnSpPr>
          <p:nvPr/>
        </p:nvCxnSpPr>
        <p:spPr>
          <a:xfrm>
            <a:off x="4308381"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259B4942-BD46-AF9C-782A-38715F9D5D77}"/>
              </a:ext>
            </a:extLst>
          </p:cNvPr>
          <p:cNvCxnSpPr>
            <a:cxnSpLocks/>
          </p:cNvCxnSpPr>
          <p:nvPr/>
        </p:nvCxnSpPr>
        <p:spPr>
          <a:xfrm>
            <a:off x="4924147"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F60E70C3-20CF-95E5-6934-D30148B65A4A}"/>
              </a:ext>
            </a:extLst>
          </p:cNvPr>
          <p:cNvCxnSpPr>
            <a:cxnSpLocks/>
          </p:cNvCxnSpPr>
          <p:nvPr/>
        </p:nvCxnSpPr>
        <p:spPr>
          <a:xfrm>
            <a:off x="5538106"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281C0EA4-F897-2019-0FBA-92045B1CBEAC}"/>
              </a:ext>
            </a:extLst>
          </p:cNvPr>
          <p:cNvCxnSpPr>
            <a:cxnSpLocks/>
          </p:cNvCxnSpPr>
          <p:nvPr/>
        </p:nvCxnSpPr>
        <p:spPr>
          <a:xfrm>
            <a:off x="6152065"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93FF64CB-52C0-B01A-1DC9-B3EAD3E5C494}"/>
              </a:ext>
            </a:extLst>
          </p:cNvPr>
          <p:cNvCxnSpPr>
            <a:cxnSpLocks/>
          </p:cNvCxnSpPr>
          <p:nvPr/>
        </p:nvCxnSpPr>
        <p:spPr>
          <a:xfrm>
            <a:off x="6766024" y="5403973"/>
            <a:ext cx="0" cy="563010"/>
          </a:xfrm>
          <a:prstGeom prst="straightConnector1">
            <a:avLst/>
          </a:prstGeom>
          <a:ln w="31750">
            <a:solidFill>
              <a:schemeClr val="tx1">
                <a:alpha val="2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32729E3F-A48F-2BAC-A830-683A3EC9C059}"/>
              </a:ext>
            </a:extLst>
          </p:cNvPr>
          <p:cNvCxnSpPr>
            <a:cxnSpLocks/>
          </p:cNvCxnSpPr>
          <p:nvPr/>
        </p:nvCxnSpPr>
        <p:spPr>
          <a:xfrm>
            <a:off x="7380371" y="5403973"/>
            <a:ext cx="0" cy="563010"/>
          </a:xfrm>
          <a:prstGeom prst="straightConnector1">
            <a:avLst/>
          </a:prstGeom>
          <a:ln w="31750">
            <a:solidFill>
              <a:schemeClr val="tx1">
                <a:alpha val="2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6C860BFD-5912-6E5D-DAE7-E99488F736B1}"/>
                  </a:ext>
                </a:extLst>
              </p:cNvPr>
              <p:cNvSpPr txBox="1"/>
              <p:nvPr/>
            </p:nvSpPr>
            <p:spPr>
              <a:xfrm>
                <a:off x="4091326" y="5010852"/>
                <a:ext cx="434109" cy="3931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1</m:t>
                              </m:r>
                            </m:sub>
                          </m:sSub>
                        </m:sub>
                      </m:sSub>
                    </m:oMath>
                  </m:oMathPara>
                </a14:m>
                <a:endParaRPr kumimoji="1" lang="ja-JP" altLang="en-US" dirty="0"/>
              </a:p>
            </p:txBody>
          </p:sp>
        </mc:Choice>
        <mc:Fallback xmlns="">
          <p:sp>
            <p:nvSpPr>
              <p:cNvPr id="37" name="テキスト ボックス 36">
                <a:extLst>
                  <a:ext uri="{FF2B5EF4-FFF2-40B4-BE49-F238E27FC236}">
                    <a16:creationId xmlns:a16="http://schemas.microsoft.com/office/drawing/2014/main" id="{6C860BFD-5912-6E5D-DAE7-E99488F736B1}"/>
                  </a:ext>
                </a:extLst>
              </p:cNvPr>
              <p:cNvSpPr txBox="1">
                <a:spLocks noRot="1" noChangeAspect="1" noMove="1" noResize="1" noEditPoints="1" noAdjustHandles="1" noChangeArrowheads="1" noChangeShapeType="1" noTextEdit="1"/>
              </p:cNvSpPr>
              <p:nvPr/>
            </p:nvSpPr>
            <p:spPr>
              <a:xfrm>
                <a:off x="4091326" y="5010852"/>
                <a:ext cx="434109" cy="393121"/>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C53AA482-C37B-56AB-DC27-F3E3DB6825E4}"/>
                  </a:ext>
                </a:extLst>
              </p:cNvPr>
              <p:cNvSpPr txBox="1"/>
              <p:nvPr/>
            </p:nvSpPr>
            <p:spPr>
              <a:xfrm>
                <a:off x="4721686" y="5010852"/>
                <a:ext cx="434109"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2</m:t>
                              </m:r>
                            </m:sub>
                          </m:sSub>
                        </m:sub>
                      </m:sSub>
                    </m:oMath>
                  </m:oMathPara>
                </a14:m>
                <a:endParaRPr kumimoji="1" lang="ja-JP" altLang="en-US" dirty="0"/>
              </a:p>
            </p:txBody>
          </p:sp>
        </mc:Choice>
        <mc:Fallback xmlns="">
          <p:sp>
            <p:nvSpPr>
              <p:cNvPr id="38" name="テキスト ボックス 37">
                <a:extLst>
                  <a:ext uri="{FF2B5EF4-FFF2-40B4-BE49-F238E27FC236}">
                    <a16:creationId xmlns:a16="http://schemas.microsoft.com/office/drawing/2014/main" id="{C53AA482-C37B-56AB-DC27-F3E3DB6825E4}"/>
                  </a:ext>
                </a:extLst>
              </p:cNvPr>
              <p:cNvSpPr txBox="1">
                <a:spLocks noRot="1" noChangeAspect="1" noMove="1" noResize="1" noEditPoints="1" noAdjustHandles="1" noChangeArrowheads="1" noChangeShapeType="1" noTextEdit="1"/>
              </p:cNvSpPr>
              <p:nvPr/>
            </p:nvSpPr>
            <p:spPr>
              <a:xfrm>
                <a:off x="4721686" y="5010852"/>
                <a:ext cx="434109" cy="404213"/>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7FD9586A-58B3-8C28-0528-D47182E41DCE}"/>
                  </a:ext>
                </a:extLst>
              </p:cNvPr>
              <p:cNvSpPr txBox="1"/>
              <p:nvPr/>
            </p:nvSpPr>
            <p:spPr>
              <a:xfrm>
                <a:off x="5831654" y="4999760"/>
                <a:ext cx="633697"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𝑖</m:t>
                              </m:r>
                              <m:r>
                                <a:rPr kumimoji="1" lang="en-US" altLang="ja-JP" b="0" i="1" smtClean="0">
                                  <a:latin typeface="Cambria Math" panose="02040503050406030204" pitchFamily="18" charset="0"/>
                                </a:rPr>
                                <m:t>−1</m:t>
                              </m:r>
                            </m:sub>
                          </m:sSub>
                        </m:sub>
                      </m:sSub>
                    </m:oMath>
                  </m:oMathPara>
                </a14:m>
                <a:endParaRPr kumimoji="1" lang="ja-JP" altLang="en-US" dirty="0"/>
              </a:p>
            </p:txBody>
          </p:sp>
        </mc:Choice>
        <mc:Fallback xmlns="">
          <p:sp>
            <p:nvSpPr>
              <p:cNvPr id="41" name="テキスト ボックス 40">
                <a:extLst>
                  <a:ext uri="{FF2B5EF4-FFF2-40B4-BE49-F238E27FC236}">
                    <a16:creationId xmlns:a16="http://schemas.microsoft.com/office/drawing/2014/main" id="{7FD9586A-58B3-8C28-0528-D47182E41DCE}"/>
                  </a:ext>
                </a:extLst>
              </p:cNvPr>
              <p:cNvSpPr txBox="1">
                <a:spLocks noRot="1" noChangeAspect="1" noMove="1" noResize="1" noEditPoints="1" noAdjustHandles="1" noChangeArrowheads="1" noChangeShapeType="1" noTextEdit="1"/>
              </p:cNvSpPr>
              <p:nvPr/>
            </p:nvSpPr>
            <p:spPr>
              <a:xfrm>
                <a:off x="5831654" y="4999760"/>
                <a:ext cx="633697" cy="404213"/>
              </a:xfrm>
              <a:prstGeom prst="rect">
                <a:avLst/>
              </a:prstGeom>
              <a:blipFill>
                <a:blip r:embed="rId8"/>
                <a:stretch>
                  <a:fillRect b="-1515"/>
                </a:stretch>
              </a:blipFill>
            </p:spPr>
            <p:txBody>
              <a:bodyPr/>
              <a:lstStyle/>
              <a:p>
                <a:r>
                  <a:rPr lang="ja-JP" altLang="en-US">
                    <a:noFill/>
                  </a:rPr>
                  <a:t> </a:t>
                </a:r>
              </a:p>
            </p:txBody>
          </p:sp>
        </mc:Fallback>
      </mc:AlternateContent>
      <p:cxnSp>
        <p:nvCxnSpPr>
          <p:cNvPr id="42" name="直線矢印コネクタ 41">
            <a:extLst>
              <a:ext uri="{FF2B5EF4-FFF2-40B4-BE49-F238E27FC236}">
                <a16:creationId xmlns:a16="http://schemas.microsoft.com/office/drawing/2014/main" id="{1F8D56E3-C21B-B1B7-BA6D-F78096979934}"/>
              </a:ext>
            </a:extLst>
          </p:cNvPr>
          <p:cNvCxnSpPr>
            <a:cxnSpLocks/>
          </p:cNvCxnSpPr>
          <p:nvPr/>
        </p:nvCxnSpPr>
        <p:spPr>
          <a:xfrm>
            <a:off x="2211785" y="5460691"/>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6E6AAE9C-0D31-DA72-5325-C7D9DF7F3FD6}"/>
              </a:ext>
            </a:extLst>
          </p:cNvPr>
          <p:cNvCxnSpPr>
            <a:cxnSpLocks/>
          </p:cNvCxnSpPr>
          <p:nvPr/>
        </p:nvCxnSpPr>
        <p:spPr>
          <a:xfrm>
            <a:off x="2685312" y="5460691"/>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5640459-58AD-11AF-3B40-AE958C3551D5}"/>
                  </a:ext>
                </a:extLst>
              </p:cNvPr>
              <p:cNvSpPr txBox="1"/>
              <p:nvPr/>
            </p:nvSpPr>
            <p:spPr>
              <a:xfrm>
                <a:off x="2948703" y="5028943"/>
                <a:ext cx="434109" cy="4243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𝑡</m:t>
                              </m:r>
                            </m:e>
                            <m:sub>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+1</m:t>
                              </m:r>
                            </m:sub>
                          </m:sSub>
                        </m:sub>
                      </m:sSub>
                    </m:oMath>
                  </m:oMathPara>
                </a14:m>
                <a:endParaRPr kumimoji="1" lang="ja-JP" altLang="en-US" dirty="0"/>
              </a:p>
            </p:txBody>
          </p:sp>
        </mc:Choice>
        <mc:Fallback xmlns="">
          <p:sp>
            <p:nvSpPr>
              <p:cNvPr id="5" name="テキスト ボックス 4">
                <a:extLst>
                  <a:ext uri="{FF2B5EF4-FFF2-40B4-BE49-F238E27FC236}">
                    <a16:creationId xmlns:a16="http://schemas.microsoft.com/office/drawing/2014/main" id="{A5640459-58AD-11AF-3B40-AE958C3551D5}"/>
                  </a:ext>
                </a:extLst>
              </p:cNvPr>
              <p:cNvSpPr txBox="1">
                <a:spLocks noRot="1" noChangeAspect="1" noMove="1" noResize="1" noEditPoints="1" noAdjustHandles="1" noChangeArrowheads="1" noChangeShapeType="1" noTextEdit="1"/>
              </p:cNvSpPr>
              <p:nvPr/>
            </p:nvSpPr>
            <p:spPr>
              <a:xfrm>
                <a:off x="2948703" y="5028943"/>
                <a:ext cx="434109" cy="424347"/>
              </a:xfrm>
              <a:prstGeom prst="rect">
                <a:avLst/>
              </a:prstGeom>
              <a:blipFill>
                <a:blip r:embed="rId9"/>
                <a:stretch>
                  <a:fillRect r="-26761" b="-5714"/>
                </a:stretch>
              </a:blipFill>
            </p:spPr>
            <p:txBody>
              <a:bodyPr/>
              <a:lstStyle/>
              <a:p>
                <a:r>
                  <a:rPr lang="ja-JP" altLang="en-US">
                    <a:noFill/>
                  </a:rPr>
                  <a:t> </a:t>
                </a:r>
              </a:p>
            </p:txBody>
          </p:sp>
        </mc:Fallback>
      </mc:AlternateContent>
      <p:cxnSp>
        <p:nvCxnSpPr>
          <p:cNvPr id="19" name="直線矢印コネクタ 18">
            <a:extLst>
              <a:ext uri="{FF2B5EF4-FFF2-40B4-BE49-F238E27FC236}">
                <a16:creationId xmlns:a16="http://schemas.microsoft.com/office/drawing/2014/main" id="{696EB986-B409-D5B9-68F4-28FA610C7ACF}"/>
              </a:ext>
            </a:extLst>
          </p:cNvPr>
          <p:cNvCxnSpPr>
            <a:cxnSpLocks/>
          </p:cNvCxnSpPr>
          <p:nvPr/>
        </p:nvCxnSpPr>
        <p:spPr>
          <a:xfrm>
            <a:off x="6617616" y="5187469"/>
            <a:ext cx="3904159" cy="11092"/>
          </a:xfrm>
          <a:prstGeom prst="straightConnector1">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BC0C8AFD-827D-0580-654A-09442939F254}"/>
                  </a:ext>
                </a:extLst>
              </p:cNvPr>
              <p:cNvSpPr txBox="1"/>
              <p:nvPr/>
            </p:nvSpPr>
            <p:spPr>
              <a:xfrm>
                <a:off x="6655821" y="4151879"/>
                <a:ext cx="3904159" cy="890628"/>
              </a:xfrm>
              <a:prstGeom prst="rect">
                <a:avLst/>
              </a:prstGeom>
              <a:noFill/>
            </p:spPr>
            <p:txBody>
              <a:bodyPr wrap="square" rtlCol="0">
                <a:spAutoFit/>
              </a:bodyPr>
              <a:lstStyle/>
              <a:p>
                <a:r>
                  <a:rPr kumimoji="1" lang="ja-JP" altLang="en-US" dirty="0">
                    <a:solidFill>
                      <a:schemeClr val="accent1"/>
                    </a:solidFill>
                  </a:rPr>
                  <a:t>各サーバについて</a:t>
                </a:r>
                <a:r>
                  <a:rPr lang="ja-JP" altLang="en-US" dirty="0">
                    <a:solidFill>
                      <a:schemeClr val="accent1"/>
                    </a:solidFill>
                  </a:rPr>
                  <a:t>マッチ済み確率</a:t>
                </a:r>
                <a:endParaRPr lang="en-US" altLang="ja-JP" dirty="0">
                  <a:solidFill>
                    <a:schemeClr val="accent1"/>
                  </a:solidFill>
                </a:endParaRPr>
              </a:p>
              <a:p>
                <a:pPr/>
                <a14:m>
                  <m:oMathPara xmlns:m="http://schemas.openxmlformats.org/officeDocument/2006/math">
                    <m:oMathParaPr>
                      <m:jc m:val="centerGroup"/>
                    </m:oMathParaPr>
                    <m:oMath xmlns:m="http://schemas.openxmlformats.org/officeDocument/2006/math">
                      <m:f>
                        <m:fPr>
                          <m:ctrlPr>
                            <a:rPr kumimoji="1" lang="en-US" altLang="ja-JP" b="0" i="1" smtClean="0">
                              <a:solidFill>
                                <a:schemeClr val="accent1"/>
                              </a:solidFill>
                              <a:latin typeface="Cambria Math" panose="02040503050406030204" pitchFamily="18" charset="0"/>
                            </a:rPr>
                          </m:ctrlPr>
                        </m:fPr>
                        <m:num>
                          <m:r>
                            <a:rPr kumimoji="1" lang="en-US" altLang="ja-JP" b="0" i="1" smtClean="0">
                              <a:solidFill>
                                <a:schemeClr val="accent1"/>
                              </a:solidFill>
                              <a:latin typeface="Cambria Math" panose="02040503050406030204" pitchFamily="18" charset="0"/>
                            </a:rPr>
                            <m:t>𝑗</m:t>
                          </m:r>
                        </m:num>
                        <m:den>
                          <m:r>
                            <a:rPr kumimoji="1" lang="en-US" altLang="ja-JP" b="0" i="1" smtClean="0">
                              <a:solidFill>
                                <a:schemeClr val="accent1"/>
                              </a:solidFill>
                              <a:latin typeface="Cambria Math" panose="02040503050406030204" pitchFamily="18" charset="0"/>
                            </a:rPr>
                            <m:t>𝑛</m:t>
                          </m:r>
                          <m:r>
                            <a:rPr kumimoji="1" lang="en-US" altLang="ja-JP" b="0" i="1" smtClean="0">
                              <a:solidFill>
                                <a:schemeClr val="accent1"/>
                              </a:solidFill>
                              <a:latin typeface="Cambria Math" panose="02040503050406030204" pitchFamily="18" charset="0"/>
                            </a:rPr>
                            <m:t>−</m:t>
                          </m:r>
                          <m:r>
                            <a:rPr kumimoji="1" lang="en-US" altLang="ja-JP" b="0" i="1" smtClean="0">
                              <a:solidFill>
                                <a:schemeClr val="accent1"/>
                              </a:solidFill>
                              <a:latin typeface="Cambria Math" panose="02040503050406030204" pitchFamily="18" charset="0"/>
                            </a:rPr>
                            <m:t>𝑖</m:t>
                          </m:r>
                          <m:r>
                            <a:rPr kumimoji="1" lang="en-US" altLang="ja-JP" b="0" i="1" smtClean="0">
                              <a:solidFill>
                                <a:schemeClr val="accent1"/>
                              </a:solidFill>
                              <a:latin typeface="Cambria Math" panose="02040503050406030204" pitchFamily="18" charset="0"/>
                            </a:rPr>
                            <m:t>+1</m:t>
                          </m:r>
                        </m:den>
                      </m:f>
                    </m:oMath>
                  </m:oMathPara>
                </a14:m>
                <a:endParaRPr kumimoji="1" lang="en-US" altLang="ja-JP" dirty="0">
                  <a:solidFill>
                    <a:schemeClr val="accent1"/>
                  </a:solidFill>
                </a:endParaRPr>
              </a:p>
            </p:txBody>
          </p:sp>
        </mc:Choice>
        <mc:Fallback xmlns="">
          <p:sp>
            <p:nvSpPr>
              <p:cNvPr id="24" name="テキスト ボックス 23">
                <a:extLst>
                  <a:ext uri="{FF2B5EF4-FFF2-40B4-BE49-F238E27FC236}">
                    <a16:creationId xmlns:a16="http://schemas.microsoft.com/office/drawing/2014/main" id="{BC0C8AFD-827D-0580-654A-09442939F254}"/>
                  </a:ext>
                </a:extLst>
              </p:cNvPr>
              <p:cNvSpPr txBox="1">
                <a:spLocks noRot="1" noChangeAspect="1" noMove="1" noResize="1" noEditPoints="1" noAdjustHandles="1" noChangeArrowheads="1" noChangeShapeType="1" noTextEdit="1"/>
              </p:cNvSpPr>
              <p:nvPr/>
            </p:nvSpPr>
            <p:spPr>
              <a:xfrm>
                <a:off x="6655821" y="4151879"/>
                <a:ext cx="3904159" cy="890628"/>
              </a:xfrm>
              <a:prstGeom prst="rect">
                <a:avLst/>
              </a:prstGeom>
              <a:blipFill>
                <a:blip r:embed="rId10"/>
                <a:stretch>
                  <a:fillRect l="-1406" t="-2055"/>
                </a:stretch>
              </a:blipFill>
            </p:spPr>
            <p:txBody>
              <a:bodyPr/>
              <a:lstStyle/>
              <a:p>
                <a:r>
                  <a:rPr lang="ja-JP" altLang="en-US">
                    <a:noFill/>
                  </a:rPr>
                  <a:t> </a:t>
                </a:r>
              </a:p>
            </p:txBody>
          </p:sp>
        </mc:Fallback>
      </mc:AlternateContent>
      <p:sp>
        <p:nvSpPr>
          <p:cNvPr id="25" name="正方形/長方形 24">
            <a:extLst>
              <a:ext uri="{FF2B5EF4-FFF2-40B4-BE49-F238E27FC236}">
                <a16:creationId xmlns:a16="http://schemas.microsoft.com/office/drawing/2014/main" id="{462B593D-1943-C2B2-D4A4-D1559A773A9B}"/>
              </a:ext>
            </a:extLst>
          </p:cNvPr>
          <p:cNvSpPr/>
          <p:nvPr/>
        </p:nvSpPr>
        <p:spPr>
          <a:xfrm>
            <a:off x="838200" y="5010852"/>
            <a:ext cx="2168373" cy="1182558"/>
          </a:xfrm>
          <a:prstGeom prst="rect">
            <a:avLst/>
          </a:prstGeom>
          <a:solidFill>
            <a:schemeClr val="accent2">
              <a:alpha val="2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2E9F05B1-BACD-C504-F7B8-264A721CAF18}"/>
              </a:ext>
            </a:extLst>
          </p:cNvPr>
          <p:cNvSpPr/>
          <p:nvPr/>
        </p:nvSpPr>
        <p:spPr>
          <a:xfrm>
            <a:off x="7235981" y="5886229"/>
            <a:ext cx="2168374" cy="294574"/>
          </a:xfrm>
          <a:prstGeom prst="rect">
            <a:avLst/>
          </a:prstGeom>
          <a:solidFill>
            <a:schemeClr val="accent2">
              <a:alpha val="2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1678B8EF-6E02-33C3-C400-3967D0872E53}"/>
              </a:ext>
            </a:extLst>
          </p:cNvPr>
          <p:cNvSpPr>
            <a:spLocks noGrp="1"/>
          </p:cNvSpPr>
          <p:nvPr>
            <p:ph type="sldNum" sz="quarter" idx="12"/>
          </p:nvPr>
        </p:nvSpPr>
        <p:spPr/>
        <p:txBody>
          <a:bodyPr/>
          <a:lstStyle/>
          <a:p>
            <a:fld id="{4B077F3A-4098-4199-8925-77865D1E3500}" type="slidenum">
              <a:rPr kumimoji="1" lang="ja-JP" altLang="en-US" smtClean="0"/>
              <a:t>53</a:t>
            </a:fld>
            <a:endParaRPr kumimoji="1" lang="ja-JP" altLang="en-US"/>
          </a:p>
        </p:txBody>
      </p:sp>
    </p:spTree>
    <p:extLst>
      <p:ext uri="{BB962C8B-B14F-4D97-AF65-F5344CB8AC3E}">
        <p14:creationId xmlns:p14="http://schemas.microsoft.com/office/powerpoint/2010/main" val="30467658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69E8-4A89-B3CA-3F2F-45D19273D4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6016DB-1CFC-4262-AF39-D0312B9C3B5A}"/>
              </a:ext>
            </a:extLst>
          </p:cNvPr>
          <p:cNvSpPr>
            <a:spLocks noGrp="1"/>
          </p:cNvSpPr>
          <p:nvPr>
            <p:ph type="title"/>
          </p:nvPr>
        </p:nvSpPr>
        <p:spPr/>
        <p:txBody>
          <a:bodyPr/>
          <a:lstStyle/>
          <a:p>
            <a:r>
              <a:rPr kumimoji="1" lang="ja-JP" altLang="en-US" dirty="0"/>
              <a:t>一様距離空間上の競合比上界３</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590C6FA-65F2-57C2-1245-ADBE7307B981}"/>
                  </a:ext>
                </a:extLst>
              </p:cNvPr>
              <p:cNvSpPr>
                <a:spLocks noGrp="1"/>
              </p:cNvSpPr>
              <p:nvPr>
                <p:ph idx="1"/>
              </p:nvPr>
            </p:nvSpPr>
            <p:spPr>
              <a:xfrm>
                <a:off x="838200" y="1825625"/>
                <a:ext cx="10515600" cy="2223548"/>
              </a:xfrm>
            </p:spPr>
            <p:txBody>
              <a:bodyPr>
                <a:normAutofit fontScale="92500" lnSpcReduction="10000"/>
              </a:bodyPr>
              <a:lstStyle/>
              <a:p>
                <a:pPr marL="0" indent="0">
                  <a:buNone/>
                </a:pPr>
                <a:r>
                  <a:rPr kumimoji="1" lang="ja-JP" altLang="en-US" sz="2400" dirty="0"/>
                  <a:t>リクエスト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𝑢</m:t>
                            </m:r>
                          </m:e>
                          <m:sub>
                            <m:r>
                              <a:rPr kumimoji="1" lang="en-US" altLang="ja-JP" sz="2400" b="0" i="1" smtClean="0">
                                <a:latin typeface="Cambria Math" panose="02040503050406030204" pitchFamily="18" charset="0"/>
                              </a:rPr>
                              <m:t>𝑖</m:t>
                            </m:r>
                          </m:sub>
                        </m:sSub>
                      </m:sub>
                    </m:sSub>
                  </m:oMath>
                </a14:m>
                <a:r>
                  <a:rPr kumimoji="1" lang="en-US" altLang="ja-JP" sz="2400" dirty="0"/>
                  <a:t> </a:t>
                </a:r>
                <a:r>
                  <a:rPr kumimoji="1" lang="ja-JP" altLang="en-US" sz="2400" dirty="0"/>
                  <a:t>の</a:t>
                </a:r>
                <a:r>
                  <a:rPr lang="ja-JP" altLang="en-US" sz="2400" dirty="0"/>
                  <a:t>割り当てにかかる期待コスト</a:t>
                </a:r>
                <a:endParaRPr lang="en-US" altLang="ja-JP" sz="2400" dirty="0"/>
              </a:p>
              <a:p>
                <a:pPr marL="0" indent="0">
                  <a:buNone/>
                </a:pPr>
                <a:r>
                  <a:rPr lang="ja-JP" altLang="en-US" sz="2400" dirty="0"/>
                  <a:t>＝</a:t>
                </a:r>
                <a:r>
                  <a:rPr lang="en-US" altLang="ja-JP" sz="2400" dirty="0"/>
                  <a:t> </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𝑟</m:t>
                        </m:r>
                      </m:e>
                      <m:sub>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𝑢</m:t>
                            </m:r>
                          </m:e>
                          <m:sub>
                            <m:r>
                              <a:rPr lang="en-US" altLang="ja-JP" sz="2400" b="0" i="1" smtClean="0">
                                <a:latin typeface="Cambria Math" panose="02040503050406030204" pitchFamily="18" charset="0"/>
                              </a:rPr>
                              <m:t>𝑖</m:t>
                            </m:r>
                          </m:sub>
                        </m:sSub>
                      </m:sub>
                    </m:sSub>
                  </m:oMath>
                </a14:m>
                <a:r>
                  <a:rPr kumimoji="1" lang="en-US" altLang="ja-JP" sz="2400" dirty="0"/>
                  <a:t> </a:t>
                </a:r>
                <a:r>
                  <a:rPr kumimoji="1" lang="ja-JP" altLang="en-US" sz="2400" dirty="0"/>
                  <a:t>の場所がマッチ済みである確率 </a:t>
                </a:r>
                <a14:m>
                  <m:oMath xmlns:m="http://schemas.openxmlformats.org/officeDocument/2006/math">
                    <m:r>
                      <a:rPr kumimoji="1" lang="en-US" altLang="ja-JP" sz="2400" b="0" i="0"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𝑗</m:t>
                        </m:r>
                      </m:num>
                      <m:den>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den>
                    </m:f>
                    <m:r>
                      <a:rPr kumimoji="1" lang="en-US" altLang="ja-JP" sz="2400" b="0" i="1" smtClean="0">
                        <a:latin typeface="Cambria Math" panose="02040503050406030204" pitchFamily="18" charset="0"/>
                      </a:rPr>
                      <m:t>≤</m:t>
                    </m:r>
                    <m:f>
                      <m:fPr>
                        <m:ctrlPr>
                          <a:rPr lang="en-US" altLang="ja-JP" sz="2400" i="1" smtClean="0">
                            <a:solidFill>
                              <a:schemeClr val="tx1"/>
                            </a:solidFill>
                            <a:latin typeface="Cambria Math" panose="02040503050406030204" pitchFamily="18" charset="0"/>
                          </a:rPr>
                        </m:ctrlPr>
                      </m:fPr>
                      <m:num>
                        <m:r>
                          <a:rPr lang="en-US" altLang="ja-JP" sz="2400" i="1">
                            <a:solidFill>
                              <a:schemeClr val="tx1"/>
                            </a:solidFill>
                            <a:latin typeface="Cambria Math" panose="02040503050406030204" pitchFamily="18" charset="0"/>
                          </a:rPr>
                          <m:t>𝑚</m:t>
                        </m:r>
                      </m:num>
                      <m:den>
                        <m:r>
                          <a:rPr lang="en-US" altLang="ja-JP" sz="2400" i="1">
                            <a:solidFill>
                              <a:schemeClr val="tx1"/>
                            </a:solidFill>
                            <a:latin typeface="Cambria Math" panose="02040503050406030204" pitchFamily="18" charset="0"/>
                          </a:rPr>
                          <m:t>𝑛</m:t>
                        </m:r>
                        <m:r>
                          <a:rPr lang="en-US" altLang="ja-JP" sz="2400" i="1">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𝑖</m:t>
                        </m:r>
                        <m:r>
                          <a:rPr lang="en-US" altLang="ja-JP" sz="2400" i="1">
                            <a:solidFill>
                              <a:schemeClr val="tx1"/>
                            </a:solidFill>
                            <a:latin typeface="Cambria Math" panose="02040503050406030204" pitchFamily="18" charset="0"/>
                          </a:rPr>
                          <m:t>+1</m:t>
                        </m:r>
                      </m:den>
                    </m:f>
                  </m:oMath>
                </a14:m>
                <a:endParaRPr kumimoji="1" lang="en-US" altLang="ja-JP" sz="2400" dirty="0"/>
              </a:p>
              <a:p>
                <a:pPr marL="0" indent="0">
                  <a:buNone/>
                </a:pPr>
                <a:r>
                  <a:rPr kumimoji="1" lang="ja-JP" altLang="en-US" sz="2400" dirty="0"/>
                  <a:t>よって</a:t>
                </a:r>
                <a:endParaRPr kumimoji="1" lang="en-US" altLang="ja-JP" sz="2400" dirty="0"/>
              </a:p>
              <a:p>
                <a:pPr marL="0" indent="0">
                  <a:buNone/>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𝔼</m:t>
                      </m:r>
                      <m:d>
                        <m:dPr>
                          <m:begChr m:val="["/>
                          <m:endChr m:val="]"/>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𝐴𝐿𝐺</m:t>
                          </m:r>
                        </m:e>
                      </m:d>
                      <m:r>
                        <a:rPr kumimoji="1" lang="en-US" altLang="ja-JP" sz="2400" b="0" i="1" smtClean="0">
                          <a:latin typeface="Cambria Math" panose="02040503050406030204" pitchFamily="18" charset="0"/>
                        </a:rPr>
                        <m:t>≤</m:t>
                      </m:r>
                      <m:r>
                        <a:rPr kumimoji="1" lang="en-US" altLang="ja-JP" sz="2400" b="0" i="1" smtClean="0">
                          <a:solidFill>
                            <a:schemeClr val="accent6">
                              <a:lumMod val="75000"/>
                            </a:schemeClr>
                          </a:solidFill>
                          <a:latin typeface="Cambria Math" panose="02040503050406030204" pitchFamily="18" charset="0"/>
                        </a:rPr>
                        <m:t>𝑚</m:t>
                      </m:r>
                      <m:r>
                        <a:rPr kumimoji="1" lang="en-US" altLang="ja-JP" sz="2400" b="0" i="1" smtClean="0">
                          <a:latin typeface="Cambria Math" panose="02040503050406030204" pitchFamily="18" charset="0"/>
                        </a:rPr>
                        <m:t>+</m:t>
                      </m:r>
                      <m:nary>
                        <m:naryPr>
                          <m:chr m:val="∑"/>
                          <m:ctrlPr>
                            <a:rPr kumimoji="1" lang="en-US" altLang="ja-JP" sz="2400" b="0" i="1" smtClean="0">
                              <a:solidFill>
                                <a:schemeClr val="accent1"/>
                              </a:solidFill>
                              <a:latin typeface="Cambria Math" panose="02040503050406030204" pitchFamily="18" charset="0"/>
                            </a:rPr>
                          </m:ctrlPr>
                        </m:naryPr>
                        <m:sub>
                          <m:r>
                            <a:rPr kumimoji="1" lang="en-US" altLang="ja-JP" sz="2400" b="0" i="1" smtClean="0">
                              <a:solidFill>
                                <a:schemeClr val="accent1"/>
                              </a:solidFill>
                              <a:latin typeface="Cambria Math" panose="02040503050406030204" pitchFamily="18" charset="0"/>
                            </a:rPr>
                            <m:t>𝑖</m:t>
                          </m:r>
                          <m:r>
                            <a:rPr kumimoji="1" lang="en-US" altLang="ja-JP" sz="2400" b="0" i="1" smtClean="0">
                              <a:solidFill>
                                <a:schemeClr val="accent1"/>
                              </a:solidFill>
                              <a:latin typeface="Cambria Math" panose="02040503050406030204" pitchFamily="18" charset="0"/>
                            </a:rPr>
                            <m:t>=1</m:t>
                          </m:r>
                        </m:sub>
                        <m:sup>
                          <m:r>
                            <a:rPr kumimoji="1" lang="en-US" altLang="ja-JP" sz="2400" b="0" i="1" smtClean="0">
                              <a:solidFill>
                                <a:schemeClr val="accent1"/>
                              </a:solidFill>
                              <a:latin typeface="Cambria Math" panose="02040503050406030204" pitchFamily="18" charset="0"/>
                            </a:rPr>
                            <m:t>𝑛</m:t>
                          </m:r>
                          <m:r>
                            <a:rPr kumimoji="1" lang="en-US" altLang="ja-JP" sz="2400" b="0" i="1" smtClean="0">
                              <a:solidFill>
                                <a:schemeClr val="accent1"/>
                              </a:solidFill>
                              <a:latin typeface="Cambria Math" panose="02040503050406030204" pitchFamily="18" charset="0"/>
                            </a:rPr>
                            <m:t>−</m:t>
                          </m:r>
                          <m:r>
                            <a:rPr kumimoji="1" lang="en-US" altLang="ja-JP" sz="2400" b="0" i="1" smtClean="0">
                              <a:solidFill>
                                <a:schemeClr val="accent1"/>
                              </a:solidFill>
                              <a:latin typeface="Cambria Math" panose="02040503050406030204" pitchFamily="18" charset="0"/>
                            </a:rPr>
                            <m:t>𝑚</m:t>
                          </m:r>
                        </m:sup>
                        <m:e>
                          <m:f>
                            <m:fPr>
                              <m:ctrlPr>
                                <a:rPr lang="en-US" altLang="ja-JP" sz="2400" i="1">
                                  <a:solidFill>
                                    <a:schemeClr val="accent1"/>
                                  </a:solidFill>
                                  <a:latin typeface="Cambria Math" panose="02040503050406030204" pitchFamily="18" charset="0"/>
                                </a:rPr>
                              </m:ctrlPr>
                            </m:fPr>
                            <m:num>
                              <m:r>
                                <a:rPr lang="en-US" altLang="ja-JP" sz="2400" i="1">
                                  <a:solidFill>
                                    <a:schemeClr val="accent1"/>
                                  </a:solidFill>
                                  <a:latin typeface="Cambria Math" panose="02040503050406030204" pitchFamily="18" charset="0"/>
                                </a:rPr>
                                <m:t>𝑚</m:t>
                              </m:r>
                            </m:num>
                            <m:den>
                              <m:r>
                                <a:rPr lang="en-US" altLang="ja-JP" sz="2400" i="1">
                                  <a:solidFill>
                                    <a:schemeClr val="accent1"/>
                                  </a:solidFill>
                                  <a:latin typeface="Cambria Math" panose="02040503050406030204" pitchFamily="18" charset="0"/>
                                </a:rPr>
                                <m:t>𝑛</m:t>
                              </m:r>
                              <m:r>
                                <a:rPr lang="en-US" altLang="ja-JP" sz="2400" i="1">
                                  <a:solidFill>
                                    <a:schemeClr val="accent1"/>
                                  </a:solidFill>
                                  <a:latin typeface="Cambria Math" panose="02040503050406030204" pitchFamily="18" charset="0"/>
                                </a:rPr>
                                <m:t>−</m:t>
                              </m:r>
                              <m:r>
                                <a:rPr lang="en-US" altLang="ja-JP" sz="2400" b="0" i="1" smtClean="0">
                                  <a:solidFill>
                                    <a:schemeClr val="accent1"/>
                                  </a:solidFill>
                                  <a:latin typeface="Cambria Math" panose="02040503050406030204" pitchFamily="18" charset="0"/>
                                </a:rPr>
                                <m:t>𝑖</m:t>
                              </m:r>
                              <m:r>
                                <a:rPr lang="en-US" altLang="ja-JP" sz="2400" i="1">
                                  <a:solidFill>
                                    <a:schemeClr val="accent1"/>
                                  </a:solidFill>
                                  <a:latin typeface="Cambria Math" panose="02040503050406030204" pitchFamily="18" charset="0"/>
                                </a:rPr>
                                <m:t>+1</m:t>
                              </m:r>
                            </m:den>
                          </m:f>
                        </m:e>
                      </m:nary>
                      <m:r>
                        <a:rPr kumimoji="1" lang="en-US" altLang="ja-JP" sz="2400" b="0" i="1" smtClean="0">
                          <a:latin typeface="Cambria Math" panose="02040503050406030204" pitchFamily="18" charset="0"/>
                        </a:rPr>
                        <m:t>≤</m:t>
                      </m:r>
                      <m:nary>
                        <m:naryPr>
                          <m:chr m:val="∑"/>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𝑛</m:t>
                          </m:r>
                        </m:sup>
                        <m:e>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𝑚</m:t>
                              </m:r>
                            </m:num>
                            <m:den>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den>
                          </m:f>
                        </m:e>
                      </m:nary>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𝑚</m:t>
                      </m:r>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𝐻</m:t>
                          </m:r>
                        </m:e>
                        <m:sub>
                          <m:r>
                            <a:rPr kumimoji="1" lang="en-US" altLang="ja-JP" sz="2400" b="0" i="1" smtClean="0">
                              <a:latin typeface="Cambria Math" panose="02040503050406030204" pitchFamily="18" charset="0"/>
                            </a:rPr>
                            <m:t>𝑛</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𝐻</m:t>
                          </m:r>
                        </m:e>
                        <m:sub>
                          <m:r>
                            <a:rPr kumimoji="1" lang="en-US" altLang="ja-JP" sz="2400" b="0" i="1" smtClean="0">
                              <a:latin typeface="Cambria Math" panose="02040503050406030204" pitchFamily="18" charset="0"/>
                            </a:rPr>
                            <m:t>𝑛</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𝑂𝑃𝑇</m:t>
                      </m:r>
                    </m:oMath>
                  </m:oMathPara>
                </a14:m>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D590C6FA-65F2-57C2-1245-ADBE7307B981}"/>
                  </a:ext>
                </a:extLst>
              </p:cNvPr>
              <p:cNvSpPr>
                <a:spLocks noGrp="1" noRot="1" noChangeAspect="1" noMove="1" noResize="1" noEditPoints="1" noAdjustHandles="1" noChangeArrowheads="1" noChangeShapeType="1" noTextEdit="1"/>
              </p:cNvSpPr>
              <p:nvPr>
                <p:ph idx="1"/>
              </p:nvPr>
            </p:nvSpPr>
            <p:spPr>
              <a:xfrm>
                <a:off x="838200" y="1825625"/>
                <a:ext cx="10515600" cy="2223548"/>
              </a:xfrm>
              <a:blipFill>
                <a:blip r:embed="rId2"/>
                <a:stretch>
                  <a:fillRect l="-754" t="-3014"/>
                </a:stretch>
              </a:blipFill>
            </p:spPr>
            <p:txBody>
              <a:bodyPr/>
              <a:lstStyle/>
              <a:p>
                <a:r>
                  <a:rPr lang="ja-JP" altLang="en-US">
                    <a:noFill/>
                  </a:rPr>
                  <a:t> </a:t>
                </a:r>
              </a:p>
            </p:txBody>
          </p:sp>
        </mc:Fallback>
      </mc:AlternateContent>
      <p:sp>
        <p:nvSpPr>
          <p:cNvPr id="6" name="楕円 5">
            <a:extLst>
              <a:ext uri="{FF2B5EF4-FFF2-40B4-BE49-F238E27FC236}">
                <a16:creationId xmlns:a16="http://schemas.microsoft.com/office/drawing/2014/main" id="{2EA10144-E87F-CAB0-33EA-4AA1737AD858}"/>
              </a:ext>
            </a:extLst>
          </p:cNvPr>
          <p:cNvSpPr/>
          <p:nvPr/>
        </p:nvSpPr>
        <p:spPr>
          <a:xfrm>
            <a:off x="4238188"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B4339682-3EC8-E34B-2CC1-733C31DA223D}"/>
              </a:ext>
            </a:extLst>
          </p:cNvPr>
          <p:cNvSpPr/>
          <p:nvPr/>
        </p:nvSpPr>
        <p:spPr>
          <a:xfrm>
            <a:off x="4852147"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D31AB727-6AC1-F332-4EB6-C34F313EED9C}"/>
              </a:ext>
            </a:extLst>
          </p:cNvPr>
          <p:cNvSpPr/>
          <p:nvPr/>
        </p:nvSpPr>
        <p:spPr>
          <a:xfrm>
            <a:off x="5466106"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8CD50F1F-0891-9EF1-A194-8130E8D631A2}"/>
              </a:ext>
            </a:extLst>
          </p:cNvPr>
          <p:cNvSpPr/>
          <p:nvPr/>
        </p:nvSpPr>
        <p:spPr>
          <a:xfrm>
            <a:off x="6080065"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D042E735-FB44-D48B-AA87-DFD72FD66EB2}"/>
              </a:ext>
            </a:extLst>
          </p:cNvPr>
          <p:cNvSpPr/>
          <p:nvPr/>
        </p:nvSpPr>
        <p:spPr>
          <a:xfrm>
            <a:off x="6694024"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84F83E17-7B5B-D05A-83BE-A9ACA530AC01}"/>
              </a:ext>
            </a:extLst>
          </p:cNvPr>
          <p:cNvSpPr/>
          <p:nvPr/>
        </p:nvSpPr>
        <p:spPr>
          <a:xfrm>
            <a:off x="7307983"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E693C89F-DB2B-3CD0-E210-1F859C3DFFE8}"/>
              </a:ext>
            </a:extLst>
          </p:cNvPr>
          <p:cNvSpPr/>
          <p:nvPr/>
        </p:nvSpPr>
        <p:spPr>
          <a:xfrm>
            <a:off x="7921942"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6608BFCC-B343-C048-663F-89451F64F0CF}"/>
              </a:ext>
            </a:extLst>
          </p:cNvPr>
          <p:cNvSpPr/>
          <p:nvPr/>
        </p:nvSpPr>
        <p:spPr>
          <a:xfrm>
            <a:off x="8535901"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CE20EF9A-7303-7FD7-10F0-FA90CD10A10E}"/>
              </a:ext>
            </a:extLst>
          </p:cNvPr>
          <p:cNvSpPr/>
          <p:nvPr/>
        </p:nvSpPr>
        <p:spPr>
          <a:xfrm>
            <a:off x="9149860"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78644EB1-BA85-4F90-2DD5-DA97E2DDA7E3}"/>
              </a:ext>
            </a:extLst>
          </p:cNvPr>
          <p:cNvSpPr/>
          <p:nvPr/>
        </p:nvSpPr>
        <p:spPr>
          <a:xfrm>
            <a:off x="9763819"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B20717F9-0F9F-9CD3-708C-AA310D698BA6}"/>
              </a:ext>
            </a:extLst>
          </p:cNvPr>
          <p:cNvSpPr/>
          <p:nvPr/>
        </p:nvSpPr>
        <p:spPr>
          <a:xfrm>
            <a:off x="10377775" y="596698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BB715A72-DE7A-C0B9-D9A1-D40583ADB2F6}"/>
              </a:ext>
            </a:extLst>
          </p:cNvPr>
          <p:cNvCxnSpPr>
            <a:cxnSpLocks/>
          </p:cNvCxnSpPr>
          <p:nvPr/>
        </p:nvCxnSpPr>
        <p:spPr>
          <a:xfrm>
            <a:off x="4308381"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D9B7E9D1-99AB-6A02-F97B-21E8D8EAD818}"/>
              </a:ext>
            </a:extLst>
          </p:cNvPr>
          <p:cNvCxnSpPr>
            <a:cxnSpLocks/>
          </p:cNvCxnSpPr>
          <p:nvPr/>
        </p:nvCxnSpPr>
        <p:spPr>
          <a:xfrm>
            <a:off x="4924147"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657C263A-89A4-F831-0F38-095CBCDD6FC9}"/>
              </a:ext>
            </a:extLst>
          </p:cNvPr>
          <p:cNvCxnSpPr>
            <a:cxnSpLocks/>
          </p:cNvCxnSpPr>
          <p:nvPr/>
        </p:nvCxnSpPr>
        <p:spPr>
          <a:xfrm>
            <a:off x="5538106"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614A59F2-C247-8BA6-D06E-BB8C517A9CFC}"/>
              </a:ext>
            </a:extLst>
          </p:cNvPr>
          <p:cNvCxnSpPr>
            <a:cxnSpLocks/>
          </p:cNvCxnSpPr>
          <p:nvPr/>
        </p:nvCxnSpPr>
        <p:spPr>
          <a:xfrm>
            <a:off x="6152065" y="5403973"/>
            <a:ext cx="0" cy="56301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FD7C5CF0-7140-A346-42DA-061167B90720}"/>
              </a:ext>
            </a:extLst>
          </p:cNvPr>
          <p:cNvCxnSpPr>
            <a:cxnSpLocks/>
          </p:cNvCxnSpPr>
          <p:nvPr/>
        </p:nvCxnSpPr>
        <p:spPr>
          <a:xfrm>
            <a:off x="6766024" y="5403973"/>
            <a:ext cx="0" cy="563010"/>
          </a:xfrm>
          <a:prstGeom prst="straightConnector1">
            <a:avLst/>
          </a:prstGeom>
          <a:ln w="31750">
            <a:solidFill>
              <a:schemeClr val="tx1">
                <a:alpha val="2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3D48F600-1DF3-FBD9-46B9-C7321CC69F5B}"/>
              </a:ext>
            </a:extLst>
          </p:cNvPr>
          <p:cNvCxnSpPr>
            <a:cxnSpLocks/>
          </p:cNvCxnSpPr>
          <p:nvPr/>
        </p:nvCxnSpPr>
        <p:spPr>
          <a:xfrm>
            <a:off x="7380371" y="5403973"/>
            <a:ext cx="0" cy="563010"/>
          </a:xfrm>
          <a:prstGeom prst="straightConnector1">
            <a:avLst/>
          </a:prstGeom>
          <a:ln w="31750">
            <a:solidFill>
              <a:schemeClr val="tx1">
                <a:alpha val="2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CE9A8F50-4678-0D9D-E8EE-0FD24CB9C3CA}"/>
                  </a:ext>
                </a:extLst>
              </p:cNvPr>
              <p:cNvSpPr txBox="1"/>
              <p:nvPr/>
            </p:nvSpPr>
            <p:spPr>
              <a:xfrm>
                <a:off x="4091326" y="5010852"/>
                <a:ext cx="434109" cy="3931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1</m:t>
                              </m:r>
                            </m:sub>
                          </m:sSub>
                        </m:sub>
                      </m:sSub>
                    </m:oMath>
                  </m:oMathPara>
                </a14:m>
                <a:endParaRPr kumimoji="1" lang="ja-JP" altLang="en-US" dirty="0"/>
              </a:p>
            </p:txBody>
          </p:sp>
        </mc:Choice>
        <mc:Fallback xmlns="">
          <p:sp>
            <p:nvSpPr>
              <p:cNvPr id="37" name="テキスト ボックス 36">
                <a:extLst>
                  <a:ext uri="{FF2B5EF4-FFF2-40B4-BE49-F238E27FC236}">
                    <a16:creationId xmlns:a16="http://schemas.microsoft.com/office/drawing/2014/main" id="{CE9A8F50-4678-0D9D-E8EE-0FD24CB9C3CA}"/>
                  </a:ext>
                </a:extLst>
              </p:cNvPr>
              <p:cNvSpPr txBox="1">
                <a:spLocks noRot="1" noChangeAspect="1" noMove="1" noResize="1" noEditPoints="1" noAdjustHandles="1" noChangeArrowheads="1" noChangeShapeType="1" noTextEdit="1"/>
              </p:cNvSpPr>
              <p:nvPr/>
            </p:nvSpPr>
            <p:spPr>
              <a:xfrm>
                <a:off x="4091326" y="5010852"/>
                <a:ext cx="434109" cy="393121"/>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14D865A0-A01D-3EA5-685D-452A0BBF066F}"/>
                  </a:ext>
                </a:extLst>
              </p:cNvPr>
              <p:cNvSpPr txBox="1"/>
              <p:nvPr/>
            </p:nvSpPr>
            <p:spPr>
              <a:xfrm>
                <a:off x="4721686" y="5010852"/>
                <a:ext cx="434109"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2</m:t>
                              </m:r>
                            </m:sub>
                          </m:sSub>
                        </m:sub>
                      </m:sSub>
                    </m:oMath>
                  </m:oMathPara>
                </a14:m>
                <a:endParaRPr kumimoji="1" lang="ja-JP" altLang="en-US" dirty="0"/>
              </a:p>
            </p:txBody>
          </p:sp>
        </mc:Choice>
        <mc:Fallback xmlns="">
          <p:sp>
            <p:nvSpPr>
              <p:cNvPr id="38" name="テキスト ボックス 37">
                <a:extLst>
                  <a:ext uri="{FF2B5EF4-FFF2-40B4-BE49-F238E27FC236}">
                    <a16:creationId xmlns:a16="http://schemas.microsoft.com/office/drawing/2014/main" id="{14D865A0-A01D-3EA5-685D-452A0BBF066F}"/>
                  </a:ext>
                </a:extLst>
              </p:cNvPr>
              <p:cNvSpPr txBox="1">
                <a:spLocks noRot="1" noChangeAspect="1" noMove="1" noResize="1" noEditPoints="1" noAdjustHandles="1" noChangeArrowheads="1" noChangeShapeType="1" noTextEdit="1"/>
              </p:cNvSpPr>
              <p:nvPr/>
            </p:nvSpPr>
            <p:spPr>
              <a:xfrm>
                <a:off x="4721686" y="5010852"/>
                <a:ext cx="434109" cy="404213"/>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D7A3B82B-1AFD-0C74-CCE3-16165F3DA0D6}"/>
                  </a:ext>
                </a:extLst>
              </p:cNvPr>
              <p:cNvSpPr txBox="1"/>
              <p:nvPr/>
            </p:nvSpPr>
            <p:spPr>
              <a:xfrm>
                <a:off x="5831654" y="4999760"/>
                <a:ext cx="633697"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𝑖</m:t>
                              </m:r>
                              <m:r>
                                <a:rPr kumimoji="1" lang="en-US" altLang="ja-JP" b="0" i="1" smtClean="0">
                                  <a:latin typeface="Cambria Math" panose="02040503050406030204" pitchFamily="18" charset="0"/>
                                </a:rPr>
                                <m:t>−1</m:t>
                              </m:r>
                            </m:sub>
                          </m:sSub>
                        </m:sub>
                      </m:sSub>
                    </m:oMath>
                  </m:oMathPara>
                </a14:m>
                <a:endParaRPr kumimoji="1" lang="ja-JP" altLang="en-US" dirty="0"/>
              </a:p>
            </p:txBody>
          </p:sp>
        </mc:Choice>
        <mc:Fallback xmlns="">
          <p:sp>
            <p:nvSpPr>
              <p:cNvPr id="41" name="テキスト ボックス 40">
                <a:extLst>
                  <a:ext uri="{FF2B5EF4-FFF2-40B4-BE49-F238E27FC236}">
                    <a16:creationId xmlns:a16="http://schemas.microsoft.com/office/drawing/2014/main" id="{D7A3B82B-1AFD-0C74-CCE3-16165F3DA0D6}"/>
                  </a:ext>
                </a:extLst>
              </p:cNvPr>
              <p:cNvSpPr txBox="1">
                <a:spLocks noRot="1" noChangeAspect="1" noMove="1" noResize="1" noEditPoints="1" noAdjustHandles="1" noChangeArrowheads="1" noChangeShapeType="1" noTextEdit="1"/>
              </p:cNvSpPr>
              <p:nvPr/>
            </p:nvSpPr>
            <p:spPr>
              <a:xfrm>
                <a:off x="5831654" y="4999760"/>
                <a:ext cx="633697" cy="404213"/>
              </a:xfrm>
              <a:prstGeom prst="rect">
                <a:avLst/>
              </a:prstGeom>
              <a:blipFill>
                <a:blip r:embed="rId5"/>
                <a:stretch>
                  <a:fillRect b="-1515"/>
                </a:stretch>
              </a:blipFill>
            </p:spPr>
            <p:txBody>
              <a:bodyPr/>
              <a:lstStyle/>
              <a:p>
                <a:r>
                  <a:rPr lang="ja-JP" altLang="en-US">
                    <a:noFill/>
                  </a:rPr>
                  <a:t> </a:t>
                </a:r>
              </a:p>
            </p:txBody>
          </p:sp>
        </mc:Fallback>
      </mc:AlternateContent>
      <p:cxnSp>
        <p:nvCxnSpPr>
          <p:cNvPr id="19" name="直線矢印コネクタ 18">
            <a:extLst>
              <a:ext uri="{FF2B5EF4-FFF2-40B4-BE49-F238E27FC236}">
                <a16:creationId xmlns:a16="http://schemas.microsoft.com/office/drawing/2014/main" id="{1C82C6A6-AF9E-ED3B-53F8-95A2EDD28772}"/>
              </a:ext>
            </a:extLst>
          </p:cNvPr>
          <p:cNvCxnSpPr>
            <a:cxnSpLocks/>
          </p:cNvCxnSpPr>
          <p:nvPr/>
        </p:nvCxnSpPr>
        <p:spPr>
          <a:xfrm>
            <a:off x="6617616" y="5187469"/>
            <a:ext cx="3904159" cy="11092"/>
          </a:xfrm>
          <a:prstGeom prst="straightConnector1">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F3AA4345-B979-95B6-EB1C-F7320CE0AEAD}"/>
                  </a:ext>
                </a:extLst>
              </p:cNvPr>
              <p:cNvSpPr txBox="1"/>
              <p:nvPr/>
            </p:nvSpPr>
            <p:spPr>
              <a:xfrm>
                <a:off x="6655821" y="4151879"/>
                <a:ext cx="3904159" cy="890628"/>
              </a:xfrm>
              <a:prstGeom prst="rect">
                <a:avLst/>
              </a:prstGeom>
              <a:noFill/>
            </p:spPr>
            <p:txBody>
              <a:bodyPr wrap="square" rtlCol="0">
                <a:spAutoFit/>
              </a:bodyPr>
              <a:lstStyle/>
              <a:p>
                <a:r>
                  <a:rPr kumimoji="1" lang="ja-JP" altLang="en-US" dirty="0">
                    <a:solidFill>
                      <a:schemeClr val="accent1"/>
                    </a:solidFill>
                  </a:rPr>
                  <a:t>各サーバについて</a:t>
                </a:r>
                <a:r>
                  <a:rPr lang="ja-JP" altLang="en-US" dirty="0">
                    <a:solidFill>
                      <a:schemeClr val="accent1"/>
                    </a:solidFill>
                  </a:rPr>
                  <a:t>マッチ済み確率</a:t>
                </a:r>
                <a:endParaRPr lang="en-US" altLang="ja-JP" dirty="0">
                  <a:solidFill>
                    <a:schemeClr val="accent1"/>
                  </a:solidFill>
                </a:endParaRPr>
              </a:p>
              <a:p>
                <a:pPr/>
                <a14:m>
                  <m:oMathPara xmlns:m="http://schemas.openxmlformats.org/officeDocument/2006/math">
                    <m:oMathParaPr>
                      <m:jc m:val="centerGroup"/>
                    </m:oMathParaPr>
                    <m:oMath xmlns:m="http://schemas.openxmlformats.org/officeDocument/2006/math">
                      <m:f>
                        <m:fPr>
                          <m:ctrlPr>
                            <a:rPr kumimoji="1" lang="en-US" altLang="ja-JP" b="0" i="1" smtClean="0">
                              <a:solidFill>
                                <a:schemeClr val="accent1"/>
                              </a:solidFill>
                              <a:latin typeface="Cambria Math" panose="02040503050406030204" pitchFamily="18" charset="0"/>
                            </a:rPr>
                          </m:ctrlPr>
                        </m:fPr>
                        <m:num>
                          <m:r>
                            <a:rPr kumimoji="1" lang="en-US" altLang="ja-JP" b="0" i="1" smtClean="0">
                              <a:solidFill>
                                <a:schemeClr val="accent1"/>
                              </a:solidFill>
                              <a:latin typeface="Cambria Math" panose="02040503050406030204" pitchFamily="18" charset="0"/>
                            </a:rPr>
                            <m:t>𝑗</m:t>
                          </m:r>
                        </m:num>
                        <m:den>
                          <m:r>
                            <a:rPr kumimoji="1" lang="en-US" altLang="ja-JP" b="0" i="1" smtClean="0">
                              <a:solidFill>
                                <a:schemeClr val="accent1"/>
                              </a:solidFill>
                              <a:latin typeface="Cambria Math" panose="02040503050406030204" pitchFamily="18" charset="0"/>
                            </a:rPr>
                            <m:t>𝑛</m:t>
                          </m:r>
                          <m:r>
                            <a:rPr kumimoji="1" lang="en-US" altLang="ja-JP" b="0" i="1" smtClean="0">
                              <a:solidFill>
                                <a:schemeClr val="accent1"/>
                              </a:solidFill>
                              <a:latin typeface="Cambria Math" panose="02040503050406030204" pitchFamily="18" charset="0"/>
                            </a:rPr>
                            <m:t>−</m:t>
                          </m:r>
                          <m:r>
                            <a:rPr kumimoji="1" lang="en-US" altLang="ja-JP" b="0" i="1" smtClean="0">
                              <a:solidFill>
                                <a:schemeClr val="accent1"/>
                              </a:solidFill>
                              <a:latin typeface="Cambria Math" panose="02040503050406030204" pitchFamily="18" charset="0"/>
                            </a:rPr>
                            <m:t>𝑖</m:t>
                          </m:r>
                          <m:r>
                            <a:rPr kumimoji="1" lang="en-US" altLang="ja-JP" b="0" i="1" smtClean="0">
                              <a:solidFill>
                                <a:schemeClr val="accent1"/>
                              </a:solidFill>
                              <a:latin typeface="Cambria Math" panose="02040503050406030204" pitchFamily="18" charset="0"/>
                            </a:rPr>
                            <m:t>+1</m:t>
                          </m:r>
                        </m:den>
                      </m:f>
                    </m:oMath>
                  </m:oMathPara>
                </a14:m>
                <a:endParaRPr kumimoji="1" lang="en-US" altLang="ja-JP" dirty="0">
                  <a:solidFill>
                    <a:schemeClr val="accent1"/>
                  </a:solidFill>
                </a:endParaRPr>
              </a:p>
            </p:txBody>
          </p:sp>
        </mc:Choice>
        <mc:Fallback xmlns="">
          <p:sp>
            <p:nvSpPr>
              <p:cNvPr id="24" name="テキスト ボックス 23">
                <a:extLst>
                  <a:ext uri="{FF2B5EF4-FFF2-40B4-BE49-F238E27FC236}">
                    <a16:creationId xmlns:a16="http://schemas.microsoft.com/office/drawing/2014/main" id="{F3AA4345-B979-95B6-EB1C-F7320CE0AEAD}"/>
                  </a:ext>
                </a:extLst>
              </p:cNvPr>
              <p:cNvSpPr txBox="1">
                <a:spLocks noRot="1" noChangeAspect="1" noMove="1" noResize="1" noEditPoints="1" noAdjustHandles="1" noChangeArrowheads="1" noChangeShapeType="1" noTextEdit="1"/>
              </p:cNvSpPr>
              <p:nvPr/>
            </p:nvSpPr>
            <p:spPr>
              <a:xfrm>
                <a:off x="6655821" y="4151879"/>
                <a:ext cx="3904159" cy="890628"/>
              </a:xfrm>
              <a:prstGeom prst="rect">
                <a:avLst/>
              </a:prstGeom>
              <a:blipFill>
                <a:blip r:embed="rId6"/>
                <a:stretch>
                  <a:fillRect l="-1406" t="-2055"/>
                </a:stretch>
              </a:blipFill>
            </p:spPr>
            <p:txBody>
              <a:bodyPr/>
              <a:lstStyle/>
              <a:p>
                <a:r>
                  <a:rPr lang="ja-JP" altLang="en-US">
                    <a:noFill/>
                  </a:rPr>
                  <a:t> </a:t>
                </a:r>
              </a:p>
            </p:txBody>
          </p:sp>
        </mc:Fallback>
      </mc:AlternateContent>
      <p:cxnSp>
        <p:nvCxnSpPr>
          <p:cNvPr id="4" name="直線矢印コネクタ 3">
            <a:extLst>
              <a:ext uri="{FF2B5EF4-FFF2-40B4-BE49-F238E27FC236}">
                <a16:creationId xmlns:a16="http://schemas.microsoft.com/office/drawing/2014/main" id="{7F472427-7654-7312-4D92-DEBA56EEE293}"/>
              </a:ext>
            </a:extLst>
          </p:cNvPr>
          <p:cNvCxnSpPr>
            <a:cxnSpLocks/>
          </p:cNvCxnSpPr>
          <p:nvPr/>
        </p:nvCxnSpPr>
        <p:spPr>
          <a:xfrm>
            <a:off x="1264731" y="5460691"/>
            <a:ext cx="0" cy="563010"/>
          </a:xfrm>
          <a:prstGeom prst="straightConnector1">
            <a:avLst/>
          </a:prstGeom>
          <a:ln w="317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2D440CAA-3EAC-ADF4-8957-B22459508E16}"/>
                  </a:ext>
                </a:extLst>
              </p:cNvPr>
              <p:cNvSpPr txBox="1"/>
              <p:nvPr/>
            </p:nvSpPr>
            <p:spPr>
              <a:xfrm>
                <a:off x="1047676" y="5040035"/>
                <a:ext cx="434109" cy="3931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chemeClr val="accent6">
                                  <a:lumMod val="75000"/>
                                </a:schemeClr>
                              </a:solidFill>
                              <a:latin typeface="Cambria Math" panose="02040503050406030204" pitchFamily="18" charset="0"/>
                            </a:rPr>
                          </m:ctrlPr>
                        </m:sSubPr>
                        <m:e>
                          <m:r>
                            <a:rPr kumimoji="1" lang="en-US" altLang="ja-JP" b="0" i="1" smtClean="0">
                              <a:solidFill>
                                <a:schemeClr val="accent6">
                                  <a:lumMod val="75000"/>
                                </a:schemeClr>
                              </a:solidFill>
                              <a:latin typeface="Cambria Math" panose="02040503050406030204" pitchFamily="18" charset="0"/>
                            </a:rPr>
                            <m:t>𝑟</m:t>
                          </m:r>
                        </m:e>
                        <m:sub>
                          <m:sSub>
                            <m:sSubPr>
                              <m:ctrlPr>
                                <a:rPr kumimoji="1" lang="en-US" altLang="ja-JP" b="0" i="1" smtClean="0">
                                  <a:solidFill>
                                    <a:schemeClr val="accent6">
                                      <a:lumMod val="75000"/>
                                    </a:schemeClr>
                                  </a:solidFill>
                                  <a:latin typeface="Cambria Math" panose="02040503050406030204" pitchFamily="18" charset="0"/>
                                </a:rPr>
                              </m:ctrlPr>
                            </m:sSubPr>
                            <m:e>
                              <m:r>
                                <a:rPr kumimoji="1" lang="en-US" altLang="ja-JP" b="0" i="1" smtClean="0">
                                  <a:solidFill>
                                    <a:schemeClr val="accent6">
                                      <a:lumMod val="75000"/>
                                    </a:schemeClr>
                                  </a:solidFill>
                                  <a:latin typeface="Cambria Math" panose="02040503050406030204" pitchFamily="18" charset="0"/>
                                </a:rPr>
                                <m:t>𝑡</m:t>
                              </m:r>
                            </m:e>
                            <m:sub>
                              <m:r>
                                <a:rPr kumimoji="1" lang="en-US" altLang="ja-JP" b="0" i="1" smtClean="0">
                                  <a:solidFill>
                                    <a:schemeClr val="accent6">
                                      <a:lumMod val="75000"/>
                                    </a:schemeClr>
                                  </a:solidFill>
                                  <a:latin typeface="Cambria Math" panose="02040503050406030204" pitchFamily="18" charset="0"/>
                                </a:rPr>
                                <m:t>1</m:t>
                              </m:r>
                            </m:sub>
                          </m:sSub>
                        </m:sub>
                      </m:sSub>
                    </m:oMath>
                  </m:oMathPara>
                </a14:m>
                <a:endParaRPr kumimoji="1" lang="ja-JP" altLang="en-US" dirty="0">
                  <a:solidFill>
                    <a:schemeClr val="accent6">
                      <a:lumMod val="75000"/>
                    </a:schemeClr>
                  </a:solidFill>
                </a:endParaRPr>
              </a:p>
            </p:txBody>
          </p:sp>
        </mc:Choice>
        <mc:Fallback xmlns="">
          <p:sp>
            <p:nvSpPr>
              <p:cNvPr id="18" name="テキスト ボックス 17">
                <a:extLst>
                  <a:ext uri="{FF2B5EF4-FFF2-40B4-BE49-F238E27FC236}">
                    <a16:creationId xmlns:a16="http://schemas.microsoft.com/office/drawing/2014/main" id="{2D440CAA-3EAC-ADF4-8957-B22459508E16}"/>
                  </a:ext>
                </a:extLst>
              </p:cNvPr>
              <p:cNvSpPr txBox="1">
                <a:spLocks noRot="1" noChangeAspect="1" noMove="1" noResize="1" noEditPoints="1" noAdjustHandles="1" noChangeArrowheads="1" noChangeShapeType="1" noTextEdit="1"/>
              </p:cNvSpPr>
              <p:nvPr/>
            </p:nvSpPr>
            <p:spPr>
              <a:xfrm>
                <a:off x="1047676" y="5040035"/>
                <a:ext cx="434109" cy="393121"/>
              </a:xfrm>
              <a:prstGeom prst="rect">
                <a:avLst/>
              </a:prstGeom>
              <a:blipFill>
                <a:blip r:embed="rId7"/>
                <a:stretch>
                  <a:fillRect/>
                </a:stretch>
              </a:blipFill>
            </p:spPr>
            <p:txBody>
              <a:bodyPr/>
              <a:lstStyle/>
              <a:p>
                <a:r>
                  <a:rPr lang="ja-JP" altLang="en-US">
                    <a:noFill/>
                  </a:rPr>
                  <a:t> </a:t>
                </a:r>
              </a:p>
            </p:txBody>
          </p:sp>
        </mc:Fallback>
      </mc:AlternateContent>
      <p:cxnSp>
        <p:nvCxnSpPr>
          <p:cNvPr id="20" name="直線矢印コネクタ 19">
            <a:extLst>
              <a:ext uri="{FF2B5EF4-FFF2-40B4-BE49-F238E27FC236}">
                <a16:creationId xmlns:a16="http://schemas.microsoft.com/office/drawing/2014/main" id="{6CA99564-0354-CB7E-22C3-6BD2207B74A4}"/>
              </a:ext>
            </a:extLst>
          </p:cNvPr>
          <p:cNvCxnSpPr>
            <a:cxnSpLocks/>
          </p:cNvCxnSpPr>
          <p:nvPr/>
        </p:nvCxnSpPr>
        <p:spPr>
          <a:xfrm>
            <a:off x="1738258" y="5460691"/>
            <a:ext cx="0" cy="563010"/>
          </a:xfrm>
          <a:prstGeom prst="straightConnector1">
            <a:avLst/>
          </a:prstGeom>
          <a:ln w="317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13F03C14-C72A-4032-CBC7-BF42CDB59D77}"/>
                  </a:ext>
                </a:extLst>
              </p:cNvPr>
              <p:cNvSpPr txBox="1"/>
              <p:nvPr/>
            </p:nvSpPr>
            <p:spPr>
              <a:xfrm>
                <a:off x="1511889" y="5054350"/>
                <a:ext cx="434109"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chemeClr val="accent6">
                                  <a:lumMod val="75000"/>
                                </a:schemeClr>
                              </a:solidFill>
                              <a:latin typeface="Cambria Math" panose="02040503050406030204" pitchFamily="18" charset="0"/>
                            </a:rPr>
                          </m:ctrlPr>
                        </m:sSubPr>
                        <m:e>
                          <m:r>
                            <a:rPr kumimoji="1" lang="en-US" altLang="ja-JP" b="0" i="1" smtClean="0">
                              <a:solidFill>
                                <a:schemeClr val="accent6">
                                  <a:lumMod val="75000"/>
                                </a:schemeClr>
                              </a:solidFill>
                              <a:latin typeface="Cambria Math" panose="02040503050406030204" pitchFamily="18" charset="0"/>
                            </a:rPr>
                            <m:t>𝑟</m:t>
                          </m:r>
                        </m:e>
                        <m:sub>
                          <m:sSub>
                            <m:sSubPr>
                              <m:ctrlPr>
                                <a:rPr kumimoji="1" lang="en-US" altLang="ja-JP" b="0" i="1" smtClean="0">
                                  <a:solidFill>
                                    <a:schemeClr val="accent6">
                                      <a:lumMod val="75000"/>
                                    </a:schemeClr>
                                  </a:solidFill>
                                  <a:latin typeface="Cambria Math" panose="02040503050406030204" pitchFamily="18" charset="0"/>
                                </a:rPr>
                              </m:ctrlPr>
                            </m:sSubPr>
                            <m:e>
                              <m:r>
                                <a:rPr kumimoji="1" lang="en-US" altLang="ja-JP" b="0" i="1" smtClean="0">
                                  <a:solidFill>
                                    <a:schemeClr val="accent6">
                                      <a:lumMod val="75000"/>
                                    </a:schemeClr>
                                  </a:solidFill>
                                  <a:latin typeface="Cambria Math" panose="02040503050406030204" pitchFamily="18" charset="0"/>
                                </a:rPr>
                                <m:t>𝑡</m:t>
                              </m:r>
                            </m:e>
                            <m:sub>
                              <m:r>
                                <a:rPr kumimoji="1" lang="en-US" altLang="ja-JP" b="0" i="1" smtClean="0">
                                  <a:solidFill>
                                    <a:schemeClr val="accent6">
                                      <a:lumMod val="75000"/>
                                    </a:schemeClr>
                                  </a:solidFill>
                                  <a:latin typeface="Cambria Math" panose="02040503050406030204" pitchFamily="18" charset="0"/>
                                </a:rPr>
                                <m:t>2</m:t>
                              </m:r>
                            </m:sub>
                          </m:sSub>
                        </m:sub>
                      </m:sSub>
                    </m:oMath>
                  </m:oMathPara>
                </a14:m>
                <a:endParaRPr kumimoji="1" lang="ja-JP" altLang="en-US" dirty="0">
                  <a:solidFill>
                    <a:schemeClr val="accent6">
                      <a:lumMod val="75000"/>
                    </a:schemeClr>
                  </a:solidFill>
                </a:endParaRPr>
              </a:p>
            </p:txBody>
          </p:sp>
        </mc:Choice>
        <mc:Fallback xmlns="">
          <p:sp>
            <p:nvSpPr>
              <p:cNvPr id="25" name="テキスト ボックス 24">
                <a:extLst>
                  <a:ext uri="{FF2B5EF4-FFF2-40B4-BE49-F238E27FC236}">
                    <a16:creationId xmlns:a16="http://schemas.microsoft.com/office/drawing/2014/main" id="{13F03C14-C72A-4032-CBC7-BF42CDB59D77}"/>
                  </a:ext>
                </a:extLst>
              </p:cNvPr>
              <p:cNvSpPr txBox="1">
                <a:spLocks noRot="1" noChangeAspect="1" noMove="1" noResize="1" noEditPoints="1" noAdjustHandles="1" noChangeArrowheads="1" noChangeShapeType="1" noTextEdit="1"/>
              </p:cNvSpPr>
              <p:nvPr/>
            </p:nvSpPr>
            <p:spPr>
              <a:xfrm>
                <a:off x="1511889" y="5054350"/>
                <a:ext cx="434109" cy="404213"/>
              </a:xfrm>
              <a:prstGeom prst="rect">
                <a:avLst/>
              </a:prstGeom>
              <a:blipFill>
                <a:blip r:embed="rId8"/>
                <a:stretch>
                  <a:fillRect/>
                </a:stretch>
              </a:blipFill>
            </p:spPr>
            <p:txBody>
              <a:bodyPr/>
              <a:lstStyle/>
              <a:p>
                <a:r>
                  <a:rPr lang="ja-JP" altLang="en-US">
                    <a:noFill/>
                  </a:rPr>
                  <a:t> </a:t>
                </a:r>
              </a:p>
            </p:txBody>
          </p:sp>
        </mc:Fallback>
      </mc:AlternateContent>
      <p:cxnSp>
        <p:nvCxnSpPr>
          <p:cNvPr id="26" name="直線矢印コネクタ 25">
            <a:extLst>
              <a:ext uri="{FF2B5EF4-FFF2-40B4-BE49-F238E27FC236}">
                <a16:creationId xmlns:a16="http://schemas.microsoft.com/office/drawing/2014/main" id="{122A5A94-BA41-16BE-7A41-D3E669BDE39D}"/>
              </a:ext>
            </a:extLst>
          </p:cNvPr>
          <p:cNvCxnSpPr>
            <a:cxnSpLocks/>
          </p:cNvCxnSpPr>
          <p:nvPr/>
        </p:nvCxnSpPr>
        <p:spPr>
          <a:xfrm>
            <a:off x="3158838" y="5460691"/>
            <a:ext cx="0" cy="563010"/>
          </a:xfrm>
          <a:prstGeom prst="straightConnector1">
            <a:avLst/>
          </a:prstGeom>
          <a:ln w="317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9317A49F-B5B6-B8DE-AEFD-0A8F62254F05}"/>
                  </a:ext>
                </a:extLst>
              </p:cNvPr>
              <p:cNvSpPr txBox="1"/>
              <p:nvPr/>
            </p:nvSpPr>
            <p:spPr>
              <a:xfrm>
                <a:off x="2941783" y="5040035"/>
                <a:ext cx="434109" cy="404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chemeClr val="accent6">
                                  <a:lumMod val="75000"/>
                                </a:schemeClr>
                              </a:solidFill>
                              <a:latin typeface="Cambria Math" panose="02040503050406030204" pitchFamily="18" charset="0"/>
                            </a:rPr>
                          </m:ctrlPr>
                        </m:sSubPr>
                        <m:e>
                          <m:r>
                            <a:rPr kumimoji="1" lang="en-US" altLang="ja-JP" b="0" i="1" smtClean="0">
                              <a:solidFill>
                                <a:schemeClr val="accent6">
                                  <a:lumMod val="75000"/>
                                </a:schemeClr>
                              </a:solidFill>
                              <a:latin typeface="Cambria Math" panose="02040503050406030204" pitchFamily="18" charset="0"/>
                            </a:rPr>
                            <m:t>𝑟</m:t>
                          </m:r>
                        </m:e>
                        <m:sub>
                          <m:sSub>
                            <m:sSubPr>
                              <m:ctrlPr>
                                <a:rPr kumimoji="1" lang="en-US" altLang="ja-JP" b="0" i="1" smtClean="0">
                                  <a:solidFill>
                                    <a:schemeClr val="accent6">
                                      <a:lumMod val="75000"/>
                                    </a:schemeClr>
                                  </a:solidFill>
                                  <a:latin typeface="Cambria Math" panose="02040503050406030204" pitchFamily="18" charset="0"/>
                                </a:rPr>
                              </m:ctrlPr>
                            </m:sSubPr>
                            <m:e>
                              <m:r>
                                <a:rPr kumimoji="1" lang="en-US" altLang="ja-JP" b="0" i="1" smtClean="0">
                                  <a:solidFill>
                                    <a:schemeClr val="accent6">
                                      <a:lumMod val="75000"/>
                                    </a:schemeClr>
                                  </a:solidFill>
                                  <a:latin typeface="Cambria Math" panose="02040503050406030204" pitchFamily="18" charset="0"/>
                                </a:rPr>
                                <m:t>𝑡</m:t>
                              </m:r>
                            </m:e>
                            <m:sub>
                              <m:r>
                                <a:rPr kumimoji="1" lang="en-US" altLang="ja-JP" b="0" i="1" smtClean="0">
                                  <a:solidFill>
                                    <a:schemeClr val="accent6">
                                      <a:lumMod val="75000"/>
                                    </a:schemeClr>
                                  </a:solidFill>
                                  <a:latin typeface="Cambria Math" panose="02040503050406030204" pitchFamily="18" charset="0"/>
                                </a:rPr>
                                <m:t>𝑚</m:t>
                              </m:r>
                            </m:sub>
                          </m:sSub>
                        </m:sub>
                      </m:sSub>
                    </m:oMath>
                  </m:oMathPara>
                </a14:m>
                <a:endParaRPr kumimoji="1" lang="ja-JP" altLang="en-US" dirty="0">
                  <a:solidFill>
                    <a:schemeClr val="accent6">
                      <a:lumMod val="75000"/>
                    </a:schemeClr>
                  </a:solidFill>
                </a:endParaRPr>
              </a:p>
            </p:txBody>
          </p:sp>
        </mc:Choice>
        <mc:Fallback xmlns="">
          <p:sp>
            <p:nvSpPr>
              <p:cNvPr id="29" name="テキスト ボックス 28">
                <a:extLst>
                  <a:ext uri="{FF2B5EF4-FFF2-40B4-BE49-F238E27FC236}">
                    <a16:creationId xmlns:a16="http://schemas.microsoft.com/office/drawing/2014/main" id="{9317A49F-B5B6-B8DE-AEFD-0A8F62254F05}"/>
                  </a:ext>
                </a:extLst>
              </p:cNvPr>
              <p:cNvSpPr txBox="1">
                <a:spLocks noRot="1" noChangeAspect="1" noMove="1" noResize="1" noEditPoints="1" noAdjustHandles="1" noChangeArrowheads="1" noChangeShapeType="1" noTextEdit="1"/>
              </p:cNvSpPr>
              <p:nvPr/>
            </p:nvSpPr>
            <p:spPr>
              <a:xfrm>
                <a:off x="2941783" y="5040035"/>
                <a:ext cx="434109" cy="404213"/>
              </a:xfrm>
              <a:prstGeom prst="rect">
                <a:avLst/>
              </a:prstGeom>
              <a:blipFill>
                <a:blip r:embed="rId9"/>
                <a:stretch>
                  <a:fillRect/>
                </a:stretch>
              </a:blipFill>
            </p:spPr>
            <p:txBody>
              <a:bodyPr/>
              <a:lstStyle/>
              <a:p>
                <a:r>
                  <a:rPr lang="ja-JP" altLang="en-US">
                    <a:noFill/>
                  </a:rPr>
                  <a:t> </a:t>
                </a:r>
              </a:p>
            </p:txBody>
          </p:sp>
        </mc:Fallback>
      </mc:AlternateContent>
      <p:cxnSp>
        <p:nvCxnSpPr>
          <p:cNvPr id="31" name="直線矢印コネクタ 30">
            <a:extLst>
              <a:ext uri="{FF2B5EF4-FFF2-40B4-BE49-F238E27FC236}">
                <a16:creationId xmlns:a16="http://schemas.microsoft.com/office/drawing/2014/main" id="{48A4119B-A5E1-77CF-850B-F42C7BA73483}"/>
              </a:ext>
            </a:extLst>
          </p:cNvPr>
          <p:cNvCxnSpPr>
            <a:cxnSpLocks/>
          </p:cNvCxnSpPr>
          <p:nvPr/>
        </p:nvCxnSpPr>
        <p:spPr>
          <a:xfrm>
            <a:off x="2211785" y="5460691"/>
            <a:ext cx="0" cy="563010"/>
          </a:xfrm>
          <a:prstGeom prst="straightConnector1">
            <a:avLst/>
          </a:prstGeom>
          <a:ln w="317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5A7B9ECF-767C-0223-370C-89A252ECA896}"/>
              </a:ext>
            </a:extLst>
          </p:cNvPr>
          <p:cNvCxnSpPr>
            <a:cxnSpLocks/>
          </p:cNvCxnSpPr>
          <p:nvPr/>
        </p:nvCxnSpPr>
        <p:spPr>
          <a:xfrm>
            <a:off x="2685312" y="5460691"/>
            <a:ext cx="0" cy="563010"/>
          </a:xfrm>
          <a:prstGeom prst="straightConnector1">
            <a:avLst/>
          </a:prstGeom>
          <a:ln w="317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DFC38D63-DE76-9F71-2935-3DFAEBD3A4E6}"/>
                  </a:ext>
                </a:extLst>
              </p:cNvPr>
              <p:cNvSpPr txBox="1"/>
              <p:nvPr/>
            </p:nvSpPr>
            <p:spPr>
              <a:xfrm>
                <a:off x="9149860" y="2429023"/>
                <a:ext cx="2423658"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𝐻</m:t>
                          </m:r>
                        </m:e>
                        <m:sub>
                          <m:r>
                            <a:rPr kumimoji="1" lang="en-US" altLang="ja-JP" b="0" i="1" smtClean="0">
                              <a:latin typeface="Cambria Math" panose="02040503050406030204" pitchFamily="18" charset="0"/>
                            </a:rPr>
                            <m:t>𝑛</m:t>
                          </m:r>
                        </m:sub>
                      </m:sSub>
                      <m:r>
                        <a:rPr kumimoji="1" lang="en-US" altLang="ja-JP" b="0" i="1" smtClean="0">
                          <a:latin typeface="Cambria Math" panose="02040503050406030204" pitchFamily="18" charset="0"/>
                        </a:rPr>
                        <m:t>=1+</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en-US" altLang="ja-JP" b="0" i="1" smtClean="0">
                              <a:latin typeface="Cambria Math" panose="02040503050406030204" pitchFamily="18" charset="0"/>
                            </a:rPr>
                            <m:t>2</m:t>
                          </m:r>
                        </m:den>
                      </m:f>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en-US" altLang="ja-JP" b="0" i="1" smtClean="0">
                              <a:latin typeface="Cambria Math" panose="02040503050406030204" pitchFamily="18" charset="0"/>
                            </a:rPr>
                            <m:t>𝑛</m:t>
                          </m:r>
                        </m:den>
                      </m:f>
                    </m:oMath>
                  </m:oMathPara>
                </a14:m>
                <a:endParaRPr kumimoji="1" lang="ja-JP" altLang="en-US" dirty="0"/>
              </a:p>
            </p:txBody>
          </p:sp>
        </mc:Choice>
        <mc:Fallback xmlns="">
          <p:sp>
            <p:nvSpPr>
              <p:cNvPr id="5" name="テキスト ボックス 4">
                <a:extLst>
                  <a:ext uri="{FF2B5EF4-FFF2-40B4-BE49-F238E27FC236}">
                    <a16:creationId xmlns:a16="http://schemas.microsoft.com/office/drawing/2014/main" id="{DFC38D63-DE76-9F71-2935-3DFAEBD3A4E6}"/>
                  </a:ext>
                </a:extLst>
              </p:cNvPr>
              <p:cNvSpPr txBox="1">
                <a:spLocks noRot="1" noChangeAspect="1" noMove="1" noResize="1" noEditPoints="1" noAdjustHandles="1" noChangeArrowheads="1" noChangeShapeType="1" noTextEdit="1"/>
              </p:cNvSpPr>
              <p:nvPr/>
            </p:nvSpPr>
            <p:spPr>
              <a:xfrm>
                <a:off x="9149860" y="2429023"/>
                <a:ext cx="2423658" cy="610936"/>
              </a:xfrm>
              <a:prstGeom prst="rect">
                <a:avLst/>
              </a:prstGeom>
              <a:blipFill>
                <a:blip r:embed="rId10"/>
                <a:stretch>
                  <a:fillRect/>
                </a:stretch>
              </a:blipFill>
            </p:spPr>
            <p:txBody>
              <a:bodyPr/>
              <a:lstStyle/>
              <a:p>
                <a:r>
                  <a:rPr lang="ja-JP" altLang="en-US">
                    <a:noFill/>
                  </a:rPr>
                  <a:t> </a:t>
                </a:r>
              </a:p>
            </p:txBody>
          </p:sp>
        </mc:Fallback>
      </mc:AlternateContent>
      <p:sp>
        <p:nvSpPr>
          <p:cNvPr id="17" name="スライド番号プレースホルダー 16">
            <a:extLst>
              <a:ext uri="{FF2B5EF4-FFF2-40B4-BE49-F238E27FC236}">
                <a16:creationId xmlns:a16="http://schemas.microsoft.com/office/drawing/2014/main" id="{0BDF07A2-776C-9F8F-7192-7BBB46AE5BE8}"/>
              </a:ext>
            </a:extLst>
          </p:cNvPr>
          <p:cNvSpPr>
            <a:spLocks noGrp="1"/>
          </p:cNvSpPr>
          <p:nvPr>
            <p:ph type="sldNum" sz="quarter" idx="12"/>
          </p:nvPr>
        </p:nvSpPr>
        <p:spPr/>
        <p:txBody>
          <a:bodyPr/>
          <a:lstStyle/>
          <a:p>
            <a:fld id="{4B077F3A-4098-4199-8925-77865D1E3500}" type="slidenum">
              <a:rPr kumimoji="1" lang="ja-JP" altLang="en-US" smtClean="0"/>
              <a:t>54</a:t>
            </a:fld>
            <a:endParaRPr kumimoji="1" lang="ja-JP" altLang="en-US"/>
          </a:p>
        </p:txBody>
      </p:sp>
    </p:spTree>
    <p:extLst>
      <p:ext uri="{BB962C8B-B14F-4D97-AF65-F5344CB8AC3E}">
        <p14:creationId xmlns:p14="http://schemas.microsoft.com/office/powerpoint/2010/main" val="35819581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AEA692-6D3C-59CF-FB72-2DD2CF4DB145}"/>
              </a:ext>
            </a:extLst>
          </p:cNvPr>
          <p:cNvSpPr>
            <a:spLocks noGrp="1"/>
          </p:cNvSpPr>
          <p:nvPr>
            <p:ph type="title"/>
          </p:nvPr>
        </p:nvSpPr>
        <p:spPr/>
        <p:txBody>
          <a:bodyPr/>
          <a:lstStyle/>
          <a:p>
            <a:r>
              <a:rPr kumimoji="1" lang="ja-JP" altLang="en-US" dirty="0"/>
              <a:t>距離空間の制限</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BE37001-898C-59B9-610E-CA06B7618F5B}"/>
                  </a:ext>
                </a:extLst>
              </p:cNvPr>
              <p:cNvSpPr>
                <a:spLocks noGrp="1"/>
              </p:cNvSpPr>
              <p:nvPr>
                <p:ph idx="1"/>
              </p:nvPr>
            </p:nvSpPr>
            <p:spPr>
              <a:xfrm>
                <a:off x="838200" y="2521685"/>
                <a:ext cx="10515600" cy="1240848"/>
              </a:xfrm>
              <a:solidFill>
                <a:schemeClr val="accent6">
                  <a:lumMod val="20000"/>
                  <a:lumOff val="80000"/>
                </a:schemeClr>
              </a:solidFill>
            </p:spPr>
            <p:txBody>
              <a:bodyPr anchor="ctr">
                <a:normAutofit/>
              </a:bodyPr>
              <a:lstStyle/>
              <a:p>
                <a:pPr marL="0" indent="0">
                  <a:buNone/>
                </a:pPr>
                <a:r>
                  <a:rPr kumimoji="1" lang="ja-JP" altLang="en-US" b="1" dirty="0"/>
                  <a:t>補題 </a:t>
                </a:r>
                <a:r>
                  <a:rPr kumimoji="1" lang="en-US" altLang="ja-JP" sz="2400" dirty="0"/>
                  <a:t>[Meyerson et al., 2006]</a:t>
                </a:r>
                <a:r>
                  <a:rPr lang="en-US" altLang="ja-JP" sz="2400" dirty="0"/>
                  <a:t> </a:t>
                </a:r>
                <a:r>
                  <a:rPr lang="ja-JP" altLang="en-US" sz="2400" dirty="0"/>
                  <a:t>すべてのリクエストがサーバ上にあるような任意のリクエスト列 </a:t>
                </a:r>
                <a14:m>
                  <m:oMath xmlns:m="http://schemas.openxmlformats.org/officeDocument/2006/math">
                    <m:r>
                      <a:rPr lang="en-US" altLang="ja-JP" sz="2400" b="0" i="1" smtClean="0">
                        <a:latin typeface="Cambria Math" panose="02040503050406030204" pitchFamily="18" charset="0"/>
                      </a:rPr>
                      <m:t>𝜏</m:t>
                    </m:r>
                  </m:oMath>
                </a14:m>
                <a:r>
                  <a:rPr lang="ja-JP" altLang="en-US" sz="2400" dirty="0"/>
                  <a:t> </a:t>
                </a:r>
                <a:r>
                  <a:rPr kumimoji="1" lang="ja-JP" altLang="en-US" sz="2400" dirty="0"/>
                  <a:t>に対して </a:t>
                </a:r>
                <a14:m>
                  <m:oMath xmlns:m="http://schemas.openxmlformats.org/officeDocument/2006/math">
                    <m:r>
                      <a:rPr kumimoji="1" lang="en-US" altLang="ja-JP" sz="2400" b="0" i="1" smtClean="0">
                        <a:latin typeface="Cambria Math" panose="02040503050406030204" pitchFamily="18" charset="0"/>
                      </a:rPr>
                      <m:t>𝐴𝐿𝐺</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𝜏</m:t>
                        </m:r>
                      </m:e>
                    </m:d>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𝛼</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𝑂𝑃𝑇</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𝜏</m:t>
                    </m:r>
                    <m:r>
                      <a:rPr kumimoji="1" lang="en-US" altLang="ja-JP" sz="2400" b="0" i="1" smtClean="0">
                        <a:latin typeface="Cambria Math" panose="02040503050406030204" pitchFamily="18" charset="0"/>
                      </a:rPr>
                      <m:t>)</m:t>
                    </m:r>
                  </m:oMath>
                </a14:m>
                <a:r>
                  <a:rPr kumimoji="1" lang="ja-JP" altLang="en-US" sz="2400" dirty="0"/>
                  <a:t> となる </a:t>
                </a:r>
                <a14:m>
                  <m:oMath xmlns:m="http://schemas.openxmlformats.org/officeDocument/2006/math">
                    <m:r>
                      <a:rPr kumimoji="1" lang="en-US" altLang="ja-JP" sz="2400" b="0" i="1" smtClean="0">
                        <a:latin typeface="Cambria Math" panose="02040503050406030204" pitchFamily="18" charset="0"/>
                      </a:rPr>
                      <m:t>𝐴𝐿𝐺</m:t>
                    </m:r>
                  </m:oMath>
                </a14:m>
                <a:r>
                  <a:rPr kumimoji="1" lang="ja-JP" altLang="en-US" sz="2400" dirty="0"/>
                  <a:t> が存在するならば </a:t>
                </a:r>
                <a14:m>
                  <m:oMath xmlns:m="http://schemas.openxmlformats.org/officeDocument/2006/math">
                    <m:r>
                      <a:rPr kumimoji="1" lang="en-US" altLang="ja-JP" sz="2400" b="0" i="0" smtClean="0">
                        <a:latin typeface="Cambria Math" panose="02040503050406030204" pitchFamily="18" charset="0"/>
                      </a:rPr>
                      <m:t>(</m:t>
                    </m:r>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𝛼</m:t>
                    </m:r>
                    <m:r>
                      <a:rPr kumimoji="1" lang="en-US" altLang="ja-JP" sz="2400" b="0" i="1" smtClean="0">
                        <a:latin typeface="Cambria Math" panose="02040503050406030204" pitchFamily="18" charset="0"/>
                      </a:rPr>
                      <m:t>+1)</m:t>
                    </m:r>
                  </m:oMath>
                </a14:m>
                <a:r>
                  <a:rPr kumimoji="1" lang="en-US" altLang="ja-JP" sz="2400" dirty="0"/>
                  <a:t>-</a:t>
                </a:r>
                <a:r>
                  <a:rPr kumimoji="1" lang="ja-JP" altLang="en-US" sz="2400" dirty="0"/>
                  <a:t>競合的なアルゴリズムが存在する </a:t>
                </a:r>
              </a:p>
            </p:txBody>
          </p:sp>
        </mc:Choice>
        <mc:Fallback xmlns="">
          <p:sp>
            <p:nvSpPr>
              <p:cNvPr id="3" name="コンテンツ プレースホルダー 2">
                <a:extLst>
                  <a:ext uri="{FF2B5EF4-FFF2-40B4-BE49-F238E27FC236}">
                    <a16:creationId xmlns:a16="http://schemas.microsoft.com/office/drawing/2014/main" id="{FBE37001-898C-59B9-610E-CA06B7618F5B}"/>
                  </a:ext>
                </a:extLst>
              </p:cNvPr>
              <p:cNvSpPr>
                <a:spLocks noGrp="1" noRot="1" noChangeAspect="1" noMove="1" noResize="1" noEditPoints="1" noAdjustHandles="1" noChangeArrowheads="1" noChangeShapeType="1" noTextEdit="1"/>
              </p:cNvSpPr>
              <p:nvPr>
                <p:ph idx="1"/>
              </p:nvPr>
            </p:nvSpPr>
            <p:spPr>
              <a:xfrm>
                <a:off x="838200" y="2521685"/>
                <a:ext cx="10515600" cy="1240848"/>
              </a:xfrm>
              <a:blipFill>
                <a:blip r:embed="rId2"/>
                <a:stretch>
                  <a:fillRect l="-1217" t="-2956" r="-290" b="-837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DC00A8B9-0D49-6B07-1EEC-9325860C11FE}"/>
                  </a:ext>
                </a:extLst>
              </p:cNvPr>
              <p:cNvSpPr txBox="1"/>
              <p:nvPr/>
            </p:nvSpPr>
            <p:spPr>
              <a:xfrm>
                <a:off x="838200" y="1521006"/>
                <a:ext cx="10515600" cy="830997"/>
              </a:xfrm>
              <a:prstGeom prst="rect">
                <a:avLst/>
              </a:prstGeom>
              <a:noFill/>
            </p:spPr>
            <p:txBody>
              <a:bodyPr wrap="square" rtlCol="0">
                <a:spAutoFit/>
              </a:bodyPr>
              <a:lstStyle/>
              <a:p>
                <a:r>
                  <a:rPr lang="ja-JP" altLang="en-US" sz="2400" dirty="0"/>
                  <a:t>リクエストの到着をサーバのある </a:t>
                </a:r>
                <a14:m>
                  <m:oMath xmlns:m="http://schemas.openxmlformats.org/officeDocument/2006/math">
                    <m:r>
                      <a:rPr lang="en-US" altLang="ja-JP" sz="2400" b="0" i="1" smtClean="0">
                        <a:latin typeface="Cambria Math" panose="02040503050406030204" pitchFamily="18" charset="0"/>
                      </a:rPr>
                      <m:t>𝑛</m:t>
                    </m:r>
                  </m:oMath>
                </a14:m>
                <a:r>
                  <a:rPr kumimoji="1" lang="ja-JP" altLang="en-US" sz="2400" dirty="0"/>
                  <a:t> 点のみに制限してアルゴリズムを設計しても競合比のオーダーには影響がない</a:t>
                </a:r>
              </a:p>
            </p:txBody>
          </p:sp>
        </mc:Choice>
        <mc:Fallback xmlns="">
          <p:sp>
            <p:nvSpPr>
              <p:cNvPr id="4" name="テキスト ボックス 3">
                <a:extLst>
                  <a:ext uri="{FF2B5EF4-FFF2-40B4-BE49-F238E27FC236}">
                    <a16:creationId xmlns:a16="http://schemas.microsoft.com/office/drawing/2014/main" id="{DC00A8B9-0D49-6B07-1EEC-9325860C11FE}"/>
                  </a:ext>
                </a:extLst>
              </p:cNvPr>
              <p:cNvSpPr txBox="1">
                <a:spLocks noRot="1" noChangeAspect="1" noMove="1" noResize="1" noEditPoints="1" noAdjustHandles="1" noChangeArrowheads="1" noChangeShapeType="1" noTextEdit="1"/>
              </p:cNvSpPr>
              <p:nvPr/>
            </p:nvSpPr>
            <p:spPr>
              <a:xfrm>
                <a:off x="838200" y="1521006"/>
                <a:ext cx="10515600" cy="830997"/>
              </a:xfrm>
              <a:prstGeom prst="rect">
                <a:avLst/>
              </a:prstGeom>
              <a:blipFill>
                <a:blip r:embed="rId3"/>
                <a:stretch>
                  <a:fillRect l="-928" t="-4412" b="-176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B7B7EE3F-8DE9-936E-2EB7-4D069A580CD3}"/>
                  </a:ext>
                </a:extLst>
              </p:cNvPr>
              <p:cNvSpPr txBox="1"/>
              <p:nvPr/>
            </p:nvSpPr>
            <p:spPr>
              <a:xfrm>
                <a:off x="838200" y="3847248"/>
                <a:ext cx="10515600" cy="2360326"/>
              </a:xfrm>
              <a:prstGeom prst="rect">
                <a:avLst/>
              </a:prstGeom>
              <a:noFill/>
            </p:spPr>
            <p:txBody>
              <a:bodyPr wrap="square" rtlCol="0">
                <a:spAutoFit/>
              </a:bodyPr>
              <a:lstStyle/>
              <a:p>
                <a:r>
                  <a:rPr kumimoji="1" lang="ja-JP" altLang="en-US" sz="2000" b="1" dirty="0"/>
                  <a:t>証明</a:t>
                </a:r>
                <a:r>
                  <a:rPr kumimoji="1" lang="ja-JP" altLang="en-US" sz="2000" dirty="0"/>
                  <a:t>　リクエスト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a14:m>
                <a:r>
                  <a:rPr kumimoji="1" lang="ja-JP" altLang="en-US" sz="2000" dirty="0"/>
                  <a:t> が到着したら，最も近いサーバ（利用可能とは限らない）</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𝑖</m:t>
                        </m:r>
                      </m:sub>
                    </m:sSub>
                  </m:oMath>
                </a14:m>
                <a:r>
                  <a:rPr kumimoji="1" lang="ja-JP" altLang="en-US" sz="2000" dirty="0"/>
                  <a:t> に移動し，あとは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𝑖</m:t>
                        </m:r>
                      </m:sub>
                    </m:sSub>
                  </m:oMath>
                </a14:m>
                <a:r>
                  <a:rPr kumimoji="1" lang="ja-JP" altLang="en-US" sz="2000" dirty="0"/>
                  <a:t> に生起した際の </a:t>
                </a:r>
                <a14:m>
                  <m:oMath xmlns:m="http://schemas.openxmlformats.org/officeDocument/2006/math">
                    <m:r>
                      <a:rPr kumimoji="1" lang="en-US" altLang="ja-JP" sz="2000" b="0" i="1" smtClean="0">
                        <a:latin typeface="Cambria Math" panose="02040503050406030204" pitchFamily="18" charset="0"/>
                      </a:rPr>
                      <m:t>𝐴𝐿𝐺</m:t>
                    </m:r>
                  </m:oMath>
                </a14:m>
                <a:r>
                  <a:rPr kumimoji="1" lang="en-US" altLang="ja-JP" sz="2000" dirty="0"/>
                  <a:t> </a:t>
                </a:r>
                <a:r>
                  <a:rPr kumimoji="1" lang="ja-JP" altLang="en-US" sz="2000" dirty="0"/>
                  <a:t>の割り当てに従って割り当てるアルゴリズムを考える．</a:t>
                </a:r>
                <a:endParaRPr kumimoji="1" lang="en-US" altLang="ja-JP" sz="2000" dirty="0"/>
              </a:p>
              <a:p>
                <a14:m>
                  <m:oMath xmlns:m="http://schemas.openxmlformats.org/officeDocument/2006/math">
                    <m:r>
                      <a:rPr kumimoji="1" lang="en-US" altLang="ja-JP" sz="2000" b="0" i="1" smtClean="0">
                        <a:latin typeface="Cambria Math" panose="02040503050406030204" pitchFamily="18" charset="0"/>
                      </a:rPr>
                      <m:t>𝜎</m:t>
                    </m:r>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𝑛</m:t>
                        </m:r>
                      </m:sub>
                    </m:sSub>
                  </m:oMath>
                </a14:m>
                <a:r>
                  <a:rPr kumimoji="1" lang="en-US" altLang="ja-JP" sz="2000" dirty="0"/>
                  <a:t> </a:t>
                </a:r>
                <a:r>
                  <a:rPr kumimoji="1" lang="ja-JP" altLang="en-US" sz="2000" dirty="0"/>
                  <a:t>に対して</a:t>
                </a:r>
                <a:r>
                  <a:rPr lang="en-US" altLang="ja-JP" sz="2000" dirty="0"/>
                  <a:t>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a14:m>
                <a:r>
                  <a:rPr kumimoji="1" lang="ja-JP" altLang="en-US" sz="2000" dirty="0"/>
                  <a:t> の最適な割り当て先を </a:t>
                </a:r>
                <a14:m>
                  <m:oMath xmlns:m="http://schemas.openxmlformats.org/officeDocument/2006/math">
                    <m:sSubSup>
                      <m:sSubSupPr>
                        <m:ctrlPr>
                          <a:rPr kumimoji="1" lang="en-US" altLang="ja-JP" sz="2000" b="0" i="1" smtClean="0">
                            <a:latin typeface="Cambria Math" panose="02040503050406030204" pitchFamily="18" charset="0"/>
                          </a:rPr>
                        </m:ctrlPr>
                      </m:sSubSupPr>
                      <m:e>
                        <m:r>
                          <a:rPr kumimoji="1" lang="en-US" altLang="ja-JP" sz="2000" b="0" i="1" smtClean="0">
                            <a:latin typeface="Cambria Math" panose="02040503050406030204" pitchFamily="18" charset="0"/>
                          </a:rPr>
                          <m:t>𝑠</m:t>
                        </m:r>
                      </m:e>
                      <m:sub>
                        <m:r>
                          <a:rPr kumimoji="1" lang="en-US" altLang="ja-JP" sz="2000" b="0" i="1" smtClean="0">
                            <a:latin typeface="Cambria Math" panose="02040503050406030204" pitchFamily="18" charset="0"/>
                          </a:rPr>
                          <m:t>𝑖</m:t>
                        </m:r>
                      </m:sub>
                      <m:sup>
                        <m:r>
                          <a:rPr kumimoji="1" lang="en-US" altLang="ja-JP" sz="2000" b="0" i="1" smtClean="0">
                            <a:latin typeface="Cambria Math" panose="02040503050406030204" pitchFamily="18" charset="0"/>
                          </a:rPr>
                          <m:t>∗</m:t>
                        </m:r>
                      </m:sup>
                    </m:sSubSup>
                  </m:oMath>
                </a14:m>
                <a:r>
                  <a:rPr kumimoji="1" lang="ja-JP" altLang="en-US" sz="2000" dirty="0"/>
                  <a:t> とすると以下のように示せる</a:t>
                </a:r>
                <a:r>
                  <a:rPr kumimoji="1" lang="en-US" altLang="ja-JP" sz="2000" dirty="0"/>
                  <a:t>:</a:t>
                </a:r>
              </a:p>
              <a:p>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𝑂𝑃𝑇</m:t>
                      </m:r>
                      <m:d>
                        <m:dPr>
                          <m:ctrlPr>
                            <a:rPr lang="en-US" altLang="ja-JP" i="1">
                              <a:latin typeface="Cambria Math" panose="02040503050406030204" pitchFamily="18" charset="0"/>
                            </a:rPr>
                          </m:ctrlPr>
                        </m:dPr>
                        <m:e>
                          <m:r>
                            <a:rPr lang="en-US" altLang="ja-JP" i="1">
                              <a:latin typeface="Cambria Math" panose="02040503050406030204" pitchFamily="18" charset="0"/>
                            </a:rPr>
                            <m:t>𝜏</m:t>
                          </m:r>
                        </m:e>
                      </m:d>
                      <m:r>
                        <a:rPr lang="en-US" altLang="ja-JP" i="1">
                          <a:latin typeface="Cambria Math" panose="02040503050406030204" pitchFamily="18" charset="0"/>
                        </a:rPr>
                        <m:t>≤</m:t>
                      </m:r>
                      <m:nary>
                        <m:naryPr>
                          <m:chr m:val="∑"/>
                          <m:supHide m:val="on"/>
                          <m:ctrlPr>
                            <a:rPr lang="en-US" altLang="ja-JP" i="1">
                              <a:latin typeface="Cambria Math" panose="02040503050406030204" pitchFamily="18" charset="0"/>
                            </a:rPr>
                          </m:ctrlPr>
                        </m:naryPr>
                        <m:sub>
                          <m:r>
                            <a:rPr lang="en-US" altLang="ja-JP" i="1">
                              <a:latin typeface="Cambria Math" panose="02040503050406030204" pitchFamily="18" charset="0"/>
                            </a:rPr>
                            <m:t>𝑖</m:t>
                          </m:r>
                        </m:sub>
                        <m:sup/>
                        <m:e>
                          <m:r>
                            <a:rPr lang="en-US" altLang="ja-JP" i="1">
                              <a:latin typeface="Cambria Math" panose="02040503050406030204" pitchFamily="18" charset="0"/>
                            </a:rPr>
                            <m:t>𝑑</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𝑖</m:t>
                                  </m:r>
                                </m:sub>
                              </m:sSub>
                              <m:r>
                                <a:rPr lang="en-US" altLang="ja-JP" i="1">
                                  <a:latin typeface="Cambria Math" panose="02040503050406030204" pitchFamily="18" charset="0"/>
                                </a:rPr>
                                <m:t>, </m:t>
                              </m:r>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𝑠</m:t>
                                  </m:r>
                                </m:e>
                                <m:sub>
                                  <m:r>
                                    <a:rPr lang="en-US" altLang="ja-JP" i="1">
                                      <a:latin typeface="Cambria Math" panose="02040503050406030204" pitchFamily="18" charset="0"/>
                                    </a:rPr>
                                    <m:t>𝑖</m:t>
                                  </m:r>
                                </m:sub>
                                <m:sup>
                                  <m:r>
                                    <a:rPr lang="en-US" altLang="ja-JP" i="1">
                                      <a:latin typeface="Cambria Math" panose="02040503050406030204" pitchFamily="18" charset="0"/>
                                    </a:rPr>
                                    <m:t>∗</m:t>
                                  </m:r>
                                </m:sup>
                              </m:sSubSup>
                            </m:e>
                          </m:d>
                        </m:e>
                      </m:nary>
                      <m:r>
                        <a:rPr lang="en-US" altLang="ja-JP" i="1">
                          <a:latin typeface="Cambria Math" panose="02040503050406030204" pitchFamily="18" charset="0"/>
                        </a:rPr>
                        <m:t>≤</m:t>
                      </m:r>
                      <m:nary>
                        <m:naryPr>
                          <m:chr m:val="∑"/>
                          <m:supHide m:val="on"/>
                          <m:ctrlPr>
                            <a:rPr lang="en-US" altLang="ja-JP" i="1">
                              <a:latin typeface="Cambria Math" panose="02040503050406030204" pitchFamily="18" charset="0"/>
                            </a:rPr>
                          </m:ctrlPr>
                        </m:naryPr>
                        <m:sub>
                          <m:r>
                            <a:rPr lang="en-US" altLang="ja-JP" i="1">
                              <a:latin typeface="Cambria Math" panose="02040503050406030204" pitchFamily="18" charset="0"/>
                            </a:rPr>
                            <m:t>𝑖</m:t>
                          </m:r>
                        </m:sub>
                        <m:sup/>
                        <m:e>
                          <m:r>
                            <a:rPr lang="en-US" altLang="ja-JP" i="1">
                              <a:latin typeface="Cambria Math" panose="02040503050406030204" pitchFamily="18" charset="0"/>
                            </a:rPr>
                            <m:t>𝑑</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𝑟</m:t>
                                  </m:r>
                                </m:e>
                                <m:sub>
                                  <m:r>
                                    <a:rPr lang="en-US" altLang="ja-JP" i="1">
                                      <a:latin typeface="Cambria Math" panose="02040503050406030204" pitchFamily="18" charset="0"/>
                                    </a:rPr>
                                    <m:t>𝑖</m:t>
                                  </m:r>
                                </m:sub>
                              </m:sSub>
                              <m:r>
                                <a:rPr lang="en-US" altLang="ja-JP" i="1">
                                  <a:latin typeface="Cambria Math" panose="02040503050406030204" pitchFamily="18" charset="0"/>
                                </a:rPr>
                                <m:t>, </m:t>
                              </m:r>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𝑠</m:t>
                                  </m:r>
                                </m:e>
                                <m:sub>
                                  <m:r>
                                    <a:rPr lang="en-US" altLang="ja-JP" i="1">
                                      <a:latin typeface="Cambria Math" panose="02040503050406030204" pitchFamily="18" charset="0"/>
                                    </a:rPr>
                                    <m:t>𝑖</m:t>
                                  </m:r>
                                </m:sub>
                                <m:sup>
                                  <m:r>
                                    <a:rPr lang="en-US" altLang="ja-JP" i="1">
                                      <a:latin typeface="Cambria Math" panose="02040503050406030204" pitchFamily="18" charset="0"/>
                                    </a:rPr>
                                    <m:t>∗</m:t>
                                  </m:r>
                                </m:sup>
                              </m:sSubSup>
                            </m:e>
                          </m:d>
                        </m:e>
                      </m:nary>
                      <m:r>
                        <a:rPr lang="en-US" altLang="ja-JP" i="1">
                          <a:latin typeface="Cambria Math" panose="02040503050406030204" pitchFamily="18" charset="0"/>
                        </a:rPr>
                        <m:t>+</m:t>
                      </m:r>
                      <m:nary>
                        <m:naryPr>
                          <m:chr m:val="∑"/>
                          <m:supHide m:val="on"/>
                          <m:ctrlPr>
                            <a:rPr lang="en-US" altLang="ja-JP" i="1">
                              <a:latin typeface="Cambria Math" panose="02040503050406030204" pitchFamily="18" charset="0"/>
                            </a:rPr>
                          </m:ctrlPr>
                        </m:naryPr>
                        <m:sub>
                          <m:r>
                            <a:rPr lang="en-US" altLang="ja-JP" i="1">
                              <a:latin typeface="Cambria Math" panose="02040503050406030204" pitchFamily="18" charset="0"/>
                            </a:rPr>
                            <m:t>𝑖</m:t>
                          </m:r>
                        </m:sub>
                        <m:sup/>
                        <m:e>
                          <m:r>
                            <a:rPr lang="en-US" altLang="ja-JP" i="1">
                              <a:latin typeface="Cambria Math" panose="02040503050406030204" pitchFamily="18" charset="0"/>
                            </a:rPr>
                            <m:t>𝑑</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𝑟</m:t>
                                  </m:r>
                                </m:e>
                                <m:sub>
                                  <m:r>
                                    <a:rPr lang="en-US" altLang="ja-JP" i="1">
                                      <a:latin typeface="Cambria Math" panose="02040503050406030204" pitchFamily="18" charset="0"/>
                                    </a:rPr>
                                    <m:t>𝑖</m:t>
                                  </m:r>
                                </m:sub>
                              </m:sSub>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𝑖</m:t>
                                  </m:r>
                                </m:sub>
                              </m:sSub>
                            </m:e>
                          </m:d>
                        </m:e>
                      </m:nary>
                      <m:r>
                        <a:rPr lang="en-US" altLang="ja-JP" i="1">
                          <a:latin typeface="Cambria Math" panose="02040503050406030204" pitchFamily="18" charset="0"/>
                        </a:rPr>
                        <m:t>≤2⋅</m:t>
                      </m:r>
                      <m:r>
                        <a:rPr lang="en-US" altLang="ja-JP" i="1">
                          <a:latin typeface="Cambria Math" panose="02040503050406030204" pitchFamily="18" charset="0"/>
                        </a:rPr>
                        <m:t>𝑂𝑃𝑇</m:t>
                      </m:r>
                      <m:r>
                        <a:rPr lang="en-US" altLang="ja-JP" i="1">
                          <a:latin typeface="Cambria Math" panose="02040503050406030204" pitchFamily="18" charset="0"/>
                        </a:rPr>
                        <m:t>(</m:t>
                      </m:r>
                      <m:r>
                        <a:rPr lang="en-US" altLang="ja-JP" i="1">
                          <a:latin typeface="Cambria Math" panose="02040503050406030204" pitchFamily="18" charset="0"/>
                        </a:rPr>
                        <m:t>𝜎</m:t>
                      </m:r>
                      <m:r>
                        <a:rPr lang="en-US" altLang="ja-JP" i="1">
                          <a:latin typeface="Cambria Math" panose="02040503050406030204" pitchFamily="18" charset="0"/>
                        </a:rPr>
                        <m:t>)</m:t>
                      </m:r>
                    </m:oMath>
                  </m:oMathPara>
                </a14:m>
                <a:endParaRPr kumimoji="1" lang="en-US" altLang="ja-JP" dirty="0"/>
              </a:p>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𝐴𝐿𝐺</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𝜎</m:t>
                          </m:r>
                        </m:e>
                      </m:d>
                      <m:r>
                        <m:rPr>
                          <m:aln/>
                        </m:rPr>
                        <a:rPr kumimoji="1" lang="en-US" altLang="ja-JP" b="0" i="1" smtClean="0">
                          <a:latin typeface="Cambria Math" panose="02040503050406030204" pitchFamily="18" charset="0"/>
                        </a:rPr>
                        <m:t>≤</m:t>
                      </m:r>
                      <m:nary>
                        <m:naryPr>
                          <m:chr m:val="∑"/>
                          <m:supHide m:val="on"/>
                          <m:ctrlPr>
                            <a:rPr kumimoji="1" lang="en-US" altLang="ja-JP" b="0" i="1" smtClean="0">
                              <a:latin typeface="Cambria Math" panose="02040503050406030204" pitchFamily="18" charset="0"/>
                            </a:rPr>
                          </m:ctrlPr>
                        </m:naryPr>
                        <m:sub>
                          <m:r>
                            <a:rPr kumimoji="1" lang="en-US" altLang="ja-JP" b="0" i="1" smtClean="0">
                              <a:latin typeface="Cambria Math" panose="02040503050406030204" pitchFamily="18" charset="0"/>
                            </a:rPr>
                            <m:t>𝑖</m:t>
                          </m:r>
                        </m:sub>
                        <m:sup/>
                        <m:e>
                          <m:r>
                            <a:rPr kumimoji="1" lang="en-US" altLang="ja-JP" b="0" i="1" smtClean="0">
                              <a:latin typeface="Cambria Math" panose="02040503050406030204" pitchFamily="18" charset="0"/>
                            </a:rPr>
                            <m:t>𝑑</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r>
                                    <a:rPr kumimoji="1" lang="en-US" altLang="ja-JP" b="0" i="1" smtClean="0">
                                      <a:latin typeface="Cambria Math" panose="02040503050406030204" pitchFamily="18" charset="0"/>
                                    </a:rPr>
                                    <m:t>𝑖</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𝑖</m:t>
                                  </m:r>
                                </m:sub>
                              </m:sSub>
                            </m:e>
                          </m:d>
                        </m:e>
                      </m:nary>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𝐴𝐿𝐺</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𝜏</m:t>
                          </m:r>
                        </m:e>
                      </m:d>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𝑂𝑃𝑇</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𝜎</m:t>
                          </m:r>
                        </m:e>
                      </m:d>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𝛼</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𝑂𝑃𝑇</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𝜏</m:t>
                          </m:r>
                        </m:e>
                      </m:d>
                      <m:r>
                        <a:rPr kumimoji="1" lang="en-US" altLang="ja-JP" b="0" i="1" smtClean="0">
                          <a:latin typeface="Cambria Math" panose="02040503050406030204" pitchFamily="18" charset="0"/>
                        </a:rPr>
                        <m:t>≤</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2</m:t>
                          </m:r>
                          <m:r>
                            <a:rPr kumimoji="1" lang="en-US" altLang="ja-JP" b="0" i="1" smtClean="0">
                              <a:latin typeface="Cambria Math" panose="02040503050406030204" pitchFamily="18" charset="0"/>
                            </a:rPr>
                            <m:t>𝛼</m:t>
                          </m:r>
                          <m:r>
                            <a:rPr kumimoji="1" lang="en-US" altLang="ja-JP" b="0" i="1" smtClean="0">
                              <a:latin typeface="Cambria Math" panose="02040503050406030204" pitchFamily="18" charset="0"/>
                            </a:rPr>
                            <m:t>+1</m:t>
                          </m:r>
                        </m:e>
                      </m:d>
                      <m:r>
                        <a:rPr kumimoji="1" lang="en-US" altLang="ja-JP" b="0" i="1" smtClean="0">
                          <a:latin typeface="Cambria Math" panose="02040503050406030204" pitchFamily="18" charset="0"/>
                        </a:rPr>
                        <m:t>𝑂𝑃𝑇</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𝜎</m:t>
                          </m:r>
                        </m:e>
                      </m:d>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5" name="テキスト ボックス 4">
                <a:extLst>
                  <a:ext uri="{FF2B5EF4-FFF2-40B4-BE49-F238E27FC236}">
                    <a16:creationId xmlns:a16="http://schemas.microsoft.com/office/drawing/2014/main" id="{B7B7EE3F-8DE9-936E-2EB7-4D069A580CD3}"/>
                  </a:ext>
                </a:extLst>
              </p:cNvPr>
              <p:cNvSpPr txBox="1">
                <a:spLocks noRot="1" noChangeAspect="1" noMove="1" noResize="1" noEditPoints="1" noAdjustHandles="1" noChangeArrowheads="1" noChangeShapeType="1" noTextEdit="1"/>
              </p:cNvSpPr>
              <p:nvPr/>
            </p:nvSpPr>
            <p:spPr>
              <a:xfrm>
                <a:off x="838200" y="3847248"/>
                <a:ext cx="10515600" cy="2360326"/>
              </a:xfrm>
              <a:prstGeom prst="rect">
                <a:avLst/>
              </a:prstGeom>
              <a:blipFill>
                <a:blip r:embed="rId4"/>
                <a:stretch>
                  <a:fillRect l="-638" t="-1292" r="-2957"/>
                </a:stretch>
              </a:blipFill>
            </p:spPr>
            <p:txBody>
              <a:bodyPr/>
              <a:lstStyle/>
              <a:p>
                <a:r>
                  <a:rPr lang="ja-JP" altLang="en-US">
                    <a:noFill/>
                  </a:rPr>
                  <a:t> </a:t>
                </a:r>
              </a:p>
            </p:txBody>
          </p:sp>
        </mc:Fallback>
      </mc:AlternateContent>
      <p:sp>
        <p:nvSpPr>
          <p:cNvPr id="6" name="スライド番号プレースホルダー 5">
            <a:extLst>
              <a:ext uri="{FF2B5EF4-FFF2-40B4-BE49-F238E27FC236}">
                <a16:creationId xmlns:a16="http://schemas.microsoft.com/office/drawing/2014/main" id="{CE7057B2-E02C-AF8C-30D7-606041C25FD0}"/>
              </a:ext>
            </a:extLst>
          </p:cNvPr>
          <p:cNvSpPr>
            <a:spLocks noGrp="1"/>
          </p:cNvSpPr>
          <p:nvPr>
            <p:ph type="sldNum" sz="quarter" idx="12"/>
          </p:nvPr>
        </p:nvSpPr>
        <p:spPr/>
        <p:txBody>
          <a:bodyPr/>
          <a:lstStyle/>
          <a:p>
            <a:fld id="{4B077F3A-4098-4199-8925-77865D1E3500}" type="slidenum">
              <a:rPr kumimoji="1" lang="ja-JP" altLang="en-US" smtClean="0"/>
              <a:t>55</a:t>
            </a:fld>
            <a:endParaRPr kumimoji="1" lang="ja-JP" altLang="en-US"/>
          </a:p>
        </p:txBody>
      </p:sp>
    </p:spTree>
    <p:extLst>
      <p:ext uri="{BB962C8B-B14F-4D97-AF65-F5344CB8AC3E}">
        <p14:creationId xmlns:p14="http://schemas.microsoft.com/office/powerpoint/2010/main" val="25499625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EF0D245E-4518-B7C0-E47B-593E2ADD846F}"/>
                  </a:ext>
                </a:extLst>
              </p:cNvPr>
              <p:cNvSpPr>
                <a:spLocks noGrp="1"/>
              </p:cNvSpPr>
              <p:nvPr>
                <p:ph type="title"/>
              </p:nvPr>
            </p:nvSpPr>
            <p:spPr/>
            <p:txBody>
              <a:bodyPr/>
              <a:lstStyle/>
              <a:p>
                <a14:m>
                  <m:oMath xmlns:m="http://schemas.openxmlformats.org/officeDocument/2006/math">
                    <m:r>
                      <a:rPr kumimoji="1" lang="en-US" altLang="ja-JP" b="0" i="1" smtClean="0">
                        <a:latin typeface="Cambria Math" panose="02040503050406030204" pitchFamily="18" charset="0"/>
                      </a:rPr>
                      <m:t>𝑘</m:t>
                    </m:r>
                  </m:oMath>
                </a14:m>
                <a:r>
                  <a:rPr kumimoji="1" lang="en-US" altLang="ja-JP" dirty="0"/>
                  <a:t>-HST (Hierarchically well-Separated </a:t>
                </a:r>
                <a:r>
                  <a:rPr lang="en-US" altLang="ja-JP" dirty="0"/>
                  <a:t>T</a:t>
                </a:r>
                <a:r>
                  <a:rPr kumimoji="1" lang="en-US" altLang="ja-JP" dirty="0"/>
                  <a:t>ree)</a:t>
                </a:r>
                <a:endParaRPr kumimoji="1" lang="ja-JP" altLang="en-US" dirty="0"/>
              </a:p>
            </p:txBody>
          </p:sp>
        </mc:Choice>
        <mc:Fallback xmlns="">
          <p:sp>
            <p:nvSpPr>
              <p:cNvPr id="2" name="タイトル 1">
                <a:extLst>
                  <a:ext uri="{FF2B5EF4-FFF2-40B4-BE49-F238E27FC236}">
                    <a16:creationId xmlns:a16="http://schemas.microsoft.com/office/drawing/2014/main" id="{EF0D245E-4518-B7C0-E47B-593E2ADD846F}"/>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2CA83EB-B894-8B8E-43C4-730C4C5F7ABE}"/>
                  </a:ext>
                </a:extLst>
              </p:cNvPr>
              <p:cNvSpPr>
                <a:spLocks noGrp="1"/>
              </p:cNvSpPr>
              <p:nvPr>
                <p:ph idx="1"/>
              </p:nvPr>
            </p:nvSpPr>
            <p:spPr>
              <a:xfrm>
                <a:off x="838200" y="1825625"/>
                <a:ext cx="5775036" cy="4351338"/>
              </a:xfrm>
            </p:spPr>
            <p:txBody>
              <a:bodyPr/>
              <a:lstStyle/>
              <a:p>
                <a:pPr marL="0" indent="0">
                  <a:buNone/>
                </a:pPr>
                <a:r>
                  <a:rPr lang="ja-JP" altLang="en-US" sz="2400" dirty="0"/>
                  <a:t>重み付きの根付き木で次を満たすもの</a:t>
                </a:r>
                <a:endParaRPr lang="en-US" altLang="ja-JP" sz="2400" dirty="0"/>
              </a:p>
              <a:p>
                <a:r>
                  <a:rPr kumimoji="1" lang="ja-JP" altLang="en-US" sz="2400" dirty="0"/>
                  <a:t>すべての葉が同じ深さにある</a:t>
                </a:r>
                <a:endParaRPr kumimoji="1" lang="en-US" altLang="ja-JP" sz="2400" dirty="0"/>
              </a:p>
              <a:p>
                <a:r>
                  <a:rPr lang="ja-JP" altLang="en-US" sz="2400" dirty="0"/>
                  <a:t>任意の頂点 </a:t>
                </a:r>
                <a14:m>
                  <m:oMath xmlns:m="http://schemas.openxmlformats.org/officeDocument/2006/math">
                    <m:r>
                      <a:rPr lang="en-US" altLang="ja-JP" sz="2400" b="0" i="1" smtClean="0">
                        <a:latin typeface="Cambria Math" panose="02040503050406030204" pitchFamily="18" charset="0"/>
                      </a:rPr>
                      <m:t>𝑣</m:t>
                    </m:r>
                  </m:oMath>
                </a14:m>
                <a:r>
                  <a:rPr kumimoji="1" lang="en-US" altLang="ja-JP" sz="2400" dirty="0"/>
                  <a:t> </a:t>
                </a:r>
                <a:r>
                  <a:rPr kumimoji="1" lang="ja-JP" altLang="en-US" sz="2400" dirty="0"/>
                  <a:t>に対して，</a:t>
                </a:r>
                <a14:m>
                  <m:oMath xmlns:m="http://schemas.openxmlformats.org/officeDocument/2006/math">
                    <m:r>
                      <a:rPr kumimoji="1" lang="en-US" altLang="ja-JP" sz="2400" b="0" i="1" smtClean="0">
                        <a:latin typeface="Cambria Math" panose="02040503050406030204" pitchFamily="18" charset="0"/>
                      </a:rPr>
                      <m:t>𝑣</m:t>
                    </m:r>
                  </m:oMath>
                </a14:m>
                <a:r>
                  <a:rPr kumimoji="1" lang="en-US" altLang="ja-JP" sz="2400" dirty="0"/>
                  <a:t> </a:t>
                </a:r>
                <a:r>
                  <a:rPr kumimoji="1" lang="ja-JP" altLang="en-US" sz="2400" dirty="0"/>
                  <a:t>とその子を接続する辺の重みは等しい</a:t>
                </a:r>
                <a:endParaRPr kumimoji="1" lang="en-US" altLang="ja-JP" sz="2400" dirty="0"/>
              </a:p>
              <a:p>
                <a:r>
                  <a:rPr lang="ja-JP" altLang="en-US" sz="2400" dirty="0"/>
                  <a:t>任意の頂点 </a:t>
                </a:r>
                <a14:m>
                  <m:oMath xmlns:m="http://schemas.openxmlformats.org/officeDocument/2006/math">
                    <m:r>
                      <a:rPr lang="en-US" altLang="ja-JP" sz="2400" b="0" i="1" smtClean="0">
                        <a:latin typeface="Cambria Math" panose="02040503050406030204" pitchFamily="18" charset="0"/>
                      </a:rPr>
                      <m:t>𝑣</m:t>
                    </m:r>
                  </m:oMath>
                </a14:m>
                <a:r>
                  <a:rPr kumimoji="1" lang="en-US" altLang="ja-JP" sz="2400" dirty="0"/>
                  <a:t> </a:t>
                </a:r>
                <a:r>
                  <a:rPr kumimoji="1" lang="ja-JP" altLang="en-US" sz="2400" dirty="0"/>
                  <a:t>に対して親と接続する辺の重みが子と接続する辺の重みの </a:t>
                </a:r>
                <a14:m>
                  <m:oMath xmlns:m="http://schemas.openxmlformats.org/officeDocument/2006/math">
                    <m:r>
                      <a:rPr kumimoji="1" lang="en-US" altLang="ja-JP" sz="2400" b="0" i="1" smtClean="0">
                        <a:latin typeface="Cambria Math" panose="02040503050406030204" pitchFamily="18" charset="0"/>
                      </a:rPr>
                      <m:t>𝑘</m:t>
                    </m:r>
                  </m:oMath>
                </a14:m>
                <a:r>
                  <a:rPr kumimoji="1" lang="en-US" altLang="ja-JP" sz="2400" dirty="0"/>
                  <a:t> </a:t>
                </a:r>
                <a:r>
                  <a:rPr kumimoji="1" lang="ja-JP" altLang="en-US" sz="2400" dirty="0"/>
                  <a:t>倍</a:t>
                </a:r>
                <a:endParaRPr kumimoji="1" lang="en-US" altLang="ja-JP" sz="2400" dirty="0"/>
              </a:p>
              <a:p>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E2CA83EB-B894-8B8E-43C4-730C4C5F7ABE}"/>
                  </a:ext>
                </a:extLst>
              </p:cNvPr>
              <p:cNvSpPr>
                <a:spLocks noGrp="1" noRot="1" noChangeAspect="1" noMove="1" noResize="1" noEditPoints="1" noAdjustHandles="1" noChangeArrowheads="1" noChangeShapeType="1" noTextEdit="1"/>
              </p:cNvSpPr>
              <p:nvPr>
                <p:ph idx="1"/>
              </p:nvPr>
            </p:nvSpPr>
            <p:spPr>
              <a:xfrm>
                <a:off x="838200" y="1825625"/>
                <a:ext cx="5775036" cy="4351338"/>
              </a:xfrm>
              <a:blipFill>
                <a:blip r:embed="rId3"/>
                <a:stretch>
                  <a:fillRect l="-1690" t="-1541"/>
                </a:stretch>
              </a:blipFill>
            </p:spPr>
            <p:txBody>
              <a:bodyPr/>
              <a:lstStyle/>
              <a:p>
                <a:r>
                  <a:rPr lang="ja-JP" altLang="en-US">
                    <a:noFill/>
                  </a:rPr>
                  <a:t> </a:t>
                </a:r>
              </a:p>
            </p:txBody>
          </p:sp>
        </mc:Fallback>
      </mc:AlternateContent>
      <p:grpSp>
        <p:nvGrpSpPr>
          <p:cNvPr id="4" name="グループ化 3">
            <a:extLst>
              <a:ext uri="{FF2B5EF4-FFF2-40B4-BE49-F238E27FC236}">
                <a16:creationId xmlns:a16="http://schemas.microsoft.com/office/drawing/2014/main" id="{F554987D-2E05-6507-5BC1-B23379E6A3BF}"/>
              </a:ext>
            </a:extLst>
          </p:cNvPr>
          <p:cNvGrpSpPr/>
          <p:nvPr/>
        </p:nvGrpSpPr>
        <p:grpSpPr>
          <a:xfrm>
            <a:off x="7631267" y="1635904"/>
            <a:ext cx="2793558" cy="4541059"/>
            <a:chOff x="4086788" y="1310326"/>
            <a:chExt cx="2793558" cy="4541059"/>
          </a:xfrm>
        </p:grpSpPr>
        <p:sp>
          <p:nvSpPr>
            <p:cNvPr id="5" name="楕円 4">
              <a:extLst>
                <a:ext uri="{FF2B5EF4-FFF2-40B4-BE49-F238E27FC236}">
                  <a16:creationId xmlns:a16="http://schemas.microsoft.com/office/drawing/2014/main" id="{26A8D436-486D-E310-4713-F6CC3BDD49F4}"/>
                </a:ext>
              </a:extLst>
            </p:cNvPr>
            <p:cNvSpPr/>
            <p:nvPr/>
          </p:nvSpPr>
          <p:spPr>
            <a:xfrm>
              <a:off x="5318485" y="3362039"/>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91DB9FE4-86DC-1CDD-11A8-28D2473F4C4B}"/>
                </a:ext>
              </a:extLst>
            </p:cNvPr>
            <p:cNvCxnSpPr>
              <a:cxnSpLocks/>
              <a:stCxn id="5" idx="4"/>
            </p:cNvCxnSpPr>
            <p:nvPr/>
          </p:nvCxnSpPr>
          <p:spPr>
            <a:xfrm flipH="1">
              <a:off x="4400611" y="3506039"/>
              <a:ext cx="989874" cy="15373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21275D7E-7CB1-D10E-132A-9D5E0C6036D1}"/>
                </a:ext>
              </a:extLst>
            </p:cNvPr>
            <p:cNvCxnSpPr>
              <a:cxnSpLocks/>
              <a:stCxn id="5" idx="4"/>
              <a:endCxn id="10" idx="4"/>
            </p:cNvCxnSpPr>
            <p:nvPr/>
          </p:nvCxnSpPr>
          <p:spPr>
            <a:xfrm>
              <a:off x="5390485" y="3506039"/>
              <a:ext cx="0" cy="16813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CBD73B43-BF88-9F10-88CD-4AFC46D58B07}"/>
                </a:ext>
              </a:extLst>
            </p:cNvPr>
            <p:cNvCxnSpPr>
              <a:cxnSpLocks/>
              <a:stCxn id="5" idx="4"/>
              <a:endCxn id="11" idx="0"/>
            </p:cNvCxnSpPr>
            <p:nvPr/>
          </p:nvCxnSpPr>
          <p:spPr>
            <a:xfrm>
              <a:off x="5390485" y="3506039"/>
              <a:ext cx="944448" cy="15373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楕円 8">
              <a:extLst>
                <a:ext uri="{FF2B5EF4-FFF2-40B4-BE49-F238E27FC236}">
                  <a16:creationId xmlns:a16="http://schemas.microsoft.com/office/drawing/2014/main" id="{97154E2F-10F9-E95B-548B-10B5B929FB36}"/>
                </a:ext>
              </a:extLst>
            </p:cNvPr>
            <p:cNvSpPr/>
            <p:nvPr/>
          </p:nvSpPr>
          <p:spPr>
            <a:xfrm>
              <a:off x="4302037" y="504334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42F202FD-9644-6B9C-069C-0E65E918404F}"/>
                </a:ext>
              </a:extLst>
            </p:cNvPr>
            <p:cNvSpPr/>
            <p:nvPr/>
          </p:nvSpPr>
          <p:spPr>
            <a:xfrm>
              <a:off x="5318485" y="504334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30ED50BD-EB98-59F9-8AE3-A935BED12AD3}"/>
                </a:ext>
              </a:extLst>
            </p:cNvPr>
            <p:cNvSpPr/>
            <p:nvPr/>
          </p:nvSpPr>
          <p:spPr>
            <a:xfrm>
              <a:off x="6262933" y="5043340"/>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1C6DBBE3-0AF5-1051-E184-E5A0BD8A4A85}"/>
                </a:ext>
              </a:extLst>
            </p:cNvPr>
            <p:cNvCxnSpPr>
              <a:cxnSpLocks/>
              <a:stCxn id="9" idx="4"/>
              <a:endCxn id="13" idx="0"/>
            </p:cNvCxnSpPr>
            <p:nvPr/>
          </p:nvCxnSpPr>
          <p:spPr>
            <a:xfrm flipH="1">
              <a:off x="4158788" y="5187340"/>
              <a:ext cx="215249" cy="52004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B279F878-170B-CD5C-FE6B-4F2949AB814F}"/>
                </a:ext>
              </a:extLst>
            </p:cNvPr>
            <p:cNvSpPr/>
            <p:nvPr/>
          </p:nvSpPr>
          <p:spPr>
            <a:xfrm>
              <a:off x="4086788" y="570738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D2BC23BD-02E1-B716-66F3-8E1FD15733C7}"/>
                </a:ext>
              </a:extLst>
            </p:cNvPr>
            <p:cNvSpPr/>
            <p:nvPr/>
          </p:nvSpPr>
          <p:spPr>
            <a:xfrm>
              <a:off x="4953223" y="570738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A7AE06B2-7CAA-E0C7-A7BD-AEABC1B9A0D9}"/>
                </a:ext>
              </a:extLst>
            </p:cNvPr>
            <p:cNvSpPr/>
            <p:nvPr/>
          </p:nvSpPr>
          <p:spPr>
            <a:xfrm>
              <a:off x="5675658" y="570738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76B26A51-1BF3-774E-C440-B8276AFEE2D6}"/>
                </a:ext>
              </a:extLst>
            </p:cNvPr>
            <p:cNvSpPr/>
            <p:nvPr/>
          </p:nvSpPr>
          <p:spPr>
            <a:xfrm>
              <a:off x="6398093" y="5707385"/>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コネクタ 16">
              <a:extLst>
                <a:ext uri="{FF2B5EF4-FFF2-40B4-BE49-F238E27FC236}">
                  <a16:creationId xmlns:a16="http://schemas.microsoft.com/office/drawing/2014/main" id="{7E788186-AA2A-80A5-9FD4-504FC1B48E6D}"/>
                </a:ext>
              </a:extLst>
            </p:cNvPr>
            <p:cNvCxnSpPr>
              <a:cxnSpLocks/>
              <a:stCxn id="10" idx="4"/>
              <a:endCxn id="14" idx="0"/>
            </p:cNvCxnSpPr>
            <p:nvPr/>
          </p:nvCxnSpPr>
          <p:spPr>
            <a:xfrm flipH="1">
              <a:off x="5025223" y="5187340"/>
              <a:ext cx="365262" cy="52004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8359A1A2-750E-D121-7436-5A40786566E3}"/>
                </a:ext>
              </a:extLst>
            </p:cNvPr>
            <p:cNvCxnSpPr>
              <a:cxnSpLocks/>
              <a:stCxn id="10" idx="4"/>
              <a:endCxn id="15" idx="0"/>
            </p:cNvCxnSpPr>
            <p:nvPr/>
          </p:nvCxnSpPr>
          <p:spPr>
            <a:xfrm>
              <a:off x="5390485" y="5187340"/>
              <a:ext cx="357173" cy="52004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C04AFBE4-172C-AE15-E757-F4E05C492B06}"/>
                </a:ext>
              </a:extLst>
            </p:cNvPr>
            <p:cNvCxnSpPr>
              <a:cxnSpLocks/>
              <a:stCxn id="11" idx="4"/>
              <a:endCxn id="16" idx="0"/>
            </p:cNvCxnSpPr>
            <p:nvPr/>
          </p:nvCxnSpPr>
          <p:spPr>
            <a:xfrm>
              <a:off x="6334933" y="5187340"/>
              <a:ext cx="135160" cy="52004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76EAC3ED-4690-1577-C944-1BC0127A1906}"/>
                </a:ext>
              </a:extLst>
            </p:cNvPr>
            <p:cNvCxnSpPr>
              <a:cxnSpLocks/>
              <a:endCxn id="5" idx="0"/>
            </p:cNvCxnSpPr>
            <p:nvPr/>
          </p:nvCxnSpPr>
          <p:spPr>
            <a:xfrm flipH="1">
              <a:off x="5390485" y="1310326"/>
              <a:ext cx="1339032" cy="205171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5A4C7D77-AE7D-DB14-2EA2-E89F05D5EFA6}"/>
                    </a:ext>
                  </a:extLst>
                </p:cNvPr>
                <p:cNvSpPr txBox="1"/>
                <p:nvPr/>
              </p:nvSpPr>
              <p:spPr>
                <a:xfrm>
                  <a:off x="6578688" y="5262663"/>
                  <a:ext cx="301658"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1</m:t>
                        </m:r>
                      </m:oMath>
                    </m:oMathPara>
                  </a14:m>
                  <a:endParaRPr kumimoji="1" lang="ja-JP" altLang="en-US" dirty="0"/>
                </a:p>
              </p:txBody>
            </p:sp>
          </mc:Choice>
          <mc:Fallback xmlns="">
            <p:sp>
              <p:nvSpPr>
                <p:cNvPr id="21" name="テキスト ボックス 20">
                  <a:extLst>
                    <a:ext uri="{FF2B5EF4-FFF2-40B4-BE49-F238E27FC236}">
                      <a16:creationId xmlns:a16="http://schemas.microsoft.com/office/drawing/2014/main" id="{5A4C7D77-AE7D-DB14-2EA2-E89F05D5EFA6}"/>
                    </a:ext>
                  </a:extLst>
                </p:cNvPr>
                <p:cNvSpPr txBox="1">
                  <a:spLocks noRot="1" noChangeAspect="1" noMove="1" noResize="1" noEditPoints="1" noAdjustHandles="1" noChangeArrowheads="1" noChangeShapeType="1" noTextEdit="1"/>
                </p:cNvSpPr>
                <p:nvPr/>
              </p:nvSpPr>
              <p:spPr>
                <a:xfrm>
                  <a:off x="6578688" y="5262663"/>
                  <a:ext cx="301658" cy="369397"/>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063E6C95-A805-8ED7-AAFF-77FAC5122E85}"/>
                    </a:ext>
                  </a:extLst>
                </p:cNvPr>
                <p:cNvSpPr txBox="1"/>
                <p:nvPr/>
              </p:nvSpPr>
              <p:spPr>
                <a:xfrm>
                  <a:off x="6033275" y="3977292"/>
                  <a:ext cx="301658"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𝑘</m:t>
                        </m:r>
                      </m:oMath>
                    </m:oMathPara>
                  </a14:m>
                  <a:endParaRPr kumimoji="1" lang="ja-JP" altLang="en-US" dirty="0"/>
                </a:p>
              </p:txBody>
            </p:sp>
          </mc:Choice>
          <mc:Fallback xmlns="">
            <p:sp>
              <p:nvSpPr>
                <p:cNvPr id="22" name="テキスト ボックス 21">
                  <a:extLst>
                    <a:ext uri="{FF2B5EF4-FFF2-40B4-BE49-F238E27FC236}">
                      <a16:creationId xmlns:a16="http://schemas.microsoft.com/office/drawing/2014/main" id="{063E6C95-A805-8ED7-AAFF-77FAC5122E85}"/>
                    </a:ext>
                  </a:extLst>
                </p:cNvPr>
                <p:cNvSpPr txBox="1">
                  <a:spLocks noRot="1" noChangeAspect="1" noMove="1" noResize="1" noEditPoints="1" noAdjustHandles="1" noChangeArrowheads="1" noChangeShapeType="1" noTextEdit="1"/>
                </p:cNvSpPr>
                <p:nvPr/>
              </p:nvSpPr>
              <p:spPr>
                <a:xfrm>
                  <a:off x="6033275" y="3977292"/>
                  <a:ext cx="301658" cy="369397"/>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01AC384E-621F-D495-5B6C-EBBA6611B801}"/>
                    </a:ext>
                  </a:extLst>
                </p:cNvPr>
                <p:cNvSpPr txBox="1"/>
                <p:nvPr/>
              </p:nvSpPr>
              <p:spPr>
                <a:xfrm>
                  <a:off x="6112104" y="2295991"/>
                  <a:ext cx="301658"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𝑘</m:t>
                            </m:r>
                          </m:e>
                          <m:sup>
                            <m:r>
                              <a:rPr kumimoji="1" lang="en-US" altLang="ja-JP" b="0" i="1" smtClean="0">
                                <a:latin typeface="Cambria Math" panose="02040503050406030204" pitchFamily="18" charset="0"/>
                              </a:rPr>
                              <m:t>2</m:t>
                            </m:r>
                          </m:sup>
                        </m:sSup>
                      </m:oMath>
                    </m:oMathPara>
                  </a14:m>
                  <a:endParaRPr kumimoji="1" lang="ja-JP" altLang="en-US" dirty="0"/>
                </a:p>
              </p:txBody>
            </p:sp>
          </mc:Choice>
          <mc:Fallback xmlns="">
            <p:sp>
              <p:nvSpPr>
                <p:cNvPr id="23" name="テキスト ボックス 22">
                  <a:extLst>
                    <a:ext uri="{FF2B5EF4-FFF2-40B4-BE49-F238E27FC236}">
                      <a16:creationId xmlns:a16="http://schemas.microsoft.com/office/drawing/2014/main" id="{01AC384E-621F-D495-5B6C-EBBA6611B801}"/>
                    </a:ext>
                  </a:extLst>
                </p:cNvPr>
                <p:cNvSpPr txBox="1">
                  <a:spLocks noRot="1" noChangeAspect="1" noMove="1" noResize="1" noEditPoints="1" noAdjustHandles="1" noChangeArrowheads="1" noChangeShapeType="1" noTextEdit="1"/>
                </p:cNvSpPr>
                <p:nvPr/>
              </p:nvSpPr>
              <p:spPr>
                <a:xfrm>
                  <a:off x="6112104" y="2295991"/>
                  <a:ext cx="301658" cy="369397"/>
                </a:xfrm>
                <a:prstGeom prst="rect">
                  <a:avLst/>
                </a:prstGeom>
                <a:blipFill>
                  <a:blip r:embed="rId6"/>
                  <a:stretch>
                    <a:fillRect r="-26000"/>
                  </a:stretch>
                </a:blipFill>
              </p:spPr>
              <p:txBody>
                <a:bodyPr/>
                <a:lstStyle/>
                <a:p>
                  <a:r>
                    <a:rPr lang="ja-JP" altLang="en-US">
                      <a:noFill/>
                    </a:rPr>
                    <a:t> </a:t>
                  </a:r>
                </a:p>
              </p:txBody>
            </p:sp>
          </mc:Fallback>
        </mc:AlternateContent>
      </p:grpSp>
      <p:sp>
        <p:nvSpPr>
          <p:cNvPr id="24" name="スライド番号プレースホルダー 23">
            <a:extLst>
              <a:ext uri="{FF2B5EF4-FFF2-40B4-BE49-F238E27FC236}">
                <a16:creationId xmlns:a16="http://schemas.microsoft.com/office/drawing/2014/main" id="{7F52E883-E421-7B7C-A3CE-380ADC5E4AEE}"/>
              </a:ext>
            </a:extLst>
          </p:cNvPr>
          <p:cNvSpPr>
            <a:spLocks noGrp="1"/>
          </p:cNvSpPr>
          <p:nvPr>
            <p:ph type="sldNum" sz="quarter" idx="12"/>
          </p:nvPr>
        </p:nvSpPr>
        <p:spPr/>
        <p:txBody>
          <a:bodyPr/>
          <a:lstStyle/>
          <a:p>
            <a:fld id="{4B077F3A-4098-4199-8925-77865D1E3500}" type="slidenum">
              <a:rPr kumimoji="1" lang="ja-JP" altLang="en-US" smtClean="0"/>
              <a:t>56</a:t>
            </a:fld>
            <a:endParaRPr kumimoji="1" lang="ja-JP" altLang="en-US"/>
          </a:p>
        </p:txBody>
      </p:sp>
    </p:spTree>
    <p:extLst>
      <p:ext uri="{BB962C8B-B14F-4D97-AF65-F5344CB8AC3E}">
        <p14:creationId xmlns:p14="http://schemas.microsoft.com/office/powerpoint/2010/main" val="32504767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873875-2793-8430-3E85-5A405DA255B4}"/>
              </a:ext>
            </a:extLst>
          </p:cNvPr>
          <p:cNvSpPr>
            <a:spLocks noGrp="1"/>
          </p:cNvSpPr>
          <p:nvPr>
            <p:ph type="title"/>
          </p:nvPr>
        </p:nvSpPr>
        <p:spPr/>
        <p:txBody>
          <a:bodyPr/>
          <a:lstStyle/>
          <a:p>
            <a:r>
              <a:rPr kumimoji="1" lang="ja-JP" altLang="en-US" dirty="0"/>
              <a:t>距離空間の</a:t>
            </a:r>
            <a:r>
              <a:rPr kumimoji="1" lang="en-US" altLang="ja-JP" dirty="0"/>
              <a:t>HST</a:t>
            </a:r>
            <a:r>
              <a:rPr kumimoji="1" lang="ja-JP" altLang="en-US" dirty="0"/>
              <a:t>への埋め込み</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95185F3-A70D-35D8-705C-BB4BC43A38E2}"/>
                  </a:ext>
                </a:extLst>
              </p:cNvPr>
              <p:cNvSpPr>
                <a:spLocks noGrp="1"/>
              </p:cNvSpPr>
              <p:nvPr>
                <p:ph idx="1"/>
              </p:nvPr>
            </p:nvSpPr>
            <p:spPr>
              <a:xfrm>
                <a:off x="838200" y="1690688"/>
                <a:ext cx="10515600" cy="2718095"/>
              </a:xfrm>
              <a:solidFill>
                <a:schemeClr val="accent6">
                  <a:lumMod val="20000"/>
                  <a:lumOff val="80000"/>
                </a:schemeClr>
              </a:solidFill>
            </p:spPr>
            <p:txBody>
              <a:bodyPr anchor="ctr">
                <a:normAutofit/>
              </a:bodyPr>
              <a:lstStyle/>
              <a:p>
                <a:pPr marL="0" indent="0">
                  <a:buNone/>
                </a:pPr>
                <a:r>
                  <a:rPr lang="ja-JP" altLang="en-US" b="1" dirty="0"/>
                  <a:t>定理</a:t>
                </a:r>
                <a:r>
                  <a:rPr lang="ja-JP" altLang="en-US" sz="2400" dirty="0"/>
                  <a:t> </a:t>
                </a:r>
                <a:r>
                  <a:rPr lang="en-US" altLang="ja-JP" sz="2200" dirty="0"/>
                  <a:t>[</a:t>
                </a:r>
                <a:r>
                  <a:rPr lang="en-US" altLang="ja-JP" sz="2200" dirty="0" err="1"/>
                  <a:t>Fakcharoenphol</a:t>
                </a:r>
                <a:r>
                  <a:rPr lang="en-US" altLang="ja-JP" sz="2200" dirty="0"/>
                  <a:t>, Rao and Talwar, 2004]</a:t>
                </a:r>
              </a:p>
              <a:p>
                <a:pPr marL="0" indent="0">
                  <a:buNone/>
                </a:pPr>
                <a:r>
                  <a:rPr kumimoji="1" lang="ja-JP" altLang="en-US" sz="2200" dirty="0"/>
                  <a:t>任意の </a:t>
                </a:r>
                <a14:m>
                  <m:oMath xmlns:m="http://schemas.openxmlformats.org/officeDocument/2006/math">
                    <m:r>
                      <a:rPr kumimoji="1" lang="en-US" altLang="ja-JP" sz="2200" b="0" i="1" smtClean="0">
                        <a:latin typeface="Cambria Math" panose="02040503050406030204" pitchFamily="18" charset="0"/>
                      </a:rPr>
                      <m:t>𝑛</m:t>
                    </m:r>
                  </m:oMath>
                </a14:m>
                <a:r>
                  <a:rPr kumimoji="1" lang="ja-JP" altLang="en-US" sz="2200" dirty="0"/>
                  <a:t> 点距離空間 </a:t>
                </a:r>
                <a14:m>
                  <m:oMath xmlns:m="http://schemas.openxmlformats.org/officeDocument/2006/math">
                    <m:d>
                      <m:dPr>
                        <m:ctrlPr>
                          <a:rPr kumimoji="1" lang="en-US" altLang="ja-JP" sz="2200" b="0" i="1" smtClean="0">
                            <a:latin typeface="Cambria Math" panose="02040503050406030204" pitchFamily="18" charset="0"/>
                          </a:rPr>
                        </m:ctrlPr>
                      </m:dPr>
                      <m:e>
                        <m:r>
                          <a:rPr kumimoji="1" lang="en-US" altLang="ja-JP" sz="2200" b="0" i="1" smtClean="0">
                            <a:latin typeface="Cambria Math" panose="02040503050406030204" pitchFamily="18" charset="0"/>
                          </a:rPr>
                          <m:t>𝑋</m:t>
                        </m:r>
                        <m:r>
                          <a:rPr kumimoji="1" lang="en-US" altLang="ja-JP" sz="2200" b="0" i="1" smtClean="0">
                            <a:latin typeface="Cambria Math" panose="02040503050406030204" pitchFamily="18" charset="0"/>
                          </a:rPr>
                          <m:t>,</m:t>
                        </m:r>
                        <m:sSub>
                          <m:sSubPr>
                            <m:ctrlPr>
                              <a:rPr kumimoji="1" lang="en-US" altLang="ja-JP" sz="2200" b="0" i="1" smtClean="0">
                                <a:latin typeface="Cambria Math" panose="02040503050406030204" pitchFamily="18" charset="0"/>
                              </a:rPr>
                            </m:ctrlPr>
                          </m:sSubPr>
                          <m:e>
                            <m:r>
                              <a:rPr kumimoji="1" lang="en-US" altLang="ja-JP" sz="2200" b="0" i="1" smtClean="0">
                                <a:latin typeface="Cambria Math" panose="02040503050406030204" pitchFamily="18" charset="0"/>
                              </a:rPr>
                              <m:t>𝑑</m:t>
                            </m:r>
                          </m:e>
                          <m:sub>
                            <m:r>
                              <a:rPr kumimoji="1" lang="en-US" altLang="ja-JP" sz="2200" b="0" i="1" smtClean="0">
                                <a:latin typeface="Cambria Math" panose="02040503050406030204" pitchFamily="18" charset="0"/>
                              </a:rPr>
                              <m:t>𝑋</m:t>
                            </m:r>
                          </m:sub>
                        </m:sSub>
                      </m:e>
                    </m:d>
                  </m:oMath>
                </a14:m>
                <a:r>
                  <a:rPr kumimoji="1" lang="ja-JP" altLang="en-US" sz="2200" dirty="0"/>
                  <a:t> </a:t>
                </a:r>
                <a:r>
                  <a:rPr lang="ja-JP" altLang="en-US" sz="2200" dirty="0"/>
                  <a:t>に対して，</a:t>
                </a:r>
                <a:r>
                  <a:rPr lang="en-US" altLang="ja-JP" sz="2200" dirty="0"/>
                  <a:t>2-HST</a:t>
                </a:r>
                <a:r>
                  <a:rPr lang="ja-JP" altLang="en-US" sz="2200" dirty="0"/>
                  <a:t>距離空間の族 </a:t>
                </a:r>
                <a14:m>
                  <m:oMath xmlns:m="http://schemas.openxmlformats.org/officeDocument/2006/math">
                    <m:sSub>
                      <m:sSubPr>
                        <m:ctrlPr>
                          <a:rPr lang="en-US" altLang="ja-JP" sz="2200" b="0" i="1" smtClean="0">
                            <a:latin typeface="Cambria Math" panose="02040503050406030204" pitchFamily="18" charset="0"/>
                          </a:rPr>
                        </m:ctrlPr>
                      </m:sSubPr>
                      <m:e>
                        <m:d>
                          <m:dPr>
                            <m:begChr m:val="{"/>
                            <m:endChr m:val="}"/>
                            <m:ctrlPr>
                              <a:rPr lang="en-US" altLang="ja-JP" sz="2200" b="0" i="1" smtClean="0">
                                <a:latin typeface="Cambria Math" panose="02040503050406030204" pitchFamily="18" charset="0"/>
                              </a:rPr>
                            </m:ctrlPr>
                          </m:dPr>
                          <m:e>
                            <m:d>
                              <m:dPr>
                                <m:ctrlPr>
                                  <a:rPr lang="en-US" altLang="ja-JP" sz="2200" b="0" i="1" smtClean="0">
                                    <a:latin typeface="Cambria Math" panose="02040503050406030204" pitchFamily="18" charset="0"/>
                                  </a:rPr>
                                </m:ctrlPr>
                              </m:dPr>
                              <m:e>
                                <m:r>
                                  <a:rPr lang="en-US" altLang="ja-JP" sz="2200" b="0" i="1" smtClean="0">
                                    <a:latin typeface="Cambria Math" panose="02040503050406030204" pitchFamily="18" charset="0"/>
                                  </a:rPr>
                                  <m:t>𝑇</m:t>
                                </m:r>
                                <m:r>
                                  <a:rPr lang="en-US" altLang="ja-JP" sz="2200" b="0" i="1" smtClean="0">
                                    <a:latin typeface="Cambria Math" panose="02040503050406030204" pitchFamily="18" charset="0"/>
                                  </a:rPr>
                                  <m:t>,</m:t>
                                </m:r>
                                <m:sSub>
                                  <m:sSubPr>
                                    <m:ctrlPr>
                                      <a:rPr lang="en-US" altLang="ja-JP" sz="2200" b="0" i="1" smtClean="0">
                                        <a:latin typeface="Cambria Math" panose="02040503050406030204" pitchFamily="18" charset="0"/>
                                      </a:rPr>
                                    </m:ctrlPr>
                                  </m:sSubPr>
                                  <m:e>
                                    <m:r>
                                      <a:rPr lang="en-US" altLang="ja-JP" sz="2200" b="0" i="1" smtClean="0">
                                        <a:latin typeface="Cambria Math" panose="02040503050406030204" pitchFamily="18" charset="0"/>
                                      </a:rPr>
                                      <m:t>𝑑</m:t>
                                    </m:r>
                                  </m:e>
                                  <m:sub>
                                    <m:r>
                                      <a:rPr lang="en-US" altLang="ja-JP" sz="2200" b="0" i="1" smtClean="0">
                                        <a:latin typeface="Cambria Math" panose="02040503050406030204" pitchFamily="18" charset="0"/>
                                      </a:rPr>
                                      <m:t>𝑇</m:t>
                                    </m:r>
                                  </m:sub>
                                </m:sSub>
                              </m:e>
                            </m:d>
                          </m:e>
                        </m:d>
                      </m:e>
                      <m:sub>
                        <m:r>
                          <a:rPr lang="en-US" altLang="ja-JP" sz="2200" b="0" i="1" smtClean="0">
                            <a:latin typeface="Cambria Math" panose="02040503050406030204" pitchFamily="18" charset="0"/>
                          </a:rPr>
                          <m:t>𝑇</m:t>
                        </m:r>
                        <m:r>
                          <a:rPr lang="en-US" altLang="ja-JP" sz="2200" b="0" i="1" smtClean="0">
                            <a:latin typeface="Cambria Math" panose="02040503050406030204" pitchFamily="18" charset="0"/>
                          </a:rPr>
                          <m:t>∈</m:t>
                        </m:r>
                        <m:r>
                          <a:rPr lang="en-US" altLang="ja-JP" sz="2200" b="0" i="1" smtClean="0">
                            <a:latin typeface="Cambria Math" panose="02040503050406030204" pitchFamily="18" charset="0"/>
                          </a:rPr>
                          <m:t>𝒯</m:t>
                        </m:r>
                      </m:sub>
                    </m:sSub>
                  </m:oMath>
                </a14:m>
                <a:r>
                  <a:rPr kumimoji="1" lang="ja-JP" altLang="en-US" sz="2200" dirty="0"/>
                  <a:t> への確率的な埋め込み </a:t>
                </a:r>
                <a14:m>
                  <m:oMath xmlns:m="http://schemas.openxmlformats.org/officeDocument/2006/math">
                    <m:r>
                      <a:rPr kumimoji="1" lang="en-US" altLang="ja-JP" sz="2200" b="0" i="1" smtClean="0">
                        <a:latin typeface="Cambria Math" panose="02040503050406030204" pitchFamily="18" charset="0"/>
                      </a:rPr>
                      <m:t>𝑓</m:t>
                    </m:r>
                  </m:oMath>
                </a14:m>
                <a:r>
                  <a:rPr kumimoji="1" lang="ja-JP" altLang="en-US" sz="2200" dirty="0"/>
                  <a:t> が存在して次を満たす</a:t>
                </a:r>
                <a:r>
                  <a:rPr kumimoji="1" lang="en-US" altLang="ja-JP" sz="2200" dirty="0"/>
                  <a:t>:</a:t>
                </a:r>
              </a:p>
              <a:p>
                <a:r>
                  <a:rPr lang="ja-JP" altLang="en-US" sz="2200" dirty="0"/>
                  <a:t>任意の </a:t>
                </a:r>
                <a14:m>
                  <m:oMath xmlns:m="http://schemas.openxmlformats.org/officeDocument/2006/math">
                    <m:r>
                      <a:rPr lang="en-US" altLang="ja-JP" sz="2200" b="0" i="1" smtClean="0">
                        <a:latin typeface="Cambria Math" panose="02040503050406030204" pitchFamily="18" charset="0"/>
                      </a:rPr>
                      <m:t>𝑇</m:t>
                    </m:r>
                    <m:r>
                      <a:rPr lang="en-US" altLang="ja-JP" sz="2200" b="0" i="1" smtClean="0">
                        <a:latin typeface="Cambria Math" panose="02040503050406030204" pitchFamily="18" charset="0"/>
                      </a:rPr>
                      <m:t>∈</m:t>
                    </m:r>
                    <m:r>
                      <a:rPr lang="en-US" altLang="ja-JP" sz="2200" b="0" i="1" smtClean="0">
                        <a:latin typeface="Cambria Math" panose="02040503050406030204" pitchFamily="18" charset="0"/>
                      </a:rPr>
                      <m:t>𝒯</m:t>
                    </m:r>
                  </m:oMath>
                </a14:m>
                <a:r>
                  <a:rPr kumimoji="1" lang="ja-JP" altLang="en-US" sz="2200" dirty="0"/>
                  <a:t> </a:t>
                </a:r>
                <a:r>
                  <a:rPr lang="ja-JP" altLang="en-US" sz="2200" dirty="0"/>
                  <a:t>と </a:t>
                </a:r>
                <a14:m>
                  <m:oMath xmlns:m="http://schemas.openxmlformats.org/officeDocument/2006/math">
                    <m:r>
                      <a:rPr lang="en-US" altLang="ja-JP" sz="2200" b="0" i="1" smtClean="0">
                        <a:latin typeface="Cambria Math" panose="02040503050406030204" pitchFamily="18" charset="0"/>
                      </a:rPr>
                      <m:t>𝑥</m:t>
                    </m:r>
                    <m:r>
                      <a:rPr lang="en-US" altLang="ja-JP" sz="2200" b="0" i="1" smtClean="0">
                        <a:latin typeface="Cambria Math" panose="02040503050406030204" pitchFamily="18" charset="0"/>
                      </a:rPr>
                      <m:t>∈</m:t>
                    </m:r>
                    <m:r>
                      <a:rPr lang="en-US" altLang="ja-JP" sz="2200" b="0" i="1" smtClean="0">
                        <a:latin typeface="Cambria Math" panose="02040503050406030204" pitchFamily="18" charset="0"/>
                      </a:rPr>
                      <m:t>𝑋</m:t>
                    </m:r>
                  </m:oMath>
                </a14:m>
                <a:r>
                  <a:rPr kumimoji="1" lang="ja-JP" altLang="en-US" sz="2200" dirty="0"/>
                  <a:t> について，</a:t>
                </a:r>
                <a14:m>
                  <m:oMath xmlns:m="http://schemas.openxmlformats.org/officeDocument/2006/math">
                    <m:r>
                      <a:rPr kumimoji="1" lang="en-US" altLang="ja-JP" sz="2200" b="0" i="1" smtClean="0">
                        <a:latin typeface="Cambria Math" panose="02040503050406030204" pitchFamily="18" charset="0"/>
                      </a:rPr>
                      <m:t>𝑓</m:t>
                    </m:r>
                    <m:r>
                      <a:rPr kumimoji="1" lang="en-US" altLang="ja-JP" sz="2200" b="0" i="1" smtClean="0">
                        <a:latin typeface="Cambria Math" panose="02040503050406030204" pitchFamily="18" charset="0"/>
                      </a:rPr>
                      <m:t>(</m:t>
                    </m:r>
                    <m:r>
                      <a:rPr kumimoji="1" lang="en-US" altLang="ja-JP" sz="2200" b="0" i="1" smtClean="0">
                        <a:latin typeface="Cambria Math" panose="02040503050406030204" pitchFamily="18" charset="0"/>
                      </a:rPr>
                      <m:t>𝑥</m:t>
                    </m:r>
                    <m:r>
                      <a:rPr kumimoji="1" lang="en-US" altLang="ja-JP" sz="2200" b="0" i="1" smtClean="0">
                        <a:latin typeface="Cambria Math" panose="02040503050406030204" pitchFamily="18" charset="0"/>
                      </a:rPr>
                      <m:t>)</m:t>
                    </m:r>
                  </m:oMath>
                </a14:m>
                <a:r>
                  <a:rPr kumimoji="1" lang="ja-JP" altLang="en-US" sz="2200" dirty="0"/>
                  <a:t> は </a:t>
                </a:r>
                <a:r>
                  <a:rPr kumimoji="1" lang="en-US" altLang="ja-JP" sz="2200" dirty="0"/>
                  <a:t>2-HST </a:t>
                </a:r>
                <a14:m>
                  <m:oMath xmlns:m="http://schemas.openxmlformats.org/officeDocument/2006/math">
                    <m:r>
                      <a:rPr kumimoji="1" lang="en-US" altLang="ja-JP" sz="2200" b="0" i="1" smtClean="0">
                        <a:latin typeface="Cambria Math" panose="02040503050406030204" pitchFamily="18" charset="0"/>
                      </a:rPr>
                      <m:t>𝑇</m:t>
                    </m:r>
                  </m:oMath>
                </a14:m>
                <a:r>
                  <a:rPr kumimoji="1" lang="ja-JP" altLang="en-US" sz="2200" dirty="0"/>
                  <a:t> 上の葉である．</a:t>
                </a:r>
                <a:endParaRPr kumimoji="1" lang="en-US" altLang="ja-JP" sz="2200" dirty="0"/>
              </a:p>
              <a:p>
                <a:r>
                  <a:rPr lang="ja-JP" altLang="en-US" sz="2200" dirty="0"/>
                  <a:t>任意の </a:t>
                </a:r>
                <a14:m>
                  <m:oMath xmlns:m="http://schemas.openxmlformats.org/officeDocument/2006/math">
                    <m:r>
                      <a:rPr lang="en-US" altLang="ja-JP" sz="2200" b="0" i="1" smtClean="0">
                        <a:latin typeface="Cambria Math" panose="02040503050406030204" pitchFamily="18" charset="0"/>
                      </a:rPr>
                      <m:t>𝑇</m:t>
                    </m:r>
                    <m:r>
                      <a:rPr lang="en-US" altLang="ja-JP" sz="2200" b="0" i="1" smtClean="0">
                        <a:latin typeface="Cambria Math" panose="02040503050406030204" pitchFamily="18" charset="0"/>
                      </a:rPr>
                      <m:t>∈</m:t>
                    </m:r>
                    <m:r>
                      <a:rPr lang="en-US" altLang="ja-JP" sz="2200" b="0" i="1" smtClean="0">
                        <a:latin typeface="Cambria Math" panose="02040503050406030204" pitchFamily="18" charset="0"/>
                      </a:rPr>
                      <m:t>𝒯</m:t>
                    </m:r>
                  </m:oMath>
                </a14:m>
                <a:r>
                  <a:rPr kumimoji="1" lang="ja-JP" altLang="en-US" sz="2200" dirty="0"/>
                  <a:t> と </a:t>
                </a:r>
                <a14:m>
                  <m:oMath xmlns:m="http://schemas.openxmlformats.org/officeDocument/2006/math">
                    <m:r>
                      <a:rPr kumimoji="1" lang="en-US" altLang="ja-JP" sz="2200" b="0" i="1" smtClean="0">
                        <a:latin typeface="Cambria Math" panose="02040503050406030204" pitchFamily="18" charset="0"/>
                      </a:rPr>
                      <m:t>𝑥</m:t>
                    </m:r>
                    <m:r>
                      <a:rPr kumimoji="1" lang="en-US" altLang="ja-JP" sz="2200" b="0" i="1" smtClean="0">
                        <a:latin typeface="Cambria Math" panose="02040503050406030204" pitchFamily="18" charset="0"/>
                      </a:rPr>
                      <m:t>,</m:t>
                    </m:r>
                    <m:r>
                      <a:rPr kumimoji="1" lang="en-US" altLang="ja-JP" sz="2200" b="0" i="1" smtClean="0">
                        <a:latin typeface="Cambria Math" panose="02040503050406030204" pitchFamily="18" charset="0"/>
                      </a:rPr>
                      <m:t>𝑦</m:t>
                    </m:r>
                    <m:r>
                      <a:rPr kumimoji="1" lang="en-US" altLang="ja-JP" sz="2200" b="0" i="1" smtClean="0">
                        <a:latin typeface="Cambria Math" panose="02040503050406030204" pitchFamily="18" charset="0"/>
                      </a:rPr>
                      <m:t>∈</m:t>
                    </m:r>
                    <m:r>
                      <a:rPr kumimoji="1" lang="en-US" altLang="ja-JP" sz="2200" b="0" i="1" smtClean="0">
                        <a:latin typeface="Cambria Math" panose="02040503050406030204" pitchFamily="18" charset="0"/>
                      </a:rPr>
                      <m:t>𝑋</m:t>
                    </m:r>
                  </m:oMath>
                </a14:m>
                <a:r>
                  <a:rPr kumimoji="1" lang="ja-JP" altLang="en-US" sz="2200" dirty="0"/>
                  <a:t> について，</a:t>
                </a:r>
                <a14:m>
                  <m:oMath xmlns:m="http://schemas.openxmlformats.org/officeDocument/2006/math">
                    <m:sSub>
                      <m:sSubPr>
                        <m:ctrlPr>
                          <a:rPr lang="en-US" altLang="ja-JP" sz="2200" i="1">
                            <a:latin typeface="Cambria Math" panose="02040503050406030204" pitchFamily="18" charset="0"/>
                          </a:rPr>
                        </m:ctrlPr>
                      </m:sSubPr>
                      <m:e>
                        <m:r>
                          <a:rPr lang="en-US" altLang="ja-JP" sz="2200" i="1">
                            <a:latin typeface="Cambria Math" panose="02040503050406030204" pitchFamily="18" charset="0"/>
                          </a:rPr>
                          <m:t>𝑑</m:t>
                        </m:r>
                      </m:e>
                      <m:sub>
                        <m:r>
                          <a:rPr lang="en-US" altLang="ja-JP" sz="2200" i="1">
                            <a:latin typeface="Cambria Math" panose="02040503050406030204" pitchFamily="18" charset="0"/>
                          </a:rPr>
                          <m:t>𝑋</m:t>
                        </m:r>
                      </m:sub>
                    </m:sSub>
                    <m:d>
                      <m:dPr>
                        <m:ctrlPr>
                          <a:rPr lang="en-US" altLang="ja-JP" sz="2200" i="1">
                            <a:latin typeface="Cambria Math" panose="02040503050406030204" pitchFamily="18" charset="0"/>
                          </a:rPr>
                        </m:ctrlPr>
                      </m:dPr>
                      <m:e>
                        <m:r>
                          <a:rPr lang="en-US" altLang="ja-JP" sz="2200" i="1">
                            <a:latin typeface="Cambria Math" panose="02040503050406030204" pitchFamily="18" charset="0"/>
                          </a:rPr>
                          <m:t>𝑥</m:t>
                        </m:r>
                        <m:r>
                          <a:rPr lang="en-US" altLang="ja-JP" sz="2200" i="1">
                            <a:latin typeface="Cambria Math" panose="02040503050406030204" pitchFamily="18" charset="0"/>
                          </a:rPr>
                          <m:t>,</m:t>
                        </m:r>
                        <m:r>
                          <a:rPr lang="en-US" altLang="ja-JP" sz="2200" i="1">
                            <a:latin typeface="Cambria Math" panose="02040503050406030204" pitchFamily="18" charset="0"/>
                          </a:rPr>
                          <m:t>𝑦</m:t>
                        </m:r>
                      </m:e>
                    </m:d>
                    <m:r>
                      <a:rPr lang="en-US" altLang="ja-JP" sz="2200" b="0" i="1" smtClean="0">
                        <a:latin typeface="Cambria Math" panose="02040503050406030204" pitchFamily="18" charset="0"/>
                      </a:rPr>
                      <m:t>≤</m:t>
                    </m:r>
                    <m:sSub>
                      <m:sSubPr>
                        <m:ctrlPr>
                          <a:rPr kumimoji="1" lang="en-US" altLang="ja-JP" sz="2200" b="0" i="1" smtClean="0">
                            <a:latin typeface="Cambria Math" panose="02040503050406030204" pitchFamily="18" charset="0"/>
                          </a:rPr>
                        </m:ctrlPr>
                      </m:sSubPr>
                      <m:e>
                        <m:r>
                          <a:rPr kumimoji="1" lang="en-US" altLang="ja-JP" sz="2200" b="0" i="1" smtClean="0">
                            <a:latin typeface="Cambria Math" panose="02040503050406030204" pitchFamily="18" charset="0"/>
                          </a:rPr>
                          <m:t>𝑑</m:t>
                        </m:r>
                      </m:e>
                      <m:sub>
                        <m:r>
                          <a:rPr kumimoji="1" lang="en-US" altLang="ja-JP" sz="2200" b="0" i="1" smtClean="0">
                            <a:latin typeface="Cambria Math" panose="02040503050406030204" pitchFamily="18" charset="0"/>
                          </a:rPr>
                          <m:t>𝑇</m:t>
                        </m:r>
                      </m:sub>
                    </m:sSub>
                    <m:d>
                      <m:dPr>
                        <m:ctrlPr>
                          <a:rPr kumimoji="1" lang="en-US" altLang="ja-JP" sz="2200" b="0" i="1" smtClean="0">
                            <a:latin typeface="Cambria Math" panose="02040503050406030204" pitchFamily="18" charset="0"/>
                          </a:rPr>
                        </m:ctrlPr>
                      </m:dPr>
                      <m:e>
                        <m:r>
                          <a:rPr kumimoji="1" lang="en-US" altLang="ja-JP" sz="2200" b="0" i="1" smtClean="0">
                            <a:latin typeface="Cambria Math" panose="02040503050406030204" pitchFamily="18" charset="0"/>
                          </a:rPr>
                          <m:t>𝑓</m:t>
                        </m:r>
                        <m:d>
                          <m:dPr>
                            <m:ctrlPr>
                              <a:rPr kumimoji="1" lang="en-US" altLang="ja-JP" sz="2200" b="0" i="1" smtClean="0">
                                <a:latin typeface="Cambria Math" panose="02040503050406030204" pitchFamily="18" charset="0"/>
                              </a:rPr>
                            </m:ctrlPr>
                          </m:dPr>
                          <m:e>
                            <m:r>
                              <a:rPr kumimoji="1" lang="en-US" altLang="ja-JP" sz="2200" b="0" i="1" smtClean="0">
                                <a:latin typeface="Cambria Math" panose="02040503050406030204" pitchFamily="18" charset="0"/>
                              </a:rPr>
                              <m:t>𝑥</m:t>
                            </m:r>
                          </m:e>
                        </m:d>
                        <m:r>
                          <a:rPr kumimoji="1" lang="en-US" altLang="ja-JP" sz="2200" b="0" i="1" smtClean="0">
                            <a:latin typeface="Cambria Math" panose="02040503050406030204" pitchFamily="18" charset="0"/>
                          </a:rPr>
                          <m:t>,</m:t>
                        </m:r>
                        <m:r>
                          <a:rPr kumimoji="1" lang="en-US" altLang="ja-JP" sz="2200" b="0" i="1" smtClean="0">
                            <a:latin typeface="Cambria Math" panose="02040503050406030204" pitchFamily="18" charset="0"/>
                          </a:rPr>
                          <m:t>𝑓</m:t>
                        </m:r>
                        <m:d>
                          <m:dPr>
                            <m:ctrlPr>
                              <a:rPr kumimoji="1" lang="en-US" altLang="ja-JP" sz="2200" b="0" i="1" smtClean="0">
                                <a:latin typeface="Cambria Math" panose="02040503050406030204" pitchFamily="18" charset="0"/>
                              </a:rPr>
                            </m:ctrlPr>
                          </m:dPr>
                          <m:e>
                            <m:r>
                              <a:rPr kumimoji="1" lang="en-US" altLang="ja-JP" sz="2200" b="0" i="1" smtClean="0">
                                <a:latin typeface="Cambria Math" panose="02040503050406030204" pitchFamily="18" charset="0"/>
                              </a:rPr>
                              <m:t>𝑦</m:t>
                            </m:r>
                          </m:e>
                        </m:d>
                      </m:e>
                    </m:d>
                  </m:oMath>
                </a14:m>
                <a:r>
                  <a:rPr kumimoji="1" lang="ja-JP" altLang="en-US" sz="2200" dirty="0"/>
                  <a:t>  ．</a:t>
                </a:r>
                <a:endParaRPr kumimoji="1" lang="en-US" altLang="ja-JP" sz="2200" dirty="0"/>
              </a:p>
              <a:p>
                <a:r>
                  <a:rPr lang="ja-JP" altLang="en-US" sz="2200" dirty="0"/>
                  <a:t>任意の </a:t>
                </a:r>
                <a14:m>
                  <m:oMath xmlns:m="http://schemas.openxmlformats.org/officeDocument/2006/math">
                    <m:r>
                      <a:rPr lang="en-US" altLang="ja-JP" sz="2200" b="0" i="1" smtClean="0">
                        <a:latin typeface="Cambria Math" panose="02040503050406030204" pitchFamily="18" charset="0"/>
                      </a:rPr>
                      <m:t>𝑥</m:t>
                    </m:r>
                    <m:r>
                      <a:rPr lang="en-US" altLang="ja-JP" sz="2200" b="0" i="1" smtClean="0">
                        <a:latin typeface="Cambria Math" panose="02040503050406030204" pitchFamily="18" charset="0"/>
                      </a:rPr>
                      <m:t>,</m:t>
                    </m:r>
                    <m:r>
                      <a:rPr lang="en-US" altLang="ja-JP" sz="2200" b="0" i="1" smtClean="0">
                        <a:latin typeface="Cambria Math" panose="02040503050406030204" pitchFamily="18" charset="0"/>
                      </a:rPr>
                      <m:t>𝑦</m:t>
                    </m:r>
                    <m:r>
                      <a:rPr lang="en-US" altLang="ja-JP" sz="2200" b="0" i="1" smtClean="0">
                        <a:latin typeface="Cambria Math" panose="02040503050406030204" pitchFamily="18" charset="0"/>
                      </a:rPr>
                      <m:t>∈</m:t>
                    </m:r>
                    <m:r>
                      <a:rPr lang="en-US" altLang="ja-JP" sz="2200" b="0" i="1" smtClean="0">
                        <a:latin typeface="Cambria Math" panose="02040503050406030204" pitchFamily="18" charset="0"/>
                      </a:rPr>
                      <m:t>𝑋</m:t>
                    </m:r>
                  </m:oMath>
                </a14:m>
                <a:r>
                  <a:rPr kumimoji="1" lang="ja-JP" altLang="en-US" sz="2200" dirty="0"/>
                  <a:t> について，</a:t>
                </a:r>
                <a14:m>
                  <m:oMath xmlns:m="http://schemas.openxmlformats.org/officeDocument/2006/math">
                    <m:sSub>
                      <m:sSubPr>
                        <m:ctrlPr>
                          <a:rPr kumimoji="1" lang="en-US" altLang="ja-JP" sz="2200" b="0" i="1" smtClean="0">
                            <a:latin typeface="Cambria Math" panose="02040503050406030204" pitchFamily="18" charset="0"/>
                          </a:rPr>
                        </m:ctrlPr>
                      </m:sSubPr>
                      <m:e>
                        <m:r>
                          <a:rPr kumimoji="1" lang="en-US" altLang="ja-JP" sz="2200" b="0" i="1" smtClean="0">
                            <a:latin typeface="Cambria Math" panose="02040503050406030204" pitchFamily="18" charset="0"/>
                          </a:rPr>
                          <m:t>𝔼</m:t>
                        </m:r>
                      </m:e>
                      <m:sub>
                        <m:r>
                          <a:rPr kumimoji="1" lang="en-US" altLang="ja-JP" sz="2200" b="0" i="1" smtClean="0">
                            <a:latin typeface="Cambria Math" panose="02040503050406030204" pitchFamily="18" charset="0"/>
                          </a:rPr>
                          <m:t>𝑇</m:t>
                        </m:r>
                      </m:sub>
                    </m:sSub>
                    <m:d>
                      <m:dPr>
                        <m:begChr m:val="["/>
                        <m:endChr m:val="]"/>
                        <m:ctrlPr>
                          <a:rPr kumimoji="1" lang="en-US" altLang="ja-JP" sz="2200" b="0" i="1" smtClean="0">
                            <a:latin typeface="Cambria Math" panose="02040503050406030204" pitchFamily="18" charset="0"/>
                          </a:rPr>
                        </m:ctrlPr>
                      </m:dPr>
                      <m:e>
                        <m:sSub>
                          <m:sSubPr>
                            <m:ctrlPr>
                              <a:rPr lang="en-US" altLang="ja-JP" sz="2200" i="1">
                                <a:latin typeface="Cambria Math" panose="02040503050406030204" pitchFamily="18" charset="0"/>
                              </a:rPr>
                            </m:ctrlPr>
                          </m:sSubPr>
                          <m:e>
                            <m:r>
                              <a:rPr lang="en-US" altLang="ja-JP" sz="2200" i="1">
                                <a:latin typeface="Cambria Math" panose="02040503050406030204" pitchFamily="18" charset="0"/>
                              </a:rPr>
                              <m:t>𝑑</m:t>
                            </m:r>
                          </m:e>
                          <m:sub>
                            <m:r>
                              <a:rPr lang="en-US" altLang="ja-JP" sz="2200" i="1">
                                <a:latin typeface="Cambria Math" panose="02040503050406030204" pitchFamily="18" charset="0"/>
                              </a:rPr>
                              <m:t>𝑇</m:t>
                            </m:r>
                          </m:sub>
                        </m:sSub>
                        <m:d>
                          <m:dPr>
                            <m:ctrlPr>
                              <a:rPr lang="en-US" altLang="ja-JP" sz="2200" i="1">
                                <a:latin typeface="Cambria Math" panose="02040503050406030204" pitchFamily="18" charset="0"/>
                              </a:rPr>
                            </m:ctrlPr>
                          </m:dPr>
                          <m:e>
                            <m:r>
                              <a:rPr lang="en-US" altLang="ja-JP" sz="2200" i="1">
                                <a:latin typeface="Cambria Math" panose="02040503050406030204" pitchFamily="18" charset="0"/>
                              </a:rPr>
                              <m:t>𝑓</m:t>
                            </m:r>
                            <m:d>
                              <m:dPr>
                                <m:ctrlPr>
                                  <a:rPr lang="en-US" altLang="ja-JP" sz="2200" i="1">
                                    <a:latin typeface="Cambria Math" panose="02040503050406030204" pitchFamily="18" charset="0"/>
                                  </a:rPr>
                                </m:ctrlPr>
                              </m:dPr>
                              <m:e>
                                <m:r>
                                  <a:rPr lang="en-US" altLang="ja-JP" sz="2200" i="1">
                                    <a:latin typeface="Cambria Math" panose="02040503050406030204" pitchFamily="18" charset="0"/>
                                  </a:rPr>
                                  <m:t>𝑥</m:t>
                                </m:r>
                              </m:e>
                            </m:d>
                            <m:r>
                              <a:rPr lang="en-US" altLang="ja-JP" sz="2200" i="1">
                                <a:latin typeface="Cambria Math" panose="02040503050406030204" pitchFamily="18" charset="0"/>
                              </a:rPr>
                              <m:t>,</m:t>
                            </m:r>
                            <m:r>
                              <a:rPr lang="en-US" altLang="ja-JP" sz="2200" i="1">
                                <a:latin typeface="Cambria Math" panose="02040503050406030204" pitchFamily="18" charset="0"/>
                              </a:rPr>
                              <m:t>𝑓</m:t>
                            </m:r>
                            <m:d>
                              <m:dPr>
                                <m:ctrlPr>
                                  <a:rPr lang="en-US" altLang="ja-JP" sz="2200" i="1">
                                    <a:latin typeface="Cambria Math" panose="02040503050406030204" pitchFamily="18" charset="0"/>
                                  </a:rPr>
                                </m:ctrlPr>
                              </m:dPr>
                              <m:e>
                                <m:r>
                                  <a:rPr lang="en-US" altLang="ja-JP" sz="2200" i="1">
                                    <a:latin typeface="Cambria Math" panose="02040503050406030204" pitchFamily="18" charset="0"/>
                                  </a:rPr>
                                  <m:t>𝑦</m:t>
                                </m:r>
                              </m:e>
                            </m:d>
                          </m:e>
                        </m:d>
                      </m:e>
                    </m:d>
                    <m:r>
                      <a:rPr kumimoji="1" lang="en-US" altLang="ja-JP" sz="2200" b="0" i="1" smtClean="0">
                        <a:latin typeface="Cambria Math" panose="02040503050406030204" pitchFamily="18" charset="0"/>
                      </a:rPr>
                      <m:t>≤</m:t>
                    </m:r>
                    <m:r>
                      <a:rPr kumimoji="1" lang="en-US" altLang="ja-JP" sz="2200" b="0" i="1" smtClean="0">
                        <a:latin typeface="Cambria Math" panose="02040503050406030204" pitchFamily="18" charset="0"/>
                      </a:rPr>
                      <m:t>𝑂</m:t>
                    </m:r>
                    <m:r>
                      <a:rPr kumimoji="1" lang="en-US" altLang="ja-JP" sz="2200" b="0" i="1" smtClean="0">
                        <a:latin typeface="Cambria Math" panose="02040503050406030204" pitchFamily="18" charset="0"/>
                      </a:rPr>
                      <m:t>(</m:t>
                    </m:r>
                    <m:r>
                      <m:rPr>
                        <m:sty m:val="p"/>
                      </m:rPr>
                      <a:rPr kumimoji="1" lang="en-US" altLang="ja-JP" sz="2200" b="0" i="1" smtClean="0">
                        <a:latin typeface="Cambria Math" panose="02040503050406030204" pitchFamily="18" charset="0"/>
                      </a:rPr>
                      <m:t>log</m:t>
                    </m:r>
                    <m:r>
                      <a:rPr kumimoji="1" lang="en-US" altLang="ja-JP" sz="2200" b="0" i="1" smtClean="0">
                        <a:latin typeface="Cambria Math" panose="02040503050406030204" pitchFamily="18" charset="0"/>
                      </a:rPr>
                      <m:t> </m:t>
                    </m:r>
                    <m:r>
                      <a:rPr kumimoji="1" lang="en-US" altLang="ja-JP" sz="2200" b="0" i="1" smtClean="0">
                        <a:latin typeface="Cambria Math" panose="02040503050406030204" pitchFamily="18" charset="0"/>
                      </a:rPr>
                      <m:t>𝑛</m:t>
                    </m:r>
                    <m:r>
                      <a:rPr kumimoji="1" lang="en-US" altLang="ja-JP" sz="2200" b="0" i="1" smtClean="0">
                        <a:latin typeface="Cambria Math" panose="02040503050406030204" pitchFamily="18" charset="0"/>
                      </a:rPr>
                      <m:t>)</m:t>
                    </m:r>
                    <m:sSub>
                      <m:sSubPr>
                        <m:ctrlPr>
                          <a:rPr lang="en-US" altLang="ja-JP" sz="2200" i="1">
                            <a:latin typeface="Cambria Math" panose="02040503050406030204" pitchFamily="18" charset="0"/>
                          </a:rPr>
                        </m:ctrlPr>
                      </m:sSubPr>
                      <m:e>
                        <m:r>
                          <a:rPr lang="en-US" altLang="ja-JP" sz="2200" i="1">
                            <a:latin typeface="Cambria Math" panose="02040503050406030204" pitchFamily="18" charset="0"/>
                          </a:rPr>
                          <m:t>𝑑</m:t>
                        </m:r>
                      </m:e>
                      <m:sub>
                        <m:r>
                          <a:rPr lang="en-US" altLang="ja-JP" sz="2200" i="1">
                            <a:latin typeface="Cambria Math" panose="02040503050406030204" pitchFamily="18" charset="0"/>
                          </a:rPr>
                          <m:t>𝑋</m:t>
                        </m:r>
                      </m:sub>
                    </m:sSub>
                    <m:d>
                      <m:dPr>
                        <m:ctrlPr>
                          <a:rPr lang="en-US" altLang="ja-JP" sz="2200" i="1">
                            <a:latin typeface="Cambria Math" panose="02040503050406030204" pitchFamily="18" charset="0"/>
                          </a:rPr>
                        </m:ctrlPr>
                      </m:dPr>
                      <m:e>
                        <m:r>
                          <a:rPr lang="en-US" altLang="ja-JP" sz="2200" i="1">
                            <a:latin typeface="Cambria Math" panose="02040503050406030204" pitchFamily="18" charset="0"/>
                          </a:rPr>
                          <m:t>𝑥</m:t>
                        </m:r>
                        <m:r>
                          <a:rPr lang="en-US" altLang="ja-JP" sz="2200" i="1">
                            <a:latin typeface="Cambria Math" panose="02040503050406030204" pitchFamily="18" charset="0"/>
                          </a:rPr>
                          <m:t>,</m:t>
                        </m:r>
                        <m:r>
                          <a:rPr lang="en-US" altLang="ja-JP" sz="2200" i="1">
                            <a:latin typeface="Cambria Math" panose="02040503050406030204" pitchFamily="18" charset="0"/>
                          </a:rPr>
                          <m:t>𝑦</m:t>
                        </m:r>
                      </m:e>
                    </m:d>
                  </m:oMath>
                </a14:m>
                <a:r>
                  <a:rPr kumimoji="1" lang="ja-JP" altLang="en-US" sz="2200" dirty="0"/>
                  <a:t>．</a:t>
                </a:r>
              </a:p>
            </p:txBody>
          </p:sp>
        </mc:Choice>
        <mc:Fallback xmlns="">
          <p:sp>
            <p:nvSpPr>
              <p:cNvPr id="3" name="コンテンツ プレースホルダー 2">
                <a:extLst>
                  <a:ext uri="{FF2B5EF4-FFF2-40B4-BE49-F238E27FC236}">
                    <a16:creationId xmlns:a16="http://schemas.microsoft.com/office/drawing/2014/main" id="{495185F3-A70D-35D8-705C-BB4BC43A38E2}"/>
                  </a:ext>
                </a:extLst>
              </p:cNvPr>
              <p:cNvSpPr>
                <a:spLocks noGrp="1" noRot="1" noChangeAspect="1" noMove="1" noResize="1" noEditPoints="1" noAdjustHandles="1" noChangeArrowheads="1" noChangeShapeType="1" noTextEdit="1"/>
              </p:cNvSpPr>
              <p:nvPr>
                <p:ph idx="1"/>
              </p:nvPr>
            </p:nvSpPr>
            <p:spPr>
              <a:xfrm>
                <a:off x="838200" y="1690688"/>
                <a:ext cx="10515600" cy="2718095"/>
              </a:xfrm>
              <a:blipFill>
                <a:blip r:embed="rId2"/>
                <a:stretch>
                  <a:fillRect l="-1217" t="-897" b="-20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9FDD53B3-5777-A547-6812-35A70E602BEC}"/>
                  </a:ext>
                </a:extLst>
              </p:cNvPr>
              <p:cNvSpPr txBox="1"/>
              <p:nvPr/>
            </p:nvSpPr>
            <p:spPr>
              <a:xfrm>
                <a:off x="838200" y="4505592"/>
                <a:ext cx="10515600" cy="1323439"/>
              </a:xfrm>
              <a:prstGeom prst="rect">
                <a:avLst/>
              </a:prstGeom>
              <a:noFill/>
            </p:spPr>
            <p:txBody>
              <a:bodyPr wrap="square" rtlCol="0">
                <a:spAutoFit/>
              </a:bodyPr>
              <a:lstStyle/>
              <a:p>
                <a:r>
                  <a:rPr kumimoji="1" lang="ja-JP" altLang="en-US" sz="2400" dirty="0"/>
                  <a:t>任意の </a:t>
                </a:r>
                <a14:m>
                  <m:oMath xmlns:m="http://schemas.openxmlformats.org/officeDocument/2006/math">
                    <m:r>
                      <a:rPr kumimoji="1" lang="en-US" altLang="ja-JP" sz="2400" b="0" i="1" smtClean="0">
                        <a:latin typeface="Cambria Math" panose="02040503050406030204" pitchFamily="18" charset="0"/>
                      </a:rPr>
                      <m:t>𝑛</m:t>
                    </m:r>
                  </m:oMath>
                </a14:m>
                <a:r>
                  <a:rPr kumimoji="1" lang="ja-JP" altLang="en-US" sz="2400" dirty="0"/>
                  <a:t> 点距離空間は </a:t>
                </a:r>
                <a:r>
                  <a:rPr kumimoji="1" lang="en-US" altLang="ja-JP" sz="2400" dirty="0"/>
                  <a:t>2-HST </a:t>
                </a:r>
                <a:r>
                  <a:rPr kumimoji="1" lang="ja-JP" altLang="en-US" sz="2400" dirty="0"/>
                  <a:t>の葉ノードからなる距離空間に（確率的に）埋め込んでも距離が高々 </a:t>
                </a:r>
                <a14:m>
                  <m:oMath xmlns:m="http://schemas.openxmlformats.org/officeDocument/2006/math">
                    <m:r>
                      <a:rPr kumimoji="1" lang="en-US" altLang="ja-JP" sz="2400" b="0" i="1" smtClean="0">
                        <a:latin typeface="Cambria Math" panose="02040503050406030204" pitchFamily="18" charset="0"/>
                      </a:rPr>
                      <m:t>𝑂</m:t>
                    </m:r>
                    <m:d>
                      <m:dPr>
                        <m:ctrlPr>
                          <a:rPr kumimoji="1" lang="en-US" altLang="ja-JP" sz="2400" b="0" i="1" smtClean="0">
                            <a:latin typeface="Cambria Math" panose="02040503050406030204" pitchFamily="18" charset="0"/>
                          </a:rPr>
                        </m:ctrlPr>
                      </m:dPr>
                      <m:e>
                        <m:r>
                          <m:rPr>
                            <m:sty m:val="p"/>
                          </m:rPr>
                          <a:rPr kumimoji="1" lang="en-US" altLang="ja-JP" sz="2400" b="0" i="1" smtClean="0">
                            <a:latin typeface="Cambria Math" panose="02040503050406030204" pitchFamily="18" charset="0"/>
                          </a:rPr>
                          <m:t>log</m:t>
                        </m:r>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𝑛</m:t>
                        </m:r>
                      </m:e>
                    </m:d>
                  </m:oMath>
                </a14:m>
                <a:r>
                  <a:rPr kumimoji="1" lang="ja-JP" altLang="en-US" sz="2400" dirty="0"/>
                  <a:t> 倍にしかならない</a:t>
                </a:r>
                <a:endParaRPr kumimoji="1" lang="en-US" altLang="ja-JP" sz="2400" dirty="0"/>
              </a:p>
              <a:p>
                <a:endParaRPr kumimoji="1" lang="en-US" altLang="ja-JP" sz="800" dirty="0"/>
              </a:p>
              <a:p>
                <a:r>
                  <a:rPr lang="ja-JP" altLang="en-US" sz="2400" dirty="0"/>
                  <a:t>→</a:t>
                </a:r>
                <a:r>
                  <a:rPr lang="en-US" altLang="ja-JP" sz="2400" dirty="0"/>
                  <a:t>2-HST</a:t>
                </a:r>
                <a:r>
                  <a:rPr lang="ja-JP" altLang="en-US" sz="2400" dirty="0"/>
                  <a:t>に対してだけ乱択アルゴリズムを設計するという方針が有効</a:t>
                </a:r>
                <a:endParaRPr kumimoji="1" lang="ja-JP" altLang="en-US" sz="2400" dirty="0"/>
              </a:p>
            </p:txBody>
          </p:sp>
        </mc:Choice>
        <mc:Fallback xmlns="">
          <p:sp>
            <p:nvSpPr>
              <p:cNvPr id="4" name="テキスト ボックス 3">
                <a:extLst>
                  <a:ext uri="{FF2B5EF4-FFF2-40B4-BE49-F238E27FC236}">
                    <a16:creationId xmlns:a16="http://schemas.microsoft.com/office/drawing/2014/main" id="{9FDD53B3-5777-A547-6812-35A70E602BEC}"/>
                  </a:ext>
                </a:extLst>
              </p:cNvPr>
              <p:cNvSpPr txBox="1">
                <a:spLocks noRot="1" noChangeAspect="1" noMove="1" noResize="1" noEditPoints="1" noAdjustHandles="1" noChangeArrowheads="1" noChangeShapeType="1" noTextEdit="1"/>
              </p:cNvSpPr>
              <p:nvPr/>
            </p:nvSpPr>
            <p:spPr>
              <a:xfrm>
                <a:off x="838200" y="4505592"/>
                <a:ext cx="10515600" cy="1323439"/>
              </a:xfrm>
              <a:prstGeom prst="rect">
                <a:avLst/>
              </a:prstGeom>
              <a:blipFill>
                <a:blip r:embed="rId3"/>
                <a:stretch>
                  <a:fillRect l="-928" t="-5069" r="-812" b="-10599"/>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2CA48AA2-80BC-4A3B-6A93-2027B82CEA5C}"/>
              </a:ext>
            </a:extLst>
          </p:cNvPr>
          <p:cNvSpPr txBox="1"/>
          <p:nvPr/>
        </p:nvSpPr>
        <p:spPr>
          <a:xfrm>
            <a:off x="838199" y="5948313"/>
            <a:ext cx="10515599" cy="369332"/>
          </a:xfrm>
          <a:prstGeom prst="rect">
            <a:avLst/>
          </a:prstGeom>
          <a:noFill/>
        </p:spPr>
        <p:txBody>
          <a:bodyPr wrap="square" rtlCol="0">
            <a:spAutoFit/>
          </a:bodyPr>
          <a:lstStyle/>
          <a:p>
            <a:r>
              <a:rPr kumimoji="1" lang="en-US" altLang="ja-JP" dirty="0"/>
              <a:t>※</a:t>
            </a:r>
            <a:r>
              <a:rPr kumimoji="1" lang="ja-JP" altLang="en-US" dirty="0"/>
              <a:t>確率的な埋め込みなので，決定的アルゴリズムには使えない</a:t>
            </a:r>
          </a:p>
        </p:txBody>
      </p:sp>
      <p:sp>
        <p:nvSpPr>
          <p:cNvPr id="5" name="スライド番号プレースホルダー 4">
            <a:extLst>
              <a:ext uri="{FF2B5EF4-FFF2-40B4-BE49-F238E27FC236}">
                <a16:creationId xmlns:a16="http://schemas.microsoft.com/office/drawing/2014/main" id="{F3A959CE-34C2-ECD2-BE5F-EB4CA59AB7EB}"/>
              </a:ext>
            </a:extLst>
          </p:cNvPr>
          <p:cNvSpPr>
            <a:spLocks noGrp="1"/>
          </p:cNvSpPr>
          <p:nvPr>
            <p:ph type="sldNum" sz="quarter" idx="12"/>
          </p:nvPr>
        </p:nvSpPr>
        <p:spPr/>
        <p:txBody>
          <a:bodyPr/>
          <a:lstStyle/>
          <a:p>
            <a:fld id="{4B077F3A-4098-4199-8925-77865D1E3500}" type="slidenum">
              <a:rPr kumimoji="1" lang="ja-JP" altLang="en-US" smtClean="0"/>
              <a:t>57</a:t>
            </a:fld>
            <a:endParaRPr kumimoji="1" lang="ja-JP" altLang="en-US"/>
          </a:p>
        </p:txBody>
      </p:sp>
    </p:spTree>
    <p:extLst>
      <p:ext uri="{BB962C8B-B14F-4D97-AF65-F5344CB8AC3E}">
        <p14:creationId xmlns:p14="http://schemas.microsoft.com/office/powerpoint/2010/main" val="10170325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CA5ED4-EE21-0E8A-3803-444CF3E2C68C}"/>
              </a:ext>
            </a:extLst>
          </p:cNvPr>
          <p:cNvSpPr>
            <a:spLocks noGrp="1"/>
          </p:cNvSpPr>
          <p:nvPr>
            <p:ph type="title"/>
          </p:nvPr>
        </p:nvSpPr>
        <p:spPr/>
        <p:txBody>
          <a:bodyPr/>
          <a:lstStyle/>
          <a:p>
            <a:r>
              <a:rPr kumimoji="1" lang="ja-JP" altLang="en-US" dirty="0"/>
              <a:t>問題の単純化</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29EA304-735A-2DDF-6CC3-9027F6F22197}"/>
                  </a:ext>
                </a:extLst>
              </p:cNvPr>
              <p:cNvSpPr>
                <a:spLocks noGrp="1"/>
              </p:cNvSpPr>
              <p:nvPr>
                <p:ph idx="1"/>
              </p:nvPr>
            </p:nvSpPr>
            <p:spPr>
              <a:xfrm>
                <a:off x="838198" y="1961544"/>
                <a:ext cx="10515600" cy="2695297"/>
              </a:xfrm>
              <a:solidFill>
                <a:schemeClr val="accent6">
                  <a:lumMod val="20000"/>
                  <a:lumOff val="80000"/>
                </a:schemeClr>
              </a:solidFill>
              <a:ln>
                <a:noFill/>
              </a:ln>
            </p:spPr>
            <p:txBody>
              <a:bodyPr anchor="ctr"/>
              <a:lstStyle/>
              <a:p>
                <a:pPr marL="0" indent="0">
                  <a:buNone/>
                </a:pPr>
                <a:r>
                  <a:rPr kumimoji="1" lang="ja-JP" altLang="en-US" b="1" dirty="0"/>
                  <a:t>系</a:t>
                </a:r>
                <a:endParaRPr kumimoji="1" lang="en-US" altLang="ja-JP" b="1" dirty="0"/>
              </a:p>
              <a:p>
                <a:pPr lvl="1"/>
                <a:r>
                  <a:rPr lang="ja-JP" altLang="en-US" dirty="0"/>
                  <a:t>葉ノード上にサーバが設置され，</a:t>
                </a:r>
                <a:endParaRPr lang="en-US" altLang="ja-JP" dirty="0"/>
              </a:p>
              <a:p>
                <a:pPr lvl="1"/>
                <a:r>
                  <a:rPr lang="ja-JP" altLang="en-US" dirty="0"/>
                  <a:t>葉ノード上にしかリクエストが到着しない</a:t>
                </a:r>
                <a:endParaRPr lang="en-US" altLang="ja-JP" dirty="0"/>
              </a:p>
              <a:p>
                <a:pPr lvl="1"/>
                <a:r>
                  <a:rPr kumimoji="1" lang="en-US" altLang="ja-JP" dirty="0"/>
                  <a:t>2-HST </a:t>
                </a:r>
                <a:r>
                  <a:rPr kumimoji="1" lang="ja-JP" altLang="en-US" dirty="0"/>
                  <a:t>上の</a:t>
                </a:r>
                <a:endParaRPr kumimoji="1" lang="en-US" altLang="ja-JP" dirty="0"/>
              </a:p>
              <a:p>
                <a:pPr marL="0" indent="0">
                  <a:buNone/>
                </a:pPr>
                <a14:m>
                  <m:oMath xmlns:m="http://schemas.openxmlformats.org/officeDocument/2006/math">
                    <m:r>
                      <a:rPr kumimoji="1" lang="en-US" altLang="ja-JP" sz="2400" b="0" i="1" smtClean="0">
                        <a:latin typeface="Cambria Math" panose="02040503050406030204" pitchFamily="18" charset="0"/>
                      </a:rPr>
                      <m:t>𝑂𝑀𝑀</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𝑛</m:t>
                        </m:r>
                      </m:e>
                    </m:d>
                  </m:oMath>
                </a14:m>
                <a:r>
                  <a:rPr kumimoji="1" lang="ja-JP" altLang="en-US" sz="2400" dirty="0"/>
                  <a:t> </a:t>
                </a:r>
                <a:r>
                  <a:rPr lang="ja-JP" altLang="en-US" sz="2400" dirty="0"/>
                  <a:t>に対して </a:t>
                </a:r>
                <a14:m>
                  <m:oMath xmlns:m="http://schemas.openxmlformats.org/officeDocument/2006/math">
                    <m:r>
                      <a:rPr lang="en-US" altLang="ja-JP" sz="2400" b="0" i="1" smtClean="0">
                        <a:latin typeface="Cambria Math" panose="02040503050406030204" pitchFamily="18" charset="0"/>
                      </a:rPr>
                      <m:t>𝛼</m:t>
                    </m:r>
                  </m:oMath>
                </a14:m>
                <a:r>
                  <a:rPr kumimoji="1" lang="en-US" altLang="ja-JP" sz="2400" dirty="0"/>
                  <a:t>-</a:t>
                </a:r>
                <a:r>
                  <a:rPr kumimoji="1" lang="ja-JP" altLang="en-US" sz="2400" dirty="0"/>
                  <a:t>競合的なアルゴリズムが存在する</a:t>
                </a:r>
                <a:r>
                  <a:rPr lang="ja-JP" altLang="en-US" sz="2400" dirty="0"/>
                  <a:t>ならば，</a:t>
                </a:r>
                <a:endParaRPr lang="en-US" altLang="ja-JP" sz="2400" dirty="0"/>
              </a:p>
              <a:p>
                <a:pPr marL="0" indent="0">
                  <a:buNone/>
                </a:pPr>
                <a:r>
                  <a:rPr kumimoji="1" lang="ja-JP" altLang="en-US" sz="2400" dirty="0"/>
                  <a:t>一般の </a:t>
                </a:r>
                <a14:m>
                  <m:oMath xmlns:m="http://schemas.openxmlformats.org/officeDocument/2006/math">
                    <m:r>
                      <a:rPr lang="en-US" altLang="ja-JP" sz="2400" i="1">
                        <a:latin typeface="Cambria Math" panose="02040503050406030204" pitchFamily="18" charset="0"/>
                      </a:rPr>
                      <m:t>𝑂𝑀𝑀</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𝑛</m:t>
                        </m:r>
                      </m:e>
                    </m:d>
                  </m:oMath>
                </a14:m>
                <a:r>
                  <a:rPr lang="ja-JP" altLang="en-US" sz="2400" dirty="0"/>
                  <a:t> に対して </a:t>
                </a:r>
                <a14:m>
                  <m:oMath xmlns:m="http://schemas.openxmlformats.org/officeDocument/2006/math">
                    <m:r>
                      <a:rPr lang="en-US" altLang="ja-JP" sz="2400" b="0" i="1" smtClean="0">
                        <a:latin typeface="Cambria Math" panose="02040503050406030204" pitchFamily="18" charset="0"/>
                      </a:rPr>
                      <m:t>𝑂</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𝛼</m:t>
                    </m:r>
                    <m:r>
                      <a:rPr lang="en-US" altLang="ja-JP" sz="2400" b="0" i="1" smtClean="0">
                        <a:latin typeface="Cambria Math" panose="02040503050406030204" pitchFamily="18" charset="0"/>
                      </a:rPr>
                      <m:t> </m:t>
                    </m:r>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m:t>
                    </m:r>
                  </m:oMath>
                </a14:m>
                <a:r>
                  <a:rPr kumimoji="1" lang="en-US" altLang="ja-JP" sz="2400" dirty="0"/>
                  <a:t>-</a:t>
                </a:r>
                <a:r>
                  <a:rPr kumimoji="1" lang="ja-JP" altLang="en-US" sz="2400" dirty="0"/>
                  <a:t>競合的な乱択アルゴリズムが存在する</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F29EA304-735A-2DDF-6CC3-9027F6F22197}"/>
                  </a:ext>
                </a:extLst>
              </p:cNvPr>
              <p:cNvSpPr>
                <a:spLocks noGrp="1" noRot="1" noChangeAspect="1" noMove="1" noResize="1" noEditPoints="1" noAdjustHandles="1" noChangeArrowheads="1" noChangeShapeType="1" noTextEdit="1"/>
              </p:cNvSpPr>
              <p:nvPr>
                <p:ph idx="1"/>
              </p:nvPr>
            </p:nvSpPr>
            <p:spPr>
              <a:xfrm>
                <a:off x="838198" y="1961544"/>
                <a:ext cx="10515600" cy="2695297"/>
              </a:xfrm>
              <a:blipFill>
                <a:blip r:embed="rId2"/>
                <a:stretch>
                  <a:fillRect l="-1159" t="-905" b="-3394"/>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B9B69305-CBAC-0F4C-3752-31B464415D96}"/>
                  </a:ext>
                </a:extLst>
              </p:cNvPr>
              <p:cNvSpPr txBox="1"/>
              <p:nvPr/>
            </p:nvSpPr>
            <p:spPr>
              <a:xfrm>
                <a:off x="838199" y="1459855"/>
                <a:ext cx="10515600" cy="461665"/>
              </a:xfrm>
              <a:prstGeom prst="rect">
                <a:avLst/>
              </a:prstGeom>
              <a:noFill/>
            </p:spPr>
            <p:txBody>
              <a:bodyPr wrap="square" rtlCol="0">
                <a:spAutoFit/>
              </a:bodyPr>
              <a:lstStyle/>
              <a:p>
                <a:r>
                  <a:rPr kumimoji="1" lang="ja-JP" altLang="en-US" sz="2400" b="0" dirty="0"/>
                  <a:t>結果</a:t>
                </a:r>
                <a:r>
                  <a:rPr kumimoji="1" lang="en-US" altLang="ja-JP" sz="2400" b="0" dirty="0"/>
                  <a:t> </a:t>
                </a:r>
                <a14:m>
                  <m:oMath xmlns:m="http://schemas.openxmlformats.org/officeDocument/2006/math">
                    <m:r>
                      <a:rPr kumimoji="1" lang="en-US" altLang="ja-JP" sz="2400" b="0" i="1" smtClean="0">
                        <a:latin typeface="Cambria Math" panose="02040503050406030204" pitchFamily="18" charset="0"/>
                      </a:rPr>
                      <m:t>𝑂𝑀𝑀</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𝑛</m:t>
                        </m:r>
                      </m:e>
                    </m:d>
                  </m:oMath>
                </a14:m>
                <a:r>
                  <a:rPr kumimoji="1" lang="ja-JP" altLang="en-US" sz="2400" dirty="0"/>
                  <a:t> に対する乱択アルゴリズムの設計は次のように単純化される</a:t>
                </a:r>
              </a:p>
            </p:txBody>
          </p:sp>
        </mc:Choice>
        <mc:Fallback xmlns="">
          <p:sp>
            <p:nvSpPr>
              <p:cNvPr id="4" name="テキスト ボックス 3">
                <a:extLst>
                  <a:ext uri="{FF2B5EF4-FFF2-40B4-BE49-F238E27FC236}">
                    <a16:creationId xmlns:a16="http://schemas.microsoft.com/office/drawing/2014/main" id="{B9B69305-CBAC-0F4C-3752-31B464415D96}"/>
                  </a:ext>
                </a:extLst>
              </p:cNvPr>
              <p:cNvSpPr txBox="1">
                <a:spLocks noRot="1" noChangeAspect="1" noMove="1" noResize="1" noEditPoints="1" noAdjustHandles="1" noChangeArrowheads="1" noChangeShapeType="1" noTextEdit="1"/>
              </p:cNvSpPr>
              <p:nvPr/>
            </p:nvSpPr>
            <p:spPr>
              <a:xfrm>
                <a:off x="838199" y="1459855"/>
                <a:ext cx="10515600" cy="461665"/>
              </a:xfrm>
              <a:prstGeom prst="rect">
                <a:avLst/>
              </a:prstGeom>
              <a:blipFill>
                <a:blip r:embed="rId3"/>
                <a:stretch>
                  <a:fillRect l="-870" t="-7895" b="-3157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95E21A96-E926-548A-696E-38707BF58151}"/>
                  </a:ext>
                </a:extLst>
              </p:cNvPr>
              <p:cNvSpPr txBox="1"/>
              <p:nvPr/>
            </p:nvSpPr>
            <p:spPr>
              <a:xfrm>
                <a:off x="838198" y="4696865"/>
                <a:ext cx="10515600" cy="830997"/>
              </a:xfrm>
              <a:prstGeom prst="rect">
                <a:avLst/>
              </a:prstGeom>
              <a:noFill/>
            </p:spPr>
            <p:txBody>
              <a:bodyPr wrap="square" rtlCol="0">
                <a:spAutoFit/>
              </a:bodyPr>
              <a:lstStyle/>
              <a:p>
                <a:r>
                  <a:rPr kumimoji="1" lang="en-US" altLang="ja-JP" sz="2400" dirty="0"/>
                  <a:t>[Bansal et al., 2007] </a:t>
                </a:r>
                <a:r>
                  <a:rPr kumimoji="1" lang="ja-JP" altLang="en-US" sz="2400" dirty="0"/>
                  <a:t>の</a:t>
                </a:r>
                <a:r>
                  <a:rPr lang="ja-JP" altLang="en-US" sz="2400" dirty="0"/>
                  <a:t>競合比 </a:t>
                </a:r>
                <a14:m>
                  <m:oMath xmlns:m="http://schemas.openxmlformats.org/officeDocument/2006/math">
                    <m:r>
                      <a:rPr lang="en-US" altLang="ja-JP" sz="2400" i="1">
                        <a:latin typeface="Cambria Math" panose="02040503050406030204" pitchFamily="18" charset="0"/>
                      </a:rPr>
                      <m:t>𝑂</m:t>
                    </m:r>
                    <m:r>
                      <a:rPr lang="en-US" altLang="ja-JP" sz="2400" i="1">
                        <a:latin typeface="Cambria Math" panose="02040503050406030204" pitchFamily="18" charset="0"/>
                      </a:rPr>
                      <m:t>(</m:t>
                    </m:r>
                    <m:sSup>
                      <m:sSupPr>
                        <m:ctrlPr>
                          <a:rPr lang="en-US" altLang="ja-JP" sz="2400" i="1">
                            <a:latin typeface="Cambria Math" panose="02040503050406030204" pitchFamily="18" charset="0"/>
                          </a:rPr>
                        </m:ctrlPr>
                      </m:sSupPr>
                      <m:e>
                        <m:r>
                          <m:rPr>
                            <m:sty m:val="p"/>
                          </m:rPr>
                          <a:rPr lang="en-US" altLang="ja-JP" sz="2400">
                            <a:latin typeface="Cambria Math" panose="02040503050406030204" pitchFamily="18" charset="0"/>
                          </a:rPr>
                          <m:t>log</m:t>
                        </m:r>
                      </m:e>
                      <m:sup>
                        <m:r>
                          <a:rPr lang="en-US" altLang="ja-JP" sz="2400" i="1">
                            <a:latin typeface="Cambria Math" panose="02040503050406030204" pitchFamily="18" charset="0"/>
                          </a:rPr>
                          <m:t>2</m:t>
                        </m:r>
                      </m:sup>
                    </m:sSup>
                    <m:r>
                      <a:rPr lang="en-US" altLang="ja-JP" sz="2400" i="1">
                        <a:latin typeface="Cambria Math" panose="02040503050406030204" pitchFamily="18" charset="0"/>
                      </a:rPr>
                      <m:t> </m:t>
                    </m:r>
                    <m:r>
                      <a:rPr lang="en-US" altLang="ja-JP" sz="2400" i="1">
                        <a:latin typeface="Cambria Math" panose="02040503050406030204" pitchFamily="18" charset="0"/>
                      </a:rPr>
                      <m:t>𝑛</m:t>
                    </m:r>
                    <m:r>
                      <a:rPr lang="en-US" altLang="ja-JP" sz="2400" i="1">
                        <a:latin typeface="Cambria Math" panose="02040503050406030204" pitchFamily="18" charset="0"/>
                      </a:rPr>
                      <m:t>)</m:t>
                    </m:r>
                  </m:oMath>
                </a14:m>
                <a:r>
                  <a:rPr kumimoji="1" lang="ja-JP" altLang="en-US" sz="2400" dirty="0"/>
                  <a:t> は </a:t>
                </a:r>
                <a:r>
                  <a:rPr kumimoji="1" lang="en-US" altLang="ja-JP" sz="2400" dirty="0"/>
                  <a:t>2-HST </a:t>
                </a:r>
                <a:r>
                  <a:rPr kumimoji="1" lang="ja-JP" altLang="en-US" sz="2400" dirty="0"/>
                  <a:t>に対する </a:t>
                </a:r>
                <a14:m>
                  <m:oMath xmlns:m="http://schemas.openxmlformats.org/officeDocument/2006/math">
                    <m:r>
                      <a:rPr kumimoji="1" lang="en-US" altLang="ja-JP" sz="2400" b="0" i="1" smtClean="0">
                        <a:latin typeface="Cambria Math" panose="02040503050406030204" pitchFamily="18" charset="0"/>
                      </a:rPr>
                      <m:t>𝑂</m:t>
                    </m:r>
                    <m:d>
                      <m:dPr>
                        <m:ctrlPr>
                          <a:rPr kumimoji="1" lang="en-US" altLang="ja-JP" sz="2400" b="0" i="1" smtClean="0">
                            <a:latin typeface="Cambria Math" panose="02040503050406030204" pitchFamily="18" charset="0"/>
                          </a:rPr>
                        </m:ctrlPr>
                      </m:dPr>
                      <m:e>
                        <m:r>
                          <m:rPr>
                            <m:sty m:val="p"/>
                          </m:rPr>
                          <a:rPr kumimoji="1" lang="en-US" altLang="ja-JP" sz="2400" b="0" i="1" smtClean="0">
                            <a:latin typeface="Cambria Math" panose="02040503050406030204" pitchFamily="18" charset="0"/>
                          </a:rPr>
                          <m:t>log</m:t>
                        </m:r>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𝑛</m:t>
                        </m:r>
                      </m:e>
                    </m:d>
                  </m:oMath>
                </a14:m>
                <a:r>
                  <a:rPr kumimoji="1" lang="ja-JP" altLang="en-US" sz="2400" dirty="0"/>
                  <a:t> 競合的なアルゴリズムを構築することで達成された</a:t>
                </a:r>
              </a:p>
            </p:txBody>
          </p:sp>
        </mc:Choice>
        <mc:Fallback xmlns="">
          <p:sp>
            <p:nvSpPr>
              <p:cNvPr id="5" name="テキスト ボックス 4">
                <a:extLst>
                  <a:ext uri="{FF2B5EF4-FFF2-40B4-BE49-F238E27FC236}">
                    <a16:creationId xmlns:a16="http://schemas.microsoft.com/office/drawing/2014/main" id="{95E21A96-E926-548A-696E-38707BF58151}"/>
                  </a:ext>
                </a:extLst>
              </p:cNvPr>
              <p:cNvSpPr txBox="1">
                <a:spLocks noRot="1" noChangeAspect="1" noMove="1" noResize="1" noEditPoints="1" noAdjustHandles="1" noChangeArrowheads="1" noChangeShapeType="1" noTextEdit="1"/>
              </p:cNvSpPr>
              <p:nvPr/>
            </p:nvSpPr>
            <p:spPr>
              <a:xfrm>
                <a:off x="838198" y="4696865"/>
                <a:ext cx="10515600" cy="830997"/>
              </a:xfrm>
              <a:prstGeom prst="rect">
                <a:avLst/>
              </a:prstGeom>
              <a:blipFill>
                <a:blip r:embed="rId4"/>
                <a:stretch>
                  <a:fillRect l="-870" t="-8029" r="-406" b="-1678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A72B7B3E-BFCB-B140-A6FB-6BD9F760A980}"/>
                  </a:ext>
                </a:extLst>
              </p:cNvPr>
              <p:cNvSpPr txBox="1"/>
              <p:nvPr/>
            </p:nvSpPr>
            <p:spPr>
              <a:xfrm>
                <a:off x="838198" y="5661878"/>
                <a:ext cx="10515599" cy="830997"/>
              </a:xfrm>
              <a:prstGeom prst="rect">
                <a:avLst/>
              </a:prstGeom>
              <a:noFill/>
            </p:spPr>
            <p:txBody>
              <a:bodyPr wrap="square" rtlCol="0">
                <a:spAutoFit/>
              </a:bodyPr>
              <a:lstStyle/>
              <a:p>
                <a:r>
                  <a:rPr kumimoji="1" lang="ja-JP" altLang="en-US" sz="2400" dirty="0"/>
                  <a:t>一方，</a:t>
                </a:r>
                <a:r>
                  <a:rPr kumimoji="1" lang="en-US" altLang="ja-JP" sz="2400" dirty="0"/>
                  <a:t>2-HST </a:t>
                </a:r>
                <a:r>
                  <a:rPr kumimoji="1" lang="ja-JP" altLang="en-US" sz="2400" dirty="0"/>
                  <a:t>に対する競合比下界も </a:t>
                </a:r>
                <a14:m>
                  <m:oMath xmlns:m="http://schemas.openxmlformats.org/officeDocument/2006/math">
                    <m:r>
                      <m:rPr>
                        <m:sty m:val="p"/>
                      </m:rPr>
                      <a:rPr lang="en-US" altLang="ja-JP" sz="2400" b="0" i="0" smtClean="0">
                        <a:latin typeface="Cambria Math" panose="02040503050406030204" pitchFamily="18" charset="0"/>
                      </a:rPr>
                      <m:t>Ω</m:t>
                    </m:r>
                    <m:d>
                      <m:dPr>
                        <m:ctrlPr>
                          <a:rPr lang="en-US" altLang="ja-JP" sz="2400" i="1">
                            <a:latin typeface="Cambria Math" panose="02040503050406030204" pitchFamily="18" charset="0"/>
                          </a:rPr>
                        </m:ctrlPr>
                      </m:dPr>
                      <m:e>
                        <m:r>
                          <m:rPr>
                            <m:sty m:val="p"/>
                          </m:rPr>
                          <a:rPr lang="en-US" altLang="ja-JP" sz="2400" i="1">
                            <a:latin typeface="Cambria Math" panose="02040503050406030204" pitchFamily="18" charset="0"/>
                          </a:rPr>
                          <m:t>log</m:t>
                        </m:r>
                        <m:r>
                          <a:rPr lang="en-US" altLang="ja-JP" sz="2400" i="1">
                            <a:latin typeface="Cambria Math" panose="02040503050406030204" pitchFamily="18" charset="0"/>
                          </a:rPr>
                          <m:t> </m:t>
                        </m:r>
                        <m:r>
                          <a:rPr lang="en-US" altLang="ja-JP" sz="2400" i="1">
                            <a:latin typeface="Cambria Math" panose="02040503050406030204" pitchFamily="18" charset="0"/>
                          </a:rPr>
                          <m:t>𝑛</m:t>
                        </m:r>
                      </m:e>
                    </m:d>
                  </m:oMath>
                </a14:m>
                <a:r>
                  <a:rPr kumimoji="1" lang="ja-JP" altLang="en-US" sz="2400" dirty="0"/>
                  <a:t> のためここで行き詰まり</a:t>
                </a:r>
                <a:endParaRPr kumimoji="1" lang="en-US" altLang="ja-JP" sz="2400" dirty="0"/>
              </a:p>
              <a:p>
                <a:r>
                  <a:rPr lang="ja-JP" altLang="en-US" sz="2400" dirty="0"/>
                  <a:t>現在に至るまで他に有効なアプローチは登場していない</a:t>
                </a:r>
                <a:endParaRPr kumimoji="1" lang="ja-JP" altLang="en-US" sz="2400" dirty="0"/>
              </a:p>
            </p:txBody>
          </p:sp>
        </mc:Choice>
        <mc:Fallback xmlns="">
          <p:sp>
            <p:nvSpPr>
              <p:cNvPr id="6" name="テキスト ボックス 5">
                <a:extLst>
                  <a:ext uri="{FF2B5EF4-FFF2-40B4-BE49-F238E27FC236}">
                    <a16:creationId xmlns:a16="http://schemas.microsoft.com/office/drawing/2014/main" id="{A72B7B3E-BFCB-B140-A6FB-6BD9F760A980}"/>
                  </a:ext>
                </a:extLst>
              </p:cNvPr>
              <p:cNvSpPr txBox="1">
                <a:spLocks noRot="1" noChangeAspect="1" noMove="1" noResize="1" noEditPoints="1" noAdjustHandles="1" noChangeArrowheads="1" noChangeShapeType="1" noTextEdit="1"/>
              </p:cNvSpPr>
              <p:nvPr/>
            </p:nvSpPr>
            <p:spPr>
              <a:xfrm>
                <a:off x="838198" y="5661878"/>
                <a:ext cx="10515599" cy="830997"/>
              </a:xfrm>
              <a:prstGeom prst="rect">
                <a:avLst/>
              </a:prstGeom>
              <a:blipFill>
                <a:blip r:embed="rId5"/>
                <a:stretch>
                  <a:fillRect l="-870" t="-8088" b="-17647"/>
                </a:stretch>
              </a:blipFill>
            </p:spPr>
            <p:txBody>
              <a:bodyPr/>
              <a:lstStyle/>
              <a:p>
                <a:r>
                  <a:rPr lang="ja-JP" altLang="en-US">
                    <a:noFill/>
                  </a:rPr>
                  <a:t> </a:t>
                </a:r>
              </a:p>
            </p:txBody>
          </p:sp>
        </mc:Fallback>
      </mc:AlternateContent>
      <p:sp>
        <p:nvSpPr>
          <p:cNvPr id="7" name="スライド番号プレースホルダー 6">
            <a:extLst>
              <a:ext uri="{FF2B5EF4-FFF2-40B4-BE49-F238E27FC236}">
                <a16:creationId xmlns:a16="http://schemas.microsoft.com/office/drawing/2014/main" id="{D6136718-BA0A-40A6-1143-CF8E8CC8F942}"/>
              </a:ext>
            </a:extLst>
          </p:cNvPr>
          <p:cNvSpPr>
            <a:spLocks noGrp="1"/>
          </p:cNvSpPr>
          <p:nvPr>
            <p:ph type="sldNum" sz="quarter" idx="12"/>
          </p:nvPr>
        </p:nvSpPr>
        <p:spPr/>
        <p:txBody>
          <a:bodyPr/>
          <a:lstStyle/>
          <a:p>
            <a:fld id="{4B077F3A-4098-4199-8925-77865D1E3500}" type="slidenum">
              <a:rPr kumimoji="1" lang="ja-JP" altLang="en-US" smtClean="0"/>
              <a:t>58</a:t>
            </a:fld>
            <a:endParaRPr kumimoji="1" lang="ja-JP" altLang="en-US"/>
          </a:p>
        </p:txBody>
      </p:sp>
    </p:spTree>
    <p:extLst>
      <p:ext uri="{BB962C8B-B14F-4D97-AF65-F5344CB8AC3E}">
        <p14:creationId xmlns:p14="http://schemas.microsoft.com/office/powerpoint/2010/main" val="14675910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3C9131-1884-C06C-B50D-856B4BC57268}"/>
              </a:ext>
            </a:extLst>
          </p:cNvPr>
          <p:cNvSpPr>
            <a:spLocks noGrp="1"/>
          </p:cNvSpPr>
          <p:nvPr>
            <p:ph type="title"/>
          </p:nvPr>
        </p:nvSpPr>
        <p:spPr/>
        <p:txBody>
          <a:bodyPr/>
          <a:lstStyle/>
          <a:p>
            <a:r>
              <a:rPr kumimoji="1" lang="ja-JP" altLang="en-US" dirty="0"/>
              <a:t>乱択アルゴリズムまとめ</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D918A1A-B43D-0465-8F4F-C1887A9A5553}"/>
                  </a:ext>
                </a:extLst>
              </p:cNvPr>
              <p:cNvSpPr>
                <a:spLocks noGrp="1"/>
              </p:cNvSpPr>
              <p:nvPr>
                <p:ph idx="1"/>
              </p:nvPr>
            </p:nvSpPr>
            <p:spPr/>
            <p:txBody>
              <a:bodyPr>
                <a:normAutofit/>
              </a:bodyPr>
              <a:lstStyle/>
              <a:p>
                <a:r>
                  <a:rPr lang="ja-JP" altLang="en-US" sz="2400" dirty="0"/>
                  <a:t>距離空間を良く整った木構造を持つ </a:t>
                </a:r>
                <a:r>
                  <a:rPr lang="en-US" altLang="ja-JP" sz="2400" dirty="0"/>
                  <a:t>HST </a:t>
                </a:r>
                <a:r>
                  <a:rPr lang="ja-JP" altLang="en-US" sz="2400" dirty="0"/>
                  <a:t>に埋め込みをする手法が有用</a:t>
                </a:r>
                <a:endParaRPr lang="en-US" altLang="ja-JP" sz="2400" dirty="0"/>
              </a:p>
              <a:p>
                <a:r>
                  <a:rPr lang="ja-JP" altLang="en-US" sz="2400" dirty="0"/>
                  <a:t>その手法を用いて </a:t>
                </a:r>
                <a14:m>
                  <m:oMath xmlns:m="http://schemas.openxmlformats.org/officeDocument/2006/math">
                    <m:r>
                      <a:rPr lang="en-US" altLang="ja-JP" sz="2400" b="0" i="1" smtClean="0">
                        <a:latin typeface="Cambria Math" panose="02040503050406030204" pitchFamily="18" charset="0"/>
                      </a:rPr>
                      <m:t>𝑂</m:t>
                    </m:r>
                    <m:d>
                      <m:dPr>
                        <m:ctrlPr>
                          <a:rPr lang="en-US" altLang="ja-JP" sz="2400" b="0" i="1" smtClean="0">
                            <a:latin typeface="Cambria Math" panose="02040503050406030204" pitchFamily="18" charset="0"/>
                          </a:rPr>
                        </m:ctrlPr>
                      </m:dPr>
                      <m:e>
                        <m:sSup>
                          <m:sSupPr>
                            <m:ctrlPr>
                              <a:rPr lang="en-US" altLang="ja-JP" sz="2400" b="0" i="1" smtClean="0">
                                <a:latin typeface="Cambria Math" panose="02040503050406030204" pitchFamily="18" charset="0"/>
                              </a:rPr>
                            </m:ctrlPr>
                          </m:sSupPr>
                          <m:e>
                            <m:r>
                              <m:rPr>
                                <m:sty m:val="p"/>
                              </m:rPr>
                              <a:rPr lang="en-US" altLang="ja-JP" sz="2400" b="0" i="0" smtClean="0">
                                <a:latin typeface="Cambria Math" panose="02040503050406030204" pitchFamily="18" charset="0"/>
                              </a:rPr>
                              <m:t>log</m:t>
                            </m:r>
                          </m:e>
                          <m:sup>
                            <m:r>
                              <a:rPr lang="en-US" altLang="ja-JP" sz="2400" b="0" i="1" smtClean="0">
                                <a:latin typeface="Cambria Math" panose="02040503050406030204" pitchFamily="18" charset="0"/>
                              </a:rPr>
                              <m:t>2</m:t>
                            </m:r>
                          </m:sup>
                        </m:sSup>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e>
                    </m:d>
                  </m:oMath>
                </a14:m>
                <a:r>
                  <a:rPr kumimoji="1" lang="en-US" altLang="ja-JP" sz="2400" dirty="0"/>
                  <a:t>-</a:t>
                </a:r>
                <a:r>
                  <a:rPr kumimoji="1" lang="ja-JP" altLang="en-US" sz="2400" dirty="0"/>
                  <a:t>競合的な乱択アルゴリズムを得られる</a:t>
                </a:r>
                <a:endParaRPr kumimoji="1" lang="en-US" altLang="ja-JP" sz="2400" dirty="0"/>
              </a:p>
              <a:p>
                <a:r>
                  <a:rPr lang="ja-JP" altLang="en-US" sz="2400" dirty="0"/>
                  <a:t>決定的アルゴリズムの競合比 </a:t>
                </a:r>
                <a14:m>
                  <m:oMath xmlns:m="http://schemas.openxmlformats.org/officeDocument/2006/math">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−1</m:t>
                    </m:r>
                  </m:oMath>
                </a14:m>
                <a:r>
                  <a:rPr kumimoji="1" lang="ja-JP" altLang="en-US" sz="2400" dirty="0"/>
                  <a:t> よりも格段に改善（モデルは緩和しているが）</a:t>
                </a:r>
                <a:endParaRPr kumimoji="1" lang="en-US" altLang="ja-JP" sz="2400" dirty="0"/>
              </a:p>
              <a:p>
                <a:endParaRPr lang="en-US" altLang="ja-JP" sz="2400" dirty="0"/>
              </a:p>
              <a:p>
                <a:pPr marL="0" indent="0">
                  <a:buNone/>
                </a:pPr>
                <a:r>
                  <a:rPr kumimoji="1" lang="ja-JP" altLang="en-US" sz="2400" dirty="0"/>
                  <a:t>課題</a:t>
                </a:r>
                <a:endParaRPr kumimoji="1" lang="en-US" altLang="ja-JP" sz="2400" dirty="0"/>
              </a:p>
              <a:p>
                <a:r>
                  <a:rPr lang="ja-JP" altLang="en-US" sz="2400" dirty="0"/>
                  <a:t>競合比の上界 </a:t>
                </a:r>
                <a14:m>
                  <m:oMath xmlns:m="http://schemas.openxmlformats.org/officeDocument/2006/math">
                    <m:r>
                      <a:rPr lang="en-US" altLang="ja-JP" sz="2400" b="0" i="1" smtClean="0">
                        <a:latin typeface="Cambria Math" panose="02040503050406030204" pitchFamily="18" charset="0"/>
                      </a:rPr>
                      <m:t>𝑂</m:t>
                    </m:r>
                    <m:d>
                      <m:dPr>
                        <m:ctrlPr>
                          <a:rPr lang="en-US" altLang="ja-JP" sz="2400" b="0" i="1" smtClean="0">
                            <a:latin typeface="Cambria Math" panose="02040503050406030204" pitchFamily="18" charset="0"/>
                          </a:rPr>
                        </m:ctrlPr>
                      </m:dPr>
                      <m:e>
                        <m:sSup>
                          <m:sSupPr>
                            <m:ctrlPr>
                              <a:rPr lang="en-US" altLang="ja-JP" sz="2400" b="0" i="1" smtClean="0">
                                <a:latin typeface="Cambria Math" panose="02040503050406030204" pitchFamily="18" charset="0"/>
                              </a:rPr>
                            </m:ctrlPr>
                          </m:sSupPr>
                          <m:e>
                            <m:r>
                              <m:rPr>
                                <m:sty m:val="p"/>
                              </m:rPr>
                              <a:rPr lang="en-US" altLang="ja-JP" sz="2400" b="0" i="0" smtClean="0">
                                <a:latin typeface="Cambria Math" panose="02040503050406030204" pitchFamily="18" charset="0"/>
                              </a:rPr>
                              <m:t>log</m:t>
                            </m:r>
                          </m:e>
                          <m:sup>
                            <m:r>
                              <a:rPr lang="en-US" altLang="ja-JP" sz="2400" b="0" i="1" smtClean="0">
                                <a:latin typeface="Cambria Math" panose="02040503050406030204" pitchFamily="18" charset="0"/>
                              </a:rPr>
                              <m:t>2</m:t>
                            </m:r>
                          </m:sup>
                        </m:sSup>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e>
                    </m:d>
                  </m:oMath>
                </a14:m>
                <a:r>
                  <a:rPr lang="en-US" altLang="ja-JP" sz="2400" dirty="0"/>
                  <a:t> </a:t>
                </a:r>
                <a:r>
                  <a:rPr lang="ja-JP" altLang="en-US" sz="2400" dirty="0"/>
                  <a:t>と下界 </a:t>
                </a:r>
                <a14:m>
                  <m:oMath xmlns:m="http://schemas.openxmlformats.org/officeDocument/2006/math">
                    <m:r>
                      <m:rPr>
                        <m:sty m:val="p"/>
                      </m:rPr>
                      <a:rPr lang="en-US" altLang="ja-JP" sz="2400" b="0" i="0" smtClean="0">
                        <a:latin typeface="Cambria Math" panose="02040503050406030204" pitchFamily="18" charset="0"/>
                      </a:rPr>
                      <m:t>Ω</m:t>
                    </m:r>
                    <m:d>
                      <m:dPr>
                        <m:ctrlPr>
                          <a:rPr lang="en-US" altLang="ja-JP" sz="2400" b="0" i="1" smtClean="0">
                            <a:latin typeface="Cambria Math" panose="02040503050406030204" pitchFamily="18" charset="0"/>
                          </a:rPr>
                        </m:ctrlPr>
                      </m:dPr>
                      <m:e>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e>
                    </m:d>
                  </m:oMath>
                </a14:m>
                <a:r>
                  <a:rPr lang="en-US" altLang="ja-JP" sz="2400" dirty="0"/>
                  <a:t> </a:t>
                </a:r>
                <a:r>
                  <a:rPr lang="ja-JP" altLang="en-US" sz="2400" dirty="0"/>
                  <a:t>が不一致（未解決）</a:t>
                </a:r>
                <a:endParaRPr lang="en-US" altLang="ja-JP" sz="2400" dirty="0"/>
              </a:p>
              <a:p>
                <a:r>
                  <a:rPr lang="en-US" altLang="ja-JP" sz="2400" dirty="0"/>
                  <a:t>HST </a:t>
                </a:r>
                <a:r>
                  <a:rPr lang="ja-JP" altLang="en-US" sz="2400" dirty="0"/>
                  <a:t>への埋め込み手法では </a:t>
                </a:r>
                <a14:m>
                  <m:oMath xmlns:m="http://schemas.openxmlformats.org/officeDocument/2006/math">
                    <m:r>
                      <a:rPr lang="en-US" altLang="ja-JP" sz="2400" i="1">
                        <a:latin typeface="Cambria Math" panose="02040503050406030204" pitchFamily="18" charset="0"/>
                      </a:rPr>
                      <m:t>𝑂</m:t>
                    </m:r>
                    <m:d>
                      <m:dPr>
                        <m:ctrlPr>
                          <a:rPr lang="en-US" altLang="ja-JP" sz="2400" i="1">
                            <a:latin typeface="Cambria Math" panose="02040503050406030204" pitchFamily="18" charset="0"/>
                          </a:rPr>
                        </m:ctrlPr>
                      </m:dPr>
                      <m:e>
                        <m:sSup>
                          <m:sSupPr>
                            <m:ctrlPr>
                              <a:rPr lang="en-US" altLang="ja-JP" sz="2400" i="1">
                                <a:latin typeface="Cambria Math" panose="02040503050406030204" pitchFamily="18" charset="0"/>
                              </a:rPr>
                            </m:ctrlPr>
                          </m:sSupPr>
                          <m:e>
                            <m:r>
                              <m:rPr>
                                <m:sty m:val="p"/>
                              </m:rPr>
                              <a:rPr lang="en-US" altLang="ja-JP" sz="2400">
                                <a:latin typeface="Cambria Math" panose="02040503050406030204" pitchFamily="18" charset="0"/>
                              </a:rPr>
                              <m:t>log</m:t>
                            </m:r>
                          </m:e>
                          <m:sup>
                            <m:r>
                              <a:rPr lang="en-US" altLang="ja-JP" sz="2400" i="1">
                                <a:latin typeface="Cambria Math" panose="02040503050406030204" pitchFamily="18" charset="0"/>
                              </a:rPr>
                              <m:t>2</m:t>
                            </m:r>
                          </m:sup>
                        </m:sSup>
                        <m:r>
                          <a:rPr lang="en-US" altLang="ja-JP" sz="2400" i="1">
                            <a:latin typeface="Cambria Math" panose="02040503050406030204" pitchFamily="18" charset="0"/>
                          </a:rPr>
                          <m:t> </m:t>
                        </m:r>
                        <m:r>
                          <a:rPr lang="en-US" altLang="ja-JP" sz="2400" i="1">
                            <a:latin typeface="Cambria Math" panose="02040503050406030204" pitchFamily="18" charset="0"/>
                          </a:rPr>
                          <m:t>𝑛</m:t>
                        </m:r>
                      </m:e>
                    </m:d>
                  </m:oMath>
                </a14:m>
                <a:r>
                  <a:rPr lang="en-US" altLang="ja-JP" sz="2400" dirty="0"/>
                  <a:t> </a:t>
                </a:r>
                <a:r>
                  <a:rPr lang="ja-JP" altLang="en-US" sz="2400" dirty="0"/>
                  <a:t>より良い競合比は得られないので，新しい設計手法か下界の改善が求められる</a:t>
                </a:r>
                <a:endParaRPr kumimoji="1" lang="en-US" altLang="ja-JP" sz="2400" dirty="0"/>
              </a:p>
              <a:p>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DD918A1A-B43D-0465-8F4F-C1887A9A5553}"/>
                  </a:ext>
                </a:extLst>
              </p:cNvPr>
              <p:cNvSpPr>
                <a:spLocks noGrp="1" noRot="1" noChangeAspect="1" noMove="1" noResize="1" noEditPoints="1" noAdjustHandles="1" noChangeArrowheads="1" noChangeShapeType="1" noTextEdit="1"/>
              </p:cNvSpPr>
              <p:nvPr>
                <p:ph idx="1"/>
              </p:nvPr>
            </p:nvSpPr>
            <p:spPr>
              <a:blipFill>
                <a:blip r:embed="rId2"/>
                <a:stretch>
                  <a:fillRect l="-928" t="-224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26D4E172-3F5F-D13D-8EDB-240FCBF5EB04}"/>
              </a:ext>
            </a:extLst>
          </p:cNvPr>
          <p:cNvSpPr>
            <a:spLocks noGrp="1"/>
          </p:cNvSpPr>
          <p:nvPr>
            <p:ph type="sldNum" sz="quarter" idx="12"/>
          </p:nvPr>
        </p:nvSpPr>
        <p:spPr/>
        <p:txBody>
          <a:bodyPr/>
          <a:lstStyle/>
          <a:p>
            <a:fld id="{4B077F3A-4098-4199-8925-77865D1E3500}" type="slidenum">
              <a:rPr kumimoji="1" lang="ja-JP" altLang="en-US" smtClean="0"/>
              <a:t>59</a:t>
            </a:fld>
            <a:endParaRPr kumimoji="1" lang="ja-JP" altLang="en-US"/>
          </a:p>
        </p:txBody>
      </p:sp>
    </p:spTree>
    <p:extLst>
      <p:ext uri="{BB962C8B-B14F-4D97-AF65-F5344CB8AC3E}">
        <p14:creationId xmlns:p14="http://schemas.microsoft.com/office/powerpoint/2010/main" val="36510501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A6E727-9245-750C-EC8A-2B70215C8770}"/>
              </a:ext>
            </a:extLst>
          </p:cNvPr>
          <p:cNvSpPr>
            <a:spLocks noGrp="1"/>
          </p:cNvSpPr>
          <p:nvPr>
            <p:ph type="title"/>
          </p:nvPr>
        </p:nvSpPr>
        <p:spPr/>
        <p:txBody>
          <a:bodyPr/>
          <a:lstStyle/>
          <a:p>
            <a:r>
              <a:rPr kumimoji="1" lang="en-US" altLang="ja-JP" dirty="0"/>
              <a:t>Robust-Matching </a:t>
            </a:r>
            <a:r>
              <a:rPr kumimoji="1" lang="ja-JP" altLang="en-US" dirty="0"/>
              <a:t>アルゴリズム（</a:t>
            </a:r>
            <a:r>
              <a:rPr kumimoji="1" lang="en-US" altLang="ja-JP" dirty="0"/>
              <a:t>RM</a:t>
            </a:r>
            <a:r>
              <a:rPr kumimoji="1" lang="ja-JP" altLang="en-US" dirty="0"/>
              <a:t>）</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026060F-450D-E595-5742-B6DC4F595961}"/>
                  </a:ext>
                </a:extLst>
              </p:cNvPr>
              <p:cNvSpPr>
                <a:spLocks noGrp="1"/>
              </p:cNvSpPr>
              <p:nvPr>
                <p:ph idx="1"/>
              </p:nvPr>
            </p:nvSpPr>
            <p:spPr/>
            <p:txBody>
              <a:bodyPr>
                <a:noAutofit/>
              </a:bodyPr>
              <a:lstStyle/>
              <a:p>
                <a:pPr marL="0" indent="0">
                  <a:buNone/>
                </a:pPr>
                <a:r>
                  <a:rPr kumimoji="1" lang="en-US" altLang="ja-JP" sz="2400" dirty="0"/>
                  <a:t>Permutation </a:t>
                </a:r>
                <a:r>
                  <a:rPr kumimoji="1" lang="ja-JP" altLang="en-US" sz="2400" dirty="0"/>
                  <a:t>アルゴリズムの一般化 </a:t>
                </a:r>
                <a:r>
                  <a:rPr kumimoji="1" lang="en-US" altLang="ja-JP" sz="2400" dirty="0"/>
                  <a:t>[Raghvendra, 2016]</a:t>
                </a:r>
              </a:p>
              <a:p>
                <a:pPr marL="0" indent="0">
                  <a:buNone/>
                </a:pPr>
                <a14:m>
                  <m:oMath xmlns:m="http://schemas.openxmlformats.org/officeDocument/2006/math">
                    <m:r>
                      <a:rPr kumimoji="1" lang="en-US" altLang="ja-JP" sz="2400" b="0" i="1" smtClean="0">
                        <a:latin typeface="Cambria Math" panose="02040503050406030204" pitchFamily="18" charset="0"/>
                      </a:rPr>
                      <m:t>𝜙</m:t>
                    </m:r>
                  </m:oMath>
                </a14:m>
                <a:r>
                  <a:rPr kumimoji="1" lang="en-US" altLang="ja-JP" sz="2400" dirty="0"/>
                  <a:t> </a:t>
                </a:r>
                <a:r>
                  <a:rPr kumimoji="1" lang="ja-JP" altLang="en-US" sz="2400" dirty="0"/>
                  <a:t>の代わりにパラメータ </a:t>
                </a:r>
                <a14:m>
                  <m:oMath xmlns:m="http://schemas.openxmlformats.org/officeDocument/2006/math">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≥1</m:t>
                    </m:r>
                  </m:oMath>
                </a14:m>
                <a:r>
                  <a:rPr kumimoji="1" lang="en-US" altLang="ja-JP" sz="2400" dirty="0"/>
                  <a:t> </a:t>
                </a:r>
                <a:r>
                  <a:rPr kumimoji="1" lang="ja-JP" altLang="en-US" sz="2400" dirty="0"/>
                  <a:t>を用いて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𝜙</m:t>
                        </m:r>
                      </m:e>
                      <m:sub>
                        <m:r>
                          <a:rPr kumimoji="1" lang="en-US" altLang="ja-JP" sz="2400" b="0" i="1" smtClean="0">
                            <a:latin typeface="Cambria Math" panose="02040503050406030204" pitchFamily="18" charset="0"/>
                          </a:rPr>
                          <m:t>𝑡</m:t>
                        </m:r>
                      </m:sub>
                    </m:sSub>
                  </m:oMath>
                </a14:m>
                <a:r>
                  <a:rPr kumimoji="1" lang="en-US" altLang="ja-JP" sz="2400" dirty="0"/>
                  <a:t> </a:t>
                </a:r>
                <a:r>
                  <a:rPr kumimoji="1" lang="ja-JP" altLang="en-US" sz="2400" dirty="0"/>
                  <a:t>を最小化する増加道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𝑃</m:t>
                        </m:r>
                      </m:e>
                      <m:sub>
                        <m:r>
                          <a:rPr kumimoji="1" lang="en-US" altLang="ja-JP" sz="2400" b="0" i="1" smtClean="0">
                            <a:latin typeface="Cambria Math" panose="02040503050406030204" pitchFamily="18" charset="0"/>
                          </a:rPr>
                          <m:t>𝑖</m:t>
                        </m:r>
                      </m:sub>
                    </m:sSub>
                  </m:oMath>
                </a14:m>
                <a:r>
                  <a:rPr kumimoji="1" lang="en-US" altLang="ja-JP" sz="2400" dirty="0"/>
                  <a:t> </a:t>
                </a:r>
                <a:r>
                  <a:rPr kumimoji="1" lang="ja-JP" altLang="en-US" sz="2400" dirty="0"/>
                  <a:t>を用いる</a:t>
                </a:r>
                <a:endParaRPr kumimoji="1" lang="en-US" altLang="ja-JP" sz="2400" dirty="0"/>
              </a:p>
              <a:p>
                <a:pPr marL="0" indent="0">
                  <a:buNone/>
                </a:pPr>
                <a:endParaRPr kumimoji="1" lang="en-US" altLang="ja-JP" sz="8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400" b="0" i="1" smtClean="0">
                              <a:latin typeface="Cambria Math" panose="02040503050406030204" pitchFamily="18" charset="0"/>
                            </a:rPr>
                          </m:ctrlPr>
                        </m:sSubPr>
                        <m:e>
                          <m:r>
                            <a:rPr lang="en-US" altLang="ja-JP" sz="2400" i="1">
                              <a:latin typeface="Cambria Math" panose="02040503050406030204" pitchFamily="18" charset="0"/>
                            </a:rPr>
                            <m:t>𝜙</m:t>
                          </m:r>
                        </m:e>
                        <m:sub>
                          <m:r>
                            <a:rPr lang="en-US" altLang="ja-JP" sz="2400" b="0" i="1" smtClean="0">
                              <a:latin typeface="Cambria Math" panose="02040503050406030204" pitchFamily="18" charset="0"/>
                            </a:rPr>
                            <m:t>𝑡</m:t>
                          </m:r>
                        </m:sub>
                      </m:sSub>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e>
                      </m:d>
                      <m:r>
                        <a:rPr lang="en-US" altLang="ja-JP" sz="2400" i="1">
                          <a:latin typeface="Cambria Math" panose="02040503050406030204" pitchFamily="18" charset="0"/>
                        </a:rPr>
                        <m:t>≔</m:t>
                      </m:r>
                      <m:r>
                        <a:rPr lang="en-US" altLang="ja-JP" sz="2400" b="0" i="1" smtClean="0">
                          <a:solidFill>
                            <a:srgbClr val="C00000"/>
                          </a:solidFill>
                          <a:latin typeface="Cambria Math" panose="02040503050406030204" pitchFamily="18" charset="0"/>
                        </a:rPr>
                        <m:t>𝑡</m:t>
                      </m:r>
                      <m:r>
                        <a:rPr lang="en-US" altLang="ja-JP" sz="2400" b="0" i="1" smtClean="0">
                          <a:solidFill>
                            <a:srgbClr val="C00000"/>
                          </a:solidFill>
                          <a:latin typeface="Cambria Math" panose="02040503050406030204" pitchFamily="18" charset="0"/>
                        </a:rPr>
                        <m:t>⋅</m:t>
                      </m:r>
                      <m:nary>
                        <m:naryPr>
                          <m:chr m:val="∑"/>
                          <m:supHide m:val="on"/>
                          <m:ctrlPr>
                            <a:rPr lang="en-US" altLang="ja-JP" sz="2400" i="1">
                              <a:latin typeface="Cambria Math" panose="02040503050406030204" pitchFamily="18" charset="0"/>
                            </a:rPr>
                          </m:ctrlPr>
                        </m:naryPr>
                        <m: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e>
                          </m:d>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r>
                            <a:rPr lang="en-US" altLang="ja-JP" sz="2400" i="1">
                              <a:latin typeface="Cambria Math" panose="02040503050406030204" pitchFamily="18" charset="0"/>
                            </a:rPr>
                            <m:t>∖</m:t>
                          </m:r>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sub>
                        <m:sup/>
                        <m:e>
                          <m:r>
                            <a:rPr lang="en-US" altLang="ja-JP" sz="2400" i="1">
                              <a:latin typeface="Cambria Math" panose="02040503050406030204" pitchFamily="18" charset="0"/>
                            </a:rPr>
                            <m:t>𝑑</m:t>
                          </m:r>
                          <m:r>
                            <a:rPr lang="en-US" altLang="ja-JP" sz="2400" i="1">
                              <a:latin typeface="Cambria Math" panose="02040503050406030204" pitchFamily="18" charset="0"/>
                            </a:rPr>
                            <m:t>(</m:t>
                          </m:r>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r>
                            <a:rPr lang="en-US" altLang="ja-JP" sz="2400" i="1">
                              <a:latin typeface="Cambria Math" panose="02040503050406030204" pitchFamily="18" charset="0"/>
                            </a:rPr>
                            <m:t>)</m:t>
                          </m:r>
                        </m:e>
                      </m:nary>
                      <m:r>
                        <a:rPr lang="en-US" altLang="ja-JP" sz="2400" i="1">
                          <a:latin typeface="Cambria Math" panose="02040503050406030204" pitchFamily="18" charset="0"/>
                        </a:rPr>
                        <m:t>−</m:t>
                      </m:r>
                      <m:nary>
                        <m:naryPr>
                          <m:chr m:val="∑"/>
                          <m:supHide m:val="on"/>
                          <m:ctrlPr>
                            <a:rPr lang="en-US" altLang="ja-JP" sz="2400" i="1">
                              <a:latin typeface="Cambria Math" panose="02040503050406030204" pitchFamily="18" charset="0"/>
                            </a:rPr>
                          </m:ctrlPr>
                        </m:naryPr>
                        <m: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e>
                          </m:d>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𝑃</m:t>
                              </m:r>
                            </m:e>
                            <m:sub>
                              <m:r>
                                <a:rPr lang="en-US" altLang="ja-JP" sz="2400" i="1">
                                  <a:latin typeface="Cambria Math" panose="02040503050406030204" pitchFamily="18" charset="0"/>
                                </a:rPr>
                                <m:t>𝑖</m:t>
                              </m:r>
                            </m:sub>
                          </m:sSub>
                          <m:r>
                            <a:rPr lang="en-US" altLang="ja-JP" sz="2400" i="1">
                              <a:latin typeface="Cambria Math" panose="02040503050406030204" pitchFamily="18" charset="0"/>
                            </a:rPr>
                            <m:t>∩</m:t>
                          </m:r>
                          <m:sSubSup>
                            <m:sSubSupPr>
                              <m:ctrlPr>
                                <a:rPr lang="en-US" altLang="ja-JP" sz="2400" i="1">
                                  <a:latin typeface="Cambria Math" panose="02040503050406030204" pitchFamily="18" charset="0"/>
                                </a:rPr>
                              </m:ctrlPr>
                            </m:sSubSupPr>
                            <m:e>
                              <m:r>
                                <a:rPr lang="en-US" altLang="ja-JP" sz="2400" i="1">
                                  <a:latin typeface="Cambria Math" panose="02040503050406030204" pitchFamily="18" charset="0"/>
                                </a:rPr>
                                <m:t>𝑀</m:t>
                              </m:r>
                            </m:e>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m:t>
                              </m:r>
                            </m:sup>
                          </m:sSubSup>
                        </m:sub>
                        <m:sup/>
                        <m:e>
                          <m:r>
                            <a:rPr lang="en-US" altLang="ja-JP" sz="2400" i="1">
                              <a:latin typeface="Cambria Math" panose="02040503050406030204" pitchFamily="18" charset="0"/>
                            </a:rPr>
                            <m:t>𝑑</m:t>
                          </m:r>
                          <m:r>
                            <a:rPr lang="en-US" altLang="ja-JP" sz="2400" i="1">
                              <a:latin typeface="Cambria Math" panose="02040503050406030204" pitchFamily="18" charset="0"/>
                            </a:rPr>
                            <m:t>(</m:t>
                          </m:r>
                          <m:r>
                            <a:rPr lang="en-US" altLang="ja-JP" sz="2400" i="1">
                              <a:latin typeface="Cambria Math" panose="02040503050406030204" pitchFamily="18" charset="0"/>
                            </a:rPr>
                            <m:t>𝑟</m:t>
                          </m:r>
                          <m:r>
                            <a:rPr lang="en-US" altLang="ja-JP" sz="2400" i="1">
                              <a:latin typeface="Cambria Math" panose="02040503050406030204" pitchFamily="18" charset="0"/>
                            </a:rPr>
                            <m:t>,</m:t>
                          </m:r>
                          <m:r>
                            <a:rPr lang="en-US" altLang="ja-JP" sz="2400" i="1">
                              <a:latin typeface="Cambria Math" panose="02040503050406030204" pitchFamily="18" charset="0"/>
                            </a:rPr>
                            <m:t>𝑠</m:t>
                          </m:r>
                          <m:r>
                            <a:rPr lang="en-US" altLang="ja-JP" sz="2400" i="1">
                              <a:latin typeface="Cambria Math" panose="02040503050406030204" pitchFamily="18" charset="0"/>
                            </a:rPr>
                            <m:t>)</m:t>
                          </m:r>
                        </m:e>
                      </m:nary>
                    </m:oMath>
                  </m:oMathPara>
                </a14:m>
                <a:endParaRPr kumimoji="1" lang="en-US" altLang="ja-JP" sz="2400" dirty="0"/>
              </a:p>
              <a:p>
                <a:pPr marL="0" indent="0">
                  <a:buNone/>
                </a:pPr>
                <a:r>
                  <a:rPr kumimoji="1" lang="ja-JP" altLang="en-US" b="1" i="1" dirty="0">
                    <a:latin typeface="Cambria Math" panose="02040503050406030204" pitchFamily="18" charset="0"/>
                  </a:rPr>
                  <a:t>特徴</a:t>
                </a:r>
                <a:endParaRPr kumimoji="1" lang="en-US" altLang="ja-JP" b="1" i="1" dirty="0">
                  <a:latin typeface="Cambria Math" panose="02040503050406030204" pitchFamily="18" charset="0"/>
                </a:endParaRPr>
              </a:p>
              <a:p>
                <a14:m>
                  <m:oMath xmlns:m="http://schemas.openxmlformats.org/officeDocument/2006/math">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=1</m:t>
                    </m:r>
                  </m:oMath>
                </a14:m>
                <a:r>
                  <a:rPr kumimoji="1" lang="en-US" altLang="ja-JP" sz="2400" dirty="0"/>
                  <a:t> </a:t>
                </a:r>
                <a:r>
                  <a:rPr kumimoji="1" lang="ja-JP" altLang="en-US" sz="2400" dirty="0"/>
                  <a:t>なら </a:t>
                </a:r>
                <a:r>
                  <a:rPr kumimoji="1" lang="en-US" altLang="ja-JP" sz="2400" dirty="0"/>
                  <a:t>Permutation </a:t>
                </a:r>
                <a:r>
                  <a:rPr kumimoji="1" lang="ja-JP" altLang="en-US" sz="2400" dirty="0"/>
                  <a:t>に一致（競合比 </a:t>
                </a:r>
                <a14:m>
                  <m:oMath xmlns:m="http://schemas.openxmlformats.org/officeDocument/2006/math">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m:t>
                    </m:r>
                  </m:oMath>
                </a14:m>
                <a:r>
                  <a:rPr kumimoji="1" lang="ja-JP" altLang="en-US" sz="2400" dirty="0"/>
                  <a:t>）</a:t>
                </a:r>
                <a:endParaRPr kumimoji="1" lang="en-US" altLang="ja-JP" sz="2400" dirty="0"/>
              </a:p>
              <a:p>
                <a:r>
                  <a:rPr lang="ja-JP" altLang="en-US" sz="2400" dirty="0"/>
                  <a:t>（</a:t>
                </a:r>
                <a14:m>
                  <m:oMath xmlns:m="http://schemas.openxmlformats.org/officeDocument/2006/math">
                    <m:r>
                      <a:rPr kumimoji="1" lang="en-US" altLang="ja-JP" sz="2400" b="0" i="1" smtClean="0">
                        <a:latin typeface="Cambria Math" panose="02040503050406030204" pitchFamily="18" charset="0"/>
                      </a:rPr>
                      <m:t>𝑡</m:t>
                    </m:r>
                  </m:oMath>
                </a14:m>
                <a:r>
                  <a:rPr kumimoji="1" lang="en-US" altLang="ja-JP" sz="2400" dirty="0"/>
                  <a:t> </a:t>
                </a:r>
                <a:r>
                  <a:rPr kumimoji="1" lang="ja-JP" altLang="en-US" sz="2400" dirty="0"/>
                  <a:t>を定数扱いするなら</a:t>
                </a:r>
                <a:r>
                  <a:rPr lang="ja-JP" altLang="en-US" sz="2400" dirty="0"/>
                  <a:t>）任意の </a:t>
                </a:r>
                <a14:m>
                  <m:oMath xmlns:m="http://schemas.openxmlformats.org/officeDocument/2006/math">
                    <m:r>
                      <a:rPr lang="en-US" altLang="ja-JP" sz="2400" b="0" i="1" smtClean="0">
                        <a:latin typeface="Cambria Math" panose="02040503050406030204" pitchFamily="18" charset="0"/>
                      </a:rPr>
                      <m:t>𝑡</m:t>
                    </m:r>
                  </m:oMath>
                </a14:m>
                <a:r>
                  <a:rPr kumimoji="1" lang="en-US" altLang="ja-JP" sz="2400" dirty="0"/>
                  <a:t> </a:t>
                </a:r>
                <a:r>
                  <a:rPr kumimoji="1" lang="ja-JP" altLang="en-US" sz="2400" dirty="0"/>
                  <a:t>に対して競合比 </a:t>
                </a:r>
                <a14:m>
                  <m:oMath xmlns:m="http://schemas.openxmlformats.org/officeDocument/2006/math">
                    <m:r>
                      <a:rPr kumimoji="1" lang="en-US" altLang="ja-JP" sz="2400" b="0" i="1" smtClean="0">
                        <a:latin typeface="Cambria Math" panose="02040503050406030204" pitchFamily="18" charset="0"/>
                      </a:rPr>
                      <m:t>𝑂</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𝑛</m:t>
                        </m:r>
                      </m:e>
                    </m:d>
                  </m:oMath>
                </a14:m>
                <a:endParaRPr kumimoji="1" lang="en-US" altLang="ja-JP" sz="2400" dirty="0"/>
              </a:p>
              <a:p>
                <a14:m>
                  <m:oMath xmlns:m="http://schemas.openxmlformats.org/officeDocument/2006/math">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m:t>
                    </m:r>
                  </m:oMath>
                </a14:m>
                <a:r>
                  <a:rPr kumimoji="1" lang="en-US" altLang="ja-JP" sz="2400" dirty="0"/>
                  <a:t> </a:t>
                </a:r>
                <a:r>
                  <a:rPr lang="ja-JP" altLang="en-US" sz="2400" dirty="0"/>
                  <a:t>のときも</a:t>
                </a:r>
                <a:r>
                  <a:rPr kumimoji="1" lang="ja-JP" altLang="en-US" sz="2400" dirty="0"/>
                  <a:t>最善の競合比 </a:t>
                </a:r>
                <a14:m>
                  <m:oMath xmlns:m="http://schemas.openxmlformats.org/officeDocument/2006/math">
                    <m:r>
                      <a:rPr kumimoji="1" lang="en-US" altLang="ja-JP" sz="2400" b="0" i="1" smtClean="0">
                        <a:latin typeface="Cambria Math" panose="02040503050406030204" pitchFamily="18" charset="0"/>
                      </a:rPr>
                      <m:t>2</m:t>
                    </m:r>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m:t>
                    </m:r>
                  </m:oMath>
                </a14:m>
                <a:r>
                  <a:rPr kumimoji="1" lang="en-US" altLang="ja-JP" sz="2400" dirty="0"/>
                  <a:t> </a:t>
                </a:r>
                <a:r>
                  <a:rPr lang="ja-JP" altLang="en-US" sz="2400" dirty="0"/>
                  <a:t>に漸近</a:t>
                </a:r>
                <a:endParaRPr kumimoji="1" lang="en-US" altLang="ja-JP" sz="2400" dirty="0"/>
              </a:p>
              <a:p>
                <a:r>
                  <a:rPr lang="ja-JP" altLang="en-US" sz="2400" dirty="0"/>
                  <a:t>他の様々な設定でも柔軟に最適性を達成（一部は後述）</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E026060F-450D-E595-5742-B6DC4F595961}"/>
                  </a:ext>
                </a:extLst>
              </p:cNvPr>
              <p:cNvSpPr>
                <a:spLocks noGrp="1" noRot="1" noChangeAspect="1" noMove="1" noResize="1" noEditPoints="1" noAdjustHandles="1" noChangeArrowheads="1" noChangeShapeType="1" noTextEdit="1"/>
              </p:cNvSpPr>
              <p:nvPr>
                <p:ph idx="1"/>
              </p:nvPr>
            </p:nvSpPr>
            <p:spPr>
              <a:blipFill>
                <a:blip r:embed="rId2"/>
                <a:stretch>
                  <a:fillRect l="-1217" t="-2241" b="-294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6910EA45-9FFF-CE82-EBF6-D78801381973}"/>
              </a:ext>
            </a:extLst>
          </p:cNvPr>
          <p:cNvSpPr>
            <a:spLocks noGrp="1"/>
          </p:cNvSpPr>
          <p:nvPr>
            <p:ph type="sldNum" sz="quarter" idx="12"/>
          </p:nvPr>
        </p:nvSpPr>
        <p:spPr/>
        <p:txBody>
          <a:bodyPr/>
          <a:lstStyle/>
          <a:p>
            <a:fld id="{4B077F3A-4098-4199-8925-77865D1E3500}" type="slidenum">
              <a:rPr kumimoji="1" lang="ja-JP" altLang="en-US" smtClean="0"/>
              <a:t>60</a:t>
            </a:fld>
            <a:endParaRPr kumimoji="1" lang="ja-JP" altLang="en-US"/>
          </a:p>
        </p:txBody>
      </p:sp>
    </p:spTree>
    <p:extLst>
      <p:ext uri="{BB962C8B-B14F-4D97-AF65-F5344CB8AC3E}">
        <p14:creationId xmlns:p14="http://schemas.microsoft.com/office/powerpoint/2010/main" val="22931548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04B017-7FCA-2C01-DC9E-5DB3A3D042AB}"/>
              </a:ext>
            </a:extLst>
          </p:cNvPr>
          <p:cNvSpPr>
            <a:spLocks noGrp="1"/>
          </p:cNvSpPr>
          <p:nvPr>
            <p:ph type="title"/>
          </p:nvPr>
        </p:nvSpPr>
        <p:spPr/>
        <p:txBody>
          <a:bodyPr/>
          <a:lstStyle/>
          <a:p>
            <a:r>
              <a:rPr kumimoji="1" lang="en-US" altLang="ja-JP" dirty="0"/>
              <a:t>RM </a:t>
            </a:r>
            <a:r>
              <a:rPr kumimoji="1" lang="ja-JP" altLang="en-US" dirty="0"/>
              <a:t>のパラメータの直感的意味</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25E0F79-6A0C-4644-649C-7D20BAB8185B}"/>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i="1">
                              <a:latin typeface="Cambria Math" panose="02040503050406030204" pitchFamily="18" charset="0"/>
                            </a:rPr>
                            <m:t>𝜙</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𝑃</m:t>
                              </m:r>
                            </m:e>
                            <m:sub>
                              <m:r>
                                <a:rPr lang="en-US" altLang="ja-JP" sz="2000" i="1">
                                  <a:latin typeface="Cambria Math" panose="02040503050406030204" pitchFamily="18" charset="0"/>
                                </a:rPr>
                                <m:t>𝑖</m:t>
                              </m:r>
                            </m:sub>
                          </m:sSub>
                        </m:e>
                      </m:d>
                      <m:r>
                        <a:rPr lang="en-US" altLang="ja-JP" sz="2000" i="1">
                          <a:latin typeface="Cambria Math" panose="02040503050406030204" pitchFamily="18" charset="0"/>
                        </a:rPr>
                        <m:t>≔</m:t>
                      </m:r>
                      <m:r>
                        <a:rPr lang="en-US" altLang="ja-JP" sz="2000" i="1">
                          <a:solidFill>
                            <a:srgbClr val="C00000"/>
                          </a:solidFill>
                          <a:latin typeface="Cambria Math" panose="02040503050406030204" pitchFamily="18" charset="0"/>
                        </a:rPr>
                        <m:t>𝑡</m:t>
                      </m:r>
                      <m:r>
                        <a:rPr lang="en-US" altLang="ja-JP" sz="2000" i="1">
                          <a:solidFill>
                            <a:srgbClr val="C00000"/>
                          </a:solidFill>
                          <a:latin typeface="Cambria Math" panose="02040503050406030204" pitchFamily="18" charset="0"/>
                        </a:rPr>
                        <m:t>⋅</m:t>
                      </m:r>
                      <m:nary>
                        <m:naryPr>
                          <m:chr m:val="∑"/>
                          <m:supHide m:val="on"/>
                          <m:ctrlPr>
                            <a:rPr lang="en-US" altLang="ja-JP" sz="2000" i="1">
                              <a:latin typeface="Cambria Math" panose="02040503050406030204" pitchFamily="18" charset="0"/>
                            </a:rPr>
                          </m:ctrlPr>
                        </m:naryPr>
                        <m: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𝑟</m:t>
                              </m:r>
                              <m:r>
                                <a:rPr lang="en-US" altLang="ja-JP" sz="2000" i="1">
                                  <a:latin typeface="Cambria Math" panose="02040503050406030204" pitchFamily="18" charset="0"/>
                                </a:rPr>
                                <m:t>,</m:t>
                              </m:r>
                              <m:r>
                                <a:rPr lang="en-US" altLang="ja-JP" sz="2000" i="1">
                                  <a:latin typeface="Cambria Math" panose="02040503050406030204" pitchFamily="18" charset="0"/>
                                </a:rPr>
                                <m:t>𝑠</m:t>
                              </m:r>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𝑃</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𝑀</m:t>
                              </m:r>
                            </m:e>
                            <m:sub>
                              <m: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sub>
                        <m:sup/>
                        <m:e>
                          <m:r>
                            <a:rPr lang="en-US" altLang="ja-JP" sz="2000" i="1">
                              <a:latin typeface="Cambria Math" panose="02040503050406030204" pitchFamily="18" charset="0"/>
                            </a:rPr>
                            <m:t>𝑑</m:t>
                          </m:r>
                          <m:r>
                            <a:rPr lang="en-US" altLang="ja-JP" sz="2000" i="1">
                              <a:latin typeface="Cambria Math" panose="02040503050406030204" pitchFamily="18" charset="0"/>
                            </a:rPr>
                            <m:t>(</m:t>
                          </m:r>
                          <m:r>
                            <a:rPr lang="en-US" altLang="ja-JP" sz="2000" i="1">
                              <a:latin typeface="Cambria Math" panose="02040503050406030204" pitchFamily="18" charset="0"/>
                            </a:rPr>
                            <m:t>𝑟</m:t>
                          </m:r>
                          <m:r>
                            <a:rPr lang="en-US" altLang="ja-JP" sz="2000" i="1">
                              <a:latin typeface="Cambria Math" panose="02040503050406030204" pitchFamily="18" charset="0"/>
                            </a:rPr>
                            <m:t>,</m:t>
                          </m:r>
                          <m:r>
                            <a:rPr lang="en-US" altLang="ja-JP" sz="2000" i="1">
                              <a:latin typeface="Cambria Math" panose="02040503050406030204" pitchFamily="18" charset="0"/>
                            </a:rPr>
                            <m:t>𝑠</m:t>
                          </m:r>
                          <m:r>
                            <a:rPr lang="en-US" altLang="ja-JP" sz="2000" i="1">
                              <a:latin typeface="Cambria Math" panose="02040503050406030204" pitchFamily="18" charset="0"/>
                            </a:rPr>
                            <m:t>)</m:t>
                          </m:r>
                        </m:e>
                      </m:nary>
                      <m:r>
                        <a:rPr lang="en-US" altLang="ja-JP" sz="2000" i="1">
                          <a:latin typeface="Cambria Math" panose="02040503050406030204" pitchFamily="18" charset="0"/>
                        </a:rPr>
                        <m:t>−</m:t>
                      </m:r>
                      <m:nary>
                        <m:naryPr>
                          <m:chr m:val="∑"/>
                          <m:supHide m:val="on"/>
                          <m:ctrlPr>
                            <a:rPr lang="en-US" altLang="ja-JP" sz="2000" i="1">
                              <a:latin typeface="Cambria Math" panose="02040503050406030204" pitchFamily="18" charset="0"/>
                            </a:rPr>
                          </m:ctrlPr>
                        </m:naryPr>
                        <m: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𝑟</m:t>
                              </m:r>
                              <m:r>
                                <a:rPr lang="en-US" altLang="ja-JP" sz="2000" i="1">
                                  <a:latin typeface="Cambria Math" panose="02040503050406030204" pitchFamily="18" charset="0"/>
                                </a:rPr>
                                <m:t>,</m:t>
                              </m:r>
                              <m:r>
                                <a:rPr lang="en-US" altLang="ja-JP" sz="2000" i="1">
                                  <a:latin typeface="Cambria Math" panose="02040503050406030204" pitchFamily="18" charset="0"/>
                                </a:rPr>
                                <m:t>𝑠</m:t>
                              </m:r>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𝑃</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𝑀</m:t>
                              </m:r>
                            </m:e>
                            <m:sub>
                              <m: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sub>
                        <m:sup/>
                        <m:e>
                          <m:r>
                            <a:rPr lang="en-US" altLang="ja-JP" sz="2000" i="1">
                              <a:latin typeface="Cambria Math" panose="02040503050406030204" pitchFamily="18" charset="0"/>
                            </a:rPr>
                            <m:t>𝑑</m:t>
                          </m:r>
                          <m:r>
                            <a:rPr lang="en-US" altLang="ja-JP" sz="2000" i="1">
                              <a:latin typeface="Cambria Math" panose="02040503050406030204" pitchFamily="18" charset="0"/>
                            </a:rPr>
                            <m:t>(</m:t>
                          </m:r>
                          <m:r>
                            <a:rPr lang="en-US" altLang="ja-JP" sz="2000" i="1">
                              <a:latin typeface="Cambria Math" panose="02040503050406030204" pitchFamily="18" charset="0"/>
                            </a:rPr>
                            <m:t>𝑟</m:t>
                          </m:r>
                          <m:r>
                            <a:rPr lang="en-US" altLang="ja-JP" sz="2000" i="1">
                              <a:latin typeface="Cambria Math" panose="02040503050406030204" pitchFamily="18" charset="0"/>
                            </a:rPr>
                            <m:t>,</m:t>
                          </m:r>
                          <m:r>
                            <a:rPr lang="en-US" altLang="ja-JP" sz="2000" i="1">
                              <a:latin typeface="Cambria Math" panose="02040503050406030204" pitchFamily="18" charset="0"/>
                            </a:rPr>
                            <m:t>𝑠</m:t>
                          </m:r>
                          <m:r>
                            <a:rPr lang="en-US" altLang="ja-JP" sz="2000" i="1">
                              <a:latin typeface="Cambria Math" panose="02040503050406030204" pitchFamily="18" charset="0"/>
                            </a:rPr>
                            <m:t>)</m:t>
                          </m:r>
                        </m:e>
                      </m:nary>
                    </m:oMath>
                  </m:oMathPara>
                </a14:m>
                <a:endParaRPr kumimoji="1" lang="en-US" altLang="ja-JP" sz="2000" dirty="0"/>
              </a:p>
              <a:p>
                <a:pPr marL="0" indent="0">
                  <a:buNone/>
                </a:pPr>
                <a:endParaRPr kumimoji="1" lang="en-US" altLang="ja-JP" sz="800" dirty="0"/>
              </a:p>
              <a:p>
                <a:pPr marL="0" indent="0">
                  <a:buNone/>
                </a:pPr>
                <a:r>
                  <a:rPr kumimoji="1" lang="ja-JP" altLang="en-US" dirty="0"/>
                  <a:t>仮想的割り当て </a:t>
                </a:r>
                <a14:m>
                  <m:oMath xmlns:m="http://schemas.openxmlformats.org/officeDocument/2006/math">
                    <m:sSubSup>
                      <m:sSubSupPr>
                        <m:ctrlPr>
                          <a:rPr kumimoji="1" lang="en-US" altLang="ja-JP" b="0" i="1" smtClean="0">
                            <a:latin typeface="Cambria Math" panose="02040503050406030204" pitchFamily="18" charset="0"/>
                          </a:rPr>
                        </m:ctrlPr>
                      </m:sSubSupPr>
                      <m:e>
                        <m:r>
                          <a:rPr kumimoji="1" lang="en-US" altLang="ja-JP" b="0" i="1" smtClean="0">
                            <a:latin typeface="Cambria Math" panose="02040503050406030204" pitchFamily="18" charset="0"/>
                          </a:rPr>
                          <m:t>𝑀</m:t>
                        </m:r>
                      </m:e>
                      <m:sub>
                        <m:r>
                          <a:rPr kumimoji="1" lang="en-US" altLang="ja-JP" b="0" i="1" smtClean="0">
                            <a:latin typeface="Cambria Math" panose="02040503050406030204" pitchFamily="18" charset="0"/>
                          </a:rPr>
                          <m:t>𝑖</m:t>
                        </m:r>
                      </m:sub>
                      <m:sup>
                        <m:r>
                          <a:rPr kumimoji="1" lang="en-US" altLang="ja-JP" b="0" i="1" smtClean="0">
                            <a:latin typeface="Cambria Math" panose="02040503050406030204" pitchFamily="18" charset="0"/>
                          </a:rPr>
                          <m:t>∗</m:t>
                        </m:r>
                      </m:sup>
                    </m:sSubSup>
                  </m:oMath>
                </a14:m>
                <a:r>
                  <a:rPr kumimoji="1" lang="ja-JP" altLang="en-US" dirty="0"/>
                  <a:t> を求める際に以下をバランスする</a:t>
                </a:r>
                <a:endParaRPr kumimoji="1" lang="en-US" altLang="ja-JP" dirty="0"/>
              </a:p>
              <a:p>
                <a:pPr marL="0" indent="0">
                  <a:buNone/>
                </a:pPr>
                <a:endParaRPr lang="en-US" altLang="ja-JP" sz="800" dirty="0"/>
              </a:p>
              <a:p>
                <a:pPr marL="0" indent="0">
                  <a:buNone/>
                </a:pPr>
                <a:r>
                  <a:rPr kumimoji="1" lang="en-US" altLang="ja-JP" sz="2400" b="1" dirty="0"/>
                  <a:t>1.</a:t>
                </a:r>
                <a:r>
                  <a:rPr kumimoji="1" lang="ja-JP" altLang="en-US" sz="2400" b="1" dirty="0"/>
                  <a:t>「付け替え」をどれくらい嫌うか</a:t>
                </a:r>
                <a:endParaRPr lang="en-US" altLang="ja-JP" sz="2400" b="1" dirty="0"/>
              </a:p>
              <a:p>
                <a:pPr marL="457200" lvl="1" indent="0">
                  <a:buNone/>
                </a:pPr>
                <a14:m>
                  <m:oMath xmlns:m="http://schemas.openxmlformats.org/officeDocument/2006/math">
                    <m:r>
                      <a:rPr kumimoji="1" lang="en-US" altLang="ja-JP" b="0" i="1" smtClean="0">
                        <a:latin typeface="Cambria Math" panose="02040503050406030204" pitchFamily="18" charset="0"/>
                      </a:rPr>
                      <m:t>𝑡</m:t>
                    </m:r>
                  </m:oMath>
                </a14:m>
                <a:r>
                  <a:rPr kumimoji="1" lang="en-US" altLang="ja-JP" dirty="0"/>
                  <a:t> </a:t>
                </a:r>
                <a:r>
                  <a:rPr kumimoji="1" lang="ja-JP" altLang="en-US" dirty="0"/>
                  <a:t>が大きいほど辺の本数が少ない増加道を選びやすくなる</a:t>
                </a:r>
                <a:endParaRPr lang="en-US" altLang="ja-JP" dirty="0"/>
              </a:p>
              <a:p>
                <a:pPr marL="0" indent="0">
                  <a:buNone/>
                </a:pPr>
                <a:r>
                  <a:rPr lang="en-US" altLang="ja-JP" sz="2400" b="1" dirty="0"/>
                  <a:t>2. </a:t>
                </a:r>
                <a:r>
                  <a:rPr lang="ja-JP" altLang="en-US" sz="2400" b="1" dirty="0"/>
                  <a:t>そのトレードオフとして最適性をどのくらい犠牲にするか</a:t>
                </a:r>
                <a:endParaRPr lang="en-US" altLang="ja-JP" sz="2400" b="1" dirty="0"/>
              </a:p>
              <a:p>
                <a:pPr marL="457200" lvl="1" indent="0">
                  <a:buNone/>
                </a:pPr>
                <a14:m>
                  <m:oMath xmlns:m="http://schemas.openxmlformats.org/officeDocument/2006/math">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𝑀</m:t>
                        </m:r>
                      </m:e>
                      <m:sub>
                        <m:r>
                          <a:rPr lang="en-US" altLang="ja-JP" b="0" i="1" smtClean="0">
                            <a:latin typeface="Cambria Math" panose="02040503050406030204" pitchFamily="18" charset="0"/>
                          </a:rPr>
                          <m:t>𝑖</m:t>
                        </m:r>
                      </m:sub>
                      <m:sup>
                        <m:r>
                          <a:rPr lang="en-US" altLang="ja-JP" b="0" i="1" smtClean="0">
                            <a:latin typeface="Cambria Math" panose="02040503050406030204" pitchFamily="18" charset="0"/>
                          </a:rPr>
                          <m:t>∗</m:t>
                        </m:r>
                      </m:sup>
                    </m:sSubSup>
                  </m:oMath>
                </a14:m>
                <a:r>
                  <a:rPr lang="en-US" altLang="ja-JP" dirty="0"/>
                  <a:t> </a:t>
                </a:r>
                <a:r>
                  <a:rPr lang="ja-JP" altLang="en-US" dirty="0"/>
                  <a:t>は </a:t>
                </a:r>
                <a:r>
                  <a:rPr lang="en-US" altLang="ja-JP" dirty="0"/>
                  <a:t>Permutation </a:t>
                </a:r>
                <a:r>
                  <a:rPr lang="ja-JP" altLang="en-US" dirty="0"/>
                  <a:t>の場合は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𝑟</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𝑟</m:t>
                        </m:r>
                      </m:e>
                      <m:sub>
                        <m:r>
                          <a:rPr lang="en-US" altLang="ja-JP" b="0" i="1" smtClean="0">
                            <a:latin typeface="Cambria Math" panose="02040503050406030204" pitchFamily="18" charset="0"/>
                          </a:rPr>
                          <m:t>𝑖</m:t>
                        </m:r>
                      </m:sub>
                    </m:sSub>
                  </m:oMath>
                </a14:m>
                <a:r>
                  <a:rPr lang="en-US" altLang="ja-JP" dirty="0"/>
                  <a:t> </a:t>
                </a:r>
                <a:r>
                  <a:rPr lang="ja-JP" altLang="en-US" dirty="0"/>
                  <a:t>の最適割り当てだったが，</a:t>
                </a:r>
                <a:r>
                  <a:rPr lang="en-US" altLang="ja-JP" dirty="0"/>
                  <a:t>RM</a:t>
                </a:r>
                <a:r>
                  <a:rPr lang="ja-JP" altLang="en-US" dirty="0"/>
                  <a:t>では最適割り当てコストの </a:t>
                </a:r>
                <a14:m>
                  <m:oMath xmlns:m="http://schemas.openxmlformats.org/officeDocument/2006/math">
                    <m:r>
                      <a:rPr lang="en-US" altLang="ja-JP" b="0" i="1" smtClean="0">
                        <a:latin typeface="Cambria Math" panose="02040503050406030204" pitchFamily="18" charset="0"/>
                      </a:rPr>
                      <m:t>𝑡</m:t>
                    </m:r>
                  </m:oMath>
                </a14:m>
                <a:r>
                  <a:rPr lang="en-US" altLang="ja-JP" dirty="0"/>
                  <a:t> </a:t>
                </a:r>
                <a:r>
                  <a:rPr lang="ja-JP" altLang="en-US" dirty="0"/>
                  <a:t>倍以下という保証になる</a:t>
                </a:r>
                <a:endParaRPr lang="en-US" altLang="ja-JP" dirty="0"/>
              </a:p>
              <a:p>
                <a:pPr marL="0" indent="0">
                  <a:buNone/>
                </a:pPr>
                <a:endParaRPr lang="en-US" altLang="ja-JP" sz="2400" dirty="0"/>
              </a:p>
            </p:txBody>
          </p:sp>
        </mc:Choice>
        <mc:Fallback xmlns="">
          <p:sp>
            <p:nvSpPr>
              <p:cNvPr id="3" name="コンテンツ プレースホルダー 2">
                <a:extLst>
                  <a:ext uri="{FF2B5EF4-FFF2-40B4-BE49-F238E27FC236}">
                    <a16:creationId xmlns:a16="http://schemas.microsoft.com/office/drawing/2014/main" id="{B25E0F79-6A0C-4644-649C-7D20BAB8185B}"/>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EA7B51AF-411C-E185-37FA-B6DFAFF813EC}"/>
              </a:ext>
            </a:extLst>
          </p:cNvPr>
          <p:cNvSpPr>
            <a:spLocks noGrp="1"/>
          </p:cNvSpPr>
          <p:nvPr>
            <p:ph type="sldNum" sz="quarter" idx="12"/>
          </p:nvPr>
        </p:nvSpPr>
        <p:spPr/>
        <p:txBody>
          <a:bodyPr/>
          <a:lstStyle/>
          <a:p>
            <a:fld id="{4B077F3A-4098-4199-8925-77865D1E3500}" type="slidenum">
              <a:rPr kumimoji="1" lang="ja-JP" altLang="en-US" smtClean="0"/>
              <a:t>61</a:t>
            </a:fld>
            <a:endParaRPr kumimoji="1" lang="ja-JP" altLang="en-US"/>
          </a:p>
        </p:txBody>
      </p:sp>
    </p:spTree>
    <p:extLst>
      <p:ext uri="{BB962C8B-B14F-4D97-AF65-F5344CB8AC3E}">
        <p14:creationId xmlns:p14="http://schemas.microsoft.com/office/powerpoint/2010/main" val="27248299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C3AF6A-7CB5-9546-5C7A-516824EECFF5}"/>
              </a:ext>
            </a:extLst>
          </p:cNvPr>
          <p:cNvSpPr>
            <a:spLocks noGrp="1"/>
          </p:cNvSpPr>
          <p:nvPr>
            <p:ph type="title"/>
          </p:nvPr>
        </p:nvSpPr>
        <p:spPr/>
        <p:txBody>
          <a:bodyPr/>
          <a:lstStyle/>
          <a:p>
            <a:r>
              <a:rPr kumimoji="1" lang="en-US" altLang="ja-JP" dirty="0"/>
              <a:t>Robust-Matching </a:t>
            </a:r>
            <a:r>
              <a:rPr kumimoji="1" lang="ja-JP" altLang="en-US" dirty="0"/>
              <a:t>再訪１</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EB83BC3-7259-3892-7642-A3E9EF42BF53}"/>
                  </a:ext>
                </a:extLst>
              </p:cNvPr>
              <p:cNvSpPr>
                <a:spLocks noGrp="1"/>
              </p:cNvSpPr>
              <p:nvPr>
                <p:ph idx="1"/>
              </p:nvPr>
            </p:nvSpPr>
            <p:spPr>
              <a:xfrm>
                <a:off x="838200" y="1597891"/>
                <a:ext cx="10515600" cy="4579072"/>
              </a:xfrm>
            </p:spPr>
            <p:txBody>
              <a:bodyPr>
                <a:normAutofit/>
              </a:bodyPr>
              <a:lstStyle/>
              <a:p>
                <a:pPr marL="0" indent="0">
                  <a:buNone/>
                </a:pPr>
                <a:r>
                  <a:rPr lang="en-US" altLang="ja-JP" sz="2400" dirty="0"/>
                  <a:t>[Nayyar and Raghvendra, 2017] </a:t>
                </a:r>
                <a:r>
                  <a:rPr lang="ja-JP" altLang="en-US" sz="2400" dirty="0"/>
                  <a:t>は</a:t>
                </a:r>
                <a:endParaRPr lang="en-US" altLang="ja-JP" sz="2400" dirty="0"/>
              </a:p>
              <a:p>
                <a:r>
                  <a:rPr lang="en-US" altLang="ja-JP" sz="2400" dirty="0"/>
                  <a:t>RM </a:t>
                </a:r>
                <a:r>
                  <a:rPr lang="ja-JP" altLang="en-US" sz="2400" dirty="0"/>
                  <a:t>アルゴリズムの競合比が </a:t>
                </a:r>
                <a14:m>
                  <m:oMath xmlns:m="http://schemas.openxmlformats.org/officeDocument/2006/math">
                    <m:r>
                      <a:rPr lang="en-US" altLang="ja-JP" sz="2400" b="0" i="1" smtClean="0">
                        <a:latin typeface="Cambria Math" panose="02040503050406030204" pitchFamily="18" charset="0"/>
                      </a:rPr>
                      <m:t>𝑂</m:t>
                    </m:r>
                    <m:d>
                      <m:dPr>
                        <m:ctrlPr>
                          <a:rPr lang="en-US" altLang="ja-JP" sz="2400" b="0" i="1" smtClean="0">
                            <a:latin typeface="Cambria Math" panose="02040503050406030204" pitchFamily="18" charset="0"/>
                          </a:rPr>
                        </m:ctrlPr>
                      </m:dPr>
                      <m:e>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𝜇</m:t>
                            </m:r>
                          </m:e>
                          <m:sub>
                            <m:r>
                              <a:rPr lang="en-US" altLang="ja-JP" sz="2400" b="0" i="1" smtClean="0">
                                <a:latin typeface="Cambria Math" panose="02040503050406030204" pitchFamily="18" charset="0"/>
                              </a:rPr>
                              <m:t>ℳ</m:t>
                            </m:r>
                          </m:sub>
                        </m:sSub>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𝑆</m:t>
                            </m:r>
                          </m:e>
                        </m:d>
                        <m:sSup>
                          <m:sSupPr>
                            <m:ctrlPr>
                              <a:rPr lang="en-US" altLang="ja-JP" sz="2400" b="0" i="1" smtClean="0">
                                <a:latin typeface="Cambria Math" panose="02040503050406030204" pitchFamily="18" charset="0"/>
                              </a:rPr>
                            </m:ctrlPr>
                          </m:sSupPr>
                          <m:e>
                            <m:r>
                              <m:rPr>
                                <m:sty m:val="p"/>
                              </m:rPr>
                              <a:rPr lang="en-US" altLang="ja-JP" sz="2400" b="0" i="0" smtClean="0">
                                <a:latin typeface="Cambria Math" panose="02040503050406030204" pitchFamily="18" charset="0"/>
                              </a:rPr>
                              <m:t>log</m:t>
                            </m:r>
                          </m:e>
                          <m:sup>
                            <m:r>
                              <a:rPr lang="en-US" altLang="ja-JP" sz="2400" b="0" i="1" smtClean="0">
                                <a:latin typeface="Cambria Math" panose="02040503050406030204" pitchFamily="18" charset="0"/>
                              </a:rPr>
                              <m:t>2</m:t>
                            </m:r>
                          </m:sup>
                        </m:sSup>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e>
                    </m:d>
                  </m:oMath>
                </a14:m>
                <a:r>
                  <a:rPr kumimoji="1" lang="ja-JP" altLang="en-US" sz="2400" dirty="0"/>
                  <a:t> であること</a:t>
                </a:r>
                <a:endParaRPr kumimoji="1" lang="en-US" altLang="ja-JP" sz="2400" dirty="0"/>
              </a:p>
              <a:p>
                <a:r>
                  <a:rPr lang="ja-JP" altLang="en-US" sz="2400" dirty="0"/>
                  <a:t>任意の決定的アルゴリズムの競合比が </a:t>
                </a:r>
                <a14:m>
                  <m:oMath xmlns:m="http://schemas.openxmlformats.org/officeDocument/2006/math">
                    <m:r>
                      <m:rPr>
                        <m:sty m:val="p"/>
                      </m:rPr>
                      <a:rPr lang="en-US" altLang="ja-JP" sz="2400" b="0" i="0" smtClean="0">
                        <a:latin typeface="Cambria Math" panose="02040503050406030204" pitchFamily="18" charset="0"/>
                      </a:rPr>
                      <m:t>Ω</m:t>
                    </m:r>
                    <m:d>
                      <m:dPr>
                        <m:ctrlPr>
                          <a:rPr lang="en-US" altLang="ja-JP" sz="2400" b="0" i="1" smtClean="0">
                            <a:latin typeface="Cambria Math" panose="02040503050406030204" pitchFamily="18" charset="0"/>
                          </a:rPr>
                        </m:ctrlPr>
                      </m:dPr>
                      <m:e>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𝜇</m:t>
                            </m:r>
                          </m:e>
                          <m:sub>
                            <m:r>
                              <a:rPr lang="en-US" altLang="ja-JP" sz="2400" b="0" i="1" smtClean="0">
                                <a:latin typeface="Cambria Math" panose="02040503050406030204" pitchFamily="18" charset="0"/>
                              </a:rPr>
                              <m:t>ℳ</m:t>
                            </m:r>
                          </m:sub>
                        </m:sSub>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𝑆</m:t>
                            </m:r>
                          </m:e>
                        </m:d>
                      </m:e>
                    </m:d>
                  </m:oMath>
                </a14:m>
                <a:r>
                  <a:rPr kumimoji="1" lang="ja-JP" altLang="en-US" sz="2400" dirty="0"/>
                  <a:t> であること</a:t>
                </a:r>
                <a:endParaRPr kumimoji="1" lang="en-US" altLang="ja-JP" sz="2400" dirty="0"/>
              </a:p>
              <a:p>
                <a:pPr marL="0" indent="0">
                  <a:buNone/>
                </a:pPr>
                <a:r>
                  <a:rPr lang="ja-JP" altLang="en-US" sz="2400" dirty="0"/>
                  <a:t>を示した．</a:t>
                </a:r>
                <a:endParaRPr lang="en-US" altLang="ja-JP" sz="2400" dirty="0"/>
              </a:p>
              <a:p>
                <a:pPr marL="0" indent="0">
                  <a:buNone/>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𝜇</m:t>
                          </m:r>
                        </m:e>
                        <m:sub>
                          <m:r>
                            <a:rPr kumimoji="1" lang="en-US" altLang="ja-JP" sz="2400" b="0" i="1" smtClean="0">
                              <a:latin typeface="Cambria Math" panose="02040503050406030204" pitchFamily="18" charset="0"/>
                            </a:rPr>
                            <m:t>ℳ</m:t>
                          </m:r>
                        </m:sub>
                      </m:sSub>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𝑆</m:t>
                          </m:r>
                        </m:e>
                      </m:d>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m:rPr>
                              <m:sty m:val="p"/>
                            </m:rPr>
                            <a:rPr kumimoji="1" lang="en-US" altLang="ja-JP" sz="2400" b="0" i="1" smtClean="0">
                              <a:latin typeface="Cambria Math" panose="02040503050406030204" pitchFamily="18" charset="0"/>
                            </a:rPr>
                            <m:t>TSP</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𝑆</m:t>
                              </m:r>
                            </m:e>
                          </m:d>
                        </m:num>
                        <m:den>
                          <m:r>
                            <m:rPr>
                              <m:sty m:val="p"/>
                            </m:rPr>
                            <a:rPr kumimoji="1" lang="en-US" altLang="ja-JP" sz="2400" b="0" i="1" smtClean="0">
                              <a:latin typeface="Cambria Math" panose="02040503050406030204" pitchFamily="18" charset="0"/>
                            </a:rPr>
                            <m:t>diam</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𝑆</m:t>
                              </m:r>
                            </m:e>
                          </m:d>
                        </m:den>
                      </m:f>
                    </m:oMath>
                  </m:oMathPara>
                </a14:m>
                <a:endParaRPr kumimoji="1" lang="en-US" altLang="ja-JP" sz="2400" b="0" dirty="0"/>
              </a:p>
              <a:p>
                <a:pPr marL="0" indent="0">
                  <a:buNone/>
                </a:pPr>
                <a14:m>
                  <m:oMath xmlns:m="http://schemas.openxmlformats.org/officeDocument/2006/math">
                    <m:r>
                      <m:rPr>
                        <m:sty m:val="p"/>
                      </m:rPr>
                      <a:rPr lang="en-US" altLang="ja-JP" sz="2000" i="1">
                        <a:latin typeface="Cambria Math" panose="02040503050406030204" pitchFamily="18" charset="0"/>
                      </a:rPr>
                      <m:t>TSP</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𝑆</m:t>
                        </m:r>
                      </m:e>
                    </m:d>
                  </m:oMath>
                </a14:m>
                <a:r>
                  <a:rPr kumimoji="1" lang="en-US" altLang="ja-JP" sz="2000" dirty="0"/>
                  <a:t>: </a:t>
                </a:r>
                <a:r>
                  <a:rPr kumimoji="1" lang="ja-JP" altLang="en-US" sz="2000" dirty="0"/>
                  <a:t>すべてのサーバを訪れて元の地点に戻る最短経路長</a:t>
                </a:r>
                <a:endParaRPr kumimoji="1" lang="en-US" altLang="ja-JP" sz="2000" dirty="0"/>
              </a:p>
              <a:p>
                <a:pPr marL="0" indent="0">
                  <a:buNone/>
                </a:pPr>
                <a14:m>
                  <m:oMath xmlns:m="http://schemas.openxmlformats.org/officeDocument/2006/math">
                    <m:r>
                      <m:rPr>
                        <m:sty m:val="p"/>
                      </m:rPr>
                      <a:rPr lang="en-US" altLang="ja-JP" sz="2000" b="0" i="0" smtClean="0">
                        <a:latin typeface="Cambria Math" panose="02040503050406030204" pitchFamily="18" charset="0"/>
                      </a:rPr>
                      <m:t>d</m:t>
                    </m:r>
                    <m:r>
                      <m:rPr>
                        <m:sty m:val="p"/>
                      </m:rPr>
                      <a:rPr lang="en-US" altLang="ja-JP" sz="2000" i="1">
                        <a:latin typeface="Cambria Math" panose="02040503050406030204" pitchFamily="18" charset="0"/>
                      </a:rPr>
                      <m:t>iam</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𝑆</m:t>
                        </m:r>
                      </m:e>
                    </m:d>
                  </m:oMath>
                </a14:m>
                <a:r>
                  <a:rPr kumimoji="1" lang="en-US" altLang="ja-JP" sz="2000" dirty="0"/>
                  <a:t>: </a:t>
                </a:r>
                <a:r>
                  <a:rPr kumimoji="1" lang="ja-JP" altLang="en-US" sz="2000" dirty="0"/>
                  <a:t>異なるサーバ間の距離の最大値</a:t>
                </a:r>
                <a:endParaRPr kumimoji="1" lang="en-US" altLang="ja-JP" sz="2000" dirty="0"/>
              </a:p>
              <a:p>
                <a:pPr marL="0" indent="0">
                  <a:buNone/>
                </a:pPr>
                <a:r>
                  <a:rPr lang="ja-JP" altLang="en-US" sz="2400" dirty="0"/>
                  <a:t>→ サーバ数 </a:t>
                </a:r>
                <a14:m>
                  <m:oMath xmlns:m="http://schemas.openxmlformats.org/officeDocument/2006/math">
                    <m:r>
                      <a:rPr lang="en-US" altLang="ja-JP" sz="2400" b="0" i="1" smtClean="0">
                        <a:latin typeface="Cambria Math" panose="02040503050406030204" pitchFamily="18" charset="0"/>
                      </a:rPr>
                      <m:t>𝑛</m:t>
                    </m:r>
                  </m:oMath>
                </a14:m>
                <a:r>
                  <a:rPr kumimoji="1" lang="ja-JP" altLang="en-US" sz="2400" dirty="0"/>
                  <a:t> よりも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𝜇</m:t>
                        </m:r>
                      </m:e>
                      <m:sub>
                        <m:r>
                          <a:rPr lang="en-US" altLang="ja-JP" sz="2400" i="1">
                            <a:latin typeface="Cambria Math" panose="02040503050406030204" pitchFamily="18" charset="0"/>
                          </a:rPr>
                          <m:t>ℳ</m:t>
                        </m:r>
                      </m:sub>
                    </m:s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𝑆</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𝑛</m:t>
                    </m:r>
                  </m:oMath>
                </a14:m>
                <a:r>
                  <a:rPr kumimoji="1" lang="ja-JP" altLang="en-US" sz="2400" dirty="0"/>
                  <a:t> の方が本質的なパラメータなのでは</a:t>
                </a:r>
                <a:endParaRPr kumimoji="1" lang="en-US" altLang="ja-JP" sz="2400" dirty="0"/>
              </a:p>
              <a:p>
                <a:pPr marL="0" indent="0">
                  <a:buNone/>
                </a:pPr>
                <a:r>
                  <a:rPr lang="ja-JP" altLang="en-US" sz="2400" dirty="0"/>
                  <a:t>→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𝜇</m:t>
                        </m:r>
                      </m:e>
                      <m:sub>
                        <m:r>
                          <a:rPr lang="en-US" altLang="ja-JP" sz="2400" i="1">
                            <a:latin typeface="Cambria Math" panose="02040503050406030204" pitchFamily="18" charset="0"/>
                          </a:rPr>
                          <m:t>ℳ</m:t>
                        </m:r>
                      </m:sub>
                    </m:s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𝑆</m:t>
                        </m:r>
                      </m:e>
                    </m:d>
                  </m:oMath>
                </a14:m>
                <a:r>
                  <a:rPr lang="ja-JP" altLang="en-US" sz="2400" dirty="0"/>
                  <a:t> が </a:t>
                </a:r>
                <a14:m>
                  <m:oMath xmlns:m="http://schemas.openxmlformats.org/officeDocument/2006/math">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oMath>
                </a14:m>
                <a:r>
                  <a:rPr kumimoji="1" lang="ja-JP" altLang="en-US" sz="2400" dirty="0"/>
                  <a:t> より十分大きいオーダーなら </a:t>
                </a:r>
                <a:r>
                  <a:rPr kumimoji="1" lang="en-US" altLang="ja-JP" sz="2400" dirty="0"/>
                  <a:t>RM </a:t>
                </a:r>
                <a:r>
                  <a:rPr kumimoji="1" lang="ja-JP" altLang="en-US" sz="2400" dirty="0"/>
                  <a:t>は最善に近い</a:t>
                </a:r>
              </a:p>
            </p:txBody>
          </p:sp>
        </mc:Choice>
        <mc:Fallback xmlns="">
          <p:sp>
            <p:nvSpPr>
              <p:cNvPr id="3" name="コンテンツ プレースホルダー 2">
                <a:extLst>
                  <a:ext uri="{FF2B5EF4-FFF2-40B4-BE49-F238E27FC236}">
                    <a16:creationId xmlns:a16="http://schemas.microsoft.com/office/drawing/2014/main" id="{1EB83BC3-7259-3892-7642-A3E9EF42BF53}"/>
                  </a:ext>
                </a:extLst>
              </p:cNvPr>
              <p:cNvSpPr>
                <a:spLocks noGrp="1" noRot="1" noChangeAspect="1" noMove="1" noResize="1" noEditPoints="1" noAdjustHandles="1" noChangeArrowheads="1" noChangeShapeType="1" noTextEdit="1"/>
              </p:cNvSpPr>
              <p:nvPr>
                <p:ph idx="1"/>
              </p:nvPr>
            </p:nvSpPr>
            <p:spPr>
              <a:xfrm>
                <a:off x="838200" y="1597891"/>
                <a:ext cx="10515600" cy="4579072"/>
              </a:xfrm>
              <a:blipFill>
                <a:blip r:embed="rId2"/>
                <a:stretch>
                  <a:fillRect l="-928" t="-2130"/>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BDB9D7FC-D351-BC31-AFB0-61644BF34749}"/>
              </a:ext>
            </a:extLst>
          </p:cNvPr>
          <p:cNvSpPr>
            <a:spLocks noGrp="1"/>
          </p:cNvSpPr>
          <p:nvPr>
            <p:ph type="sldNum" sz="quarter" idx="12"/>
          </p:nvPr>
        </p:nvSpPr>
        <p:spPr/>
        <p:txBody>
          <a:bodyPr/>
          <a:lstStyle/>
          <a:p>
            <a:fld id="{4B077F3A-4098-4199-8925-77865D1E3500}" type="slidenum">
              <a:rPr kumimoji="1" lang="ja-JP" altLang="en-US" smtClean="0"/>
              <a:t>62</a:t>
            </a:fld>
            <a:endParaRPr kumimoji="1" lang="ja-JP" altLang="en-US"/>
          </a:p>
        </p:txBody>
      </p:sp>
    </p:spTree>
    <p:extLst>
      <p:ext uri="{BB962C8B-B14F-4D97-AF65-F5344CB8AC3E}">
        <p14:creationId xmlns:p14="http://schemas.microsoft.com/office/powerpoint/2010/main" val="36175338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27E49C-9C40-3E5E-EC0E-AB9675D889B8}"/>
              </a:ext>
            </a:extLst>
          </p:cNvPr>
          <p:cNvSpPr>
            <a:spLocks noGrp="1"/>
          </p:cNvSpPr>
          <p:nvPr>
            <p:ph type="title"/>
          </p:nvPr>
        </p:nvSpPr>
        <p:spPr/>
        <p:txBody>
          <a:bodyPr/>
          <a:lstStyle/>
          <a:p>
            <a:r>
              <a:rPr lang="en-US" altLang="ja-JP" dirty="0"/>
              <a:t>Robust-Matching </a:t>
            </a:r>
            <a:r>
              <a:rPr lang="ja-JP" altLang="en-US" dirty="0"/>
              <a:t>再訪２</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002EC9E-869A-3D3E-FC33-D1E18EEE3161}"/>
                  </a:ext>
                </a:extLst>
              </p:cNvPr>
              <p:cNvSpPr>
                <a:spLocks noGrp="1"/>
              </p:cNvSpPr>
              <p:nvPr>
                <p:ph idx="1"/>
              </p:nvPr>
            </p:nvSpPr>
            <p:spPr>
              <a:xfrm>
                <a:off x="838200" y="1825625"/>
                <a:ext cx="10515600" cy="1795030"/>
              </a:xfrm>
            </p:spPr>
            <p:txBody>
              <a:bodyPr>
                <a:normAutofit/>
              </a:bodyPr>
              <a:lstStyle/>
              <a:p>
                <a:pPr marL="0" indent="0">
                  <a:buNone/>
                </a:pPr>
                <a14:m>
                  <m:oMath xmlns:m="http://schemas.openxmlformats.org/officeDocument/2006/math">
                    <m:sSub>
                      <m:sSubPr>
                        <m:ctrlPr>
                          <a:rPr lang="en-US" altLang="ja-JP" sz="2400" i="1" smtClean="0">
                            <a:latin typeface="Cambria Math" panose="02040503050406030204" pitchFamily="18" charset="0"/>
                          </a:rPr>
                        </m:ctrlPr>
                      </m:sSubPr>
                      <m:e>
                        <m:r>
                          <a:rPr lang="en-US" altLang="ja-JP" sz="2400" i="1">
                            <a:latin typeface="Cambria Math" panose="02040503050406030204" pitchFamily="18" charset="0"/>
                          </a:rPr>
                          <m:t>𝜇</m:t>
                        </m:r>
                      </m:e>
                      <m:sub>
                        <m:r>
                          <a:rPr lang="en-US" altLang="ja-JP" sz="2400" i="1">
                            <a:latin typeface="Cambria Math" panose="02040503050406030204" pitchFamily="18" charset="0"/>
                          </a:rPr>
                          <m:t>ℳ</m:t>
                        </m:r>
                      </m:sub>
                    </m:s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𝑆</m:t>
                        </m:r>
                      </m:e>
                    </m:d>
                  </m:oMath>
                </a14:m>
                <a:r>
                  <a:rPr kumimoji="1" lang="ja-JP" altLang="en-US" sz="2400" dirty="0"/>
                  <a:t> がどんな値になるか？</a:t>
                </a:r>
                <a:endParaRPr kumimoji="1" lang="en-US" altLang="ja-JP" sz="2400" dirty="0"/>
              </a:p>
              <a:p>
                <a:pPr marL="0" indent="0">
                  <a:buNone/>
                </a:pPr>
                <a:endParaRPr kumimoji="1" lang="en-US" altLang="ja-JP" sz="1000" dirty="0"/>
              </a:p>
              <a:p>
                <a:pPr marL="342900" indent="-342900"/>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𝜇</m:t>
                        </m:r>
                      </m:e>
                      <m:sub>
                        <m:r>
                          <a:rPr lang="en-US" altLang="ja-JP" sz="2400" i="1">
                            <a:latin typeface="Cambria Math" panose="02040503050406030204" pitchFamily="18" charset="0"/>
                          </a:rPr>
                          <m:t>ℳ</m:t>
                        </m:r>
                      </m:sub>
                    </m:s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𝑆</m:t>
                        </m:r>
                      </m:e>
                    </m:d>
                    <m:r>
                      <a:rPr lang="en-US" altLang="ja-JP" sz="2400" i="1">
                        <a:latin typeface="Cambria Math" panose="02040503050406030204" pitchFamily="18" charset="0"/>
                      </a:rPr>
                      <m:t>≤</m:t>
                    </m:r>
                    <m:r>
                      <a:rPr lang="en-US" altLang="ja-JP" sz="2400" i="1">
                        <a:latin typeface="Cambria Math" panose="02040503050406030204" pitchFamily="18" charset="0"/>
                      </a:rPr>
                      <m:t>𝑛</m:t>
                    </m:r>
                  </m:oMath>
                </a14:m>
                <a:r>
                  <a:rPr lang="ja-JP" altLang="en-US" sz="2400" dirty="0"/>
                  <a:t> は常に成立する</a:t>
                </a:r>
                <a:endParaRPr lang="en-US" altLang="ja-JP" sz="2400" dirty="0"/>
              </a:p>
              <a:p>
                <a:pPr marL="342900" indent="-342900"/>
                <a14:m>
                  <m:oMath xmlns:m="http://schemas.openxmlformats.org/officeDocument/2006/math">
                    <m:r>
                      <a:rPr lang="en-US" altLang="ja-JP" sz="2400" i="1">
                        <a:latin typeface="Cambria Math" panose="02040503050406030204" pitchFamily="18" charset="0"/>
                      </a:rPr>
                      <m:t>ℳ</m:t>
                    </m:r>
                  </m:oMath>
                </a14:m>
                <a:r>
                  <a:rPr lang="ja-JP" altLang="en-US" sz="2400" dirty="0"/>
                  <a:t> の </a:t>
                </a:r>
                <a:r>
                  <a:rPr lang="en-US" altLang="ja-JP" sz="2400" dirty="0"/>
                  <a:t>doubling </a:t>
                </a:r>
                <a:r>
                  <a:rPr lang="ja-JP" altLang="en-US" sz="2400" dirty="0"/>
                  <a:t>次元が </a:t>
                </a:r>
                <a14:m>
                  <m:oMath xmlns:m="http://schemas.openxmlformats.org/officeDocument/2006/math">
                    <m:r>
                      <a:rPr lang="en-US" altLang="ja-JP" sz="2400" i="1">
                        <a:latin typeface="Cambria Math" panose="02040503050406030204" pitchFamily="18" charset="0"/>
                      </a:rPr>
                      <m:t>𝑑</m:t>
                    </m:r>
                  </m:oMath>
                </a14:m>
                <a:r>
                  <a:rPr lang="ja-JP" altLang="en-US" sz="2400" dirty="0"/>
                  <a:t> なら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𝜇</m:t>
                        </m:r>
                      </m:e>
                      <m:sub>
                        <m:r>
                          <a:rPr lang="en-US" altLang="ja-JP" sz="2400" i="1">
                            <a:latin typeface="Cambria Math" panose="02040503050406030204" pitchFamily="18" charset="0"/>
                          </a:rPr>
                          <m:t>ℳ</m:t>
                        </m:r>
                      </m:sub>
                    </m:s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𝑆</m:t>
                        </m:r>
                      </m:e>
                    </m:d>
                    <m:r>
                      <a:rPr lang="en-US" altLang="ja-JP" sz="2400" i="1">
                        <a:latin typeface="Cambria Math" panose="02040503050406030204" pitchFamily="18" charset="0"/>
                      </a:rPr>
                      <m:t>=</m:t>
                    </m:r>
                    <m:r>
                      <a:rPr lang="en-US" altLang="ja-JP" sz="2400" i="1">
                        <a:latin typeface="Cambria Math" panose="02040503050406030204" pitchFamily="18" charset="0"/>
                      </a:rPr>
                      <m:t>𝑂</m:t>
                    </m:r>
                    <m:r>
                      <a:rPr lang="en-US" altLang="ja-JP" sz="2400" i="1">
                        <a:latin typeface="Cambria Math" panose="02040503050406030204" pitchFamily="18" charset="0"/>
                      </a:rPr>
                      <m:t>(</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𝑛</m:t>
                        </m:r>
                      </m:e>
                      <m:sup>
                        <m:r>
                          <a:rPr lang="en-US" altLang="ja-JP" sz="2400" i="1">
                            <a:latin typeface="Cambria Math" panose="02040503050406030204" pitchFamily="18" charset="0"/>
                          </a:rPr>
                          <m:t>1−</m:t>
                        </m:r>
                        <m:f>
                          <m:fPr>
                            <m:ctrlPr>
                              <a:rPr lang="en-US" altLang="ja-JP" sz="2400" i="1">
                                <a:latin typeface="Cambria Math" panose="02040503050406030204" pitchFamily="18" charset="0"/>
                              </a:rPr>
                            </m:ctrlPr>
                          </m:fPr>
                          <m:num>
                            <m:r>
                              <a:rPr lang="en-US" altLang="ja-JP" sz="2400" i="1">
                                <a:latin typeface="Cambria Math" panose="02040503050406030204" pitchFamily="18" charset="0"/>
                              </a:rPr>
                              <m:t>1</m:t>
                            </m:r>
                          </m:num>
                          <m:den>
                            <m:r>
                              <a:rPr lang="en-US" altLang="ja-JP" sz="2400" i="1">
                                <a:latin typeface="Cambria Math" panose="02040503050406030204" pitchFamily="18" charset="0"/>
                              </a:rPr>
                              <m:t>𝑑</m:t>
                            </m:r>
                          </m:den>
                        </m:f>
                      </m:sup>
                    </m:sSup>
                    <m:r>
                      <a:rPr lang="en-US" altLang="ja-JP" sz="2400" i="1">
                        <a:latin typeface="Cambria Math" panose="02040503050406030204" pitchFamily="18" charset="0"/>
                      </a:rPr>
                      <m:t>)</m:t>
                    </m:r>
                  </m:oMath>
                </a14:m>
                <a:endParaRPr lang="ja-JP" altLang="en-US" sz="2400" dirty="0"/>
              </a:p>
            </p:txBody>
          </p:sp>
        </mc:Choice>
        <mc:Fallback xmlns="">
          <p:sp>
            <p:nvSpPr>
              <p:cNvPr id="3" name="コンテンツ プレースホルダー 2">
                <a:extLst>
                  <a:ext uri="{FF2B5EF4-FFF2-40B4-BE49-F238E27FC236}">
                    <a16:creationId xmlns:a16="http://schemas.microsoft.com/office/drawing/2014/main" id="{D002EC9E-869A-3D3E-FC33-D1E18EEE3161}"/>
                  </a:ext>
                </a:extLst>
              </p:cNvPr>
              <p:cNvSpPr>
                <a:spLocks noGrp="1" noRot="1" noChangeAspect="1" noMove="1" noResize="1" noEditPoints="1" noAdjustHandles="1" noChangeArrowheads="1" noChangeShapeType="1" noTextEdit="1"/>
              </p:cNvSpPr>
              <p:nvPr>
                <p:ph idx="1"/>
              </p:nvPr>
            </p:nvSpPr>
            <p:spPr>
              <a:xfrm>
                <a:off x="838200" y="1825625"/>
                <a:ext cx="10515600" cy="1795030"/>
              </a:xfrm>
              <a:blipFill>
                <a:blip r:embed="rId2"/>
                <a:stretch>
                  <a:fillRect l="-812" t="-3729" b="-406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 3">
                <a:extLst>
                  <a:ext uri="{FF2B5EF4-FFF2-40B4-BE49-F238E27FC236}">
                    <a16:creationId xmlns:a16="http://schemas.microsoft.com/office/drawing/2014/main" id="{54B33087-67B9-A26A-9B73-ED7DE1C64801}"/>
                  </a:ext>
                </a:extLst>
              </p:cNvPr>
              <p:cNvGraphicFramePr>
                <a:graphicFrameLocks noGrp="1"/>
              </p:cNvGraphicFramePr>
              <p:nvPr>
                <p:extLst>
                  <p:ext uri="{D42A27DB-BD31-4B8C-83A1-F6EECF244321}">
                    <p14:modId xmlns:p14="http://schemas.microsoft.com/office/powerpoint/2010/main" val="77962214"/>
                  </p:ext>
                </p:extLst>
              </p:nvPr>
            </p:nvGraphicFramePr>
            <p:xfrm>
              <a:off x="838200" y="3786460"/>
              <a:ext cx="10515600" cy="2491829"/>
            </p:xfrm>
            <a:graphic>
              <a:graphicData uri="http://schemas.openxmlformats.org/drawingml/2006/table">
                <a:tbl>
                  <a:tblPr firstRow="1" bandRow="1">
                    <a:tableStyleId>{5940675A-B579-460E-94D1-54222C63F5DA}</a:tableStyleId>
                  </a:tblPr>
                  <a:tblGrid>
                    <a:gridCol w="2772266">
                      <a:extLst>
                        <a:ext uri="{9D8B030D-6E8A-4147-A177-3AD203B41FA5}">
                          <a16:colId xmlns:a16="http://schemas.microsoft.com/office/drawing/2014/main" val="686159508"/>
                        </a:ext>
                      </a:extLst>
                    </a:gridCol>
                    <a:gridCol w="3431357">
                      <a:extLst>
                        <a:ext uri="{9D8B030D-6E8A-4147-A177-3AD203B41FA5}">
                          <a16:colId xmlns:a16="http://schemas.microsoft.com/office/drawing/2014/main" val="3430382000"/>
                        </a:ext>
                      </a:extLst>
                    </a:gridCol>
                    <a:gridCol w="4311977">
                      <a:extLst>
                        <a:ext uri="{9D8B030D-6E8A-4147-A177-3AD203B41FA5}">
                          <a16:colId xmlns:a16="http://schemas.microsoft.com/office/drawing/2014/main" val="505923681"/>
                        </a:ext>
                      </a:extLst>
                    </a:gridCol>
                  </a:tblGrid>
                  <a:tr h="611780">
                    <a:tc>
                      <a:txBody>
                        <a:bodyPr/>
                        <a:lstStyle/>
                        <a:p>
                          <a:pPr algn="ctr"/>
                          <a:r>
                            <a:rPr kumimoji="1" lang="ja-JP" altLang="en-US" sz="2400" dirty="0"/>
                            <a:t>距離空間</a:t>
                          </a:r>
                        </a:p>
                      </a:txBody>
                      <a:tcPr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ja-JP" sz="2400" i="1" smtClean="0">
                                        <a:latin typeface="Cambria Math" panose="02040503050406030204" pitchFamily="18" charset="0"/>
                                      </a:rPr>
                                    </m:ctrlPr>
                                  </m:sSubPr>
                                  <m:e>
                                    <m:r>
                                      <a:rPr lang="en-US" altLang="ja-JP" sz="2400" i="1">
                                        <a:latin typeface="Cambria Math" panose="02040503050406030204" pitchFamily="18" charset="0"/>
                                      </a:rPr>
                                      <m:t>𝜇</m:t>
                                    </m:r>
                                  </m:e>
                                  <m:sub>
                                    <m:r>
                                      <a:rPr lang="en-US" altLang="ja-JP" sz="2400" i="1">
                                        <a:latin typeface="Cambria Math" panose="02040503050406030204" pitchFamily="18" charset="0"/>
                                      </a:rPr>
                                      <m:t>ℳ</m:t>
                                    </m:r>
                                  </m:sub>
                                </m:sSub>
                                <m:d>
                                  <m:dPr>
                                    <m:ctrlPr>
                                      <a:rPr lang="en-US" altLang="ja-JP" sz="2400" i="1">
                                        <a:latin typeface="Cambria Math" panose="02040503050406030204" pitchFamily="18" charset="0"/>
                                      </a:rPr>
                                    </m:ctrlPr>
                                  </m:dPr>
                                  <m:e>
                                    <m:r>
                                      <a:rPr lang="en-US" altLang="ja-JP" sz="2400" i="1">
                                        <a:latin typeface="Cambria Math" panose="02040503050406030204" pitchFamily="18" charset="0"/>
                                      </a:rPr>
                                      <m:t>𝑆</m:t>
                                    </m:r>
                                  </m:e>
                                </m:d>
                              </m:oMath>
                            </m:oMathPara>
                          </a14:m>
                          <a:endParaRPr kumimoji="1" lang="ja-JP" altLang="en-US" sz="2400" dirty="0"/>
                        </a:p>
                      </a:txBody>
                      <a:tcPr anchor="ctr">
                        <a:solidFill>
                          <a:schemeClr val="accent3">
                            <a:lumMod val="20000"/>
                            <a:lumOff val="80000"/>
                          </a:schemeClr>
                        </a:solidFill>
                      </a:tcPr>
                    </a:tc>
                    <a:tc>
                      <a:txBody>
                        <a:bodyPr/>
                        <a:lstStyle/>
                        <a:p>
                          <a:pPr algn="ctr"/>
                          <a:r>
                            <a:rPr kumimoji="1" lang="ja-JP" altLang="en-US" sz="2400" dirty="0"/>
                            <a:t>競合比のオーダー</a:t>
                          </a:r>
                        </a:p>
                      </a:txBody>
                      <a:tcPr anchor="ctr">
                        <a:solidFill>
                          <a:schemeClr val="accent3">
                            <a:lumMod val="20000"/>
                            <a:lumOff val="80000"/>
                          </a:schemeClr>
                        </a:solidFill>
                      </a:tcPr>
                    </a:tc>
                    <a:extLst>
                      <a:ext uri="{0D108BD9-81ED-4DB2-BD59-A6C34878D82A}">
                        <a16:rowId xmlns:a16="http://schemas.microsoft.com/office/drawing/2014/main" val="775246506"/>
                      </a:ext>
                    </a:extLst>
                  </a:tr>
                  <a:tr h="560607">
                    <a:tc>
                      <a:txBody>
                        <a:bodyPr/>
                        <a:lstStyle/>
                        <a:p>
                          <a:pPr algn="ctr"/>
                          <a:r>
                            <a:rPr kumimoji="1" lang="ja-JP" altLang="en-US" sz="2400" dirty="0"/>
                            <a:t>直線</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ja-JP" sz="2400" b="0" i="1" smtClean="0">
                                    <a:latin typeface="Cambria Math" panose="02040503050406030204" pitchFamily="18" charset="0"/>
                                  </a:rPr>
                                  <m:t>2</m:t>
                                </m:r>
                              </m:oMath>
                            </m:oMathPara>
                          </a14:m>
                          <a:endParaRPr kumimoji="1" lang="ja-JP" altLang="en-US" sz="2400"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kumimoji="1" lang="en-US" altLang="ja-JP" sz="2400" b="0" i="1" smtClean="0">
                                        <a:latin typeface="Cambria Math" panose="02040503050406030204" pitchFamily="18" charset="0"/>
                                      </a:rPr>
                                    </m:ctrlPr>
                                  </m:sSupPr>
                                  <m:e>
                                    <m:r>
                                      <m:rPr>
                                        <m:sty m:val="p"/>
                                      </m:rPr>
                                      <a:rPr kumimoji="1" lang="en-US" altLang="ja-JP" sz="2400" b="0" i="0" smtClean="0">
                                        <a:latin typeface="Cambria Math" panose="02040503050406030204" pitchFamily="18" charset="0"/>
                                      </a:rPr>
                                      <m:t>log</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𝑛</m:t>
                                </m:r>
                              </m:oMath>
                            </m:oMathPara>
                          </a14:m>
                          <a:endParaRPr kumimoji="1" lang="ja-JP" altLang="en-US" sz="2400" dirty="0"/>
                        </a:p>
                      </a:txBody>
                      <a:tcPr anchor="ctr"/>
                    </a:tc>
                    <a:extLst>
                      <a:ext uri="{0D108BD9-81ED-4DB2-BD59-A6C34878D82A}">
                        <a16:rowId xmlns:a16="http://schemas.microsoft.com/office/drawing/2014/main" val="262050398"/>
                      </a:ext>
                    </a:extLst>
                  </a:tr>
                  <a:tr h="758835">
                    <a:tc>
                      <a:txBody>
                        <a:bodyPr/>
                        <a:lstStyle/>
                        <a:p>
                          <a:pPr algn="ctr"/>
                          <a14:m>
                            <m:oMathPara xmlns:m="http://schemas.openxmlformats.org/officeDocument/2006/math">
                              <m:oMathParaPr>
                                <m:jc m:val="centerGroup"/>
                              </m:oMathParaPr>
                              <m:oMath xmlns:m="http://schemas.openxmlformats.org/officeDocument/2006/math">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ℝ</m:t>
                                    </m:r>
                                  </m:e>
                                  <m:sup>
                                    <m:r>
                                      <a:rPr kumimoji="1" lang="en-US" altLang="ja-JP" sz="2400" b="0" i="1" smtClean="0">
                                        <a:latin typeface="Cambria Math" panose="02040503050406030204" pitchFamily="18" charset="0"/>
                                      </a:rPr>
                                      <m:t>𝑑</m:t>
                                    </m:r>
                                  </m:sup>
                                </m:sSup>
                              </m:oMath>
                            </m:oMathPara>
                          </a14:m>
                          <a:endParaRPr kumimoji="1" lang="ja-JP" altLang="en-US" sz="24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ja-JP" sz="2400" b="0" i="1" smtClean="0">
                                    <a:latin typeface="Cambria Math" panose="02040503050406030204" pitchFamily="18" charset="0"/>
                                  </a:rPr>
                                  <m:t>𝑂</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𝑛</m:t>
                                    </m:r>
                                  </m:e>
                                  <m:sup>
                                    <m:r>
                                      <a:rPr lang="en-US" altLang="ja-JP" sz="2400" b="0" i="1" smtClean="0">
                                        <a:latin typeface="Cambria Math" panose="02040503050406030204" pitchFamily="18" charset="0"/>
                                      </a:rPr>
                                      <m:t>1−</m:t>
                                    </m:r>
                                    <m:r>
                                      <m:rPr>
                                        <m:sty m:val="p"/>
                                      </m:rPr>
                                      <a:rPr lang="en-US" altLang="ja-JP" sz="2400" b="0" i="0" smtClean="0">
                                        <a:latin typeface="Cambria Math" panose="02040503050406030204" pitchFamily="18" charset="0"/>
                                      </a:rPr>
                                      <m:t>Θ</m:t>
                                    </m:r>
                                    <m:d>
                                      <m:dPr>
                                        <m:ctrlPr>
                                          <a:rPr lang="en-US" altLang="ja-JP" sz="2400" b="0" i="1" smtClean="0">
                                            <a:latin typeface="Cambria Math" panose="02040503050406030204" pitchFamily="18" charset="0"/>
                                          </a:rPr>
                                        </m:ctrlPr>
                                      </m:dPr>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𝑑</m:t>
                                            </m:r>
                                          </m:den>
                                        </m:f>
                                      </m:e>
                                    </m:d>
                                  </m:sup>
                                </m:sSup>
                                <m:r>
                                  <a:rPr lang="en-US" altLang="ja-JP" sz="2400" b="0" i="1" smtClean="0">
                                    <a:latin typeface="Cambria Math" panose="02040503050406030204" pitchFamily="18" charset="0"/>
                                  </a:rPr>
                                  <m:t>)</m:t>
                                </m:r>
                              </m:oMath>
                            </m:oMathPara>
                          </a14:m>
                          <a:endParaRPr kumimoji="1" lang="ja-JP" altLang="en-US" sz="2400"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ja-JP" sz="2400" i="1" smtClean="0">
                                        <a:latin typeface="Cambria Math" panose="02040503050406030204" pitchFamily="18" charset="0"/>
                                      </a:rPr>
                                    </m:ctrlPr>
                                  </m:sSupPr>
                                  <m:e>
                                    <m:r>
                                      <a:rPr lang="en-US" altLang="ja-JP" sz="2400" i="1">
                                        <a:latin typeface="Cambria Math" panose="02040503050406030204" pitchFamily="18" charset="0"/>
                                      </a:rPr>
                                      <m:t>𝑛</m:t>
                                    </m:r>
                                  </m:e>
                                  <m:sup>
                                    <m:r>
                                      <a:rPr lang="en-US" altLang="ja-JP" sz="2400" i="1">
                                        <a:latin typeface="Cambria Math" panose="02040503050406030204" pitchFamily="18" charset="0"/>
                                      </a:rPr>
                                      <m:t>1−</m:t>
                                    </m:r>
                                    <m:r>
                                      <m:rPr>
                                        <m:sty m:val="p"/>
                                      </m:rPr>
                                      <a:rPr lang="en-US" altLang="ja-JP" sz="2400">
                                        <a:latin typeface="Cambria Math" panose="02040503050406030204" pitchFamily="18" charset="0"/>
                                      </a:rPr>
                                      <m:t>Θ</m:t>
                                    </m:r>
                                    <m:d>
                                      <m:dPr>
                                        <m:ctrlPr>
                                          <a:rPr lang="en-US" altLang="ja-JP" sz="2400" i="1">
                                            <a:latin typeface="Cambria Math" panose="02040503050406030204" pitchFamily="18" charset="0"/>
                                          </a:rPr>
                                        </m:ctrlPr>
                                      </m:dPr>
                                      <m:e>
                                        <m:f>
                                          <m:fPr>
                                            <m:ctrlPr>
                                              <a:rPr lang="en-US" altLang="ja-JP" sz="2400" i="1">
                                                <a:latin typeface="Cambria Math" panose="02040503050406030204" pitchFamily="18" charset="0"/>
                                              </a:rPr>
                                            </m:ctrlPr>
                                          </m:fPr>
                                          <m:num>
                                            <m:r>
                                              <a:rPr lang="en-US" altLang="ja-JP" sz="2400" i="1">
                                                <a:latin typeface="Cambria Math" panose="02040503050406030204" pitchFamily="18" charset="0"/>
                                              </a:rPr>
                                              <m:t>1</m:t>
                                            </m:r>
                                          </m:num>
                                          <m:den>
                                            <m:r>
                                              <a:rPr lang="en-US" altLang="ja-JP" sz="2400" i="1">
                                                <a:latin typeface="Cambria Math" panose="02040503050406030204" pitchFamily="18" charset="0"/>
                                              </a:rPr>
                                              <m:t>𝑑</m:t>
                                            </m:r>
                                          </m:den>
                                        </m:f>
                                      </m:e>
                                    </m:d>
                                  </m:sup>
                                </m:sSup>
                                <m:sSup>
                                  <m:sSupPr>
                                    <m:ctrlPr>
                                      <a:rPr lang="en-US" altLang="ja-JP" sz="2400" i="1">
                                        <a:latin typeface="Cambria Math" panose="02040503050406030204" pitchFamily="18" charset="0"/>
                                      </a:rPr>
                                    </m:ctrlPr>
                                  </m:sSupPr>
                                  <m:e>
                                    <m:r>
                                      <m:rPr>
                                        <m:sty m:val="p"/>
                                      </m:rPr>
                                      <a:rPr lang="en-US" altLang="ja-JP" sz="2400">
                                        <a:latin typeface="Cambria Math" panose="02040503050406030204" pitchFamily="18" charset="0"/>
                                      </a:rPr>
                                      <m:t>log</m:t>
                                    </m:r>
                                  </m:e>
                                  <m:sup>
                                    <m:r>
                                      <a:rPr lang="en-US" altLang="ja-JP" sz="2400" i="1">
                                        <a:latin typeface="Cambria Math" panose="02040503050406030204" pitchFamily="18" charset="0"/>
                                      </a:rPr>
                                      <m:t>2</m:t>
                                    </m:r>
                                  </m:sup>
                                </m:sSup>
                                <m:r>
                                  <a:rPr lang="en-US" altLang="ja-JP" sz="2400" i="1">
                                    <a:latin typeface="Cambria Math" panose="02040503050406030204" pitchFamily="18" charset="0"/>
                                  </a:rPr>
                                  <m:t> </m:t>
                                </m:r>
                                <m:r>
                                  <a:rPr lang="en-US" altLang="ja-JP" sz="2400" i="1">
                                    <a:latin typeface="Cambria Math" panose="02040503050406030204" pitchFamily="18" charset="0"/>
                                  </a:rPr>
                                  <m:t>𝑛</m:t>
                                </m:r>
                              </m:oMath>
                            </m:oMathPara>
                          </a14:m>
                          <a:endParaRPr kumimoji="1" lang="ja-JP" altLang="en-US" sz="2400" dirty="0"/>
                        </a:p>
                      </a:txBody>
                      <a:tcPr anchor="ctr"/>
                    </a:tc>
                    <a:extLst>
                      <a:ext uri="{0D108BD9-81ED-4DB2-BD59-A6C34878D82A}">
                        <a16:rowId xmlns:a16="http://schemas.microsoft.com/office/drawing/2014/main" val="3827748781"/>
                      </a:ext>
                    </a:extLst>
                  </a:tr>
                  <a:tr h="560607">
                    <a:tc>
                      <a:txBody>
                        <a:bodyPr/>
                        <a:lstStyle/>
                        <a:p>
                          <a:pPr algn="ctr"/>
                          <a:r>
                            <a:rPr lang="ja-JP" altLang="en-US" sz="2400" dirty="0"/>
                            <a:t>一様距離空間</a:t>
                          </a:r>
                          <a:endParaRPr kumimoji="1" lang="ja-JP" altLang="en-US" sz="24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ja-JP" sz="2400" i="1" smtClean="0">
                                    <a:latin typeface="Cambria Math" panose="02040503050406030204" pitchFamily="18" charset="0"/>
                                  </a:rPr>
                                  <m:t>𝑛</m:t>
                                </m:r>
                              </m:oMath>
                            </m:oMathPara>
                          </a14:m>
                          <a:endParaRPr kumimoji="1" lang="ja-JP" altLang="en-US" sz="24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 </m:t>
                                </m:r>
                                <m:sSup>
                                  <m:sSupPr>
                                    <m:ctrlPr>
                                      <a:rPr lang="en-US" altLang="ja-JP" sz="2400" i="1">
                                        <a:latin typeface="Cambria Math" panose="02040503050406030204" pitchFamily="18" charset="0"/>
                                      </a:rPr>
                                    </m:ctrlPr>
                                  </m:sSupPr>
                                  <m:e>
                                    <m:r>
                                      <m:rPr>
                                        <m:sty m:val="p"/>
                                      </m:rPr>
                                      <a:rPr lang="en-US" altLang="ja-JP" sz="2400">
                                        <a:latin typeface="Cambria Math" panose="02040503050406030204" pitchFamily="18" charset="0"/>
                                      </a:rPr>
                                      <m:t>log</m:t>
                                    </m:r>
                                  </m:e>
                                  <m:sup>
                                    <m:r>
                                      <a:rPr lang="en-US" altLang="ja-JP" sz="2400" i="1">
                                        <a:latin typeface="Cambria Math" panose="02040503050406030204" pitchFamily="18" charset="0"/>
                                      </a:rPr>
                                      <m:t>2</m:t>
                                    </m:r>
                                  </m:sup>
                                </m:sSup>
                                <m:r>
                                  <a:rPr lang="en-US" altLang="ja-JP" sz="2400" i="1">
                                    <a:latin typeface="Cambria Math" panose="02040503050406030204" pitchFamily="18" charset="0"/>
                                  </a:rPr>
                                  <m:t> </m:t>
                                </m:r>
                                <m:r>
                                  <a:rPr lang="en-US" altLang="ja-JP" sz="2400" i="1">
                                    <a:latin typeface="Cambria Math" panose="02040503050406030204" pitchFamily="18" charset="0"/>
                                  </a:rPr>
                                  <m:t>𝑛</m:t>
                                </m:r>
                              </m:oMath>
                            </m:oMathPara>
                          </a14:m>
                          <a:endParaRPr kumimoji="1" lang="ja-JP" altLang="en-US" sz="2400" dirty="0"/>
                        </a:p>
                      </a:txBody>
                      <a:tcPr anchor="ctr"/>
                    </a:tc>
                    <a:extLst>
                      <a:ext uri="{0D108BD9-81ED-4DB2-BD59-A6C34878D82A}">
                        <a16:rowId xmlns:a16="http://schemas.microsoft.com/office/drawing/2014/main" val="651971499"/>
                      </a:ext>
                    </a:extLst>
                  </a:tr>
                </a:tbl>
              </a:graphicData>
            </a:graphic>
          </p:graphicFrame>
        </mc:Choice>
        <mc:Fallback xmlns="">
          <p:graphicFrame>
            <p:nvGraphicFramePr>
              <p:cNvPr id="4" name="表 3">
                <a:extLst>
                  <a:ext uri="{FF2B5EF4-FFF2-40B4-BE49-F238E27FC236}">
                    <a16:creationId xmlns:a16="http://schemas.microsoft.com/office/drawing/2014/main" id="{54B33087-67B9-A26A-9B73-ED7DE1C64801}"/>
                  </a:ext>
                </a:extLst>
              </p:cNvPr>
              <p:cNvGraphicFramePr>
                <a:graphicFrameLocks noGrp="1"/>
              </p:cNvGraphicFramePr>
              <p:nvPr>
                <p:extLst>
                  <p:ext uri="{D42A27DB-BD31-4B8C-83A1-F6EECF244321}">
                    <p14:modId xmlns:p14="http://schemas.microsoft.com/office/powerpoint/2010/main" val="77962214"/>
                  </p:ext>
                </p:extLst>
              </p:nvPr>
            </p:nvGraphicFramePr>
            <p:xfrm>
              <a:off x="838200" y="3786460"/>
              <a:ext cx="10515600" cy="2491829"/>
            </p:xfrm>
            <a:graphic>
              <a:graphicData uri="http://schemas.openxmlformats.org/drawingml/2006/table">
                <a:tbl>
                  <a:tblPr firstRow="1" bandRow="1">
                    <a:tableStyleId>{5940675A-B579-460E-94D1-54222C63F5DA}</a:tableStyleId>
                  </a:tblPr>
                  <a:tblGrid>
                    <a:gridCol w="2772266">
                      <a:extLst>
                        <a:ext uri="{9D8B030D-6E8A-4147-A177-3AD203B41FA5}">
                          <a16:colId xmlns:a16="http://schemas.microsoft.com/office/drawing/2014/main" val="686159508"/>
                        </a:ext>
                      </a:extLst>
                    </a:gridCol>
                    <a:gridCol w="3431357">
                      <a:extLst>
                        <a:ext uri="{9D8B030D-6E8A-4147-A177-3AD203B41FA5}">
                          <a16:colId xmlns:a16="http://schemas.microsoft.com/office/drawing/2014/main" val="3430382000"/>
                        </a:ext>
                      </a:extLst>
                    </a:gridCol>
                    <a:gridCol w="4311977">
                      <a:extLst>
                        <a:ext uri="{9D8B030D-6E8A-4147-A177-3AD203B41FA5}">
                          <a16:colId xmlns:a16="http://schemas.microsoft.com/office/drawing/2014/main" val="505923681"/>
                        </a:ext>
                      </a:extLst>
                    </a:gridCol>
                  </a:tblGrid>
                  <a:tr h="611780">
                    <a:tc>
                      <a:txBody>
                        <a:bodyPr/>
                        <a:lstStyle/>
                        <a:p>
                          <a:pPr algn="ctr"/>
                          <a:r>
                            <a:rPr kumimoji="1" lang="ja-JP" altLang="en-US" sz="2400" dirty="0"/>
                            <a:t>距離空間</a:t>
                          </a:r>
                        </a:p>
                      </a:txBody>
                      <a:tcPr anchor="ctr">
                        <a:solidFill>
                          <a:schemeClr val="accent3">
                            <a:lumMod val="20000"/>
                            <a:lumOff val="80000"/>
                          </a:schemeClr>
                        </a:solidFill>
                      </a:tcPr>
                    </a:tc>
                    <a:tc>
                      <a:txBody>
                        <a:bodyPr/>
                        <a:lstStyle/>
                        <a:p>
                          <a:endParaRPr lang="ja-JP"/>
                        </a:p>
                      </a:txBody>
                      <a:tcPr anchor="ctr">
                        <a:blipFill>
                          <a:blip r:embed="rId3"/>
                          <a:stretch>
                            <a:fillRect l="-80995" t="-1000" r="-126110" b="-325000"/>
                          </a:stretch>
                        </a:blipFill>
                      </a:tcPr>
                    </a:tc>
                    <a:tc>
                      <a:txBody>
                        <a:bodyPr/>
                        <a:lstStyle/>
                        <a:p>
                          <a:pPr algn="ctr"/>
                          <a:r>
                            <a:rPr kumimoji="1" lang="ja-JP" altLang="en-US" sz="2400" dirty="0"/>
                            <a:t>競合比のオーダー</a:t>
                          </a:r>
                        </a:p>
                      </a:txBody>
                      <a:tcPr anchor="ctr">
                        <a:solidFill>
                          <a:schemeClr val="accent3">
                            <a:lumMod val="20000"/>
                            <a:lumOff val="80000"/>
                          </a:schemeClr>
                        </a:solidFill>
                      </a:tcPr>
                    </a:tc>
                    <a:extLst>
                      <a:ext uri="{0D108BD9-81ED-4DB2-BD59-A6C34878D82A}">
                        <a16:rowId xmlns:a16="http://schemas.microsoft.com/office/drawing/2014/main" val="775246506"/>
                      </a:ext>
                    </a:extLst>
                  </a:tr>
                  <a:tr h="560607">
                    <a:tc>
                      <a:txBody>
                        <a:bodyPr/>
                        <a:lstStyle/>
                        <a:p>
                          <a:pPr algn="ctr"/>
                          <a:r>
                            <a:rPr kumimoji="1" lang="ja-JP" altLang="en-US" sz="2400" dirty="0"/>
                            <a:t>直線</a:t>
                          </a:r>
                        </a:p>
                      </a:txBody>
                      <a:tcPr anchor="ctr"/>
                    </a:tc>
                    <a:tc>
                      <a:txBody>
                        <a:bodyPr/>
                        <a:lstStyle/>
                        <a:p>
                          <a:endParaRPr lang="ja-JP"/>
                        </a:p>
                      </a:txBody>
                      <a:tcPr anchor="ctr">
                        <a:blipFill>
                          <a:blip r:embed="rId3"/>
                          <a:stretch>
                            <a:fillRect l="-80995" t="-109783" r="-126110" b="-253261"/>
                          </a:stretch>
                        </a:blipFill>
                      </a:tcPr>
                    </a:tc>
                    <a:tc>
                      <a:txBody>
                        <a:bodyPr/>
                        <a:lstStyle/>
                        <a:p>
                          <a:endParaRPr lang="ja-JP"/>
                        </a:p>
                      </a:txBody>
                      <a:tcPr anchor="ctr">
                        <a:blipFill>
                          <a:blip r:embed="rId3"/>
                          <a:stretch>
                            <a:fillRect l="-143927" t="-109783" r="-282" b="-253261"/>
                          </a:stretch>
                        </a:blipFill>
                      </a:tcPr>
                    </a:tc>
                    <a:extLst>
                      <a:ext uri="{0D108BD9-81ED-4DB2-BD59-A6C34878D82A}">
                        <a16:rowId xmlns:a16="http://schemas.microsoft.com/office/drawing/2014/main" val="262050398"/>
                      </a:ext>
                    </a:extLst>
                  </a:tr>
                  <a:tr h="758835">
                    <a:tc>
                      <a:txBody>
                        <a:bodyPr/>
                        <a:lstStyle/>
                        <a:p>
                          <a:endParaRPr lang="ja-JP"/>
                        </a:p>
                      </a:txBody>
                      <a:tcPr anchor="ctr">
                        <a:blipFill>
                          <a:blip r:embed="rId3"/>
                          <a:stretch>
                            <a:fillRect l="-220" t="-154400" r="-279780" b="-86400"/>
                          </a:stretch>
                        </a:blipFill>
                      </a:tcPr>
                    </a:tc>
                    <a:tc>
                      <a:txBody>
                        <a:bodyPr/>
                        <a:lstStyle/>
                        <a:p>
                          <a:endParaRPr lang="ja-JP"/>
                        </a:p>
                      </a:txBody>
                      <a:tcPr anchor="ctr">
                        <a:blipFill>
                          <a:blip r:embed="rId3"/>
                          <a:stretch>
                            <a:fillRect l="-80995" t="-154400" r="-126110" b="-86400"/>
                          </a:stretch>
                        </a:blipFill>
                      </a:tcPr>
                    </a:tc>
                    <a:tc>
                      <a:txBody>
                        <a:bodyPr/>
                        <a:lstStyle/>
                        <a:p>
                          <a:endParaRPr lang="ja-JP"/>
                        </a:p>
                      </a:txBody>
                      <a:tcPr anchor="ctr">
                        <a:blipFill>
                          <a:blip r:embed="rId3"/>
                          <a:stretch>
                            <a:fillRect l="-143927" t="-154400" r="-282" b="-86400"/>
                          </a:stretch>
                        </a:blipFill>
                      </a:tcPr>
                    </a:tc>
                    <a:extLst>
                      <a:ext uri="{0D108BD9-81ED-4DB2-BD59-A6C34878D82A}">
                        <a16:rowId xmlns:a16="http://schemas.microsoft.com/office/drawing/2014/main" val="3827748781"/>
                      </a:ext>
                    </a:extLst>
                  </a:tr>
                  <a:tr h="560607">
                    <a:tc>
                      <a:txBody>
                        <a:bodyPr/>
                        <a:lstStyle/>
                        <a:p>
                          <a:pPr algn="ctr"/>
                          <a:r>
                            <a:rPr lang="ja-JP" altLang="en-US" sz="2400" dirty="0"/>
                            <a:t>一様距離空間</a:t>
                          </a:r>
                          <a:endParaRPr kumimoji="1" lang="ja-JP" altLang="en-US" sz="2400" dirty="0"/>
                        </a:p>
                      </a:txBody>
                      <a:tcPr anchor="ctr"/>
                    </a:tc>
                    <a:tc>
                      <a:txBody>
                        <a:bodyPr/>
                        <a:lstStyle/>
                        <a:p>
                          <a:endParaRPr lang="ja-JP"/>
                        </a:p>
                      </a:txBody>
                      <a:tcPr anchor="ctr">
                        <a:blipFill>
                          <a:blip r:embed="rId3"/>
                          <a:stretch>
                            <a:fillRect l="-80995" t="-345652" r="-126110" b="-17391"/>
                          </a:stretch>
                        </a:blipFill>
                      </a:tcPr>
                    </a:tc>
                    <a:tc>
                      <a:txBody>
                        <a:bodyPr/>
                        <a:lstStyle/>
                        <a:p>
                          <a:endParaRPr lang="ja-JP"/>
                        </a:p>
                      </a:txBody>
                      <a:tcPr anchor="ctr">
                        <a:blipFill>
                          <a:blip r:embed="rId3"/>
                          <a:stretch>
                            <a:fillRect l="-143927" t="-345652" r="-282" b="-17391"/>
                          </a:stretch>
                        </a:blipFill>
                      </a:tcPr>
                    </a:tc>
                    <a:extLst>
                      <a:ext uri="{0D108BD9-81ED-4DB2-BD59-A6C34878D82A}">
                        <a16:rowId xmlns:a16="http://schemas.microsoft.com/office/drawing/2014/main" val="651971499"/>
                      </a:ext>
                    </a:extLst>
                  </a:tr>
                </a:tbl>
              </a:graphicData>
            </a:graphic>
          </p:graphicFrame>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C64A8AD9-5FC5-7D04-A805-147D57E8F3E0}"/>
                  </a:ext>
                </a:extLst>
              </p:cNvPr>
              <p:cNvSpPr txBox="1"/>
              <p:nvPr/>
            </p:nvSpPr>
            <p:spPr>
              <a:xfrm>
                <a:off x="7308273" y="1690688"/>
                <a:ext cx="4045527" cy="1205266"/>
              </a:xfrm>
              <a:prstGeom prst="rect">
                <a:avLst/>
              </a:prstGeom>
              <a:noFill/>
            </p:spPr>
            <p:txBody>
              <a:bodyPr wrap="square" rtlCol="0">
                <a:spAutoFit/>
              </a:bodyPr>
              <a:lstStyle/>
              <a:p>
                <a:r>
                  <a:rPr kumimoji="1" lang="en-US" altLang="ja-JP" dirty="0"/>
                  <a:t>Doubling </a:t>
                </a:r>
                <a:r>
                  <a:rPr kumimoji="1" lang="ja-JP" altLang="en-US" dirty="0"/>
                  <a:t>次元が </a:t>
                </a:r>
                <a14:m>
                  <m:oMath xmlns:m="http://schemas.openxmlformats.org/officeDocument/2006/math">
                    <m:r>
                      <a:rPr kumimoji="1" lang="en-US" altLang="ja-JP" b="0" i="1" smtClean="0">
                        <a:latin typeface="Cambria Math" panose="02040503050406030204" pitchFamily="18" charset="0"/>
                      </a:rPr>
                      <m:t>𝑑</m:t>
                    </m:r>
                  </m:oMath>
                </a14:m>
                <a:r>
                  <a:rPr kumimoji="1" lang="en-US" altLang="ja-JP" dirty="0"/>
                  <a:t> </a:t>
                </a:r>
                <a:r>
                  <a:rPr kumimoji="1" lang="ja-JP" altLang="en-US" dirty="0"/>
                  <a:t>であるとは</a:t>
                </a:r>
                <a:r>
                  <a:rPr kumimoji="1" lang="en-US" altLang="ja-JP" dirty="0"/>
                  <a:t>:</a:t>
                </a:r>
              </a:p>
              <a:p>
                <a:pPr lvl="1"/>
                <a:r>
                  <a:rPr kumimoji="1" lang="ja-JP" altLang="en-US" dirty="0"/>
                  <a:t>任意の </a:t>
                </a:r>
                <a14:m>
                  <m:oMath xmlns:m="http://schemas.openxmlformats.org/officeDocument/2006/math">
                    <m:r>
                      <a:rPr kumimoji="1" lang="en-US" altLang="ja-JP" b="0" i="1" smtClean="0">
                        <a:latin typeface="Cambria Math" panose="02040503050406030204" pitchFamily="18" charset="0"/>
                      </a:rPr>
                      <m:t>𝑟</m:t>
                    </m:r>
                  </m:oMath>
                </a14:m>
                <a:r>
                  <a:rPr kumimoji="1" lang="ja-JP" altLang="en-US" dirty="0"/>
                  <a:t> について</a:t>
                </a:r>
                <a:endParaRPr kumimoji="1" lang="en-US" altLang="ja-JP" dirty="0"/>
              </a:p>
              <a:p>
                <a:pPr lvl="1"/>
                <a:r>
                  <a:rPr kumimoji="1" lang="ja-JP" altLang="en-US" dirty="0"/>
                  <a:t>半径 </a:t>
                </a:r>
                <a14:m>
                  <m:oMath xmlns:m="http://schemas.openxmlformats.org/officeDocument/2006/math">
                    <m:r>
                      <a:rPr kumimoji="1" lang="en-US" altLang="ja-JP" b="0" i="1" smtClean="0">
                        <a:latin typeface="Cambria Math" panose="02040503050406030204" pitchFamily="18" charset="0"/>
                      </a:rPr>
                      <m:t>𝑟</m:t>
                    </m:r>
                  </m:oMath>
                </a14:m>
                <a:r>
                  <a:rPr kumimoji="1" lang="ja-JP" altLang="en-US" dirty="0"/>
                  <a:t> の円を半径 </a:t>
                </a:r>
                <a14:m>
                  <m:oMath xmlns:m="http://schemas.openxmlformats.org/officeDocument/2006/math">
                    <m:r>
                      <a:rPr kumimoji="1" lang="en-US" altLang="ja-JP" b="0" i="1" smtClean="0">
                        <a:latin typeface="Cambria Math" panose="02040503050406030204" pitchFamily="18" charset="0"/>
                      </a:rPr>
                      <m:t>𝑟</m:t>
                    </m:r>
                    <m:r>
                      <a:rPr kumimoji="1" lang="en-US" altLang="ja-JP" b="0" i="1" smtClean="0">
                        <a:latin typeface="Cambria Math" panose="02040503050406030204" pitchFamily="18" charset="0"/>
                      </a:rPr>
                      <m:t>/2</m:t>
                    </m:r>
                  </m:oMath>
                </a14:m>
                <a:r>
                  <a:rPr kumimoji="1" lang="ja-JP" altLang="en-US" dirty="0"/>
                  <a:t> の円 </a:t>
                </a:r>
                <a14:m>
                  <m:oMath xmlns:m="http://schemas.openxmlformats.org/officeDocument/2006/math">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2</m:t>
                        </m:r>
                      </m:e>
                      <m:sup>
                        <m:r>
                          <a:rPr kumimoji="1" lang="en-US" altLang="ja-JP" b="0" i="1" smtClean="0">
                            <a:latin typeface="Cambria Math" panose="02040503050406030204" pitchFamily="18" charset="0"/>
                          </a:rPr>
                          <m:t>𝑑</m:t>
                        </m:r>
                      </m:sup>
                    </m:sSup>
                  </m:oMath>
                </a14:m>
                <a:r>
                  <a:rPr kumimoji="1" lang="ja-JP" altLang="en-US" dirty="0"/>
                  <a:t> 個で覆えること</a:t>
                </a:r>
              </a:p>
            </p:txBody>
          </p:sp>
        </mc:Choice>
        <mc:Fallback xmlns="">
          <p:sp>
            <p:nvSpPr>
              <p:cNvPr id="6" name="テキスト ボックス 5">
                <a:extLst>
                  <a:ext uri="{FF2B5EF4-FFF2-40B4-BE49-F238E27FC236}">
                    <a16:creationId xmlns:a16="http://schemas.microsoft.com/office/drawing/2014/main" id="{C64A8AD9-5FC5-7D04-A805-147D57E8F3E0}"/>
                  </a:ext>
                </a:extLst>
              </p:cNvPr>
              <p:cNvSpPr txBox="1">
                <a:spLocks noRot="1" noChangeAspect="1" noMove="1" noResize="1" noEditPoints="1" noAdjustHandles="1" noChangeArrowheads="1" noChangeShapeType="1" noTextEdit="1"/>
              </p:cNvSpPr>
              <p:nvPr/>
            </p:nvSpPr>
            <p:spPr>
              <a:xfrm>
                <a:off x="7308273" y="1690688"/>
                <a:ext cx="4045527" cy="1205266"/>
              </a:xfrm>
              <a:prstGeom prst="rect">
                <a:avLst/>
              </a:prstGeom>
              <a:blipFill>
                <a:blip r:embed="rId4"/>
                <a:stretch>
                  <a:fillRect l="-1355" t="-3535" b="-8081"/>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8E4E8CB3-BB26-CFF8-FADD-623012E90129}"/>
              </a:ext>
            </a:extLst>
          </p:cNvPr>
          <p:cNvSpPr>
            <a:spLocks noGrp="1"/>
          </p:cNvSpPr>
          <p:nvPr>
            <p:ph type="sldNum" sz="quarter" idx="12"/>
          </p:nvPr>
        </p:nvSpPr>
        <p:spPr/>
        <p:txBody>
          <a:bodyPr/>
          <a:lstStyle/>
          <a:p>
            <a:fld id="{4B077F3A-4098-4199-8925-77865D1E3500}" type="slidenum">
              <a:rPr kumimoji="1" lang="ja-JP" altLang="en-US" smtClean="0"/>
              <a:t>63</a:t>
            </a:fld>
            <a:endParaRPr kumimoji="1" lang="ja-JP" altLang="en-US"/>
          </a:p>
        </p:txBody>
      </p:sp>
    </p:spTree>
    <p:extLst>
      <p:ext uri="{BB962C8B-B14F-4D97-AF65-F5344CB8AC3E}">
        <p14:creationId xmlns:p14="http://schemas.microsoft.com/office/powerpoint/2010/main" val="33864091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7DA63A-1746-7C7E-9D5C-4CC9713C834E}"/>
              </a:ext>
            </a:extLst>
          </p:cNvPr>
          <p:cNvSpPr>
            <a:spLocks noGrp="1"/>
          </p:cNvSpPr>
          <p:nvPr>
            <p:ph type="title"/>
          </p:nvPr>
        </p:nvSpPr>
        <p:spPr/>
        <p:txBody>
          <a:bodyPr/>
          <a:lstStyle/>
          <a:p>
            <a:r>
              <a:rPr kumimoji="1" lang="ja-JP" altLang="en-US" dirty="0"/>
              <a:t>オンライン輸送問題（その他の研究）</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DFE3DD6-5443-768C-4010-F361DC4677DB}"/>
                  </a:ext>
                </a:extLst>
              </p:cNvPr>
              <p:cNvSpPr>
                <a:spLocks noGrp="1"/>
              </p:cNvSpPr>
              <p:nvPr>
                <p:ph idx="1"/>
              </p:nvPr>
            </p:nvSpPr>
            <p:spPr/>
            <p:txBody>
              <a:bodyPr>
                <a:normAutofit/>
              </a:bodyPr>
              <a:lstStyle/>
              <a:p>
                <a:pPr marL="0" indent="0">
                  <a:buNone/>
                </a:pPr>
                <a:r>
                  <a:rPr lang="ja-JP" altLang="en-US" sz="2400" dirty="0"/>
                  <a:t>乱択アルゴリズム</a:t>
                </a:r>
                <a:endParaRPr lang="en-US" altLang="ja-JP" sz="2400" dirty="0"/>
              </a:p>
              <a:p>
                <a14:m>
                  <m:oMath xmlns:m="http://schemas.openxmlformats.org/officeDocument/2006/math">
                    <m:r>
                      <a:rPr kumimoji="1" lang="en-US" altLang="ja-JP" sz="2400" b="0" i="1" smtClean="0">
                        <a:latin typeface="Cambria Math" panose="02040503050406030204" pitchFamily="18" charset="0"/>
                      </a:rPr>
                      <m:t>𝑂</m:t>
                    </m:r>
                    <m:d>
                      <m:dPr>
                        <m:ctrlPr>
                          <a:rPr kumimoji="1" lang="en-US" altLang="ja-JP" sz="2400" b="0" i="1" smtClean="0">
                            <a:latin typeface="Cambria Math" panose="02040503050406030204" pitchFamily="18" charset="0"/>
                          </a:rPr>
                        </m:ctrlPr>
                      </m:dPr>
                      <m:e>
                        <m:sSup>
                          <m:sSupPr>
                            <m:ctrlPr>
                              <a:rPr kumimoji="1" lang="en-US" altLang="ja-JP" sz="2400" b="0" i="1" smtClean="0">
                                <a:latin typeface="Cambria Math" panose="02040503050406030204" pitchFamily="18" charset="0"/>
                              </a:rPr>
                            </m:ctrlPr>
                          </m:sSupPr>
                          <m:e>
                            <m:r>
                              <m:rPr>
                                <m:sty m:val="p"/>
                              </m:rPr>
                              <a:rPr kumimoji="1" lang="en-US" altLang="ja-JP" sz="2400" b="0" i="0" smtClean="0">
                                <a:latin typeface="Cambria Math" panose="02040503050406030204" pitchFamily="18" charset="0"/>
                              </a:rPr>
                              <m:t>log</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𝑚</m:t>
                        </m:r>
                      </m:e>
                    </m:d>
                  </m:oMath>
                </a14:m>
                <a:r>
                  <a:rPr kumimoji="1" lang="en-US" altLang="ja-JP" sz="2400" dirty="0"/>
                  <a:t>-</a:t>
                </a:r>
                <a:r>
                  <a:rPr kumimoji="1" lang="ja-JP" altLang="en-US" sz="2400" dirty="0"/>
                  <a:t>競合的な乱択アルゴリズム </a:t>
                </a:r>
                <a:r>
                  <a:rPr lang="en-US" altLang="ja-JP" sz="1800" dirty="0"/>
                  <a:t>[Kalyanasundaram et al., 2023]</a:t>
                </a:r>
              </a:p>
              <a:p>
                <a:pPr>
                  <a:buFont typeface="Wingdings" panose="05000000000000000000" pitchFamily="2" charset="2"/>
                  <a:buChar char="Ø"/>
                </a:pPr>
                <a:r>
                  <a:rPr lang="ja-JP" altLang="en-US" sz="2400" dirty="0"/>
                  <a:t>乱択アルゴリズムの競合比の上下界は </a:t>
                </a:r>
                <a:r>
                  <a:rPr lang="en-US" altLang="ja-JP" sz="2400" dirty="0"/>
                  <a:t>OMM </a:t>
                </a:r>
                <a:r>
                  <a:rPr lang="ja-JP" altLang="en-US" sz="2400" dirty="0"/>
                  <a:t>同様未解決</a:t>
                </a:r>
                <a:endParaRPr lang="en-US" altLang="ja-JP" sz="2400" dirty="0"/>
              </a:p>
              <a:p>
                <a:pPr marL="0" indent="0">
                  <a:buNone/>
                </a:pPr>
                <a:endParaRPr kumimoji="1" lang="en-US" altLang="ja-JP" sz="800" dirty="0"/>
              </a:p>
              <a:p>
                <a:pPr marL="0" indent="0">
                  <a:buNone/>
                </a:pPr>
                <a:r>
                  <a:rPr kumimoji="1" lang="ja-JP" altLang="en-US" sz="2400" dirty="0"/>
                  <a:t>容量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𝑐</m:t>
                        </m:r>
                      </m:e>
                      <m:sub>
                        <m:r>
                          <a:rPr kumimoji="1" lang="en-US" altLang="ja-JP" sz="2400" b="0" i="1" smtClean="0">
                            <a:latin typeface="Cambria Math" panose="02040503050406030204" pitchFamily="18" charset="0"/>
                          </a:rPr>
                          <m:t>𝑖</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𝑘</m:t>
                    </m:r>
                  </m:oMath>
                </a14:m>
                <a:r>
                  <a:rPr kumimoji="1" lang="ja-JP" altLang="en-US" sz="2400" dirty="0"/>
                  <a:t> しか持たない場合の最適解を </a:t>
                </a:r>
                <a14:m>
                  <m:oMath xmlns:m="http://schemas.openxmlformats.org/officeDocument/2006/math">
                    <m:r>
                      <a:rPr kumimoji="1" lang="en-US" altLang="ja-JP" sz="2400" b="0" i="1" smtClean="0">
                        <a:latin typeface="Cambria Math" panose="02040503050406030204" pitchFamily="18" charset="0"/>
                      </a:rPr>
                      <m:t>𝑂𝑃𝑇</m:t>
                    </m:r>
                  </m:oMath>
                </a14:m>
                <a:r>
                  <a:rPr kumimoji="1" lang="ja-JP" altLang="en-US" sz="2400" dirty="0"/>
                  <a:t> とす</a:t>
                </a:r>
                <a:r>
                  <a:rPr lang="ja-JP" altLang="en-US" sz="2400" dirty="0"/>
                  <a:t>るモデル</a:t>
                </a:r>
                <a:endParaRPr lang="en-US" altLang="ja-JP" sz="2400" dirty="0"/>
              </a:p>
              <a:p>
                <a14:m>
                  <m:oMath xmlns:m="http://schemas.openxmlformats.org/officeDocument/2006/math">
                    <m:r>
                      <a:rPr kumimoji="1" lang="en-US" altLang="ja-JP" sz="2400" b="0" i="1" smtClean="0">
                        <a:latin typeface="Cambria Math" panose="02040503050406030204" pitchFamily="18" charset="0"/>
                      </a:rPr>
                      <m:t>𝑘</m:t>
                    </m:r>
                    <m:r>
                      <a:rPr kumimoji="1" lang="en-US" altLang="ja-JP" sz="2400" b="0" i="1" smtClean="0">
                        <a:latin typeface="Cambria Math" panose="02040503050406030204" pitchFamily="18" charset="0"/>
                      </a:rPr>
                      <m:t>=2</m:t>
                    </m:r>
                  </m:oMath>
                </a14:m>
                <a:r>
                  <a:rPr kumimoji="1" lang="ja-JP" altLang="en-US" sz="2400" dirty="0"/>
                  <a:t> のとき </a:t>
                </a:r>
                <a14:m>
                  <m:oMath xmlns:m="http://schemas.openxmlformats.org/officeDocument/2006/math">
                    <m:r>
                      <a:rPr kumimoji="1" lang="en-US" altLang="ja-JP" sz="2400" b="0" i="1" smtClean="0">
                        <a:latin typeface="Cambria Math" panose="02040503050406030204" pitchFamily="18" charset="0"/>
                      </a:rPr>
                      <m:t>𝑂</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1</m:t>
                        </m:r>
                      </m:e>
                    </m:d>
                  </m:oMath>
                </a14:m>
                <a:r>
                  <a:rPr kumimoji="1" lang="en-US" altLang="ja-JP" sz="2400" dirty="0"/>
                  <a:t>-</a:t>
                </a:r>
                <a:r>
                  <a:rPr kumimoji="1" lang="ja-JP" altLang="en-US" sz="2400" dirty="0"/>
                  <a:t>競合的な決定的</a:t>
                </a:r>
                <a:r>
                  <a:rPr lang="ja-JP" altLang="en-US" sz="2400" dirty="0"/>
                  <a:t>アルゴリズム </a:t>
                </a:r>
                <a:r>
                  <a:rPr lang="en-US" altLang="ja-JP" sz="1800" dirty="0"/>
                  <a:t>[Kalyanasundaram and </a:t>
                </a:r>
                <a:r>
                  <a:rPr lang="en-US" altLang="ja-JP" sz="1800" dirty="0" err="1"/>
                  <a:t>Pruhs</a:t>
                </a:r>
                <a:r>
                  <a:rPr lang="en-US" altLang="ja-JP" sz="1800" dirty="0"/>
                  <a:t>, 2000]</a:t>
                </a:r>
                <a:endParaRPr lang="en-US" altLang="ja-JP" sz="800" dirty="0"/>
              </a:p>
              <a:p>
                <a14:m>
                  <m:oMath xmlns:m="http://schemas.openxmlformats.org/officeDocument/2006/math">
                    <m:r>
                      <a:rPr lang="en-US" altLang="ja-JP" sz="2400" b="0" i="1" smtClean="0">
                        <a:latin typeface="Cambria Math" panose="02040503050406030204" pitchFamily="18" charset="0"/>
                      </a:rPr>
                      <m:t>𝑘</m:t>
                    </m:r>
                    <m:r>
                      <a:rPr lang="en-US" altLang="ja-JP" sz="2400" b="0" i="1" smtClean="0">
                        <a:latin typeface="Cambria Math" panose="02040503050406030204" pitchFamily="18" charset="0"/>
                      </a:rPr>
                      <m:t>≥3</m:t>
                    </m:r>
                  </m:oMath>
                </a14:m>
                <a:r>
                  <a:rPr lang="ja-JP" altLang="en-US" sz="2400" dirty="0"/>
                  <a:t> のとき貪欲法が </a:t>
                </a:r>
                <a14:m>
                  <m:oMath xmlns:m="http://schemas.openxmlformats.org/officeDocument/2006/math">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1+</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2</m:t>
                            </m:r>
                          </m:num>
                          <m:den>
                            <m:r>
                              <a:rPr lang="en-US" altLang="ja-JP" sz="2400" b="0" i="1" smtClean="0">
                                <a:latin typeface="Cambria Math" panose="02040503050406030204" pitchFamily="18" charset="0"/>
                              </a:rPr>
                              <m:t>𝑘</m:t>
                            </m:r>
                            <m:r>
                              <a:rPr lang="en-US" altLang="ja-JP" sz="2400" b="0" i="1" smtClean="0">
                                <a:latin typeface="Cambria Math" panose="02040503050406030204" pitchFamily="18" charset="0"/>
                              </a:rPr>
                              <m:t>−2</m:t>
                            </m:r>
                          </m:den>
                        </m:f>
                      </m:e>
                    </m:d>
                  </m:oMath>
                </a14:m>
                <a:r>
                  <a:rPr lang="en-US" altLang="ja-JP" sz="2400" dirty="0"/>
                  <a:t>-</a:t>
                </a:r>
                <a:r>
                  <a:rPr lang="ja-JP" altLang="en-US" sz="2400" dirty="0"/>
                  <a:t>競合的 </a:t>
                </a:r>
                <a:r>
                  <a:rPr lang="en-US" altLang="ja-JP" sz="1800" dirty="0"/>
                  <a:t>[Arndt et al., 2023]</a:t>
                </a:r>
              </a:p>
              <a:p>
                <a:pPr marL="0" indent="0">
                  <a:buNone/>
                </a:pPr>
                <a:endParaRPr kumimoji="1" lang="en-US" altLang="ja-JP" sz="800" dirty="0"/>
              </a:p>
              <a:p>
                <a:pPr marL="0" indent="0">
                  <a:buNone/>
                </a:pPr>
                <a:r>
                  <a:rPr lang="ja-JP" altLang="en-US" sz="2400" dirty="0"/>
                  <a:t>一つ減らした容量 </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𝑐</m:t>
                        </m:r>
                      </m:e>
                      <m:sub>
                        <m:r>
                          <a:rPr lang="en-US" altLang="ja-JP" sz="2400" b="0" i="1" smtClean="0">
                            <a:latin typeface="Cambria Math" panose="02040503050406030204" pitchFamily="18" charset="0"/>
                          </a:rPr>
                          <m:t>𝑖</m:t>
                        </m:r>
                      </m:sub>
                    </m:sSub>
                    <m:r>
                      <a:rPr lang="en-US" altLang="ja-JP" sz="2400" b="0" i="0" smtClean="0">
                        <a:latin typeface="Cambria Math" panose="02040503050406030204" pitchFamily="18" charset="0"/>
                      </a:rPr>
                      <m:t>−1</m:t>
                    </m:r>
                  </m:oMath>
                </a14:m>
                <a:r>
                  <a:rPr kumimoji="1" lang="ja-JP" altLang="en-US" sz="2400" dirty="0"/>
                  <a:t> を持つ場合の最適解を </a:t>
                </a:r>
                <a14:m>
                  <m:oMath xmlns:m="http://schemas.openxmlformats.org/officeDocument/2006/math">
                    <m:r>
                      <a:rPr kumimoji="1" lang="en-US" altLang="ja-JP" sz="2400" b="0" i="1" smtClean="0">
                        <a:latin typeface="Cambria Math" panose="02040503050406030204" pitchFamily="18" charset="0"/>
                      </a:rPr>
                      <m:t>𝑂𝑃𝑇</m:t>
                    </m:r>
                  </m:oMath>
                </a14:m>
                <a:r>
                  <a:rPr kumimoji="1" lang="ja-JP" altLang="en-US" sz="2400" dirty="0"/>
                  <a:t> とするモデル</a:t>
                </a:r>
                <a:endParaRPr kumimoji="1" lang="en-US" altLang="ja-JP" sz="2400" dirty="0"/>
              </a:p>
              <a:p>
                <a14:m>
                  <m:oMath xmlns:m="http://schemas.openxmlformats.org/officeDocument/2006/math">
                    <m:r>
                      <a:rPr kumimoji="1" lang="en-US" altLang="ja-JP" sz="2400" b="0" i="1" smtClean="0">
                        <a:latin typeface="Cambria Math" panose="02040503050406030204" pitchFamily="18" charset="0"/>
                      </a:rPr>
                      <m:t>𝑂</m:t>
                    </m:r>
                    <m:d>
                      <m:dPr>
                        <m:ctrlPr>
                          <a:rPr kumimoji="1" lang="en-US" altLang="ja-JP" sz="2400" b="0" i="1" smtClean="0">
                            <a:latin typeface="Cambria Math" panose="02040503050406030204" pitchFamily="18" charset="0"/>
                          </a:rPr>
                        </m:ctrlPr>
                      </m:dPr>
                      <m:e>
                        <m:r>
                          <m:rPr>
                            <m:sty m:val="p"/>
                          </m:rPr>
                          <a:rPr kumimoji="1" lang="en-US" altLang="ja-JP" sz="2400" b="0" i="1" smtClean="0">
                            <a:latin typeface="Cambria Math" panose="02040503050406030204" pitchFamily="18" charset="0"/>
                          </a:rPr>
                          <m:t>log</m:t>
                        </m:r>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𝑚</m:t>
                        </m:r>
                      </m:e>
                    </m:d>
                  </m:oMath>
                </a14:m>
                <a:r>
                  <a:rPr kumimoji="1" lang="en-US" altLang="ja-JP" sz="2400" dirty="0"/>
                  <a:t>-</a:t>
                </a:r>
                <a:r>
                  <a:rPr kumimoji="1" lang="ja-JP" altLang="en-US" sz="2400" dirty="0"/>
                  <a:t>競合的な決定的アルゴリズム </a:t>
                </a:r>
                <a:r>
                  <a:rPr kumimoji="1" lang="en-US" altLang="ja-JP" sz="1800" dirty="0"/>
                  <a:t>[Chung et al., 2008]</a:t>
                </a:r>
                <a:endParaRPr kumimoji="1" lang="ja-JP" altLang="en-US" sz="1800" dirty="0"/>
              </a:p>
            </p:txBody>
          </p:sp>
        </mc:Choice>
        <mc:Fallback xmlns="">
          <p:sp>
            <p:nvSpPr>
              <p:cNvPr id="3" name="コンテンツ プレースホルダー 2">
                <a:extLst>
                  <a:ext uri="{FF2B5EF4-FFF2-40B4-BE49-F238E27FC236}">
                    <a16:creationId xmlns:a16="http://schemas.microsoft.com/office/drawing/2014/main" id="{6DFE3DD6-5443-768C-4010-F361DC4677DB}"/>
                  </a:ext>
                </a:extLst>
              </p:cNvPr>
              <p:cNvSpPr>
                <a:spLocks noGrp="1" noRot="1" noChangeAspect="1" noMove="1" noResize="1" noEditPoints="1" noAdjustHandles="1" noChangeArrowheads="1" noChangeShapeType="1" noTextEdit="1"/>
              </p:cNvSpPr>
              <p:nvPr>
                <p:ph idx="1"/>
              </p:nvPr>
            </p:nvSpPr>
            <p:spPr>
              <a:blipFill>
                <a:blip r:embed="rId2"/>
                <a:stretch>
                  <a:fillRect l="-928" t="-1541" b="-140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4C15CDEC-AB10-02E3-7F4E-F0A700600738}"/>
              </a:ext>
            </a:extLst>
          </p:cNvPr>
          <p:cNvSpPr>
            <a:spLocks noGrp="1"/>
          </p:cNvSpPr>
          <p:nvPr>
            <p:ph type="sldNum" sz="quarter" idx="12"/>
          </p:nvPr>
        </p:nvSpPr>
        <p:spPr/>
        <p:txBody>
          <a:bodyPr/>
          <a:lstStyle/>
          <a:p>
            <a:fld id="{4B077F3A-4098-4199-8925-77865D1E3500}" type="slidenum">
              <a:rPr kumimoji="1" lang="ja-JP" altLang="en-US" smtClean="0"/>
              <a:t>64</a:t>
            </a:fld>
            <a:endParaRPr kumimoji="1" lang="ja-JP" altLang="en-US"/>
          </a:p>
        </p:txBody>
      </p:sp>
    </p:spTree>
    <p:extLst>
      <p:ext uri="{BB962C8B-B14F-4D97-AF65-F5344CB8AC3E}">
        <p14:creationId xmlns:p14="http://schemas.microsoft.com/office/powerpoint/2010/main" val="24060230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935927-9856-4C71-95E5-669278DEE0C0}"/>
              </a:ext>
            </a:extLst>
          </p:cNvPr>
          <p:cNvSpPr>
            <a:spLocks noGrp="1"/>
          </p:cNvSpPr>
          <p:nvPr>
            <p:ph type="title"/>
          </p:nvPr>
        </p:nvSpPr>
        <p:spPr/>
        <p:txBody>
          <a:bodyPr/>
          <a:lstStyle/>
          <a:p>
            <a:r>
              <a:rPr kumimoji="1" lang="ja-JP" altLang="en-US" dirty="0"/>
              <a:t>直線上の</a:t>
            </a:r>
            <a:r>
              <a:rPr kumimoji="1" lang="en-US" altLang="ja-JP" dirty="0"/>
              <a:t>OMM</a:t>
            </a:r>
            <a:r>
              <a:rPr kumimoji="1" lang="ja-JP" altLang="en-US" dirty="0"/>
              <a:t>１</a:t>
            </a:r>
          </a:p>
        </p:txBody>
      </p:sp>
      <p:sp>
        <p:nvSpPr>
          <p:cNvPr id="3" name="コンテンツ プレースホルダー 2">
            <a:extLst>
              <a:ext uri="{FF2B5EF4-FFF2-40B4-BE49-F238E27FC236}">
                <a16:creationId xmlns:a16="http://schemas.microsoft.com/office/drawing/2014/main" id="{0967E9A5-9694-8566-AA48-89D9D899E4AB}"/>
              </a:ext>
            </a:extLst>
          </p:cNvPr>
          <p:cNvSpPr>
            <a:spLocks noGrp="1"/>
          </p:cNvSpPr>
          <p:nvPr>
            <p:ph idx="1"/>
          </p:nvPr>
        </p:nvSpPr>
        <p:spPr>
          <a:xfrm>
            <a:off x="838200" y="1629548"/>
            <a:ext cx="10515600" cy="875247"/>
          </a:xfrm>
        </p:spPr>
        <p:txBody>
          <a:bodyPr>
            <a:normAutofit lnSpcReduction="10000"/>
          </a:bodyPr>
          <a:lstStyle/>
          <a:p>
            <a:pPr marL="0" indent="0">
              <a:buNone/>
            </a:pPr>
            <a:r>
              <a:rPr lang="ja-JP" altLang="en-US" sz="2400" dirty="0"/>
              <a:t>当初 </a:t>
            </a:r>
            <a:r>
              <a:rPr lang="en-US" altLang="ja-JP" sz="2400" dirty="0"/>
              <a:t>9-</a:t>
            </a:r>
            <a:r>
              <a:rPr lang="ja-JP" altLang="en-US" sz="2400" dirty="0"/>
              <a:t>競合的アルゴリズムの存在を予想されていた</a:t>
            </a:r>
            <a:endParaRPr lang="en-US" altLang="ja-JP" sz="2400" dirty="0"/>
          </a:p>
          <a:p>
            <a:pPr marL="0" indent="0">
              <a:buNone/>
            </a:pPr>
            <a:r>
              <a:rPr lang="en-US" altLang="ja-JP" sz="2400" dirty="0"/>
              <a:t>[Kalyanasundaram and </a:t>
            </a:r>
            <a:r>
              <a:rPr lang="en-US" altLang="ja-JP" sz="2400" dirty="0" err="1"/>
              <a:t>Pruhs</a:t>
            </a:r>
            <a:r>
              <a:rPr lang="en-US" altLang="ja-JP" sz="2400" dirty="0"/>
              <a:t>, 1996]</a:t>
            </a:r>
            <a:endParaRPr kumimoji="1" lang="en-US" altLang="ja-JP" sz="2400" dirty="0"/>
          </a:p>
        </p:txBody>
      </p:sp>
      <p:cxnSp>
        <p:nvCxnSpPr>
          <p:cNvPr id="6" name="直線矢印コネクタ 5">
            <a:extLst>
              <a:ext uri="{FF2B5EF4-FFF2-40B4-BE49-F238E27FC236}">
                <a16:creationId xmlns:a16="http://schemas.microsoft.com/office/drawing/2014/main" id="{FDF7014F-733F-6E3A-283D-2A0A77D0C877}"/>
              </a:ext>
            </a:extLst>
          </p:cNvPr>
          <p:cNvCxnSpPr>
            <a:cxnSpLocks/>
          </p:cNvCxnSpPr>
          <p:nvPr/>
        </p:nvCxnSpPr>
        <p:spPr>
          <a:xfrm>
            <a:off x="838200" y="3930971"/>
            <a:ext cx="105156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8D7236A9-B336-FE3F-369B-0973BD6F6BCD}"/>
              </a:ext>
            </a:extLst>
          </p:cNvPr>
          <p:cNvCxnSpPr>
            <a:cxnSpLocks/>
          </p:cNvCxnSpPr>
          <p:nvPr/>
        </p:nvCxnSpPr>
        <p:spPr>
          <a:xfrm>
            <a:off x="3078634" y="3769403"/>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9F77F035-159D-222B-A8EF-1BADB04EAC98}"/>
              </a:ext>
            </a:extLst>
          </p:cNvPr>
          <p:cNvCxnSpPr>
            <a:cxnSpLocks/>
          </p:cNvCxnSpPr>
          <p:nvPr/>
        </p:nvCxnSpPr>
        <p:spPr>
          <a:xfrm>
            <a:off x="4450236" y="3769403"/>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B65F2D27-ED48-1133-50B2-79775DBCFCE1}"/>
              </a:ext>
            </a:extLst>
          </p:cNvPr>
          <p:cNvCxnSpPr>
            <a:cxnSpLocks/>
          </p:cNvCxnSpPr>
          <p:nvPr/>
        </p:nvCxnSpPr>
        <p:spPr>
          <a:xfrm>
            <a:off x="7497854" y="3769403"/>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DC26DFE4-247A-7863-CB3C-9E552C263AC6}"/>
              </a:ext>
            </a:extLst>
          </p:cNvPr>
          <p:cNvCxnSpPr>
            <a:cxnSpLocks/>
          </p:cNvCxnSpPr>
          <p:nvPr/>
        </p:nvCxnSpPr>
        <p:spPr>
          <a:xfrm>
            <a:off x="6091678" y="3769403"/>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グループ化 10">
            <a:extLst>
              <a:ext uri="{FF2B5EF4-FFF2-40B4-BE49-F238E27FC236}">
                <a16:creationId xmlns:a16="http://schemas.microsoft.com/office/drawing/2014/main" id="{1D545540-A691-2FD9-90E5-423EC0997BA1}"/>
              </a:ext>
            </a:extLst>
          </p:cNvPr>
          <p:cNvGrpSpPr/>
          <p:nvPr/>
        </p:nvGrpSpPr>
        <p:grpSpPr>
          <a:xfrm>
            <a:off x="5005239" y="2468643"/>
            <a:ext cx="487837" cy="1215807"/>
            <a:chOff x="4837914" y="1536817"/>
            <a:chExt cx="487837" cy="1215807"/>
          </a:xfrm>
        </p:grpSpPr>
        <p:cxnSp>
          <p:nvCxnSpPr>
            <p:cNvPr id="12" name="直線矢印コネクタ 11">
              <a:extLst>
                <a:ext uri="{FF2B5EF4-FFF2-40B4-BE49-F238E27FC236}">
                  <a16:creationId xmlns:a16="http://schemas.microsoft.com/office/drawing/2014/main" id="{BA942298-6EC3-F174-139F-B55A8D164256}"/>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C136E61-9DA8-4B66-6FD4-EDDB8BFFD3E8}"/>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1</m:t>
                            </m:r>
                          </m:sub>
                        </m:sSub>
                      </m:oMath>
                    </m:oMathPara>
                  </a14:m>
                  <a:endParaRPr lang="ja-JP" altLang="en-US" sz="2400" dirty="0"/>
                </a:p>
              </p:txBody>
            </p:sp>
          </mc:Choice>
          <mc:Fallback xmlns="">
            <p:sp>
              <p:nvSpPr>
                <p:cNvPr id="13" name="テキスト ボックス 12">
                  <a:extLst>
                    <a:ext uri="{FF2B5EF4-FFF2-40B4-BE49-F238E27FC236}">
                      <a16:creationId xmlns:a16="http://schemas.microsoft.com/office/drawing/2014/main" id="{FC136E61-9DA8-4B66-6FD4-EDDB8BFFD3E8}"/>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2"/>
                  <a:stretch>
                    <a:fillRect/>
                  </a:stretch>
                </a:blipFill>
              </p:spPr>
              <p:txBody>
                <a:bodyPr/>
                <a:lstStyle/>
                <a:p>
                  <a:r>
                    <a:rPr lang="ja-JP" altLang="en-US">
                      <a:noFill/>
                    </a:rPr>
                    <a:t> </a:t>
                  </a:r>
                </a:p>
              </p:txBody>
            </p:sp>
          </mc:Fallback>
        </mc:AlternateContent>
      </p:grpSp>
      <p:grpSp>
        <p:nvGrpSpPr>
          <p:cNvPr id="14" name="グループ化 13">
            <a:extLst>
              <a:ext uri="{FF2B5EF4-FFF2-40B4-BE49-F238E27FC236}">
                <a16:creationId xmlns:a16="http://schemas.microsoft.com/office/drawing/2014/main" id="{F1F689B3-E01C-3DC4-BC58-9D482B645F04}"/>
              </a:ext>
            </a:extLst>
          </p:cNvPr>
          <p:cNvGrpSpPr/>
          <p:nvPr/>
        </p:nvGrpSpPr>
        <p:grpSpPr>
          <a:xfrm>
            <a:off x="5847759" y="2445336"/>
            <a:ext cx="487837" cy="1215807"/>
            <a:chOff x="4837914" y="1536817"/>
            <a:chExt cx="487837" cy="1215807"/>
          </a:xfrm>
        </p:grpSpPr>
        <p:cxnSp>
          <p:nvCxnSpPr>
            <p:cNvPr id="15" name="直線矢印コネクタ 14">
              <a:extLst>
                <a:ext uri="{FF2B5EF4-FFF2-40B4-BE49-F238E27FC236}">
                  <a16:creationId xmlns:a16="http://schemas.microsoft.com/office/drawing/2014/main" id="{4072C8FF-0E41-8EF8-E02F-37E5A3A59351}"/>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7D7B7C6C-DAB9-A210-AF10-DC8878BB06D0}"/>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2</m:t>
                            </m:r>
                          </m:sub>
                        </m:sSub>
                      </m:oMath>
                    </m:oMathPara>
                  </a14:m>
                  <a:endParaRPr lang="ja-JP" altLang="en-US" sz="2400" dirty="0"/>
                </a:p>
              </p:txBody>
            </p:sp>
          </mc:Choice>
          <mc:Fallback xmlns="">
            <p:sp>
              <p:nvSpPr>
                <p:cNvPr id="16" name="テキスト ボックス 15">
                  <a:extLst>
                    <a:ext uri="{FF2B5EF4-FFF2-40B4-BE49-F238E27FC236}">
                      <a16:creationId xmlns:a16="http://schemas.microsoft.com/office/drawing/2014/main" id="{7D7B7C6C-DAB9-A210-AF10-DC8878BB06D0}"/>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3"/>
                  <a:stretch>
                    <a:fillRect b="-1316"/>
                  </a:stretch>
                </a:blipFill>
              </p:spPr>
              <p:txBody>
                <a:bodyPr/>
                <a:lstStyle/>
                <a:p>
                  <a:r>
                    <a:rPr lang="ja-JP" altLang="en-US">
                      <a:noFill/>
                    </a:rPr>
                    <a:t> </a:t>
                  </a:r>
                </a:p>
              </p:txBody>
            </p:sp>
          </mc:Fallback>
        </mc:AlternateContent>
      </p:grpSp>
      <p:grpSp>
        <p:nvGrpSpPr>
          <p:cNvPr id="17" name="グループ化 16">
            <a:extLst>
              <a:ext uri="{FF2B5EF4-FFF2-40B4-BE49-F238E27FC236}">
                <a16:creationId xmlns:a16="http://schemas.microsoft.com/office/drawing/2014/main" id="{3BDA4628-DA94-6542-4834-15CB6C5E822B}"/>
              </a:ext>
            </a:extLst>
          </p:cNvPr>
          <p:cNvGrpSpPr/>
          <p:nvPr/>
        </p:nvGrpSpPr>
        <p:grpSpPr>
          <a:xfrm>
            <a:off x="7251372" y="2468643"/>
            <a:ext cx="487837" cy="1215807"/>
            <a:chOff x="4837914" y="1536817"/>
            <a:chExt cx="487837" cy="1215807"/>
          </a:xfrm>
        </p:grpSpPr>
        <p:cxnSp>
          <p:nvCxnSpPr>
            <p:cNvPr id="18" name="直線矢印コネクタ 17">
              <a:extLst>
                <a:ext uri="{FF2B5EF4-FFF2-40B4-BE49-F238E27FC236}">
                  <a16:creationId xmlns:a16="http://schemas.microsoft.com/office/drawing/2014/main" id="{0E6C8277-E37E-B8A9-12BF-42B845AEE8BF}"/>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3508A0DA-817A-739D-E7DE-29D593448273}"/>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3</m:t>
                            </m:r>
                          </m:sub>
                        </m:sSub>
                      </m:oMath>
                    </m:oMathPara>
                  </a14:m>
                  <a:endParaRPr lang="ja-JP" altLang="en-US" sz="2400" dirty="0"/>
                </a:p>
              </p:txBody>
            </p:sp>
          </mc:Choice>
          <mc:Fallback xmlns="">
            <p:sp>
              <p:nvSpPr>
                <p:cNvPr id="19" name="テキスト ボックス 18">
                  <a:extLst>
                    <a:ext uri="{FF2B5EF4-FFF2-40B4-BE49-F238E27FC236}">
                      <a16:creationId xmlns:a16="http://schemas.microsoft.com/office/drawing/2014/main" id="{3508A0DA-817A-739D-E7DE-29D593448273}"/>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4"/>
                  <a:stretch>
                    <a:fillRect/>
                  </a:stretch>
                </a:blipFill>
              </p:spPr>
              <p:txBody>
                <a:bodyPr/>
                <a:lstStyle/>
                <a:p>
                  <a:r>
                    <a:rPr lang="ja-JP" altLang="en-US">
                      <a:noFill/>
                    </a:rPr>
                    <a:t> </a:t>
                  </a:r>
                </a:p>
              </p:txBody>
            </p:sp>
          </mc:Fallback>
        </mc:AlternateContent>
      </p:grpSp>
      <p:grpSp>
        <p:nvGrpSpPr>
          <p:cNvPr id="20" name="グループ化 19">
            <a:extLst>
              <a:ext uri="{FF2B5EF4-FFF2-40B4-BE49-F238E27FC236}">
                <a16:creationId xmlns:a16="http://schemas.microsoft.com/office/drawing/2014/main" id="{2240C34C-0EC5-7E7B-BE77-9C226716A92E}"/>
              </a:ext>
            </a:extLst>
          </p:cNvPr>
          <p:cNvGrpSpPr/>
          <p:nvPr/>
        </p:nvGrpSpPr>
        <p:grpSpPr>
          <a:xfrm>
            <a:off x="4200228" y="2472812"/>
            <a:ext cx="487837" cy="1215807"/>
            <a:chOff x="4837914" y="1536817"/>
            <a:chExt cx="487837" cy="1215807"/>
          </a:xfrm>
        </p:grpSpPr>
        <p:cxnSp>
          <p:nvCxnSpPr>
            <p:cNvPr id="21" name="直線矢印コネクタ 20">
              <a:extLst>
                <a:ext uri="{FF2B5EF4-FFF2-40B4-BE49-F238E27FC236}">
                  <a16:creationId xmlns:a16="http://schemas.microsoft.com/office/drawing/2014/main" id="{DAD50FEC-E0F1-FC52-2CAE-BF9BC8A233D2}"/>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6E6432C9-3A71-39B1-87BC-9A6FFF3784AC}"/>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4</m:t>
                            </m:r>
                          </m:sub>
                        </m:sSub>
                      </m:oMath>
                    </m:oMathPara>
                  </a14:m>
                  <a:endParaRPr lang="ja-JP" altLang="en-US" sz="2400" dirty="0"/>
                </a:p>
              </p:txBody>
            </p:sp>
          </mc:Choice>
          <mc:Fallback xmlns="">
            <p:sp>
              <p:nvSpPr>
                <p:cNvPr id="22" name="テキスト ボックス 21">
                  <a:extLst>
                    <a:ext uri="{FF2B5EF4-FFF2-40B4-BE49-F238E27FC236}">
                      <a16:creationId xmlns:a16="http://schemas.microsoft.com/office/drawing/2014/main" id="{6E6432C9-3A71-39B1-87BC-9A6FFF3784AC}"/>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5"/>
                  <a:stretch>
                    <a:fillRect b="-1333"/>
                  </a:stretch>
                </a:blipFill>
              </p:spPr>
              <p:txBody>
                <a:bodyPr/>
                <a:lstStyle/>
                <a:p>
                  <a:r>
                    <a:rPr lang="ja-JP" altLang="en-US">
                      <a:noFill/>
                    </a:rPr>
                    <a:t> </a:t>
                  </a:r>
                </a:p>
              </p:txBody>
            </p:sp>
          </mc:Fallback>
        </mc:AlternateContent>
      </p:grpSp>
      <p:grpSp>
        <p:nvGrpSpPr>
          <p:cNvPr id="23" name="グループ化 22">
            <a:extLst>
              <a:ext uri="{FF2B5EF4-FFF2-40B4-BE49-F238E27FC236}">
                <a16:creationId xmlns:a16="http://schemas.microsoft.com/office/drawing/2014/main" id="{D645B6FF-3F24-B22C-2868-1A1D0014EEB6}"/>
              </a:ext>
            </a:extLst>
          </p:cNvPr>
          <p:cNvGrpSpPr/>
          <p:nvPr/>
        </p:nvGrpSpPr>
        <p:grpSpPr>
          <a:xfrm>
            <a:off x="2840412" y="2468643"/>
            <a:ext cx="487837" cy="1215807"/>
            <a:chOff x="4837914" y="1536817"/>
            <a:chExt cx="487837" cy="1215807"/>
          </a:xfrm>
        </p:grpSpPr>
        <p:cxnSp>
          <p:nvCxnSpPr>
            <p:cNvPr id="24" name="直線矢印コネクタ 23">
              <a:extLst>
                <a:ext uri="{FF2B5EF4-FFF2-40B4-BE49-F238E27FC236}">
                  <a16:creationId xmlns:a16="http://schemas.microsoft.com/office/drawing/2014/main" id="{2206128C-CB57-B7D7-C95E-FE1B02FA741E}"/>
                </a:ext>
              </a:extLst>
            </p:cNvPr>
            <p:cNvCxnSpPr/>
            <p:nvPr/>
          </p:nvCxnSpPr>
          <p:spPr>
            <a:xfrm>
              <a:off x="5081833" y="2017336"/>
              <a:ext cx="0" cy="735288"/>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250928D6-F3CE-48EC-5135-4512904D02B2}"/>
                    </a:ext>
                  </a:extLst>
                </p:cNvPr>
                <p:cNvSpPr txBox="1"/>
                <p:nvPr/>
              </p:nvSpPr>
              <p:spPr>
                <a:xfrm>
                  <a:off x="4837914" y="1536817"/>
                  <a:ext cx="4878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5</m:t>
                            </m:r>
                          </m:sub>
                        </m:sSub>
                      </m:oMath>
                    </m:oMathPara>
                  </a14:m>
                  <a:endParaRPr lang="ja-JP" altLang="en-US" sz="2400" dirty="0"/>
                </a:p>
              </p:txBody>
            </p:sp>
          </mc:Choice>
          <mc:Fallback xmlns="">
            <p:sp>
              <p:nvSpPr>
                <p:cNvPr id="25" name="テキスト ボックス 24">
                  <a:extLst>
                    <a:ext uri="{FF2B5EF4-FFF2-40B4-BE49-F238E27FC236}">
                      <a16:creationId xmlns:a16="http://schemas.microsoft.com/office/drawing/2014/main" id="{250928D6-F3CE-48EC-5135-4512904D02B2}"/>
                    </a:ext>
                  </a:extLst>
                </p:cNvPr>
                <p:cNvSpPr txBox="1">
                  <a:spLocks noRot="1" noChangeAspect="1" noMove="1" noResize="1" noEditPoints="1" noAdjustHandles="1" noChangeArrowheads="1" noChangeShapeType="1" noTextEdit="1"/>
                </p:cNvSpPr>
                <p:nvPr/>
              </p:nvSpPr>
              <p:spPr>
                <a:xfrm>
                  <a:off x="4837914" y="1536817"/>
                  <a:ext cx="487837" cy="461665"/>
                </a:xfrm>
                <a:prstGeom prst="rect">
                  <a:avLst/>
                </a:prstGeom>
                <a:blipFill>
                  <a:blip r:embed="rId6"/>
                  <a:stretch>
                    <a:fillRect b="-1316"/>
                  </a:stretch>
                </a:blipFill>
              </p:spPr>
              <p:txBody>
                <a:bodyPr/>
                <a:lstStyle/>
                <a:p>
                  <a:r>
                    <a:rPr lang="ja-JP" altLang="en-US">
                      <a:noFill/>
                    </a:rPr>
                    <a:t> </a:t>
                  </a:r>
                </a:p>
              </p:txBody>
            </p:sp>
          </mc:Fallback>
        </mc:AlternateContent>
      </p:grpSp>
      <p:cxnSp>
        <p:nvCxnSpPr>
          <p:cNvPr id="26" name="直線矢印コネクタ 25">
            <a:extLst>
              <a:ext uri="{FF2B5EF4-FFF2-40B4-BE49-F238E27FC236}">
                <a16:creationId xmlns:a16="http://schemas.microsoft.com/office/drawing/2014/main" id="{91D6DF32-CE54-856F-9875-9C6A7A659655}"/>
              </a:ext>
            </a:extLst>
          </p:cNvPr>
          <p:cNvCxnSpPr>
            <a:cxnSpLocks/>
          </p:cNvCxnSpPr>
          <p:nvPr/>
        </p:nvCxnSpPr>
        <p:spPr>
          <a:xfrm>
            <a:off x="5249157" y="3422446"/>
            <a:ext cx="842520" cy="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77C3DBA2-1843-6B19-F70D-0F71DE148357}"/>
              </a:ext>
            </a:extLst>
          </p:cNvPr>
          <p:cNvCxnSpPr>
            <a:cxnSpLocks/>
          </p:cNvCxnSpPr>
          <p:nvPr/>
        </p:nvCxnSpPr>
        <p:spPr>
          <a:xfrm>
            <a:off x="6157666" y="3422967"/>
            <a:ext cx="1296971" cy="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7B252D2D-C67B-6EDD-63E3-CA29617272F9}"/>
              </a:ext>
            </a:extLst>
          </p:cNvPr>
          <p:cNvCxnSpPr>
            <a:cxnSpLocks/>
          </p:cNvCxnSpPr>
          <p:nvPr/>
        </p:nvCxnSpPr>
        <p:spPr>
          <a:xfrm>
            <a:off x="5249157" y="3684450"/>
            <a:ext cx="3777410" cy="0"/>
          </a:xfrm>
          <a:prstGeom prst="straightConnector1">
            <a:avLst/>
          </a:prstGeom>
          <a:ln w="476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309AA2F-DFDF-7DF4-C7A7-A1DFC7515EEA}"/>
              </a:ext>
            </a:extLst>
          </p:cNvPr>
          <p:cNvCxnSpPr>
            <a:cxnSpLocks/>
          </p:cNvCxnSpPr>
          <p:nvPr/>
        </p:nvCxnSpPr>
        <p:spPr>
          <a:xfrm>
            <a:off x="9026567" y="3769403"/>
            <a:ext cx="0" cy="358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0E88CE24-268C-7377-89FD-9AD3F5442C75}"/>
              </a:ext>
            </a:extLst>
          </p:cNvPr>
          <p:cNvCxnSpPr>
            <a:cxnSpLocks/>
          </p:cNvCxnSpPr>
          <p:nvPr/>
        </p:nvCxnSpPr>
        <p:spPr>
          <a:xfrm flipH="1">
            <a:off x="4444146" y="3267558"/>
            <a:ext cx="3010491" cy="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5286828C-FEAF-885F-906E-127421A8F45A}"/>
              </a:ext>
            </a:extLst>
          </p:cNvPr>
          <p:cNvCxnSpPr>
            <a:cxnSpLocks/>
          </p:cNvCxnSpPr>
          <p:nvPr/>
        </p:nvCxnSpPr>
        <p:spPr>
          <a:xfrm flipH="1">
            <a:off x="3078634" y="3267558"/>
            <a:ext cx="1365512" cy="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15BFB5B5-E60E-E19B-A9A4-6A695BA2A473}"/>
              </a:ext>
            </a:extLst>
          </p:cNvPr>
          <p:cNvCxnSpPr>
            <a:cxnSpLocks/>
          </p:cNvCxnSpPr>
          <p:nvPr/>
        </p:nvCxnSpPr>
        <p:spPr>
          <a:xfrm flipV="1">
            <a:off x="3088061" y="3081582"/>
            <a:ext cx="5938506" cy="968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6354795C-FBB5-0707-CBEF-8E455BDE5F21}"/>
              </a:ext>
            </a:extLst>
          </p:cNvPr>
          <p:cNvSpPr txBox="1"/>
          <p:nvPr/>
        </p:nvSpPr>
        <p:spPr>
          <a:xfrm>
            <a:off x="838198" y="4328160"/>
            <a:ext cx="10515600" cy="1938992"/>
          </a:xfrm>
          <a:prstGeom prst="rect">
            <a:avLst/>
          </a:prstGeom>
          <a:noFill/>
        </p:spPr>
        <p:txBody>
          <a:bodyPr wrap="square" rtlCol="0">
            <a:spAutoFit/>
          </a:bodyPr>
          <a:lstStyle/>
          <a:p>
            <a:r>
              <a:rPr lang="ja-JP" altLang="en-US" sz="2400" dirty="0"/>
              <a:t>「直前のリクエストで埋まったサーバのすぐ上に次のリクエストを置く」</a:t>
            </a:r>
            <a:endParaRPr lang="en-US" altLang="ja-JP" sz="2400" dirty="0"/>
          </a:p>
          <a:p>
            <a:r>
              <a:rPr kumimoji="1" lang="ja-JP" altLang="en-US" sz="2400" dirty="0"/>
              <a:t>これが最悪のシナリオであると考えられていた</a:t>
            </a:r>
            <a:endParaRPr kumimoji="1" lang="en-US" altLang="ja-JP" sz="2400" dirty="0"/>
          </a:p>
          <a:p>
            <a:endParaRPr kumimoji="1" lang="en-US" altLang="ja-JP" sz="2400" dirty="0"/>
          </a:p>
          <a:p>
            <a:r>
              <a:rPr lang="ja-JP" altLang="en-US" sz="2400" dirty="0"/>
              <a:t>このようなリクエスト列しか来ない場合（</a:t>
            </a:r>
            <a:r>
              <a:rPr lang="en-US" altLang="ja-JP" sz="2400" dirty="0"/>
              <a:t>Cow-Path Problem</a:t>
            </a:r>
            <a:r>
              <a:rPr lang="ja-JP" altLang="en-US" sz="2400" dirty="0"/>
              <a:t> と呼ばれる）は </a:t>
            </a:r>
            <a:r>
              <a:rPr lang="en-US" altLang="ja-JP" sz="2400" dirty="0"/>
              <a:t>9-</a:t>
            </a:r>
            <a:r>
              <a:rPr lang="ja-JP" altLang="en-US" sz="2400" dirty="0"/>
              <a:t>競合的な決定的アルゴリズムが知られている</a:t>
            </a:r>
            <a:endParaRPr kumimoji="1" lang="ja-JP" altLang="en-US" sz="2400" dirty="0"/>
          </a:p>
        </p:txBody>
      </p:sp>
      <p:sp>
        <p:nvSpPr>
          <p:cNvPr id="4" name="スライド番号プレースホルダー 3">
            <a:extLst>
              <a:ext uri="{FF2B5EF4-FFF2-40B4-BE49-F238E27FC236}">
                <a16:creationId xmlns:a16="http://schemas.microsoft.com/office/drawing/2014/main" id="{8FFAF758-3323-2B8F-F904-FD788FE6BBE9}"/>
              </a:ext>
            </a:extLst>
          </p:cNvPr>
          <p:cNvSpPr>
            <a:spLocks noGrp="1"/>
          </p:cNvSpPr>
          <p:nvPr>
            <p:ph type="sldNum" sz="quarter" idx="12"/>
          </p:nvPr>
        </p:nvSpPr>
        <p:spPr/>
        <p:txBody>
          <a:bodyPr/>
          <a:lstStyle/>
          <a:p>
            <a:fld id="{4B077F3A-4098-4199-8925-77865D1E3500}" type="slidenum">
              <a:rPr kumimoji="1" lang="ja-JP" altLang="en-US" smtClean="0"/>
              <a:t>65</a:t>
            </a:fld>
            <a:endParaRPr kumimoji="1" lang="ja-JP" altLang="en-US"/>
          </a:p>
        </p:txBody>
      </p:sp>
    </p:spTree>
    <p:extLst>
      <p:ext uri="{BB962C8B-B14F-4D97-AF65-F5344CB8AC3E}">
        <p14:creationId xmlns:p14="http://schemas.microsoft.com/office/powerpoint/2010/main" val="318194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4FAEE5-5263-3C91-4C9B-68B0E03BAE0D}"/>
              </a:ext>
            </a:extLst>
          </p:cNvPr>
          <p:cNvSpPr>
            <a:spLocks noGrp="1"/>
          </p:cNvSpPr>
          <p:nvPr>
            <p:ph type="title"/>
          </p:nvPr>
        </p:nvSpPr>
        <p:spPr/>
        <p:txBody>
          <a:bodyPr/>
          <a:lstStyle/>
          <a:p>
            <a:r>
              <a:rPr kumimoji="1" lang="ja-JP" altLang="en-US" dirty="0"/>
              <a:t>直線上の</a:t>
            </a:r>
            <a:r>
              <a:rPr kumimoji="1" lang="en-US" altLang="ja-JP" dirty="0"/>
              <a:t>OMM</a:t>
            </a:r>
            <a:r>
              <a:rPr lang="ja-JP" altLang="en-US" dirty="0"/>
              <a:t>２</a:t>
            </a:r>
            <a:endParaRPr kumimoji="1" lang="ja-JP" altLang="en-US" dirty="0"/>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A11C66A4-5D17-F79B-EBBD-3DCE414E959A}"/>
                  </a:ext>
                </a:extLst>
              </p:cNvPr>
              <p:cNvGraphicFramePr>
                <a:graphicFrameLocks noGrp="1"/>
              </p:cNvGraphicFramePr>
              <p:nvPr>
                <p:extLst>
                  <p:ext uri="{D42A27DB-BD31-4B8C-83A1-F6EECF244321}">
                    <p14:modId xmlns:p14="http://schemas.microsoft.com/office/powerpoint/2010/main" val="1277693540"/>
                  </p:ext>
                </p:extLst>
              </p:nvPr>
            </p:nvGraphicFramePr>
            <p:xfrm>
              <a:off x="838200" y="2115133"/>
              <a:ext cx="10515600" cy="3011051"/>
            </p:xfrm>
            <a:graphic>
              <a:graphicData uri="http://schemas.openxmlformats.org/drawingml/2006/table">
                <a:tbl>
                  <a:tblPr firstRow="1" bandRow="1">
                    <a:tableStyleId>{5940675A-B579-460E-94D1-54222C63F5DA}</a:tableStyleId>
                  </a:tblPr>
                  <a:tblGrid>
                    <a:gridCol w="3161145">
                      <a:extLst>
                        <a:ext uri="{9D8B030D-6E8A-4147-A177-3AD203B41FA5}">
                          <a16:colId xmlns:a16="http://schemas.microsoft.com/office/drawing/2014/main" val="4218579142"/>
                        </a:ext>
                      </a:extLst>
                    </a:gridCol>
                    <a:gridCol w="3849255">
                      <a:extLst>
                        <a:ext uri="{9D8B030D-6E8A-4147-A177-3AD203B41FA5}">
                          <a16:colId xmlns:a16="http://schemas.microsoft.com/office/drawing/2014/main" val="2826435420"/>
                        </a:ext>
                      </a:extLst>
                    </a:gridCol>
                    <a:gridCol w="3505200">
                      <a:extLst>
                        <a:ext uri="{9D8B030D-6E8A-4147-A177-3AD203B41FA5}">
                          <a16:colId xmlns:a16="http://schemas.microsoft.com/office/drawing/2014/main" val="3575227427"/>
                        </a:ext>
                      </a:extLst>
                    </a:gridCol>
                  </a:tblGrid>
                  <a:tr h="437932">
                    <a:tc>
                      <a:txBody>
                        <a:bodyPr/>
                        <a:lstStyle/>
                        <a:p>
                          <a:pPr algn="ctr"/>
                          <a:r>
                            <a:rPr kumimoji="1" lang="ja-JP" altLang="en-US" dirty="0"/>
                            <a:t>文献</a:t>
                          </a:r>
                        </a:p>
                      </a:txBody>
                      <a:tcPr anchor="ctr"/>
                    </a:tc>
                    <a:tc>
                      <a:txBody>
                        <a:bodyPr/>
                        <a:lstStyle/>
                        <a:p>
                          <a:pPr algn="ctr"/>
                          <a:r>
                            <a:rPr kumimoji="1" lang="ja-JP" altLang="en-US" dirty="0"/>
                            <a:t>競合比上界</a:t>
                          </a:r>
                        </a:p>
                      </a:txBody>
                      <a:tcPr anchor="ctr"/>
                    </a:tc>
                    <a:tc>
                      <a:txBody>
                        <a:bodyPr/>
                        <a:lstStyle/>
                        <a:p>
                          <a:pPr algn="ctr"/>
                          <a:r>
                            <a:rPr kumimoji="1" lang="ja-JP" altLang="en-US" dirty="0"/>
                            <a:t>競合比下界</a:t>
                          </a:r>
                        </a:p>
                      </a:txBody>
                      <a:tcPr anchor="ctr"/>
                    </a:tc>
                    <a:extLst>
                      <a:ext uri="{0D108BD9-81ED-4DB2-BD59-A6C34878D82A}">
                        <a16:rowId xmlns:a16="http://schemas.microsoft.com/office/drawing/2014/main" val="3154385245"/>
                      </a:ext>
                    </a:extLst>
                  </a:tr>
                  <a:tr h="389629">
                    <a:tc>
                      <a:txBody>
                        <a:bodyPr/>
                        <a:lstStyle/>
                        <a:p>
                          <a:pPr algn="ctr"/>
                          <a:r>
                            <a:rPr lang="en-US" altLang="ja-JP" sz="1800" dirty="0"/>
                            <a:t>[Fuchs et al., 2005]</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9.001</m:t>
                                </m:r>
                              </m:oMath>
                            </m:oMathPara>
                          </a14:m>
                          <a:endParaRPr kumimoji="1" lang="ja-JP" altLang="en-US" dirty="0"/>
                        </a:p>
                      </a:txBody>
                      <a:tcPr anchor="ctr"/>
                    </a:tc>
                    <a:extLst>
                      <a:ext uri="{0D108BD9-81ED-4DB2-BD59-A6C34878D82A}">
                        <a16:rowId xmlns:a16="http://schemas.microsoft.com/office/drawing/2014/main" val="3999339419"/>
                      </a:ext>
                    </a:extLst>
                  </a:tr>
                  <a:tr h="389629">
                    <a:tc>
                      <a:txBody>
                        <a:bodyPr/>
                        <a:lstStyle/>
                        <a:p>
                          <a:pPr algn="ctr"/>
                          <a:r>
                            <a:rPr lang="en-US" altLang="ja-JP" sz="1800" dirty="0"/>
                            <a:t>[</a:t>
                          </a:r>
                          <a:r>
                            <a:rPr lang="en-US" altLang="ja-JP" sz="1800" dirty="0" err="1"/>
                            <a:t>Antoniodis</a:t>
                          </a:r>
                          <a:r>
                            <a:rPr lang="en-US" altLang="ja-JP" sz="1800" dirty="0"/>
                            <a:t> et al., 2014]</a:t>
                          </a:r>
                          <a:endParaRPr kumimoji="1" lang="ja-JP" altLang="en-US" dirty="0"/>
                        </a:p>
                      </a:txBody>
                      <a:tcPr anchor="ctr"/>
                    </a:tc>
                    <a:tc>
                      <a:txBody>
                        <a:bodyPr/>
                        <a:lstStyle/>
                        <a:p>
                          <a:pPr algn="ctr"/>
                          <a14:m>
                            <m:oMath xmlns:m="http://schemas.openxmlformats.org/officeDocument/2006/math">
                              <m:r>
                                <a:rPr lang="en-US" altLang="ja-JP" sz="1800" i="1" smtClean="0">
                                  <a:latin typeface="Cambria Math" panose="02040503050406030204" pitchFamily="18" charset="0"/>
                                </a:rPr>
                                <m:t>𝑜</m:t>
                              </m:r>
                              <m:d>
                                <m:dPr>
                                  <m:ctrlPr>
                                    <a:rPr lang="en-US" altLang="ja-JP" sz="1800" i="1">
                                      <a:latin typeface="Cambria Math" panose="02040503050406030204" pitchFamily="18" charset="0"/>
                                    </a:rPr>
                                  </m:ctrlPr>
                                </m:dPr>
                                <m:e>
                                  <m:r>
                                    <a:rPr lang="en-US" altLang="ja-JP" sz="1800" i="1">
                                      <a:latin typeface="Cambria Math" panose="02040503050406030204" pitchFamily="18" charset="0"/>
                                    </a:rPr>
                                    <m:t>𝑛</m:t>
                                  </m:r>
                                </m:e>
                              </m:d>
                            </m:oMath>
                          </a14:m>
                          <a:r>
                            <a:rPr lang="ja-JP" altLang="en-US" sz="1800" dirty="0"/>
                            <a:t>（決定的）</a:t>
                          </a:r>
                          <a:endParaRPr kumimoji="1" lang="ja-JP" altLang="en-US" dirty="0"/>
                        </a:p>
                      </a:txBody>
                      <a:tcPr anchor="ctr"/>
                    </a:tc>
                    <a:tc>
                      <a:txBody>
                        <a:bodyPr/>
                        <a:lstStyle/>
                        <a:p>
                          <a:pPr algn="ctr"/>
                          <a:r>
                            <a:rPr kumimoji="1" lang="en-US" altLang="ja-JP" dirty="0"/>
                            <a:t>-</a:t>
                          </a:r>
                          <a:endParaRPr kumimoji="1" lang="ja-JP" altLang="en-US" dirty="0"/>
                        </a:p>
                      </a:txBody>
                      <a:tcPr anchor="ctr"/>
                    </a:tc>
                    <a:extLst>
                      <a:ext uri="{0D108BD9-81ED-4DB2-BD59-A6C34878D82A}">
                        <a16:rowId xmlns:a16="http://schemas.microsoft.com/office/drawing/2014/main" val="4249186940"/>
                      </a:ext>
                    </a:extLst>
                  </a:tr>
                  <a:tr h="389629">
                    <a:tc>
                      <a:txBody>
                        <a:bodyPr/>
                        <a:lstStyle/>
                        <a:p>
                          <a:pPr algn="ctr"/>
                          <a:r>
                            <a:rPr lang="en-US" altLang="ja-JP" sz="1800" dirty="0"/>
                            <a:t>[Nayyar and Raghvendra, 2017] </a:t>
                          </a:r>
                          <a:endParaRPr kumimoji="1" lang="ja-JP"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800" dirty="0"/>
                            <a:t>RM</a:t>
                          </a:r>
                          <a:r>
                            <a:rPr lang="ja-JP" altLang="en-US" sz="1800" dirty="0"/>
                            <a:t>は </a:t>
                          </a:r>
                          <a14:m>
                            <m:oMath xmlns:m="http://schemas.openxmlformats.org/officeDocument/2006/math">
                              <m:r>
                                <a:rPr lang="en-US" altLang="ja-JP" sz="1800" b="0" i="1" smtClean="0">
                                  <a:latin typeface="Cambria Math" panose="02040503050406030204" pitchFamily="18" charset="0"/>
                                </a:rPr>
                                <m:t>𝑂</m:t>
                              </m:r>
                              <m:d>
                                <m:dPr>
                                  <m:ctrlPr>
                                    <a:rPr lang="en-US" altLang="ja-JP" sz="1800" b="0" i="1" smtClean="0">
                                      <a:latin typeface="Cambria Math" panose="02040503050406030204" pitchFamily="18" charset="0"/>
                                    </a:rPr>
                                  </m:ctrlPr>
                                </m:dPr>
                                <m:e>
                                  <m:sSup>
                                    <m:sSupPr>
                                      <m:ctrlPr>
                                        <a:rPr lang="en-US" altLang="ja-JP" sz="1800" b="0" i="1" smtClean="0">
                                          <a:latin typeface="Cambria Math" panose="02040503050406030204" pitchFamily="18" charset="0"/>
                                        </a:rPr>
                                      </m:ctrlPr>
                                    </m:sSupPr>
                                    <m:e>
                                      <m:r>
                                        <m:rPr>
                                          <m:sty m:val="p"/>
                                        </m:rPr>
                                        <a:rPr lang="en-US" altLang="ja-JP" sz="1800" b="0" i="0" smtClean="0">
                                          <a:latin typeface="Cambria Math" panose="02040503050406030204" pitchFamily="18" charset="0"/>
                                        </a:rPr>
                                        <m:t>log</m:t>
                                      </m:r>
                                    </m:e>
                                    <m:sup>
                                      <m:r>
                                        <a:rPr lang="en-US" altLang="ja-JP" sz="1800" b="0" i="1" smtClean="0">
                                          <a:latin typeface="Cambria Math" panose="02040503050406030204" pitchFamily="18" charset="0"/>
                                        </a:rPr>
                                        <m:t>2</m:t>
                                      </m:r>
                                    </m:sup>
                                  </m:sSup>
                                  <m:r>
                                    <a:rPr lang="en-US" altLang="ja-JP" sz="1800" b="0" i="1" smtClean="0">
                                      <a:latin typeface="Cambria Math" panose="02040503050406030204" pitchFamily="18" charset="0"/>
                                    </a:rPr>
                                    <m:t> </m:t>
                                  </m:r>
                                  <m:r>
                                    <a:rPr lang="en-US" altLang="ja-JP" sz="1800" b="0" i="1" smtClean="0">
                                      <a:latin typeface="Cambria Math" panose="02040503050406030204" pitchFamily="18" charset="0"/>
                                    </a:rPr>
                                    <m:t>𝑛</m:t>
                                  </m:r>
                                </m:e>
                              </m:d>
                            </m:oMath>
                          </a14:m>
                          <a:r>
                            <a:rPr lang="en-US" altLang="ja-JP" sz="1800" dirty="0"/>
                            <a:t>-</a:t>
                          </a:r>
                          <a:r>
                            <a:rPr lang="ja-JP" altLang="en-US" sz="1800" dirty="0"/>
                            <a:t>競合的</a:t>
                          </a:r>
                          <a:endParaRPr lang="en-US" altLang="ja-JP" sz="1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800" dirty="0"/>
                            <a:t>-</a:t>
                          </a:r>
                        </a:p>
                      </a:txBody>
                      <a:tcPr anchor="ctr"/>
                    </a:tc>
                    <a:extLst>
                      <a:ext uri="{0D108BD9-81ED-4DB2-BD59-A6C34878D82A}">
                        <a16:rowId xmlns:a16="http://schemas.microsoft.com/office/drawing/2014/main" val="1827262072"/>
                      </a:ext>
                    </a:extLst>
                  </a:tr>
                  <a:tr h="389629">
                    <a:tc>
                      <a:txBody>
                        <a:bodyPr/>
                        <a:lstStyle/>
                        <a:p>
                          <a:pPr algn="ctr"/>
                          <a:r>
                            <a:rPr lang="en-US" altLang="ja-JP" sz="1800" dirty="0"/>
                            <a:t>[</a:t>
                          </a:r>
                          <a:r>
                            <a:rPr lang="en-US" altLang="ja-JP" sz="1800" dirty="0" err="1"/>
                            <a:t>Antoniodis</a:t>
                          </a:r>
                          <a:r>
                            <a:rPr lang="en-US" altLang="ja-JP" sz="1800" dirty="0"/>
                            <a:t> et al., 2017]</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algn="ctr"/>
                          <a:r>
                            <a:rPr lang="ja-JP" altLang="en-US" sz="1800" dirty="0"/>
                            <a:t>自然なアルゴリズムは </a:t>
                          </a:r>
                          <a14:m>
                            <m:oMath xmlns:m="http://schemas.openxmlformats.org/officeDocument/2006/math">
                              <m:r>
                                <m:rPr>
                                  <m:sty m:val="p"/>
                                </m:rPr>
                                <a:rPr lang="en-US" altLang="ja-JP" sz="1800" b="0" i="0" smtClean="0">
                                  <a:latin typeface="Cambria Math" panose="02040503050406030204" pitchFamily="18" charset="0"/>
                                </a:rPr>
                                <m:t>Ω</m:t>
                              </m:r>
                              <m:d>
                                <m:dPr>
                                  <m:ctrlPr>
                                    <a:rPr lang="en-US" altLang="ja-JP" sz="1800" b="0" i="1" smtClean="0">
                                      <a:latin typeface="Cambria Math" panose="02040503050406030204" pitchFamily="18" charset="0"/>
                                    </a:rPr>
                                  </m:ctrlPr>
                                </m:dPr>
                                <m:e>
                                  <m:r>
                                    <m:rPr>
                                      <m:sty m:val="p"/>
                                    </m:rPr>
                                    <a:rPr lang="en-US" altLang="ja-JP" sz="1800" b="0" i="1" smtClean="0">
                                      <a:latin typeface="Cambria Math" panose="02040503050406030204" pitchFamily="18" charset="0"/>
                                    </a:rPr>
                                    <m:t>log</m:t>
                                  </m:r>
                                  <m:r>
                                    <a:rPr lang="en-US" altLang="ja-JP" sz="1800" b="0" i="1" smtClean="0">
                                      <a:latin typeface="Cambria Math" panose="02040503050406030204" pitchFamily="18" charset="0"/>
                                    </a:rPr>
                                    <m:t> </m:t>
                                  </m:r>
                                  <m:r>
                                    <a:rPr lang="en-US" altLang="ja-JP" sz="1800" b="0" i="1" smtClean="0">
                                      <a:latin typeface="Cambria Math" panose="02040503050406030204" pitchFamily="18" charset="0"/>
                                    </a:rPr>
                                    <m:t>𝑛</m:t>
                                  </m:r>
                                </m:e>
                              </m:d>
                            </m:oMath>
                          </a14:m>
                          <a:endParaRPr kumimoji="1" lang="ja-JP" altLang="en-US" dirty="0"/>
                        </a:p>
                      </a:txBody>
                      <a:tcPr anchor="ctr"/>
                    </a:tc>
                    <a:extLst>
                      <a:ext uri="{0D108BD9-81ED-4DB2-BD59-A6C34878D82A}">
                        <a16:rowId xmlns:a16="http://schemas.microsoft.com/office/drawing/2014/main" val="2273747708"/>
                      </a:ext>
                    </a:extLst>
                  </a:tr>
                  <a:tr h="389629">
                    <a:tc>
                      <a:txBody>
                        <a:bodyPr/>
                        <a:lstStyle/>
                        <a:p>
                          <a:pPr algn="ctr"/>
                          <a:r>
                            <a:rPr lang="en-US" altLang="ja-JP" sz="1800" dirty="0"/>
                            <a:t>[Raghvendra, 2018] </a:t>
                          </a:r>
                          <a:endParaRPr kumimoji="1" lang="ja-JP"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800" dirty="0"/>
                            <a:t>RM</a:t>
                          </a:r>
                          <a:r>
                            <a:rPr lang="ja-JP" altLang="en-US" sz="1800" dirty="0"/>
                            <a:t>は </a:t>
                          </a:r>
                          <a14:m>
                            <m:oMath xmlns:m="http://schemas.openxmlformats.org/officeDocument/2006/math">
                              <m:r>
                                <a:rPr lang="en-US" altLang="ja-JP" sz="1800" b="0" i="1" smtClean="0">
                                  <a:latin typeface="Cambria Math" panose="02040503050406030204" pitchFamily="18" charset="0"/>
                                </a:rPr>
                                <m:t>𝑂</m:t>
                              </m:r>
                              <m:d>
                                <m:dPr>
                                  <m:ctrlPr>
                                    <a:rPr lang="en-US" altLang="ja-JP" sz="1800" b="0" i="1" smtClean="0">
                                      <a:latin typeface="Cambria Math" panose="02040503050406030204" pitchFamily="18" charset="0"/>
                                    </a:rPr>
                                  </m:ctrlPr>
                                </m:dPr>
                                <m:e>
                                  <m:r>
                                    <m:rPr>
                                      <m:sty m:val="p"/>
                                    </m:rPr>
                                    <a:rPr lang="en-US" altLang="ja-JP" sz="1800" b="0" i="1" smtClean="0">
                                      <a:latin typeface="Cambria Math" panose="02040503050406030204" pitchFamily="18" charset="0"/>
                                    </a:rPr>
                                    <m:t>log</m:t>
                                  </m:r>
                                  <m:r>
                                    <a:rPr lang="en-US" altLang="ja-JP" sz="1800" b="0" i="1" smtClean="0">
                                      <a:latin typeface="Cambria Math" panose="02040503050406030204" pitchFamily="18" charset="0"/>
                                    </a:rPr>
                                    <m:t> </m:t>
                                  </m:r>
                                  <m:r>
                                    <a:rPr lang="en-US" altLang="ja-JP" sz="1800" b="0" i="1" smtClean="0">
                                      <a:latin typeface="Cambria Math" panose="02040503050406030204" pitchFamily="18" charset="0"/>
                                    </a:rPr>
                                    <m:t>𝑛</m:t>
                                  </m:r>
                                </m:e>
                              </m:d>
                            </m:oMath>
                          </a14:m>
                          <a:r>
                            <a:rPr lang="en-US" altLang="ja-JP" sz="1800" dirty="0"/>
                            <a:t>-</a:t>
                          </a:r>
                          <a:r>
                            <a:rPr lang="ja-JP" altLang="en-US" sz="1800" dirty="0"/>
                            <a:t>競合的</a:t>
                          </a:r>
                        </a:p>
                      </a:txBody>
                      <a:tcPr anchor="ctr"/>
                    </a:tc>
                    <a:tc>
                      <a:txBody>
                        <a:bodyPr/>
                        <a:lstStyle/>
                        <a:p>
                          <a:pPr algn="ctr"/>
                          <a:r>
                            <a:rPr kumimoji="1" lang="en-US" altLang="ja-JP" dirty="0"/>
                            <a:t>-</a:t>
                          </a:r>
                          <a:endParaRPr kumimoji="1" lang="ja-JP" altLang="en-US" dirty="0"/>
                        </a:p>
                      </a:txBody>
                      <a:tcPr anchor="ctr"/>
                    </a:tc>
                    <a:extLst>
                      <a:ext uri="{0D108BD9-81ED-4DB2-BD59-A6C34878D82A}">
                        <a16:rowId xmlns:a16="http://schemas.microsoft.com/office/drawing/2014/main" val="3025561719"/>
                      </a:ext>
                    </a:extLst>
                  </a:tr>
                  <a:tr h="624974">
                    <a:tc>
                      <a:txBody>
                        <a:bodyPr/>
                        <a:lstStyle/>
                        <a:p>
                          <a:pPr algn="ctr"/>
                          <a:r>
                            <a:rPr lang="en-US" altLang="ja-JP" sz="1800" dirty="0"/>
                            <a:t>[</a:t>
                          </a:r>
                          <a:r>
                            <a:rPr lang="en-US" altLang="ja-JP" sz="1800" dirty="0" err="1"/>
                            <a:t>Peserico</a:t>
                          </a:r>
                          <a:r>
                            <a:rPr lang="en-US" altLang="ja-JP" sz="1800" dirty="0"/>
                            <a:t> and </a:t>
                          </a:r>
                          <a:r>
                            <a:rPr lang="en-US" altLang="ja-JP" sz="1800" dirty="0" err="1"/>
                            <a:t>Scquizzato</a:t>
                          </a:r>
                          <a:r>
                            <a:rPr lang="en-US" altLang="ja-JP" sz="1800" dirty="0"/>
                            <a:t>, 2021] </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m:rPr>
                                    <m:sty m:val="p"/>
                                  </m:rPr>
                                  <a:rPr lang="en-US" altLang="ja-JP" sz="1800" b="0" i="0" smtClean="0">
                                    <a:latin typeface="Cambria Math" panose="02040503050406030204" pitchFamily="18" charset="0"/>
                                  </a:rPr>
                                  <m:t>Ω</m:t>
                                </m:r>
                                <m:d>
                                  <m:dPr>
                                    <m:ctrlPr>
                                      <a:rPr lang="en-US" altLang="ja-JP" sz="1800" b="0" i="1" smtClean="0">
                                        <a:latin typeface="Cambria Math" panose="02040503050406030204" pitchFamily="18" charset="0"/>
                                      </a:rPr>
                                    </m:ctrlPr>
                                  </m:dPr>
                                  <m:e>
                                    <m:rad>
                                      <m:radPr>
                                        <m:degHide m:val="on"/>
                                        <m:ctrlPr>
                                          <a:rPr lang="en-US" altLang="ja-JP" sz="1800" b="0" i="1" smtClean="0">
                                            <a:latin typeface="Cambria Math" panose="02040503050406030204" pitchFamily="18" charset="0"/>
                                          </a:rPr>
                                        </m:ctrlPr>
                                      </m:radPr>
                                      <m:deg/>
                                      <m:e>
                                        <m:r>
                                          <m:rPr>
                                            <m:sty m:val="p"/>
                                          </m:rPr>
                                          <a:rPr lang="en-US" altLang="ja-JP" sz="1800" b="0" i="1" smtClean="0">
                                            <a:latin typeface="Cambria Math" panose="02040503050406030204" pitchFamily="18" charset="0"/>
                                          </a:rPr>
                                          <m:t>log</m:t>
                                        </m:r>
                                        <m:r>
                                          <a:rPr lang="en-US" altLang="ja-JP" sz="1800" b="0" i="1" smtClean="0">
                                            <a:latin typeface="Cambria Math" panose="02040503050406030204" pitchFamily="18" charset="0"/>
                                          </a:rPr>
                                          <m:t> </m:t>
                                        </m:r>
                                        <m:r>
                                          <a:rPr lang="en-US" altLang="ja-JP" sz="1800" b="0" i="1" smtClean="0">
                                            <a:latin typeface="Cambria Math" panose="02040503050406030204" pitchFamily="18" charset="0"/>
                                          </a:rPr>
                                          <m:t>𝑛</m:t>
                                        </m:r>
                                      </m:e>
                                    </m:rad>
                                  </m:e>
                                </m:d>
                              </m:oMath>
                            </m:oMathPara>
                          </a14:m>
                          <a:endParaRPr kumimoji="1" lang="ja-JP" altLang="en-US" dirty="0"/>
                        </a:p>
                      </a:txBody>
                      <a:tcPr anchor="ctr"/>
                    </a:tc>
                    <a:extLst>
                      <a:ext uri="{0D108BD9-81ED-4DB2-BD59-A6C34878D82A}">
                        <a16:rowId xmlns:a16="http://schemas.microsoft.com/office/drawing/2014/main" val="485699252"/>
                      </a:ext>
                    </a:extLst>
                  </a:tr>
                </a:tbl>
              </a:graphicData>
            </a:graphic>
          </p:graphicFrame>
        </mc:Choice>
        <mc:Fallback xmlns="">
          <p:graphicFrame>
            <p:nvGraphicFramePr>
              <p:cNvPr id="5" name="表 4">
                <a:extLst>
                  <a:ext uri="{FF2B5EF4-FFF2-40B4-BE49-F238E27FC236}">
                    <a16:creationId xmlns:a16="http://schemas.microsoft.com/office/drawing/2014/main" id="{A11C66A4-5D17-F79B-EBBD-3DCE414E959A}"/>
                  </a:ext>
                </a:extLst>
              </p:cNvPr>
              <p:cNvGraphicFramePr>
                <a:graphicFrameLocks noGrp="1"/>
              </p:cNvGraphicFramePr>
              <p:nvPr>
                <p:extLst>
                  <p:ext uri="{D42A27DB-BD31-4B8C-83A1-F6EECF244321}">
                    <p14:modId xmlns:p14="http://schemas.microsoft.com/office/powerpoint/2010/main" val="1277693540"/>
                  </p:ext>
                </p:extLst>
              </p:nvPr>
            </p:nvGraphicFramePr>
            <p:xfrm>
              <a:off x="838200" y="2115133"/>
              <a:ext cx="10515600" cy="3011051"/>
            </p:xfrm>
            <a:graphic>
              <a:graphicData uri="http://schemas.openxmlformats.org/drawingml/2006/table">
                <a:tbl>
                  <a:tblPr firstRow="1" bandRow="1">
                    <a:tableStyleId>{5940675A-B579-460E-94D1-54222C63F5DA}</a:tableStyleId>
                  </a:tblPr>
                  <a:tblGrid>
                    <a:gridCol w="3161145">
                      <a:extLst>
                        <a:ext uri="{9D8B030D-6E8A-4147-A177-3AD203B41FA5}">
                          <a16:colId xmlns:a16="http://schemas.microsoft.com/office/drawing/2014/main" val="4218579142"/>
                        </a:ext>
                      </a:extLst>
                    </a:gridCol>
                    <a:gridCol w="3849255">
                      <a:extLst>
                        <a:ext uri="{9D8B030D-6E8A-4147-A177-3AD203B41FA5}">
                          <a16:colId xmlns:a16="http://schemas.microsoft.com/office/drawing/2014/main" val="2826435420"/>
                        </a:ext>
                      </a:extLst>
                    </a:gridCol>
                    <a:gridCol w="3505200">
                      <a:extLst>
                        <a:ext uri="{9D8B030D-6E8A-4147-A177-3AD203B41FA5}">
                          <a16:colId xmlns:a16="http://schemas.microsoft.com/office/drawing/2014/main" val="3575227427"/>
                        </a:ext>
                      </a:extLst>
                    </a:gridCol>
                  </a:tblGrid>
                  <a:tr h="437932">
                    <a:tc>
                      <a:txBody>
                        <a:bodyPr/>
                        <a:lstStyle/>
                        <a:p>
                          <a:pPr algn="ctr"/>
                          <a:r>
                            <a:rPr kumimoji="1" lang="ja-JP" altLang="en-US" dirty="0"/>
                            <a:t>文献</a:t>
                          </a:r>
                        </a:p>
                      </a:txBody>
                      <a:tcPr anchor="ctr"/>
                    </a:tc>
                    <a:tc>
                      <a:txBody>
                        <a:bodyPr/>
                        <a:lstStyle/>
                        <a:p>
                          <a:pPr algn="ctr"/>
                          <a:r>
                            <a:rPr kumimoji="1" lang="ja-JP" altLang="en-US" dirty="0"/>
                            <a:t>競合比上界</a:t>
                          </a:r>
                        </a:p>
                      </a:txBody>
                      <a:tcPr anchor="ctr"/>
                    </a:tc>
                    <a:tc>
                      <a:txBody>
                        <a:bodyPr/>
                        <a:lstStyle/>
                        <a:p>
                          <a:pPr algn="ctr"/>
                          <a:r>
                            <a:rPr kumimoji="1" lang="ja-JP" altLang="en-US" dirty="0"/>
                            <a:t>競合比下界</a:t>
                          </a:r>
                        </a:p>
                      </a:txBody>
                      <a:tcPr anchor="ctr"/>
                    </a:tc>
                    <a:extLst>
                      <a:ext uri="{0D108BD9-81ED-4DB2-BD59-A6C34878D82A}">
                        <a16:rowId xmlns:a16="http://schemas.microsoft.com/office/drawing/2014/main" val="3154385245"/>
                      </a:ext>
                    </a:extLst>
                  </a:tr>
                  <a:tr h="389629">
                    <a:tc>
                      <a:txBody>
                        <a:bodyPr/>
                        <a:lstStyle/>
                        <a:p>
                          <a:pPr algn="ctr"/>
                          <a:r>
                            <a:rPr lang="en-US" altLang="ja-JP" sz="1800" dirty="0"/>
                            <a:t>[Fuchs et al., 2005]</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endParaRPr lang="ja-JP"/>
                        </a:p>
                      </a:txBody>
                      <a:tcPr anchor="ctr">
                        <a:blipFill>
                          <a:blip r:embed="rId2"/>
                          <a:stretch>
                            <a:fillRect l="-200348" t="-114063" r="-348" b="-564063"/>
                          </a:stretch>
                        </a:blipFill>
                      </a:tcPr>
                    </a:tc>
                    <a:extLst>
                      <a:ext uri="{0D108BD9-81ED-4DB2-BD59-A6C34878D82A}">
                        <a16:rowId xmlns:a16="http://schemas.microsoft.com/office/drawing/2014/main" val="3999339419"/>
                      </a:ext>
                    </a:extLst>
                  </a:tr>
                  <a:tr h="389629">
                    <a:tc>
                      <a:txBody>
                        <a:bodyPr/>
                        <a:lstStyle/>
                        <a:p>
                          <a:pPr algn="ctr"/>
                          <a:r>
                            <a:rPr lang="en-US" altLang="ja-JP" sz="1800" dirty="0"/>
                            <a:t>[</a:t>
                          </a:r>
                          <a:r>
                            <a:rPr lang="en-US" altLang="ja-JP" sz="1800" dirty="0" err="1"/>
                            <a:t>Antoniodis</a:t>
                          </a:r>
                          <a:r>
                            <a:rPr lang="en-US" altLang="ja-JP" sz="1800" dirty="0"/>
                            <a:t> et al., 2014]</a:t>
                          </a:r>
                          <a:endParaRPr kumimoji="1" lang="ja-JP" altLang="en-US" dirty="0"/>
                        </a:p>
                      </a:txBody>
                      <a:tcPr anchor="ctr"/>
                    </a:tc>
                    <a:tc>
                      <a:txBody>
                        <a:bodyPr/>
                        <a:lstStyle/>
                        <a:p>
                          <a:endParaRPr lang="ja-JP"/>
                        </a:p>
                      </a:txBody>
                      <a:tcPr anchor="ctr">
                        <a:blipFill>
                          <a:blip r:embed="rId2"/>
                          <a:stretch>
                            <a:fillRect l="-82278" t="-214063" r="-91297" b="-464063"/>
                          </a:stretch>
                        </a:blipFill>
                      </a:tcPr>
                    </a:tc>
                    <a:tc>
                      <a:txBody>
                        <a:bodyPr/>
                        <a:lstStyle/>
                        <a:p>
                          <a:pPr algn="ctr"/>
                          <a:r>
                            <a:rPr kumimoji="1" lang="en-US" altLang="ja-JP" dirty="0"/>
                            <a:t>-</a:t>
                          </a:r>
                          <a:endParaRPr kumimoji="1" lang="ja-JP" altLang="en-US" dirty="0"/>
                        </a:p>
                      </a:txBody>
                      <a:tcPr anchor="ctr"/>
                    </a:tc>
                    <a:extLst>
                      <a:ext uri="{0D108BD9-81ED-4DB2-BD59-A6C34878D82A}">
                        <a16:rowId xmlns:a16="http://schemas.microsoft.com/office/drawing/2014/main" val="4249186940"/>
                      </a:ext>
                    </a:extLst>
                  </a:tr>
                  <a:tr h="389629">
                    <a:tc>
                      <a:txBody>
                        <a:bodyPr/>
                        <a:lstStyle/>
                        <a:p>
                          <a:pPr algn="ctr"/>
                          <a:r>
                            <a:rPr lang="en-US" altLang="ja-JP" sz="1800" dirty="0"/>
                            <a:t>[Nayyar and Raghvendra, 2017] </a:t>
                          </a:r>
                          <a:endParaRPr kumimoji="1" lang="ja-JP" altLang="en-US" dirty="0"/>
                        </a:p>
                      </a:txBody>
                      <a:tcPr anchor="ctr"/>
                    </a:tc>
                    <a:tc>
                      <a:txBody>
                        <a:bodyPr/>
                        <a:lstStyle/>
                        <a:p>
                          <a:endParaRPr lang="ja-JP"/>
                        </a:p>
                      </a:txBody>
                      <a:tcPr anchor="ctr">
                        <a:blipFill>
                          <a:blip r:embed="rId2"/>
                          <a:stretch>
                            <a:fillRect l="-82278" t="-314063" r="-91297" b="-36406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800" dirty="0"/>
                            <a:t>-</a:t>
                          </a:r>
                        </a:p>
                      </a:txBody>
                      <a:tcPr anchor="ctr"/>
                    </a:tc>
                    <a:extLst>
                      <a:ext uri="{0D108BD9-81ED-4DB2-BD59-A6C34878D82A}">
                        <a16:rowId xmlns:a16="http://schemas.microsoft.com/office/drawing/2014/main" val="1827262072"/>
                      </a:ext>
                    </a:extLst>
                  </a:tr>
                  <a:tr h="389629">
                    <a:tc>
                      <a:txBody>
                        <a:bodyPr/>
                        <a:lstStyle/>
                        <a:p>
                          <a:pPr algn="ctr"/>
                          <a:r>
                            <a:rPr lang="en-US" altLang="ja-JP" sz="1800" dirty="0"/>
                            <a:t>[</a:t>
                          </a:r>
                          <a:r>
                            <a:rPr lang="en-US" altLang="ja-JP" sz="1800" dirty="0" err="1"/>
                            <a:t>Antoniodis</a:t>
                          </a:r>
                          <a:r>
                            <a:rPr lang="en-US" altLang="ja-JP" sz="1800" dirty="0"/>
                            <a:t> et al., 2017]</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endParaRPr lang="ja-JP"/>
                        </a:p>
                      </a:txBody>
                      <a:tcPr anchor="ctr">
                        <a:blipFill>
                          <a:blip r:embed="rId2"/>
                          <a:stretch>
                            <a:fillRect l="-200348" t="-414063" r="-348" b="-264063"/>
                          </a:stretch>
                        </a:blipFill>
                      </a:tcPr>
                    </a:tc>
                    <a:extLst>
                      <a:ext uri="{0D108BD9-81ED-4DB2-BD59-A6C34878D82A}">
                        <a16:rowId xmlns:a16="http://schemas.microsoft.com/office/drawing/2014/main" val="2273747708"/>
                      </a:ext>
                    </a:extLst>
                  </a:tr>
                  <a:tr h="389629">
                    <a:tc>
                      <a:txBody>
                        <a:bodyPr/>
                        <a:lstStyle/>
                        <a:p>
                          <a:pPr algn="ctr"/>
                          <a:r>
                            <a:rPr lang="en-US" altLang="ja-JP" sz="1800" dirty="0"/>
                            <a:t>[Raghvendra, 2018] </a:t>
                          </a:r>
                          <a:endParaRPr kumimoji="1" lang="ja-JP" altLang="en-US" dirty="0"/>
                        </a:p>
                      </a:txBody>
                      <a:tcPr anchor="ctr"/>
                    </a:tc>
                    <a:tc>
                      <a:txBody>
                        <a:bodyPr/>
                        <a:lstStyle/>
                        <a:p>
                          <a:endParaRPr lang="ja-JP"/>
                        </a:p>
                      </a:txBody>
                      <a:tcPr anchor="ctr">
                        <a:blipFill>
                          <a:blip r:embed="rId2"/>
                          <a:stretch>
                            <a:fillRect l="-82278" t="-514063" r="-91297" b="-164063"/>
                          </a:stretch>
                        </a:blipFill>
                      </a:tcPr>
                    </a:tc>
                    <a:tc>
                      <a:txBody>
                        <a:bodyPr/>
                        <a:lstStyle/>
                        <a:p>
                          <a:pPr algn="ctr"/>
                          <a:r>
                            <a:rPr kumimoji="1" lang="en-US" altLang="ja-JP" dirty="0"/>
                            <a:t>-</a:t>
                          </a:r>
                          <a:endParaRPr kumimoji="1" lang="ja-JP" altLang="en-US" dirty="0"/>
                        </a:p>
                      </a:txBody>
                      <a:tcPr anchor="ctr"/>
                    </a:tc>
                    <a:extLst>
                      <a:ext uri="{0D108BD9-81ED-4DB2-BD59-A6C34878D82A}">
                        <a16:rowId xmlns:a16="http://schemas.microsoft.com/office/drawing/2014/main" val="3025561719"/>
                      </a:ext>
                    </a:extLst>
                  </a:tr>
                  <a:tr h="624974">
                    <a:tc>
                      <a:txBody>
                        <a:bodyPr/>
                        <a:lstStyle/>
                        <a:p>
                          <a:pPr algn="ctr"/>
                          <a:r>
                            <a:rPr lang="en-US" altLang="ja-JP" sz="1800" dirty="0"/>
                            <a:t>[</a:t>
                          </a:r>
                          <a:r>
                            <a:rPr lang="en-US" altLang="ja-JP" sz="1800" dirty="0" err="1"/>
                            <a:t>Peserico</a:t>
                          </a:r>
                          <a:r>
                            <a:rPr lang="en-US" altLang="ja-JP" sz="1800" dirty="0"/>
                            <a:t> and </a:t>
                          </a:r>
                          <a:r>
                            <a:rPr lang="en-US" altLang="ja-JP" sz="1800" dirty="0" err="1"/>
                            <a:t>Scquizzato</a:t>
                          </a:r>
                          <a:r>
                            <a:rPr lang="en-US" altLang="ja-JP" sz="1800" dirty="0"/>
                            <a:t>, 2021] </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endParaRPr lang="ja-JP"/>
                        </a:p>
                      </a:txBody>
                      <a:tcPr anchor="ctr">
                        <a:blipFill>
                          <a:blip r:embed="rId2"/>
                          <a:stretch>
                            <a:fillRect l="-200348" t="-381553" r="-348" b="-1942"/>
                          </a:stretch>
                        </a:blipFill>
                      </a:tcPr>
                    </a:tc>
                    <a:extLst>
                      <a:ext uri="{0D108BD9-81ED-4DB2-BD59-A6C34878D82A}">
                        <a16:rowId xmlns:a16="http://schemas.microsoft.com/office/drawing/2014/main" val="485699252"/>
                      </a:ext>
                    </a:extLst>
                  </a:tr>
                </a:tbl>
              </a:graphicData>
            </a:graphic>
          </p:graphicFrame>
        </mc:Fallback>
      </mc:AlternateContent>
      <p:sp>
        <p:nvSpPr>
          <p:cNvPr id="8" name="テキスト ボックス 7">
            <a:extLst>
              <a:ext uri="{FF2B5EF4-FFF2-40B4-BE49-F238E27FC236}">
                <a16:creationId xmlns:a16="http://schemas.microsoft.com/office/drawing/2014/main" id="{3FB6ADB8-F957-3B1C-7114-9C56B55B14E2}"/>
              </a:ext>
            </a:extLst>
          </p:cNvPr>
          <p:cNvSpPr txBox="1"/>
          <p:nvPr/>
        </p:nvSpPr>
        <p:spPr>
          <a:xfrm>
            <a:off x="838200" y="1597891"/>
            <a:ext cx="10515600" cy="461665"/>
          </a:xfrm>
          <a:prstGeom prst="rect">
            <a:avLst/>
          </a:prstGeom>
          <a:noFill/>
        </p:spPr>
        <p:txBody>
          <a:bodyPr wrap="square" rtlCol="0">
            <a:spAutoFit/>
          </a:bodyPr>
          <a:lstStyle/>
          <a:p>
            <a:r>
              <a:rPr kumimoji="1" lang="ja-JP" altLang="en-US" sz="2400" dirty="0"/>
              <a:t>直線上の</a:t>
            </a:r>
            <a:r>
              <a:rPr kumimoji="1" lang="en-US" altLang="ja-JP" sz="2400" dirty="0"/>
              <a:t>OMM</a:t>
            </a:r>
            <a:r>
              <a:rPr lang="ja-JP" altLang="en-US" sz="2400" dirty="0"/>
              <a:t>に関する</a:t>
            </a:r>
            <a:r>
              <a:rPr kumimoji="1" lang="ja-JP" altLang="en-US" sz="2400" dirty="0"/>
              <a:t>重要な</a:t>
            </a:r>
            <a:r>
              <a:rPr lang="ja-JP" altLang="en-US" sz="2400" dirty="0"/>
              <a:t>研究</a:t>
            </a:r>
            <a:endParaRPr kumimoji="1" lang="ja-JP" altLang="en-US" sz="2400"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A979D13F-F895-262F-70B6-07690B0D2639}"/>
                  </a:ext>
                </a:extLst>
              </p:cNvPr>
              <p:cNvSpPr txBox="1"/>
              <p:nvPr/>
            </p:nvSpPr>
            <p:spPr>
              <a:xfrm>
                <a:off x="838200" y="5260109"/>
                <a:ext cx="10515600" cy="909736"/>
              </a:xfrm>
              <a:prstGeom prst="rect">
                <a:avLst/>
              </a:prstGeom>
              <a:noFill/>
            </p:spPr>
            <p:txBody>
              <a:bodyPr wrap="square" rtlCol="0">
                <a:spAutoFit/>
              </a:bodyPr>
              <a:lstStyle/>
              <a:p>
                <a:r>
                  <a:rPr kumimoji="1" lang="ja-JP" altLang="en-US" sz="2400" dirty="0"/>
                  <a:t>現状最善の競合比上界は </a:t>
                </a:r>
                <a14:m>
                  <m:oMath xmlns:m="http://schemas.openxmlformats.org/officeDocument/2006/math">
                    <m:r>
                      <a:rPr lang="en-US" altLang="ja-JP" sz="2400" i="1">
                        <a:latin typeface="Cambria Math" panose="02040503050406030204" pitchFamily="18" charset="0"/>
                      </a:rPr>
                      <m:t>𝑂</m:t>
                    </m:r>
                    <m:d>
                      <m:dPr>
                        <m:ctrlPr>
                          <a:rPr lang="en-US" altLang="ja-JP" sz="2400" i="1">
                            <a:latin typeface="Cambria Math" panose="02040503050406030204" pitchFamily="18" charset="0"/>
                          </a:rPr>
                        </m:ctrlPr>
                      </m:dPr>
                      <m:e>
                        <m:r>
                          <m:rPr>
                            <m:sty m:val="p"/>
                          </m:rPr>
                          <a:rPr lang="en-US" altLang="ja-JP" sz="2400" i="1">
                            <a:latin typeface="Cambria Math" panose="02040503050406030204" pitchFamily="18" charset="0"/>
                          </a:rPr>
                          <m:t>log</m:t>
                        </m:r>
                        <m:r>
                          <a:rPr lang="en-US" altLang="ja-JP" sz="2400" i="1">
                            <a:latin typeface="Cambria Math" panose="02040503050406030204" pitchFamily="18" charset="0"/>
                          </a:rPr>
                          <m:t> </m:t>
                        </m:r>
                        <m:r>
                          <a:rPr lang="en-US" altLang="ja-JP" sz="2400" i="1">
                            <a:latin typeface="Cambria Math" panose="02040503050406030204" pitchFamily="18" charset="0"/>
                          </a:rPr>
                          <m:t>𝑛</m:t>
                        </m:r>
                      </m:e>
                    </m:d>
                  </m:oMath>
                </a14:m>
                <a:r>
                  <a:rPr kumimoji="1" lang="ja-JP" altLang="en-US" sz="2400" dirty="0"/>
                  <a:t> で下界は </a:t>
                </a:r>
                <a14:m>
                  <m:oMath xmlns:m="http://schemas.openxmlformats.org/officeDocument/2006/math">
                    <m:r>
                      <m:rPr>
                        <m:sty m:val="p"/>
                      </m:rPr>
                      <a:rPr lang="en-US" altLang="ja-JP" sz="2400">
                        <a:latin typeface="Cambria Math" panose="02040503050406030204" pitchFamily="18" charset="0"/>
                      </a:rPr>
                      <m:t>Ω</m:t>
                    </m:r>
                    <m:d>
                      <m:dPr>
                        <m:ctrlPr>
                          <a:rPr lang="en-US" altLang="ja-JP" sz="2400" i="1">
                            <a:latin typeface="Cambria Math" panose="02040503050406030204" pitchFamily="18" charset="0"/>
                          </a:rPr>
                        </m:ctrlPr>
                      </m:dPr>
                      <m:e>
                        <m:rad>
                          <m:radPr>
                            <m:degHide m:val="on"/>
                            <m:ctrlPr>
                              <a:rPr lang="en-US" altLang="ja-JP" sz="2400" i="1">
                                <a:latin typeface="Cambria Math" panose="02040503050406030204" pitchFamily="18" charset="0"/>
                              </a:rPr>
                            </m:ctrlPr>
                          </m:radPr>
                          <m:deg/>
                          <m:e>
                            <m:r>
                              <m:rPr>
                                <m:sty m:val="p"/>
                              </m:rPr>
                              <a:rPr lang="en-US" altLang="ja-JP" sz="2400" i="1">
                                <a:latin typeface="Cambria Math" panose="02040503050406030204" pitchFamily="18" charset="0"/>
                              </a:rPr>
                              <m:t>log</m:t>
                            </m:r>
                            <m:r>
                              <a:rPr lang="en-US" altLang="ja-JP" sz="2400" i="1">
                                <a:latin typeface="Cambria Math" panose="02040503050406030204" pitchFamily="18" charset="0"/>
                              </a:rPr>
                              <m:t> </m:t>
                            </m:r>
                            <m:r>
                              <a:rPr lang="en-US" altLang="ja-JP" sz="2400" i="1">
                                <a:latin typeface="Cambria Math" panose="02040503050406030204" pitchFamily="18" charset="0"/>
                              </a:rPr>
                              <m:t>𝑛</m:t>
                            </m:r>
                          </m:e>
                        </m:rad>
                      </m:e>
                    </m:d>
                  </m:oMath>
                </a14:m>
                <a:endParaRPr kumimoji="1" lang="en-US" altLang="ja-JP" sz="2400" dirty="0"/>
              </a:p>
              <a:p>
                <a:r>
                  <a:rPr lang="ja-JP" altLang="en-US" sz="2400" dirty="0"/>
                  <a:t>このギャップを埋めることは重要な未解決問題</a:t>
                </a:r>
                <a:endParaRPr kumimoji="1" lang="ja-JP" altLang="en-US" sz="2400" dirty="0"/>
              </a:p>
            </p:txBody>
          </p:sp>
        </mc:Choice>
        <mc:Fallback xmlns="">
          <p:sp>
            <p:nvSpPr>
              <p:cNvPr id="9" name="テキスト ボックス 8">
                <a:extLst>
                  <a:ext uri="{FF2B5EF4-FFF2-40B4-BE49-F238E27FC236}">
                    <a16:creationId xmlns:a16="http://schemas.microsoft.com/office/drawing/2014/main" id="{A979D13F-F895-262F-70B6-07690B0D2639}"/>
                  </a:ext>
                </a:extLst>
              </p:cNvPr>
              <p:cNvSpPr txBox="1">
                <a:spLocks noRot="1" noChangeAspect="1" noMove="1" noResize="1" noEditPoints="1" noAdjustHandles="1" noChangeArrowheads="1" noChangeShapeType="1" noTextEdit="1"/>
              </p:cNvSpPr>
              <p:nvPr/>
            </p:nvSpPr>
            <p:spPr>
              <a:xfrm>
                <a:off x="838200" y="5260109"/>
                <a:ext cx="10515600" cy="909736"/>
              </a:xfrm>
              <a:prstGeom prst="rect">
                <a:avLst/>
              </a:prstGeom>
              <a:blipFill>
                <a:blip r:embed="rId3"/>
                <a:stretch>
                  <a:fillRect l="-928" b="-15436"/>
                </a:stretch>
              </a:blipFill>
            </p:spPr>
            <p:txBody>
              <a:bodyPr/>
              <a:lstStyle/>
              <a:p>
                <a:r>
                  <a:rPr lang="ja-JP" altLang="en-US">
                    <a:noFill/>
                  </a:rPr>
                  <a:t> </a:t>
                </a:r>
              </a:p>
            </p:txBody>
          </p:sp>
        </mc:Fallback>
      </mc:AlternateContent>
      <p:sp>
        <p:nvSpPr>
          <p:cNvPr id="3" name="スライド番号プレースホルダー 2">
            <a:extLst>
              <a:ext uri="{FF2B5EF4-FFF2-40B4-BE49-F238E27FC236}">
                <a16:creationId xmlns:a16="http://schemas.microsoft.com/office/drawing/2014/main" id="{E56C72E5-3EAF-CEEC-C8AA-B752A21DA990}"/>
              </a:ext>
            </a:extLst>
          </p:cNvPr>
          <p:cNvSpPr>
            <a:spLocks noGrp="1"/>
          </p:cNvSpPr>
          <p:nvPr>
            <p:ph type="sldNum" sz="quarter" idx="12"/>
          </p:nvPr>
        </p:nvSpPr>
        <p:spPr/>
        <p:txBody>
          <a:bodyPr/>
          <a:lstStyle/>
          <a:p>
            <a:fld id="{4B077F3A-4098-4199-8925-77865D1E3500}" type="slidenum">
              <a:rPr kumimoji="1" lang="ja-JP" altLang="en-US" smtClean="0"/>
              <a:t>66</a:t>
            </a:fld>
            <a:endParaRPr kumimoji="1" lang="ja-JP" altLang="en-US"/>
          </a:p>
        </p:txBody>
      </p:sp>
    </p:spTree>
    <p:extLst>
      <p:ext uri="{BB962C8B-B14F-4D97-AF65-F5344CB8AC3E}">
        <p14:creationId xmlns:p14="http://schemas.microsoft.com/office/powerpoint/2010/main" val="34490395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B3974D-1C40-922C-529D-8B8F5239B6C8}"/>
              </a:ext>
            </a:extLst>
          </p:cNvPr>
          <p:cNvSpPr>
            <a:spLocks noGrp="1"/>
          </p:cNvSpPr>
          <p:nvPr>
            <p:ph type="title"/>
          </p:nvPr>
        </p:nvSpPr>
        <p:spPr/>
        <p:txBody>
          <a:bodyPr/>
          <a:lstStyle/>
          <a:p>
            <a:r>
              <a:rPr kumimoji="1" lang="en-US" altLang="ja-JP" dirty="0"/>
              <a:t>Doubling </a:t>
            </a:r>
            <a:r>
              <a:rPr kumimoji="1" lang="ja-JP" altLang="en-US" dirty="0"/>
              <a:t>距離空間における </a:t>
            </a:r>
            <a:r>
              <a:rPr kumimoji="1" lang="en-US" altLang="ja-JP" dirty="0"/>
              <a:t>OMM</a:t>
            </a:r>
            <a:r>
              <a:rPr kumimoji="1" lang="ja-JP" altLang="en-US" dirty="0"/>
              <a:t>１</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48469D7-1B4B-FE69-675A-45E3ABAE309B}"/>
                  </a:ext>
                </a:extLst>
              </p:cNvPr>
              <p:cNvSpPr>
                <a:spLocks noGrp="1"/>
              </p:cNvSpPr>
              <p:nvPr>
                <p:ph idx="1"/>
              </p:nvPr>
            </p:nvSpPr>
            <p:spPr>
              <a:xfrm>
                <a:off x="838200" y="1825625"/>
                <a:ext cx="10515600" cy="760557"/>
              </a:xfrm>
            </p:spPr>
            <p:txBody>
              <a:bodyPr>
                <a:normAutofit/>
              </a:bodyPr>
              <a:lstStyle/>
              <a:p>
                <a:pPr marL="0" indent="0">
                  <a:buNone/>
                </a:pPr>
                <a:r>
                  <a:rPr kumimoji="1" lang="en-US" altLang="ja-JP" sz="2400" dirty="0"/>
                  <a:t>[Gupta and Lewi, 2012] </a:t>
                </a:r>
                <a:r>
                  <a:rPr kumimoji="1" lang="ja-JP" altLang="en-US" sz="2400" dirty="0"/>
                  <a:t>は </a:t>
                </a:r>
                <a:r>
                  <a:rPr lang="en-US" altLang="ja-JP" sz="2400" dirty="0"/>
                  <a:t>Doubling </a:t>
                </a:r>
                <a:r>
                  <a:rPr lang="ja-JP" altLang="en-US" sz="2400" dirty="0"/>
                  <a:t>距離空間に対して </a:t>
                </a:r>
                <a14:m>
                  <m:oMath xmlns:m="http://schemas.openxmlformats.org/officeDocument/2006/math">
                    <m:r>
                      <a:rPr lang="en-US" altLang="ja-JP" sz="2400" b="0" i="1" smtClean="0">
                        <a:latin typeface="Cambria Math" panose="02040503050406030204" pitchFamily="18" charset="0"/>
                      </a:rPr>
                      <m:t>𝑂</m:t>
                    </m:r>
                    <m:r>
                      <a:rPr lang="en-US" altLang="ja-JP" sz="2400" b="0" i="1" smtClean="0">
                        <a:latin typeface="Cambria Math" panose="02040503050406030204" pitchFamily="18" charset="0"/>
                      </a:rPr>
                      <m:t>(</m:t>
                    </m:r>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r>
                      <a:rPr lang="en-US" altLang="ja-JP" sz="2400" b="0" i="1" smtClean="0">
                        <a:latin typeface="Cambria Math" panose="02040503050406030204" pitchFamily="18" charset="0"/>
                      </a:rPr>
                      <m:t>)</m:t>
                    </m:r>
                  </m:oMath>
                </a14:m>
                <a:r>
                  <a:rPr lang="en-US" altLang="ja-JP" sz="2400" dirty="0"/>
                  <a:t>-</a:t>
                </a:r>
                <a:r>
                  <a:rPr lang="ja-JP" altLang="en-US" sz="2400" dirty="0"/>
                  <a:t>競合的な乱択アルゴリズム（</a:t>
                </a:r>
                <a:r>
                  <a:rPr lang="en-US" altLang="ja-JP" sz="2400" dirty="0"/>
                  <a:t>Random-Subtree</a:t>
                </a:r>
                <a:r>
                  <a:rPr lang="ja-JP" altLang="en-US" sz="2400" dirty="0"/>
                  <a:t>）を提案した．</a:t>
                </a:r>
                <a:endParaRPr lang="en-US" altLang="ja-JP" sz="2400" dirty="0"/>
              </a:p>
            </p:txBody>
          </p:sp>
        </mc:Choice>
        <mc:Fallback xmlns="">
          <p:sp>
            <p:nvSpPr>
              <p:cNvPr id="3" name="コンテンツ プレースホルダー 2">
                <a:extLst>
                  <a:ext uri="{FF2B5EF4-FFF2-40B4-BE49-F238E27FC236}">
                    <a16:creationId xmlns:a16="http://schemas.microsoft.com/office/drawing/2014/main" id="{048469D7-1B4B-FE69-675A-45E3ABAE309B}"/>
                  </a:ext>
                </a:extLst>
              </p:cNvPr>
              <p:cNvSpPr>
                <a:spLocks noGrp="1" noRot="1" noChangeAspect="1" noMove="1" noResize="1" noEditPoints="1" noAdjustHandles="1" noChangeArrowheads="1" noChangeShapeType="1" noTextEdit="1"/>
              </p:cNvSpPr>
              <p:nvPr>
                <p:ph idx="1"/>
              </p:nvPr>
            </p:nvSpPr>
            <p:spPr>
              <a:xfrm>
                <a:off x="838200" y="1825625"/>
                <a:ext cx="10515600" cy="760557"/>
              </a:xfrm>
              <a:blipFill>
                <a:blip r:embed="rId2"/>
                <a:stretch>
                  <a:fillRect l="-928" t="-12800" b="-19200"/>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CC22402D-8099-97C3-F594-3219BCB4B8CF}"/>
              </a:ext>
            </a:extLst>
          </p:cNvPr>
          <p:cNvSpPr>
            <a:spLocks noGrp="1"/>
          </p:cNvSpPr>
          <p:nvPr>
            <p:ph type="sldNum" sz="quarter" idx="12"/>
          </p:nvPr>
        </p:nvSpPr>
        <p:spPr/>
        <p:txBody>
          <a:bodyPr/>
          <a:lstStyle/>
          <a:p>
            <a:fld id="{4B077F3A-4098-4199-8925-77865D1E3500}" type="slidenum">
              <a:rPr kumimoji="1" lang="ja-JP" altLang="en-US" smtClean="0"/>
              <a:t>67</a:t>
            </a:fld>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B2035C87-F5D4-E9B7-B5DA-8160D45F1C34}"/>
                  </a:ext>
                </a:extLst>
              </p:cNvPr>
              <p:cNvSpPr txBox="1"/>
              <p:nvPr/>
            </p:nvSpPr>
            <p:spPr>
              <a:xfrm>
                <a:off x="838200" y="2721119"/>
                <a:ext cx="10515600" cy="2262864"/>
              </a:xfrm>
              <a:prstGeom prst="rect">
                <a:avLst/>
              </a:prstGeom>
              <a:noFill/>
            </p:spPr>
            <p:txBody>
              <a:bodyPr wrap="square" rtlCol="0">
                <a:spAutoFit/>
              </a:bodyPr>
              <a:lstStyle/>
              <a:p>
                <a:r>
                  <a:rPr lang="ja-JP" altLang="en-US" sz="2400" dirty="0"/>
                  <a:t>距離空間 </a:t>
                </a:r>
                <a14:m>
                  <m:oMath xmlns:m="http://schemas.openxmlformats.org/officeDocument/2006/math">
                    <m:r>
                      <a:rPr lang="en-US" altLang="ja-JP" sz="2400" b="0" i="1" smtClean="0">
                        <a:latin typeface="Cambria Math" panose="02040503050406030204" pitchFamily="18" charset="0"/>
                      </a:rPr>
                      <m:t>ℳ</m:t>
                    </m:r>
                    <m:r>
                      <a:rPr lang="en-US" altLang="ja-JP" sz="2400" b="0" i="1" smtClean="0">
                        <a:latin typeface="Cambria Math" panose="02040503050406030204" pitchFamily="18" charset="0"/>
                      </a:rPr>
                      <m:t>=</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𝑋</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𝑑</m:t>
                        </m:r>
                      </m:e>
                    </m:d>
                  </m:oMath>
                </a14:m>
                <a:r>
                  <a:rPr kumimoji="1" lang="ja-JP" altLang="en-US" sz="2400" dirty="0"/>
                  <a:t> が </a:t>
                </a:r>
                <a:r>
                  <a:rPr lang="en-US" altLang="ja-JP" sz="2400" dirty="0"/>
                  <a:t>doubling: </a:t>
                </a:r>
                <a:r>
                  <a:rPr kumimoji="1" lang="ja-JP" altLang="en-US" sz="2400" dirty="0"/>
                  <a:t>正の整数 </a:t>
                </a:r>
                <a14:m>
                  <m:oMath xmlns:m="http://schemas.openxmlformats.org/officeDocument/2006/math">
                    <m:r>
                      <a:rPr kumimoji="1" lang="en-US" altLang="ja-JP" sz="2400" b="0" i="1" smtClean="0">
                        <a:latin typeface="Cambria Math" panose="02040503050406030204" pitchFamily="18" charset="0"/>
                      </a:rPr>
                      <m:t>𝜆</m:t>
                    </m:r>
                  </m:oMath>
                </a14:m>
                <a:r>
                  <a:rPr kumimoji="1" lang="ja-JP" altLang="en-US" sz="2400" dirty="0"/>
                  <a:t> が存在して次を満たすこと</a:t>
                </a:r>
                <a:r>
                  <a:rPr kumimoji="1" lang="en-US" altLang="ja-JP" sz="2400" dirty="0"/>
                  <a:t>:</a:t>
                </a:r>
              </a:p>
              <a:p>
                <a:r>
                  <a:rPr kumimoji="1" lang="ja-JP" altLang="en-US" sz="2400" dirty="0"/>
                  <a:t>任意の </a:t>
                </a:r>
                <a14:m>
                  <m:oMath xmlns:m="http://schemas.openxmlformats.org/officeDocument/2006/math">
                    <m:r>
                      <a:rPr kumimoji="1" lang="en-US" altLang="ja-JP" sz="2400" b="0" i="1" smtClean="0">
                        <a:latin typeface="Cambria Math" panose="02040503050406030204" pitchFamily="18" charset="0"/>
                      </a:rPr>
                      <m:t>𝑥</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𝑋</m:t>
                    </m:r>
                  </m:oMath>
                </a14:m>
                <a:r>
                  <a:rPr kumimoji="1" lang="ja-JP" altLang="en-US" sz="2400" dirty="0"/>
                  <a:t> と </a:t>
                </a:r>
                <a14:m>
                  <m:oMath xmlns:m="http://schemas.openxmlformats.org/officeDocument/2006/math">
                    <m:r>
                      <a:rPr kumimoji="1" lang="en-US" altLang="ja-JP" sz="2400" b="0" i="1" smtClean="0">
                        <a:latin typeface="Cambria Math" panose="02040503050406030204" pitchFamily="18" charset="0"/>
                      </a:rPr>
                      <m:t>𝑟</m:t>
                    </m:r>
                    <m:r>
                      <a:rPr kumimoji="1" lang="en-US" altLang="ja-JP" sz="2400" b="0" i="1" smtClean="0">
                        <a:latin typeface="Cambria Math" panose="02040503050406030204" pitchFamily="18" charset="0"/>
                      </a:rPr>
                      <m:t>&gt;0</m:t>
                    </m:r>
                  </m:oMath>
                </a14:m>
                <a:r>
                  <a:rPr kumimoji="1" lang="ja-JP" altLang="en-US" sz="2400" dirty="0"/>
                  <a:t> に対して，ある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𝑦</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𝑦</m:t>
                        </m:r>
                      </m:e>
                      <m:sub>
                        <m:r>
                          <a:rPr kumimoji="1" lang="en-US" altLang="ja-JP" sz="2400" b="0" i="1" smtClean="0">
                            <a:latin typeface="Cambria Math" panose="02040503050406030204" pitchFamily="18" charset="0"/>
                          </a:rPr>
                          <m:t>𝜆</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𝑋</m:t>
                    </m:r>
                  </m:oMath>
                </a14:m>
                <a:r>
                  <a:rPr kumimoji="1" lang="ja-JP" altLang="en-US" sz="2400" dirty="0"/>
                  <a:t> が存在して</a:t>
                </a:r>
                <a:endParaRPr kumimoji="1" lang="en-US" altLang="ja-JP" sz="2400" dirty="0"/>
              </a:p>
              <a:p>
                <a:pPr/>
                <a14:m>
                  <m:oMathPara xmlns:m="http://schemas.openxmlformats.org/officeDocument/2006/math">
                    <m:oMathParaPr>
                      <m:jc m:val="centerGroup"/>
                    </m:oMathParaPr>
                    <m:oMath xmlns:m="http://schemas.openxmlformats.org/officeDocument/2006/math">
                      <m:nary>
                        <m:naryPr>
                          <m:chr m:val="⋃"/>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𝜆</m:t>
                          </m:r>
                        </m:sup>
                        <m:e>
                          <m:r>
                            <a:rPr kumimoji="1" lang="en-US" altLang="ja-JP" sz="2400" b="0" i="1" smtClean="0">
                              <a:latin typeface="Cambria Math" panose="02040503050406030204" pitchFamily="18" charset="0"/>
                            </a:rPr>
                            <m:t>𝐵</m:t>
                          </m:r>
                          <m:d>
                            <m:dPr>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𝑦</m:t>
                                  </m:r>
                                </m:e>
                                <m:sub>
                                  <m:r>
                                    <a:rPr kumimoji="1" lang="en-US" altLang="ja-JP" sz="2400" b="0" i="1" smtClean="0">
                                      <a:latin typeface="Cambria Math" panose="02040503050406030204" pitchFamily="18" charset="0"/>
                                    </a:rPr>
                                    <m:t>𝑖</m:t>
                                  </m:r>
                                </m:sub>
                              </m:sSub>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𝑟</m:t>
                                  </m:r>
                                </m:num>
                                <m:den>
                                  <m:r>
                                    <a:rPr kumimoji="1" lang="en-US" altLang="ja-JP" sz="2400" b="0" i="1" smtClean="0">
                                      <a:latin typeface="Cambria Math" panose="02040503050406030204" pitchFamily="18" charset="0"/>
                                    </a:rPr>
                                    <m:t>2</m:t>
                                  </m:r>
                                </m:den>
                              </m:f>
                            </m:e>
                          </m:d>
                        </m:e>
                      </m:nary>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𝐵</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𝑥</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𝑟</m:t>
                          </m:r>
                        </m:e>
                      </m:d>
                      <m:r>
                        <a:rPr kumimoji="1" lang="en-US" altLang="ja-JP" sz="2400" b="0" i="1" smtClean="0">
                          <a:latin typeface="Cambria Math" panose="02040503050406030204" pitchFamily="18" charset="0"/>
                        </a:rPr>
                        <m:t>.</m:t>
                      </m:r>
                    </m:oMath>
                  </m:oMathPara>
                </a14:m>
                <a:endParaRPr kumimoji="1" lang="en-US" altLang="ja-JP" sz="2400" dirty="0"/>
              </a:p>
              <a:p>
                <a14:m>
                  <m:oMath xmlns:m="http://schemas.openxmlformats.org/officeDocument/2006/math">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log</m:t>
                        </m:r>
                      </m:e>
                      <m:sub>
                        <m:r>
                          <a:rPr kumimoji="1" lang="en-US" altLang="ja-JP" sz="2400" b="0" i="1" smtClean="0">
                            <a:latin typeface="Cambria Math" panose="02040503050406030204" pitchFamily="18" charset="0"/>
                          </a:rPr>
                          <m:t>2</m:t>
                        </m:r>
                      </m:sub>
                    </m:sSub>
                    <m:r>
                      <a:rPr kumimoji="1" lang="en-US" altLang="ja-JP" sz="2400" b="0" i="1" smtClean="0">
                        <a:latin typeface="Cambria Math" panose="02040503050406030204" pitchFamily="18" charset="0"/>
                      </a:rPr>
                      <m:t>𝜆</m:t>
                    </m:r>
                  </m:oMath>
                </a14:m>
                <a:r>
                  <a:rPr kumimoji="1" lang="en-US" altLang="ja-JP" sz="2400" dirty="0"/>
                  <a:t> </a:t>
                </a:r>
                <a:r>
                  <a:rPr kumimoji="1" lang="ja-JP" altLang="en-US" sz="2400" dirty="0"/>
                  <a:t>を </a:t>
                </a:r>
                <a14:m>
                  <m:oMath xmlns:m="http://schemas.openxmlformats.org/officeDocument/2006/math">
                    <m:r>
                      <a:rPr kumimoji="1" lang="en-US" altLang="ja-JP" sz="2400" b="0" i="1" smtClean="0">
                        <a:latin typeface="Cambria Math" panose="02040503050406030204" pitchFamily="18" charset="0"/>
                      </a:rPr>
                      <m:t>ℳ</m:t>
                    </m:r>
                  </m:oMath>
                </a14:m>
                <a:r>
                  <a:rPr kumimoji="1" lang="en-US" altLang="ja-JP" sz="2400" dirty="0"/>
                  <a:t> </a:t>
                </a:r>
                <a:r>
                  <a:rPr kumimoji="1" lang="ja-JP" altLang="en-US" sz="2400" dirty="0"/>
                  <a:t>の </a:t>
                </a:r>
                <a:r>
                  <a:rPr kumimoji="1" lang="en-US" altLang="ja-JP" sz="2400" dirty="0"/>
                  <a:t>doubling </a:t>
                </a:r>
                <a:r>
                  <a:rPr kumimoji="1" lang="ja-JP" altLang="en-US" sz="2400" dirty="0"/>
                  <a:t>次元という．</a:t>
                </a:r>
                <a:endParaRPr kumimoji="1" lang="en-US" altLang="ja-JP" sz="2400" dirty="0"/>
              </a:p>
            </p:txBody>
          </p:sp>
        </mc:Choice>
        <mc:Fallback xmlns="">
          <p:sp>
            <p:nvSpPr>
              <p:cNvPr id="5" name="テキスト ボックス 4">
                <a:extLst>
                  <a:ext uri="{FF2B5EF4-FFF2-40B4-BE49-F238E27FC236}">
                    <a16:creationId xmlns:a16="http://schemas.microsoft.com/office/drawing/2014/main" id="{B2035C87-F5D4-E9B7-B5DA-8160D45F1C34}"/>
                  </a:ext>
                </a:extLst>
              </p:cNvPr>
              <p:cNvSpPr txBox="1">
                <a:spLocks noRot="1" noChangeAspect="1" noMove="1" noResize="1" noEditPoints="1" noAdjustHandles="1" noChangeArrowheads="1" noChangeShapeType="1" noTextEdit="1"/>
              </p:cNvSpPr>
              <p:nvPr/>
            </p:nvSpPr>
            <p:spPr>
              <a:xfrm>
                <a:off x="838200" y="2721119"/>
                <a:ext cx="10515600" cy="2262864"/>
              </a:xfrm>
              <a:prstGeom prst="rect">
                <a:avLst/>
              </a:prstGeom>
              <a:blipFill>
                <a:blip r:embed="rId3"/>
                <a:stretch>
                  <a:fillRect l="-928" t="-2957" b="-5376"/>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62920964-38BA-8448-01B0-C411AB291C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93020" y="3167113"/>
            <a:ext cx="2646796" cy="2900889"/>
          </a:xfrm>
          <a:prstGeom prst="rect">
            <a:avLst/>
          </a:prstGeom>
        </p:spPr>
      </p:pic>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8D66B4A7-2BBF-BBFA-4E6C-77FC95D0033F}"/>
                  </a:ext>
                </a:extLst>
              </p:cNvPr>
              <p:cNvSpPr txBox="1"/>
              <p:nvPr/>
            </p:nvSpPr>
            <p:spPr>
              <a:xfrm>
                <a:off x="8820728" y="180459"/>
                <a:ext cx="30572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𝐵</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𝑟</m:t>
                          </m:r>
                        </m:e>
                      </m:d>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e>
                      </m:d>
                      <m:r>
                        <a:rPr kumimoji="1" lang="en-US" altLang="ja-JP" b="0" i="1" smtClean="0">
                          <a:latin typeface="Cambria Math" panose="02040503050406030204" pitchFamily="18" charset="0"/>
                        </a:rPr>
                        <m:t>&lt;</m:t>
                      </m:r>
                      <m:r>
                        <a:rPr kumimoji="1" lang="en-US" altLang="ja-JP" b="0" i="1" smtClean="0">
                          <a:latin typeface="Cambria Math" panose="02040503050406030204" pitchFamily="18" charset="0"/>
                        </a:rPr>
                        <m:t>𝑟</m:t>
                      </m:r>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8" name="テキスト ボックス 7">
                <a:extLst>
                  <a:ext uri="{FF2B5EF4-FFF2-40B4-BE49-F238E27FC236}">
                    <a16:creationId xmlns:a16="http://schemas.microsoft.com/office/drawing/2014/main" id="{8D66B4A7-2BBF-BBFA-4E6C-77FC95D0033F}"/>
                  </a:ext>
                </a:extLst>
              </p:cNvPr>
              <p:cNvSpPr txBox="1">
                <a:spLocks noRot="1" noChangeAspect="1" noMove="1" noResize="1" noEditPoints="1" noAdjustHandles="1" noChangeArrowheads="1" noChangeShapeType="1" noTextEdit="1"/>
              </p:cNvSpPr>
              <p:nvPr/>
            </p:nvSpPr>
            <p:spPr>
              <a:xfrm>
                <a:off x="8820728" y="180459"/>
                <a:ext cx="3057236" cy="369332"/>
              </a:xfrm>
              <a:prstGeom prst="rect">
                <a:avLst/>
              </a:prstGeom>
              <a:blipFill>
                <a:blip r:embed="rId5"/>
                <a:stretch>
                  <a:fillRect b="-16667"/>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69CB345A-DE4E-1E4C-B1CE-92795402FFFE}"/>
              </a:ext>
            </a:extLst>
          </p:cNvPr>
          <p:cNvSpPr txBox="1"/>
          <p:nvPr/>
        </p:nvSpPr>
        <p:spPr>
          <a:xfrm>
            <a:off x="5920510" y="4957828"/>
            <a:ext cx="2955637" cy="261610"/>
          </a:xfrm>
          <a:prstGeom prst="rect">
            <a:avLst/>
          </a:prstGeom>
          <a:noFill/>
        </p:spPr>
        <p:txBody>
          <a:bodyPr wrap="square" rtlCol="0">
            <a:spAutoFit/>
          </a:bodyPr>
          <a:lstStyle/>
          <a:p>
            <a:r>
              <a:rPr lang="en-US" altLang="ja-JP" sz="1100" dirty="0"/>
              <a:t>https://en.wikipedia.org/wiki/Doubling_space</a:t>
            </a:r>
            <a:endParaRPr kumimoji="1" lang="ja-JP" altLang="en-US" sz="1100" dirty="0"/>
          </a:p>
        </p:txBody>
      </p:sp>
      <mc:AlternateContent xmlns:mc="http://schemas.openxmlformats.org/markup-compatibility/2006" xmlns:a14="http://schemas.microsoft.com/office/drawing/2010/main">
        <mc:Choice Requires="a14">
          <p:sp>
            <p:nvSpPr>
              <p:cNvPr id="11" name="コンテンツ プレースホルダー 2">
                <a:extLst>
                  <a:ext uri="{FF2B5EF4-FFF2-40B4-BE49-F238E27FC236}">
                    <a16:creationId xmlns:a16="http://schemas.microsoft.com/office/drawing/2014/main" id="{49CA955E-7E2A-9C5A-816E-EB362C9C1402}"/>
                  </a:ext>
                </a:extLst>
              </p:cNvPr>
              <p:cNvSpPr txBox="1">
                <a:spLocks/>
              </p:cNvSpPr>
              <p:nvPr/>
            </p:nvSpPr>
            <p:spPr>
              <a:xfrm>
                <a:off x="838200" y="5181889"/>
                <a:ext cx="10515600" cy="14071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400" dirty="0"/>
                  <a:t>実際の競合比は </a:t>
                </a:r>
                <a14:m>
                  <m:oMath xmlns:m="http://schemas.openxmlformats.org/officeDocument/2006/math">
                    <m:r>
                      <a:rPr lang="en-US" altLang="ja-JP" sz="2400" i="1" smtClean="0">
                        <a:latin typeface="Cambria Math" panose="02040503050406030204" pitchFamily="18" charset="0"/>
                      </a:rPr>
                      <m:t>𝑂</m:t>
                    </m:r>
                    <m:d>
                      <m:dPr>
                        <m:ctrlPr>
                          <a:rPr lang="en-US" altLang="ja-JP" sz="2400" i="1" smtClean="0">
                            <a:latin typeface="Cambria Math" panose="02040503050406030204" pitchFamily="18" charset="0"/>
                          </a:rPr>
                        </m:ctrlPr>
                      </m:dPr>
                      <m:e>
                        <m:r>
                          <m:rPr>
                            <m:sty m:val="p"/>
                          </m:rPr>
                          <a:rPr lang="en-US" altLang="ja-JP" sz="2400" i="1" smtClean="0">
                            <a:latin typeface="Cambria Math" panose="02040503050406030204" pitchFamily="18" charset="0"/>
                          </a:rPr>
                          <m:t>poly</m:t>
                        </m:r>
                        <m:d>
                          <m:dPr>
                            <m:ctrlPr>
                              <a:rPr lang="en-US" altLang="ja-JP" sz="2400" i="1" smtClean="0">
                                <a:latin typeface="Cambria Math" panose="02040503050406030204" pitchFamily="18" charset="0"/>
                              </a:rPr>
                            </m:ctrlPr>
                          </m:dPr>
                          <m:e>
                            <m:sSub>
                              <m:sSubPr>
                                <m:ctrlPr>
                                  <a:rPr lang="en-US" altLang="ja-JP" sz="2400" i="1" smtClean="0">
                                    <a:latin typeface="Cambria Math" panose="02040503050406030204" pitchFamily="18" charset="0"/>
                                  </a:rPr>
                                </m:ctrlPr>
                              </m:sSubPr>
                              <m:e>
                                <m:r>
                                  <m:rPr>
                                    <m:sty m:val="p"/>
                                  </m:rPr>
                                  <a:rPr lang="en-US" altLang="ja-JP" sz="2400" smtClean="0">
                                    <a:latin typeface="Cambria Math" panose="02040503050406030204" pitchFamily="18" charset="0"/>
                                  </a:rPr>
                                  <m:t>dim</m:t>
                                </m:r>
                              </m:e>
                              <m:sub>
                                <m:r>
                                  <a:rPr lang="en-US" altLang="ja-JP" sz="2400" i="1" smtClean="0">
                                    <a:latin typeface="Cambria Math" panose="02040503050406030204" pitchFamily="18" charset="0"/>
                                  </a:rPr>
                                  <m:t>𝐷</m:t>
                                </m:r>
                              </m:sub>
                            </m:sSub>
                          </m:e>
                        </m:d>
                        <m:r>
                          <m:rPr>
                            <m:sty m:val="p"/>
                          </m:rPr>
                          <a:rPr lang="en-US" altLang="ja-JP" sz="2400" i="1" smtClean="0">
                            <a:latin typeface="Cambria Math" panose="02040503050406030204" pitchFamily="18" charset="0"/>
                          </a:rPr>
                          <m:t>log</m:t>
                        </m:r>
                        <m:r>
                          <a:rPr lang="en-US" altLang="ja-JP" sz="2400" i="1" smtClean="0">
                            <a:latin typeface="Cambria Math" panose="02040503050406030204" pitchFamily="18" charset="0"/>
                          </a:rPr>
                          <m:t> </m:t>
                        </m:r>
                        <m:r>
                          <a:rPr lang="en-US" altLang="ja-JP" sz="2400" i="1" smtClean="0">
                            <a:latin typeface="Cambria Math" panose="02040503050406030204" pitchFamily="18" charset="0"/>
                          </a:rPr>
                          <m:t>𝑛</m:t>
                        </m:r>
                      </m:e>
                    </m:d>
                  </m:oMath>
                </a14:m>
                <a:r>
                  <a:rPr lang="en-US" altLang="ja-JP" sz="2400" dirty="0"/>
                  <a:t> </a:t>
                </a:r>
              </a:p>
              <a:p>
                <a:r>
                  <a:rPr lang="ja-JP" altLang="en-US" sz="2400" dirty="0"/>
                  <a:t>初めて競合比が </a:t>
                </a:r>
                <a14:m>
                  <m:oMath xmlns:m="http://schemas.openxmlformats.org/officeDocument/2006/math">
                    <m:r>
                      <a:rPr lang="en-US" altLang="ja-JP" sz="2400" i="1" smtClean="0">
                        <a:latin typeface="Cambria Math" panose="02040503050406030204" pitchFamily="18" charset="0"/>
                      </a:rPr>
                      <m:t>𝑂</m:t>
                    </m:r>
                    <m:d>
                      <m:dPr>
                        <m:ctrlPr>
                          <a:rPr lang="en-US" altLang="ja-JP" sz="2400" i="1" smtClean="0">
                            <a:latin typeface="Cambria Math" panose="02040503050406030204" pitchFamily="18" charset="0"/>
                          </a:rPr>
                        </m:ctrlPr>
                      </m:dPr>
                      <m:e>
                        <m:sSup>
                          <m:sSupPr>
                            <m:ctrlPr>
                              <a:rPr lang="en-US" altLang="ja-JP" sz="2400" i="1" smtClean="0">
                                <a:latin typeface="Cambria Math" panose="02040503050406030204" pitchFamily="18" charset="0"/>
                              </a:rPr>
                            </m:ctrlPr>
                          </m:sSupPr>
                          <m:e>
                            <m:r>
                              <m:rPr>
                                <m:sty m:val="p"/>
                              </m:rPr>
                              <a:rPr lang="en-US" altLang="ja-JP" sz="2400" smtClean="0">
                                <a:latin typeface="Cambria Math" panose="02040503050406030204" pitchFamily="18" charset="0"/>
                              </a:rPr>
                              <m:t>log</m:t>
                            </m:r>
                          </m:e>
                          <m:sup>
                            <m:r>
                              <a:rPr lang="en-US" altLang="ja-JP" sz="2400" i="1" smtClean="0">
                                <a:latin typeface="Cambria Math" panose="02040503050406030204" pitchFamily="18" charset="0"/>
                              </a:rPr>
                              <m:t>2</m:t>
                            </m:r>
                          </m:sup>
                        </m:sSup>
                        <m:r>
                          <a:rPr lang="en-US" altLang="ja-JP" sz="2400" i="1" smtClean="0">
                            <a:latin typeface="Cambria Math" panose="02040503050406030204" pitchFamily="18" charset="0"/>
                          </a:rPr>
                          <m:t> </m:t>
                        </m:r>
                        <m:r>
                          <a:rPr lang="en-US" altLang="ja-JP" sz="2400" i="1" smtClean="0">
                            <a:latin typeface="Cambria Math" panose="02040503050406030204" pitchFamily="18" charset="0"/>
                          </a:rPr>
                          <m:t>𝑛</m:t>
                        </m:r>
                      </m:e>
                    </m:d>
                  </m:oMath>
                </a14:m>
                <a:r>
                  <a:rPr lang="en-US" altLang="ja-JP" sz="2400" dirty="0"/>
                  <a:t> </a:t>
                </a:r>
                <a:r>
                  <a:rPr lang="ja-JP" altLang="en-US" sz="2400" dirty="0"/>
                  <a:t>を下回ったアルゴリズム</a:t>
                </a:r>
                <a:endParaRPr lang="en-US" altLang="ja-JP" sz="2400" dirty="0"/>
              </a:p>
              <a:p>
                <a:pPr marL="0" indent="0">
                  <a:buNone/>
                </a:pPr>
                <a:r>
                  <a:rPr lang="en-US" altLang="ja-JP" sz="2000" dirty="0"/>
                  <a:t>※ Doubling </a:t>
                </a:r>
                <a:r>
                  <a:rPr lang="ja-JP" altLang="en-US" sz="2000" dirty="0"/>
                  <a:t>距離空間での競合比下界は </a:t>
                </a:r>
                <a14:m>
                  <m:oMath xmlns:m="http://schemas.openxmlformats.org/officeDocument/2006/math">
                    <m:r>
                      <m:rPr>
                        <m:sty m:val="p"/>
                      </m:rPr>
                      <a:rPr lang="en-US" altLang="ja-JP" sz="2000" smtClean="0">
                        <a:latin typeface="Cambria Math" panose="02040503050406030204" pitchFamily="18" charset="0"/>
                      </a:rPr>
                      <m:t>Ω</m:t>
                    </m:r>
                    <m:r>
                      <a:rPr lang="en-US" altLang="ja-JP" sz="2000" i="1" smtClean="0">
                        <a:latin typeface="Cambria Math" panose="02040503050406030204" pitchFamily="18" charset="0"/>
                      </a:rPr>
                      <m:t>(</m:t>
                    </m:r>
                    <m:r>
                      <m:rPr>
                        <m:sty m:val="p"/>
                      </m:rPr>
                      <a:rPr lang="en-US" altLang="ja-JP" sz="2000" i="1" smtClean="0">
                        <a:latin typeface="Cambria Math" panose="02040503050406030204" pitchFamily="18" charset="0"/>
                      </a:rPr>
                      <m:t>log</m:t>
                    </m:r>
                    <m:r>
                      <a:rPr lang="en-US" altLang="ja-JP" sz="2000" i="1" smtClean="0">
                        <a:latin typeface="Cambria Math" panose="02040503050406030204" pitchFamily="18" charset="0"/>
                      </a:rPr>
                      <m:t> </m:t>
                    </m:r>
                    <m:r>
                      <a:rPr lang="en-US" altLang="ja-JP" sz="2000" i="1" smtClean="0">
                        <a:latin typeface="Cambria Math" panose="02040503050406030204" pitchFamily="18" charset="0"/>
                      </a:rPr>
                      <m:t>𝑛</m:t>
                    </m:r>
                    <m:r>
                      <a:rPr lang="en-US" altLang="ja-JP" sz="2000" i="1" smtClean="0">
                        <a:latin typeface="Cambria Math" panose="02040503050406030204" pitchFamily="18" charset="0"/>
                      </a:rPr>
                      <m:t>)</m:t>
                    </m:r>
                  </m:oMath>
                </a14:m>
                <a:r>
                  <a:rPr lang="en-US" altLang="ja-JP" sz="2000" dirty="0"/>
                  <a:t> </a:t>
                </a:r>
                <a:r>
                  <a:rPr lang="ja-JP" altLang="en-US" sz="2000" dirty="0"/>
                  <a:t>ではないのでタイトではない</a:t>
                </a:r>
                <a:endParaRPr lang="en-US" altLang="ja-JP" sz="2000" dirty="0"/>
              </a:p>
            </p:txBody>
          </p:sp>
        </mc:Choice>
        <mc:Fallback xmlns="">
          <p:sp>
            <p:nvSpPr>
              <p:cNvPr id="11" name="コンテンツ プレースホルダー 2">
                <a:extLst>
                  <a:ext uri="{FF2B5EF4-FFF2-40B4-BE49-F238E27FC236}">
                    <a16:creationId xmlns:a16="http://schemas.microsoft.com/office/drawing/2014/main" id="{49CA955E-7E2A-9C5A-816E-EB362C9C1402}"/>
                  </a:ext>
                </a:extLst>
              </p:cNvPr>
              <p:cNvSpPr txBox="1">
                <a:spLocks noRot="1" noChangeAspect="1" noMove="1" noResize="1" noEditPoints="1" noAdjustHandles="1" noChangeArrowheads="1" noChangeShapeType="1" noTextEdit="1"/>
              </p:cNvSpPr>
              <p:nvPr/>
            </p:nvSpPr>
            <p:spPr>
              <a:xfrm>
                <a:off x="838200" y="5181889"/>
                <a:ext cx="10515600" cy="1407102"/>
              </a:xfrm>
              <a:prstGeom prst="rect">
                <a:avLst/>
              </a:prstGeom>
              <a:blipFill>
                <a:blip r:embed="rId6"/>
                <a:stretch>
                  <a:fillRect l="-928" t="-476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740380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4471B-2641-E640-FCEA-DD88861CD0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7C7490-9C87-7D3D-D38F-FB2EBB5D10D2}"/>
              </a:ext>
            </a:extLst>
          </p:cNvPr>
          <p:cNvSpPr>
            <a:spLocks noGrp="1"/>
          </p:cNvSpPr>
          <p:nvPr>
            <p:ph type="title"/>
          </p:nvPr>
        </p:nvSpPr>
        <p:spPr/>
        <p:txBody>
          <a:bodyPr/>
          <a:lstStyle/>
          <a:p>
            <a:r>
              <a:rPr kumimoji="1" lang="en-US" altLang="ja-JP" dirty="0"/>
              <a:t>Doubling </a:t>
            </a:r>
            <a:r>
              <a:rPr kumimoji="1" lang="ja-JP" altLang="en-US" dirty="0"/>
              <a:t>距離空間における </a:t>
            </a:r>
            <a:r>
              <a:rPr kumimoji="1" lang="en-US" altLang="ja-JP" dirty="0"/>
              <a:t>OMM</a:t>
            </a:r>
            <a:r>
              <a:rPr lang="ja-JP" altLang="en-US" dirty="0"/>
              <a:t>２</a:t>
            </a:r>
            <a:endParaRPr kumimoji="1" lang="ja-JP" altLang="en-US" dirty="0"/>
          </a:p>
        </p:txBody>
      </p:sp>
      <p:sp>
        <p:nvSpPr>
          <p:cNvPr id="4" name="スライド番号プレースホルダー 3">
            <a:extLst>
              <a:ext uri="{FF2B5EF4-FFF2-40B4-BE49-F238E27FC236}">
                <a16:creationId xmlns:a16="http://schemas.microsoft.com/office/drawing/2014/main" id="{DDF2ACD7-BB52-95D0-4D6B-DA371C132C8D}"/>
              </a:ext>
            </a:extLst>
          </p:cNvPr>
          <p:cNvSpPr>
            <a:spLocks noGrp="1"/>
          </p:cNvSpPr>
          <p:nvPr>
            <p:ph type="sldNum" sz="quarter" idx="12"/>
          </p:nvPr>
        </p:nvSpPr>
        <p:spPr/>
        <p:txBody>
          <a:bodyPr/>
          <a:lstStyle/>
          <a:p>
            <a:fld id="{4B077F3A-4098-4199-8925-77865D1E3500}" type="slidenum">
              <a:rPr kumimoji="1" lang="ja-JP" altLang="en-US" smtClean="0"/>
              <a:t>68</a:t>
            </a:fld>
            <a:endParaRPr kumimoji="1"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E0182003-3EF4-AF15-4D79-1891E8AB586A}"/>
                  </a:ext>
                </a:extLst>
              </p:cNvPr>
              <p:cNvSpPr txBox="1"/>
              <p:nvPr/>
            </p:nvSpPr>
            <p:spPr>
              <a:xfrm>
                <a:off x="838200" y="1646815"/>
                <a:ext cx="5466418" cy="2308324"/>
              </a:xfrm>
              <a:prstGeom prst="rect">
                <a:avLst/>
              </a:prstGeom>
              <a:noFill/>
            </p:spPr>
            <p:txBody>
              <a:bodyPr wrap="square" rtlCol="0">
                <a:spAutoFit/>
              </a:bodyPr>
              <a:lstStyle/>
              <a:p>
                <a:r>
                  <a:rPr kumimoji="1" lang="ja-JP" altLang="en-US" sz="2400" dirty="0"/>
                  <a:t>アルゴリズム（</a:t>
                </a:r>
                <a:r>
                  <a:rPr kumimoji="1" lang="en-US" altLang="ja-JP" sz="2400" dirty="0"/>
                  <a:t>HST </a:t>
                </a:r>
                <a:r>
                  <a:rPr kumimoji="1" lang="ja-JP" altLang="en-US" sz="2400" dirty="0"/>
                  <a:t>上）</a:t>
                </a:r>
                <a:endParaRPr kumimoji="1" lang="en-US" altLang="ja-JP" sz="2400" dirty="0"/>
              </a:p>
              <a:p>
                <a:pPr marL="285750" indent="-285750">
                  <a:buFont typeface="Arial" panose="020B0604020202020204" pitchFamily="34" charset="0"/>
                  <a:buChar char="•"/>
                </a:pPr>
                <a:r>
                  <a:rPr lang="ja-JP" altLang="en-US" sz="2400" dirty="0"/>
                  <a:t>未使用サーバを子孫に含む最も低い祖先 </a:t>
                </a:r>
                <a14:m>
                  <m:oMath xmlns:m="http://schemas.openxmlformats.org/officeDocument/2006/math">
                    <m:r>
                      <a:rPr lang="en-US" altLang="ja-JP" sz="2400" b="0" i="1" smtClean="0">
                        <a:latin typeface="Cambria Math" panose="02040503050406030204" pitchFamily="18" charset="0"/>
                      </a:rPr>
                      <m:t>𝑎</m:t>
                    </m:r>
                  </m:oMath>
                </a14:m>
                <a:r>
                  <a:rPr lang="en-US" altLang="ja-JP" sz="2400" dirty="0"/>
                  <a:t> </a:t>
                </a:r>
                <a:r>
                  <a:rPr lang="ja-JP" altLang="en-US" sz="2400" dirty="0"/>
                  <a:t>に移動する</a:t>
                </a:r>
                <a:endParaRPr lang="en-US" altLang="ja-JP" sz="2400" dirty="0"/>
              </a:p>
              <a:p>
                <a:pPr marL="285750" indent="-285750">
                  <a:buFont typeface="Arial" panose="020B0604020202020204" pitchFamily="34" charset="0"/>
                  <a:buChar char="•"/>
                </a:pPr>
                <a14:m>
                  <m:oMath xmlns:m="http://schemas.openxmlformats.org/officeDocument/2006/math">
                    <m:r>
                      <a:rPr lang="en-US" altLang="ja-JP" sz="2400" b="0" i="1" smtClean="0">
                        <a:latin typeface="Cambria Math" panose="02040503050406030204" pitchFamily="18" charset="0"/>
                      </a:rPr>
                      <m:t>𝑎</m:t>
                    </m:r>
                  </m:oMath>
                </a14:m>
                <a:r>
                  <a:rPr lang="en-US" altLang="ja-JP" sz="2400" dirty="0"/>
                  <a:t> </a:t>
                </a:r>
                <a:r>
                  <a:rPr lang="ja-JP" altLang="en-US" sz="2400" dirty="0"/>
                  <a:t>の部分木の内，未使用サーバを含むものを一様ランダムに選ぶ</a:t>
                </a:r>
                <a:endParaRPr lang="en-US" altLang="ja-JP" sz="2400" dirty="0"/>
              </a:p>
              <a:p>
                <a:pPr marL="285750" indent="-285750">
                  <a:buFont typeface="Arial" panose="020B0604020202020204" pitchFamily="34" charset="0"/>
                  <a:buChar char="•"/>
                </a:pPr>
                <a:r>
                  <a:rPr lang="ja-JP" altLang="en-US" sz="2400" dirty="0"/>
                  <a:t>選ばれた部分木内で同様に繰り返す</a:t>
                </a:r>
                <a:endParaRPr lang="en-US" altLang="ja-JP" sz="2400" dirty="0"/>
              </a:p>
            </p:txBody>
          </p:sp>
        </mc:Choice>
        <mc:Fallback xmlns="">
          <p:sp>
            <p:nvSpPr>
              <p:cNvPr id="6" name="テキスト ボックス 5">
                <a:extLst>
                  <a:ext uri="{FF2B5EF4-FFF2-40B4-BE49-F238E27FC236}">
                    <a16:creationId xmlns:a16="http://schemas.microsoft.com/office/drawing/2014/main" id="{E0182003-3EF4-AF15-4D79-1891E8AB586A}"/>
                  </a:ext>
                </a:extLst>
              </p:cNvPr>
              <p:cNvSpPr txBox="1">
                <a:spLocks noRot="1" noChangeAspect="1" noMove="1" noResize="1" noEditPoints="1" noAdjustHandles="1" noChangeArrowheads="1" noChangeShapeType="1" noTextEdit="1"/>
              </p:cNvSpPr>
              <p:nvPr/>
            </p:nvSpPr>
            <p:spPr>
              <a:xfrm>
                <a:off x="838200" y="1646815"/>
                <a:ext cx="5466418" cy="2308324"/>
              </a:xfrm>
              <a:prstGeom prst="rect">
                <a:avLst/>
              </a:prstGeom>
              <a:blipFill>
                <a:blip r:embed="rId2"/>
                <a:stretch>
                  <a:fillRect l="-1786" t="-2902" b="-5541"/>
                </a:stretch>
              </a:blipFill>
            </p:spPr>
            <p:txBody>
              <a:bodyPr/>
              <a:lstStyle/>
              <a:p>
                <a:r>
                  <a:rPr lang="ja-JP" altLang="en-US">
                    <a:noFill/>
                  </a:rPr>
                  <a:t> </a:t>
                </a:r>
              </a:p>
            </p:txBody>
          </p:sp>
        </mc:Fallback>
      </mc:AlternateContent>
      <p:sp>
        <p:nvSpPr>
          <p:cNvPr id="13" name="楕円 12">
            <a:extLst>
              <a:ext uri="{FF2B5EF4-FFF2-40B4-BE49-F238E27FC236}">
                <a16:creationId xmlns:a16="http://schemas.microsoft.com/office/drawing/2014/main" id="{73392B51-EE39-380F-E548-C18C5B410A67}"/>
              </a:ext>
            </a:extLst>
          </p:cNvPr>
          <p:cNvSpPr/>
          <p:nvPr/>
        </p:nvSpPr>
        <p:spPr>
          <a:xfrm>
            <a:off x="8391901" y="368761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0A45D3AE-8946-12A8-6170-04A1EE272816}"/>
              </a:ext>
            </a:extLst>
          </p:cNvPr>
          <p:cNvCxnSpPr>
            <a:cxnSpLocks/>
            <a:stCxn id="13" idx="4"/>
            <a:endCxn id="39" idx="0"/>
          </p:cNvCxnSpPr>
          <p:nvPr/>
        </p:nvCxnSpPr>
        <p:spPr>
          <a:xfrm flipH="1">
            <a:off x="7016966" y="3831617"/>
            <a:ext cx="1446935" cy="11267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C55BD1A-ADF2-F7DB-CF36-BDEF20F6DB31}"/>
              </a:ext>
            </a:extLst>
          </p:cNvPr>
          <p:cNvCxnSpPr>
            <a:cxnSpLocks/>
            <a:stCxn id="13" idx="4"/>
            <a:endCxn id="18" idx="4"/>
          </p:cNvCxnSpPr>
          <p:nvPr/>
        </p:nvCxnSpPr>
        <p:spPr>
          <a:xfrm>
            <a:off x="8463901" y="3831617"/>
            <a:ext cx="0" cy="12707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656E3C19-CD64-C6AF-1248-DA0AF99821D1}"/>
              </a:ext>
            </a:extLst>
          </p:cNvPr>
          <p:cNvCxnSpPr>
            <a:cxnSpLocks/>
            <a:stCxn id="13" idx="4"/>
            <a:endCxn id="45" idx="0"/>
          </p:cNvCxnSpPr>
          <p:nvPr/>
        </p:nvCxnSpPr>
        <p:spPr>
          <a:xfrm>
            <a:off x="8463901" y="3831617"/>
            <a:ext cx="1372870" cy="11267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楕円 17">
            <a:extLst>
              <a:ext uri="{FF2B5EF4-FFF2-40B4-BE49-F238E27FC236}">
                <a16:creationId xmlns:a16="http://schemas.microsoft.com/office/drawing/2014/main" id="{BEBC7186-77A9-67AB-611B-6CEAC92BA1D1}"/>
              </a:ext>
            </a:extLst>
          </p:cNvPr>
          <p:cNvSpPr/>
          <p:nvPr/>
        </p:nvSpPr>
        <p:spPr>
          <a:xfrm>
            <a:off x="8391901" y="495839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DA68E21A-73F1-7233-CD48-ED65149C6AE7}"/>
              </a:ext>
            </a:extLst>
          </p:cNvPr>
          <p:cNvSpPr/>
          <p:nvPr/>
        </p:nvSpPr>
        <p:spPr>
          <a:xfrm>
            <a:off x="8026639" y="603296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EAE45BBA-B729-B955-069B-0DB47945F717}"/>
              </a:ext>
            </a:extLst>
          </p:cNvPr>
          <p:cNvSpPr/>
          <p:nvPr/>
        </p:nvSpPr>
        <p:spPr>
          <a:xfrm>
            <a:off x="8749074" y="603296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コネクタ 24">
            <a:extLst>
              <a:ext uri="{FF2B5EF4-FFF2-40B4-BE49-F238E27FC236}">
                <a16:creationId xmlns:a16="http://schemas.microsoft.com/office/drawing/2014/main" id="{7B0273B1-EDC5-5602-3536-FB5C9AD5B770}"/>
              </a:ext>
            </a:extLst>
          </p:cNvPr>
          <p:cNvCxnSpPr>
            <a:cxnSpLocks/>
            <a:stCxn id="18" idx="4"/>
            <a:endCxn id="22" idx="0"/>
          </p:cNvCxnSpPr>
          <p:nvPr/>
        </p:nvCxnSpPr>
        <p:spPr>
          <a:xfrm flipH="1">
            <a:off x="8098639" y="5102396"/>
            <a:ext cx="365262" cy="9305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A4AB8C9A-B7CC-69E5-6E85-5DCEA046CDF6}"/>
              </a:ext>
            </a:extLst>
          </p:cNvPr>
          <p:cNvCxnSpPr>
            <a:cxnSpLocks/>
            <a:stCxn id="18" idx="4"/>
            <a:endCxn id="23" idx="0"/>
          </p:cNvCxnSpPr>
          <p:nvPr/>
        </p:nvCxnSpPr>
        <p:spPr>
          <a:xfrm>
            <a:off x="8463901" y="5102396"/>
            <a:ext cx="357173" cy="9305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DDC2B49B-CFED-BDF0-9B2D-DF0F8D260D49}"/>
              </a:ext>
            </a:extLst>
          </p:cNvPr>
          <p:cNvCxnSpPr>
            <a:cxnSpLocks/>
            <a:endCxn id="13" idx="0"/>
          </p:cNvCxnSpPr>
          <p:nvPr/>
        </p:nvCxnSpPr>
        <p:spPr>
          <a:xfrm flipH="1">
            <a:off x="8463901" y="1635904"/>
            <a:ext cx="1339032" cy="205171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楕円 38">
            <a:extLst>
              <a:ext uri="{FF2B5EF4-FFF2-40B4-BE49-F238E27FC236}">
                <a16:creationId xmlns:a16="http://schemas.microsoft.com/office/drawing/2014/main" id="{69F14703-0FF5-6446-FDE2-C7D7D93E5922}"/>
              </a:ext>
            </a:extLst>
          </p:cNvPr>
          <p:cNvSpPr/>
          <p:nvPr/>
        </p:nvSpPr>
        <p:spPr>
          <a:xfrm>
            <a:off x="6944966" y="495839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29FEA5C5-1BF9-4A6B-1800-F44A35513B2D}"/>
              </a:ext>
            </a:extLst>
          </p:cNvPr>
          <p:cNvSpPr/>
          <p:nvPr/>
        </p:nvSpPr>
        <p:spPr>
          <a:xfrm>
            <a:off x="6579704" y="603296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楕円 40">
            <a:extLst>
              <a:ext uri="{FF2B5EF4-FFF2-40B4-BE49-F238E27FC236}">
                <a16:creationId xmlns:a16="http://schemas.microsoft.com/office/drawing/2014/main" id="{F350BD72-D3AE-DD44-323B-FAFC6D51B501}"/>
              </a:ext>
            </a:extLst>
          </p:cNvPr>
          <p:cNvSpPr/>
          <p:nvPr/>
        </p:nvSpPr>
        <p:spPr>
          <a:xfrm>
            <a:off x="7302139" y="603296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コネクタ 41">
            <a:extLst>
              <a:ext uri="{FF2B5EF4-FFF2-40B4-BE49-F238E27FC236}">
                <a16:creationId xmlns:a16="http://schemas.microsoft.com/office/drawing/2014/main" id="{9A6FE978-B8FD-E1C2-2D35-2D90CB26A057}"/>
              </a:ext>
            </a:extLst>
          </p:cNvPr>
          <p:cNvCxnSpPr>
            <a:cxnSpLocks/>
            <a:stCxn id="39" idx="4"/>
            <a:endCxn id="40" idx="0"/>
          </p:cNvCxnSpPr>
          <p:nvPr/>
        </p:nvCxnSpPr>
        <p:spPr>
          <a:xfrm flipH="1">
            <a:off x="6651704" y="5102396"/>
            <a:ext cx="365262" cy="9305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9057FC58-0563-6B36-B30D-034152EBB48A}"/>
              </a:ext>
            </a:extLst>
          </p:cNvPr>
          <p:cNvCxnSpPr>
            <a:cxnSpLocks/>
            <a:stCxn id="39" idx="4"/>
            <a:endCxn id="41" idx="0"/>
          </p:cNvCxnSpPr>
          <p:nvPr/>
        </p:nvCxnSpPr>
        <p:spPr>
          <a:xfrm>
            <a:off x="7016966" y="5102396"/>
            <a:ext cx="357173" cy="9305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楕円 44">
            <a:extLst>
              <a:ext uri="{FF2B5EF4-FFF2-40B4-BE49-F238E27FC236}">
                <a16:creationId xmlns:a16="http://schemas.microsoft.com/office/drawing/2014/main" id="{A89D37D3-A5A5-A350-3853-EE78676AA5A5}"/>
              </a:ext>
            </a:extLst>
          </p:cNvPr>
          <p:cNvSpPr/>
          <p:nvPr/>
        </p:nvSpPr>
        <p:spPr>
          <a:xfrm>
            <a:off x="9764771" y="4958396"/>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楕円 45">
            <a:extLst>
              <a:ext uri="{FF2B5EF4-FFF2-40B4-BE49-F238E27FC236}">
                <a16:creationId xmlns:a16="http://schemas.microsoft.com/office/drawing/2014/main" id="{26098950-A6D7-270C-D818-63801B353224}"/>
              </a:ext>
            </a:extLst>
          </p:cNvPr>
          <p:cNvSpPr/>
          <p:nvPr/>
        </p:nvSpPr>
        <p:spPr>
          <a:xfrm>
            <a:off x="9399509" y="603296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楕円 46">
            <a:extLst>
              <a:ext uri="{FF2B5EF4-FFF2-40B4-BE49-F238E27FC236}">
                <a16:creationId xmlns:a16="http://schemas.microsoft.com/office/drawing/2014/main" id="{A573E45C-7E9D-33E9-A26C-690492501D62}"/>
              </a:ext>
            </a:extLst>
          </p:cNvPr>
          <p:cNvSpPr/>
          <p:nvPr/>
        </p:nvSpPr>
        <p:spPr>
          <a:xfrm>
            <a:off x="10121944" y="603296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8" name="直線コネクタ 47">
            <a:extLst>
              <a:ext uri="{FF2B5EF4-FFF2-40B4-BE49-F238E27FC236}">
                <a16:creationId xmlns:a16="http://schemas.microsoft.com/office/drawing/2014/main" id="{FF3AEE90-64C2-096F-69BB-18817423B7AE}"/>
              </a:ext>
            </a:extLst>
          </p:cNvPr>
          <p:cNvCxnSpPr>
            <a:cxnSpLocks/>
            <a:stCxn id="45" idx="4"/>
            <a:endCxn id="46" idx="0"/>
          </p:cNvCxnSpPr>
          <p:nvPr/>
        </p:nvCxnSpPr>
        <p:spPr>
          <a:xfrm flipH="1">
            <a:off x="9471509" y="5102396"/>
            <a:ext cx="365262" cy="9305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EAE890B7-6176-4D63-C658-4001108F5E58}"/>
              </a:ext>
            </a:extLst>
          </p:cNvPr>
          <p:cNvCxnSpPr>
            <a:cxnSpLocks/>
            <a:stCxn id="45" idx="4"/>
            <a:endCxn id="47" idx="0"/>
          </p:cNvCxnSpPr>
          <p:nvPr/>
        </p:nvCxnSpPr>
        <p:spPr>
          <a:xfrm>
            <a:off x="9836771" y="5102396"/>
            <a:ext cx="357173" cy="9305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乗算記号 53">
            <a:extLst>
              <a:ext uri="{FF2B5EF4-FFF2-40B4-BE49-F238E27FC236}">
                <a16:creationId xmlns:a16="http://schemas.microsoft.com/office/drawing/2014/main" id="{02EBB790-B53E-67B7-981F-BAD279B0521C}"/>
              </a:ext>
            </a:extLst>
          </p:cNvPr>
          <p:cNvSpPr>
            <a:spLocks noChangeAspect="1"/>
          </p:cNvSpPr>
          <p:nvPr/>
        </p:nvSpPr>
        <p:spPr>
          <a:xfrm>
            <a:off x="7170949" y="5894335"/>
            <a:ext cx="421255" cy="421255"/>
          </a:xfrm>
          <a:prstGeom prst="mathMultiply">
            <a:avLst>
              <a:gd name="adj1" fmla="val 9657"/>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55" name="乗算記号 54">
            <a:extLst>
              <a:ext uri="{FF2B5EF4-FFF2-40B4-BE49-F238E27FC236}">
                <a16:creationId xmlns:a16="http://schemas.microsoft.com/office/drawing/2014/main" id="{07280536-2E18-27E2-49F1-80455AA10BB6}"/>
              </a:ext>
            </a:extLst>
          </p:cNvPr>
          <p:cNvSpPr>
            <a:spLocks noChangeAspect="1"/>
          </p:cNvSpPr>
          <p:nvPr/>
        </p:nvSpPr>
        <p:spPr>
          <a:xfrm>
            <a:off x="9268885" y="5894334"/>
            <a:ext cx="421255" cy="421255"/>
          </a:xfrm>
          <a:prstGeom prst="mathMultiply">
            <a:avLst>
              <a:gd name="adj1" fmla="val 9657"/>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57" name="直線矢印コネクタ 56">
            <a:extLst>
              <a:ext uri="{FF2B5EF4-FFF2-40B4-BE49-F238E27FC236}">
                <a16:creationId xmlns:a16="http://schemas.microsoft.com/office/drawing/2014/main" id="{5AF1CF27-F1F4-DB82-283A-8CB675156B9B}"/>
              </a:ext>
            </a:extLst>
          </p:cNvPr>
          <p:cNvCxnSpPr/>
          <p:nvPr/>
        </p:nvCxnSpPr>
        <p:spPr>
          <a:xfrm flipH="1">
            <a:off x="8857625" y="2326695"/>
            <a:ext cx="771600" cy="113121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8" name="直線矢印コネクタ 57">
            <a:extLst>
              <a:ext uri="{FF2B5EF4-FFF2-40B4-BE49-F238E27FC236}">
                <a16:creationId xmlns:a16="http://schemas.microsoft.com/office/drawing/2014/main" id="{CF30E4FE-625F-C618-4EDB-F01D83529493}"/>
              </a:ext>
            </a:extLst>
          </p:cNvPr>
          <p:cNvCxnSpPr>
            <a:cxnSpLocks/>
          </p:cNvCxnSpPr>
          <p:nvPr/>
        </p:nvCxnSpPr>
        <p:spPr>
          <a:xfrm flipH="1">
            <a:off x="7302139" y="3778198"/>
            <a:ext cx="998504" cy="69541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テキスト ボックス 60">
                <a:extLst>
                  <a:ext uri="{FF2B5EF4-FFF2-40B4-BE49-F238E27FC236}">
                    <a16:creationId xmlns:a16="http://schemas.microsoft.com/office/drawing/2014/main" id="{3BA54CA0-4873-49F6-ACD5-6A3A391DBAED}"/>
                  </a:ext>
                </a:extLst>
              </p:cNvPr>
              <p:cNvSpPr txBox="1"/>
              <p:nvPr/>
            </p:nvSpPr>
            <p:spPr>
              <a:xfrm>
                <a:off x="7449959" y="3339812"/>
                <a:ext cx="496720"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b="0" i="1" smtClean="0">
                              <a:solidFill>
                                <a:schemeClr val="accent1"/>
                              </a:solidFill>
                              <a:latin typeface="Cambria Math" panose="02040503050406030204" pitchFamily="18" charset="0"/>
                            </a:rPr>
                          </m:ctrlPr>
                        </m:fPr>
                        <m:num>
                          <m:r>
                            <a:rPr kumimoji="1" lang="en-US" altLang="ja-JP" b="0" i="1" smtClean="0">
                              <a:solidFill>
                                <a:schemeClr val="accent1"/>
                              </a:solidFill>
                              <a:latin typeface="Cambria Math" panose="02040503050406030204" pitchFamily="18" charset="0"/>
                            </a:rPr>
                            <m:t>1</m:t>
                          </m:r>
                        </m:num>
                        <m:den>
                          <m:r>
                            <a:rPr kumimoji="1" lang="en-US" altLang="ja-JP" b="0" i="1" smtClean="0">
                              <a:solidFill>
                                <a:schemeClr val="accent1"/>
                              </a:solidFill>
                              <a:latin typeface="Cambria Math" panose="02040503050406030204" pitchFamily="18" charset="0"/>
                            </a:rPr>
                            <m:t>3</m:t>
                          </m:r>
                        </m:den>
                      </m:f>
                    </m:oMath>
                  </m:oMathPara>
                </a14:m>
                <a:endParaRPr kumimoji="1" lang="ja-JP" altLang="en-US" dirty="0"/>
              </a:p>
            </p:txBody>
          </p:sp>
        </mc:Choice>
        <mc:Fallback xmlns="">
          <p:sp>
            <p:nvSpPr>
              <p:cNvPr id="61" name="テキスト ボックス 60">
                <a:extLst>
                  <a:ext uri="{FF2B5EF4-FFF2-40B4-BE49-F238E27FC236}">
                    <a16:creationId xmlns:a16="http://schemas.microsoft.com/office/drawing/2014/main" id="{3BA54CA0-4873-49F6-ACD5-6A3A391DBAED}"/>
                  </a:ext>
                </a:extLst>
              </p:cNvPr>
              <p:cNvSpPr txBox="1">
                <a:spLocks noRot="1" noChangeAspect="1" noMove="1" noResize="1" noEditPoints="1" noAdjustHandles="1" noChangeArrowheads="1" noChangeShapeType="1" noTextEdit="1"/>
              </p:cNvSpPr>
              <p:nvPr/>
            </p:nvSpPr>
            <p:spPr>
              <a:xfrm>
                <a:off x="7449959" y="3339812"/>
                <a:ext cx="496720" cy="612732"/>
              </a:xfrm>
              <a:prstGeom prst="rect">
                <a:avLst/>
              </a:prstGeom>
              <a:blipFill>
                <a:blip r:embed="rId3"/>
                <a:stretch>
                  <a:fillRect/>
                </a:stretch>
              </a:blipFill>
            </p:spPr>
            <p:txBody>
              <a:bodyPr/>
              <a:lstStyle/>
              <a:p>
                <a:r>
                  <a:rPr lang="ja-JP" altLang="en-US">
                    <a:noFill/>
                  </a:rPr>
                  <a:t> </a:t>
                </a:r>
              </a:p>
            </p:txBody>
          </p:sp>
        </mc:Fallback>
      </mc:AlternateContent>
      <p:cxnSp>
        <p:nvCxnSpPr>
          <p:cNvPr id="62" name="直線矢印コネクタ 61">
            <a:extLst>
              <a:ext uri="{FF2B5EF4-FFF2-40B4-BE49-F238E27FC236}">
                <a16:creationId xmlns:a16="http://schemas.microsoft.com/office/drawing/2014/main" id="{576D8B8A-07A5-208F-B566-3C303136067E}"/>
              </a:ext>
            </a:extLst>
          </p:cNvPr>
          <p:cNvCxnSpPr>
            <a:cxnSpLocks/>
          </p:cNvCxnSpPr>
          <p:nvPr/>
        </p:nvCxnSpPr>
        <p:spPr>
          <a:xfrm>
            <a:off x="8391901" y="4036616"/>
            <a:ext cx="0" cy="71677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53DC69F9-1488-597D-083F-0992D9AEDCC7}"/>
              </a:ext>
            </a:extLst>
          </p:cNvPr>
          <p:cNvCxnSpPr>
            <a:cxnSpLocks/>
          </p:cNvCxnSpPr>
          <p:nvPr/>
        </p:nvCxnSpPr>
        <p:spPr>
          <a:xfrm>
            <a:off x="8618831" y="3787859"/>
            <a:ext cx="891648" cy="68575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テキスト ボックス 66">
                <a:extLst>
                  <a:ext uri="{FF2B5EF4-FFF2-40B4-BE49-F238E27FC236}">
                    <a16:creationId xmlns:a16="http://schemas.microsoft.com/office/drawing/2014/main" id="{29154E67-376F-1FD1-DEF8-09C701ED1AA4}"/>
                  </a:ext>
                </a:extLst>
              </p:cNvPr>
              <p:cNvSpPr txBox="1"/>
              <p:nvPr/>
            </p:nvSpPr>
            <p:spPr>
              <a:xfrm>
                <a:off x="8995065" y="3502495"/>
                <a:ext cx="496720"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b="0" i="1" smtClean="0">
                              <a:solidFill>
                                <a:schemeClr val="accent1"/>
                              </a:solidFill>
                              <a:latin typeface="Cambria Math" panose="02040503050406030204" pitchFamily="18" charset="0"/>
                            </a:rPr>
                          </m:ctrlPr>
                        </m:fPr>
                        <m:num>
                          <m:r>
                            <a:rPr kumimoji="1" lang="en-US" altLang="ja-JP" b="0" i="1" smtClean="0">
                              <a:solidFill>
                                <a:schemeClr val="accent1"/>
                              </a:solidFill>
                              <a:latin typeface="Cambria Math" panose="02040503050406030204" pitchFamily="18" charset="0"/>
                            </a:rPr>
                            <m:t>1</m:t>
                          </m:r>
                        </m:num>
                        <m:den>
                          <m:r>
                            <a:rPr kumimoji="1" lang="en-US" altLang="ja-JP" b="0" i="1" smtClean="0">
                              <a:solidFill>
                                <a:schemeClr val="accent1"/>
                              </a:solidFill>
                              <a:latin typeface="Cambria Math" panose="02040503050406030204" pitchFamily="18" charset="0"/>
                            </a:rPr>
                            <m:t>3</m:t>
                          </m:r>
                        </m:den>
                      </m:f>
                    </m:oMath>
                  </m:oMathPara>
                </a14:m>
                <a:endParaRPr kumimoji="1" lang="ja-JP" altLang="en-US" dirty="0"/>
              </a:p>
            </p:txBody>
          </p:sp>
        </mc:Choice>
        <mc:Fallback xmlns="">
          <p:sp>
            <p:nvSpPr>
              <p:cNvPr id="67" name="テキスト ボックス 66">
                <a:extLst>
                  <a:ext uri="{FF2B5EF4-FFF2-40B4-BE49-F238E27FC236}">
                    <a16:creationId xmlns:a16="http://schemas.microsoft.com/office/drawing/2014/main" id="{29154E67-376F-1FD1-DEF8-09C701ED1AA4}"/>
                  </a:ext>
                </a:extLst>
              </p:cNvPr>
              <p:cNvSpPr txBox="1">
                <a:spLocks noRot="1" noChangeAspect="1" noMove="1" noResize="1" noEditPoints="1" noAdjustHandles="1" noChangeArrowheads="1" noChangeShapeType="1" noTextEdit="1"/>
              </p:cNvSpPr>
              <p:nvPr/>
            </p:nvSpPr>
            <p:spPr>
              <a:xfrm>
                <a:off x="8995065" y="3502495"/>
                <a:ext cx="496720" cy="612732"/>
              </a:xfrm>
              <a:prstGeom prst="rect">
                <a:avLst/>
              </a:prstGeom>
              <a:blipFill>
                <a:blip r:embed="rId4"/>
                <a:stretch>
                  <a:fillRect/>
                </a:stretch>
              </a:blipFill>
            </p:spPr>
            <p:txBody>
              <a:bodyPr/>
              <a:lstStyle/>
              <a:p>
                <a:r>
                  <a:rPr lang="ja-JP" altLang="en-US">
                    <a:noFill/>
                  </a:rPr>
                  <a:t> </a:t>
                </a:r>
              </a:p>
            </p:txBody>
          </p:sp>
        </mc:Fallback>
      </mc:AlternateContent>
      <p:cxnSp>
        <p:nvCxnSpPr>
          <p:cNvPr id="68" name="直線矢印コネクタ 67">
            <a:extLst>
              <a:ext uri="{FF2B5EF4-FFF2-40B4-BE49-F238E27FC236}">
                <a16:creationId xmlns:a16="http://schemas.microsoft.com/office/drawing/2014/main" id="{9AB0E932-43B5-D6CF-3780-BF69F0E63AEA}"/>
              </a:ext>
            </a:extLst>
          </p:cNvPr>
          <p:cNvCxnSpPr>
            <a:cxnSpLocks/>
          </p:cNvCxnSpPr>
          <p:nvPr/>
        </p:nvCxnSpPr>
        <p:spPr>
          <a:xfrm flipH="1">
            <a:off x="6520514" y="5114536"/>
            <a:ext cx="304007" cy="66409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2" name="直線矢印コネクタ 71">
            <a:extLst>
              <a:ext uri="{FF2B5EF4-FFF2-40B4-BE49-F238E27FC236}">
                <a16:creationId xmlns:a16="http://schemas.microsoft.com/office/drawing/2014/main" id="{DC05BDA6-D2E6-2B39-17B3-AE31B3A4311C}"/>
              </a:ext>
            </a:extLst>
          </p:cNvPr>
          <p:cNvCxnSpPr>
            <a:cxnSpLocks/>
          </p:cNvCxnSpPr>
          <p:nvPr/>
        </p:nvCxnSpPr>
        <p:spPr>
          <a:xfrm flipH="1">
            <a:off x="8051412" y="5114536"/>
            <a:ext cx="254631" cy="62076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191D1BAD-1486-034F-5EBE-23269EFBD2DA}"/>
              </a:ext>
            </a:extLst>
          </p:cNvPr>
          <p:cNvCxnSpPr>
            <a:cxnSpLocks/>
          </p:cNvCxnSpPr>
          <p:nvPr/>
        </p:nvCxnSpPr>
        <p:spPr>
          <a:xfrm>
            <a:off x="8629843" y="5124126"/>
            <a:ext cx="235316" cy="60447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07E39B21-F0F9-9F88-8EFB-908C410F7DD8}"/>
              </a:ext>
            </a:extLst>
          </p:cNvPr>
          <p:cNvCxnSpPr>
            <a:cxnSpLocks/>
          </p:cNvCxnSpPr>
          <p:nvPr/>
        </p:nvCxnSpPr>
        <p:spPr>
          <a:xfrm>
            <a:off x="9975404" y="5114536"/>
            <a:ext cx="218540" cy="50355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テキスト ボックス 77">
                <a:extLst>
                  <a:ext uri="{FF2B5EF4-FFF2-40B4-BE49-F238E27FC236}">
                    <a16:creationId xmlns:a16="http://schemas.microsoft.com/office/drawing/2014/main" id="{2A6B3C5E-0E29-9B93-5FA7-AB67E7C03EB8}"/>
                  </a:ext>
                </a:extLst>
              </p:cNvPr>
              <p:cNvSpPr txBox="1"/>
              <p:nvPr/>
            </p:nvSpPr>
            <p:spPr>
              <a:xfrm>
                <a:off x="8715301" y="4704528"/>
                <a:ext cx="496720"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b="0" i="1" smtClean="0">
                              <a:solidFill>
                                <a:schemeClr val="accent1"/>
                              </a:solidFill>
                              <a:latin typeface="Cambria Math" panose="02040503050406030204" pitchFamily="18" charset="0"/>
                            </a:rPr>
                          </m:ctrlPr>
                        </m:fPr>
                        <m:num>
                          <m:r>
                            <a:rPr kumimoji="1" lang="en-US" altLang="ja-JP" b="0" i="1" smtClean="0">
                              <a:solidFill>
                                <a:schemeClr val="accent1"/>
                              </a:solidFill>
                              <a:latin typeface="Cambria Math" panose="02040503050406030204" pitchFamily="18" charset="0"/>
                            </a:rPr>
                            <m:t>1</m:t>
                          </m:r>
                        </m:num>
                        <m:den>
                          <m:r>
                            <a:rPr kumimoji="1" lang="en-US" altLang="ja-JP" b="0" i="1" smtClean="0">
                              <a:solidFill>
                                <a:schemeClr val="accent1"/>
                              </a:solidFill>
                              <a:latin typeface="Cambria Math" panose="02040503050406030204" pitchFamily="18" charset="0"/>
                            </a:rPr>
                            <m:t>6</m:t>
                          </m:r>
                        </m:den>
                      </m:f>
                    </m:oMath>
                  </m:oMathPara>
                </a14:m>
                <a:endParaRPr kumimoji="1" lang="ja-JP" altLang="en-US" dirty="0"/>
              </a:p>
            </p:txBody>
          </p:sp>
        </mc:Choice>
        <mc:Fallback xmlns="">
          <p:sp>
            <p:nvSpPr>
              <p:cNvPr id="78" name="テキスト ボックス 77">
                <a:extLst>
                  <a:ext uri="{FF2B5EF4-FFF2-40B4-BE49-F238E27FC236}">
                    <a16:creationId xmlns:a16="http://schemas.microsoft.com/office/drawing/2014/main" id="{2A6B3C5E-0E29-9B93-5FA7-AB67E7C03EB8}"/>
                  </a:ext>
                </a:extLst>
              </p:cNvPr>
              <p:cNvSpPr txBox="1">
                <a:spLocks noRot="1" noChangeAspect="1" noMove="1" noResize="1" noEditPoints="1" noAdjustHandles="1" noChangeArrowheads="1" noChangeShapeType="1" noTextEdit="1"/>
              </p:cNvSpPr>
              <p:nvPr/>
            </p:nvSpPr>
            <p:spPr>
              <a:xfrm>
                <a:off x="8715301" y="4704528"/>
                <a:ext cx="496720" cy="6127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9" name="テキスト ボックス 78">
                <a:extLst>
                  <a:ext uri="{FF2B5EF4-FFF2-40B4-BE49-F238E27FC236}">
                    <a16:creationId xmlns:a16="http://schemas.microsoft.com/office/drawing/2014/main" id="{5F5B59C5-0E68-725F-74EA-CBF3BEF4A15E}"/>
                  </a:ext>
                </a:extLst>
              </p:cNvPr>
              <p:cNvSpPr txBox="1"/>
              <p:nvPr/>
            </p:nvSpPr>
            <p:spPr>
              <a:xfrm>
                <a:off x="7650828" y="4736170"/>
                <a:ext cx="496720"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b="0" i="1" smtClean="0">
                              <a:solidFill>
                                <a:schemeClr val="accent1"/>
                              </a:solidFill>
                              <a:latin typeface="Cambria Math" panose="02040503050406030204" pitchFamily="18" charset="0"/>
                            </a:rPr>
                          </m:ctrlPr>
                        </m:fPr>
                        <m:num>
                          <m:r>
                            <a:rPr kumimoji="1" lang="en-US" altLang="ja-JP" b="0" i="1" smtClean="0">
                              <a:solidFill>
                                <a:schemeClr val="accent1"/>
                              </a:solidFill>
                              <a:latin typeface="Cambria Math" panose="02040503050406030204" pitchFamily="18" charset="0"/>
                            </a:rPr>
                            <m:t>1</m:t>
                          </m:r>
                        </m:num>
                        <m:den>
                          <m:r>
                            <a:rPr kumimoji="1" lang="en-US" altLang="ja-JP" b="0" i="1" smtClean="0">
                              <a:solidFill>
                                <a:schemeClr val="accent1"/>
                              </a:solidFill>
                              <a:latin typeface="Cambria Math" panose="02040503050406030204" pitchFamily="18" charset="0"/>
                            </a:rPr>
                            <m:t>6</m:t>
                          </m:r>
                        </m:den>
                      </m:f>
                    </m:oMath>
                  </m:oMathPara>
                </a14:m>
                <a:endParaRPr kumimoji="1" lang="ja-JP" altLang="en-US" dirty="0"/>
              </a:p>
            </p:txBody>
          </p:sp>
        </mc:Choice>
        <mc:Fallback xmlns="">
          <p:sp>
            <p:nvSpPr>
              <p:cNvPr id="79" name="テキスト ボックス 78">
                <a:extLst>
                  <a:ext uri="{FF2B5EF4-FFF2-40B4-BE49-F238E27FC236}">
                    <a16:creationId xmlns:a16="http://schemas.microsoft.com/office/drawing/2014/main" id="{5F5B59C5-0E68-725F-74EA-CBF3BEF4A15E}"/>
                  </a:ext>
                </a:extLst>
              </p:cNvPr>
              <p:cNvSpPr txBox="1">
                <a:spLocks noRot="1" noChangeAspect="1" noMove="1" noResize="1" noEditPoints="1" noAdjustHandles="1" noChangeArrowheads="1" noChangeShapeType="1" noTextEdit="1"/>
              </p:cNvSpPr>
              <p:nvPr/>
            </p:nvSpPr>
            <p:spPr>
              <a:xfrm>
                <a:off x="7650828" y="4736170"/>
                <a:ext cx="496720" cy="612732"/>
              </a:xfrm>
              <a:prstGeom prst="rect">
                <a:avLst/>
              </a:prstGeom>
              <a:blipFill>
                <a:blip r:embed="rId6"/>
                <a:stretch>
                  <a:fillRect/>
                </a:stretch>
              </a:blipFill>
            </p:spPr>
            <p:txBody>
              <a:bodyPr/>
              <a:lstStyle/>
              <a:p>
                <a:r>
                  <a:rPr lang="ja-JP" altLang="en-US">
                    <a:noFill/>
                  </a:rPr>
                  <a:t> </a:t>
                </a:r>
              </a:p>
            </p:txBody>
          </p:sp>
        </mc:Fallback>
      </mc:AlternateContent>
      <p:sp>
        <p:nvSpPr>
          <p:cNvPr id="80" name="テキスト ボックス 79">
            <a:extLst>
              <a:ext uri="{FF2B5EF4-FFF2-40B4-BE49-F238E27FC236}">
                <a16:creationId xmlns:a16="http://schemas.microsoft.com/office/drawing/2014/main" id="{2AEFBDFD-4206-6DE8-4B2A-5C0E93C2FA1C}"/>
              </a:ext>
            </a:extLst>
          </p:cNvPr>
          <p:cNvSpPr txBox="1"/>
          <p:nvPr/>
        </p:nvSpPr>
        <p:spPr>
          <a:xfrm>
            <a:off x="824067" y="4036616"/>
            <a:ext cx="5163069" cy="2308324"/>
          </a:xfrm>
          <a:prstGeom prst="rect">
            <a:avLst/>
          </a:prstGeom>
          <a:noFill/>
        </p:spPr>
        <p:txBody>
          <a:bodyPr wrap="square" rtlCol="0">
            <a:spAutoFit/>
          </a:bodyPr>
          <a:lstStyle/>
          <a:p>
            <a:r>
              <a:rPr kumimoji="1" lang="ja-JP" altLang="en-US" sz="2400" dirty="0"/>
              <a:t>ポイント</a:t>
            </a:r>
            <a:endParaRPr kumimoji="1" lang="en-US" altLang="ja-JP" sz="2400" dirty="0"/>
          </a:p>
          <a:p>
            <a:pPr marL="342900" indent="-342900">
              <a:buFont typeface="Arial" panose="020B0604020202020204" pitchFamily="34" charset="0"/>
              <a:buChar char="•"/>
            </a:pPr>
            <a:r>
              <a:rPr kumimoji="1" lang="ja-JP" altLang="en-US" sz="2400" dirty="0"/>
              <a:t>単純な乱択貪欲法（貪欲法でタイブレークを一様ランダムにする）</a:t>
            </a:r>
            <a:r>
              <a:rPr kumimoji="1" lang="en-US" altLang="ja-JP" sz="2400" dirty="0"/>
              <a:t>[Meyerson et al., 2006] </a:t>
            </a:r>
            <a:r>
              <a:rPr kumimoji="1" lang="ja-JP" altLang="en-US" sz="2400" dirty="0"/>
              <a:t>ではない</a:t>
            </a:r>
            <a:endParaRPr kumimoji="1" lang="en-US" altLang="ja-JP" sz="2400" dirty="0"/>
          </a:p>
          <a:p>
            <a:pPr marL="342900" indent="-342900">
              <a:buFont typeface="Arial" panose="020B0604020202020204" pitchFamily="34" charset="0"/>
              <a:buChar char="•"/>
            </a:pPr>
            <a:r>
              <a:rPr lang="ja-JP" altLang="en-US" sz="2400" dirty="0"/>
              <a:t>空きの多い部分木に集まる確率が集中するのを防止</a:t>
            </a:r>
            <a:endParaRPr kumimoji="1" lang="ja-JP" altLang="en-US" sz="2400" dirty="0"/>
          </a:p>
        </p:txBody>
      </p:sp>
    </p:spTree>
    <p:extLst>
      <p:ext uri="{BB962C8B-B14F-4D97-AF65-F5344CB8AC3E}">
        <p14:creationId xmlns:p14="http://schemas.microsoft.com/office/powerpoint/2010/main" val="19125899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9B1D8C-2394-2FEB-18EA-AADFBBD2FCC8}"/>
              </a:ext>
            </a:extLst>
          </p:cNvPr>
          <p:cNvSpPr>
            <a:spLocks noGrp="1"/>
          </p:cNvSpPr>
          <p:nvPr>
            <p:ph type="title"/>
          </p:nvPr>
        </p:nvSpPr>
        <p:spPr/>
        <p:txBody>
          <a:bodyPr/>
          <a:lstStyle/>
          <a:p>
            <a:r>
              <a:rPr lang="ja-JP" altLang="en-US" dirty="0"/>
              <a:t>確率的</a:t>
            </a:r>
            <a:r>
              <a:rPr kumimoji="1" lang="en-US" altLang="ja-JP" dirty="0"/>
              <a:t> OMM</a:t>
            </a:r>
            <a:r>
              <a:rPr kumimoji="1" lang="ja-JP" altLang="en-US" dirty="0"/>
              <a:t>（</a:t>
            </a:r>
            <a:r>
              <a:rPr kumimoji="1" lang="en-US" altLang="ja-JP" dirty="0"/>
              <a:t>Stochastic OMM</a:t>
            </a:r>
            <a:r>
              <a:rPr kumimoji="1" lang="ja-JP" altLang="en-US" dirty="0"/>
              <a:t>）</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630C47D-4F52-65C4-CBF7-495D8690A3FC}"/>
                  </a:ext>
                </a:extLst>
              </p:cNvPr>
              <p:cNvSpPr>
                <a:spLocks noGrp="1"/>
              </p:cNvSpPr>
              <p:nvPr>
                <p:ph idx="1"/>
              </p:nvPr>
            </p:nvSpPr>
            <p:spPr/>
            <p:txBody>
              <a:bodyPr>
                <a:normAutofit/>
              </a:bodyPr>
              <a:lstStyle/>
              <a:p>
                <a:pPr marL="0" indent="0">
                  <a:buNone/>
                </a:pPr>
                <a:r>
                  <a:rPr kumimoji="1" lang="ja-JP" altLang="en-US" sz="2400" dirty="0"/>
                  <a:t>リクエストが</a:t>
                </a:r>
                <a:r>
                  <a:rPr kumimoji="1" lang="ja-JP" altLang="en-US" sz="2400" b="1" dirty="0"/>
                  <a:t>既知の確率分布</a:t>
                </a:r>
                <a:r>
                  <a:rPr kumimoji="1" lang="ja-JP" altLang="en-US" sz="2400" dirty="0"/>
                  <a:t>に従って </a:t>
                </a:r>
                <a:r>
                  <a:rPr kumimoji="1" lang="en-US" altLang="ja-JP" sz="2400" dirty="0" err="1"/>
                  <a:t>i.i.d.</a:t>
                </a:r>
                <a:r>
                  <a:rPr kumimoji="1" lang="en-US" altLang="ja-JP" sz="2400" dirty="0"/>
                  <a:t> </a:t>
                </a:r>
                <a:r>
                  <a:rPr lang="ja-JP" altLang="en-US" sz="2400" dirty="0"/>
                  <a:t>で生成されるモデル</a:t>
                </a:r>
                <a:endParaRPr lang="en-US" altLang="ja-JP" sz="2400" dirty="0"/>
              </a:p>
              <a:p>
                <a:pPr marL="0" indent="0">
                  <a:buNone/>
                </a:pPr>
                <a:r>
                  <a:rPr kumimoji="1" lang="ja-JP" altLang="en-US" sz="2400" dirty="0"/>
                  <a:t>競合比はリクエストの分布とアルゴリズムの乱数に関する期待値で測る</a:t>
                </a:r>
                <a:endParaRPr kumimoji="1" lang="en-US" altLang="ja-JP" sz="2400" dirty="0"/>
              </a:p>
              <a:p>
                <a:pPr marL="0" indent="0">
                  <a:buNone/>
                </a:pPr>
                <a:endParaRPr lang="en-US" altLang="ja-JP" sz="800" dirty="0"/>
              </a:p>
              <a:p>
                <a:pPr marL="0" indent="0">
                  <a:buNone/>
                </a:pPr>
                <a:r>
                  <a:rPr kumimoji="1" lang="en-US" altLang="ja-JP" sz="2400" dirty="0"/>
                  <a:t>[Gupta et al., 2019] </a:t>
                </a:r>
                <a:r>
                  <a:rPr kumimoji="1" lang="ja-JP" altLang="en-US" sz="2400" dirty="0"/>
                  <a:t>は以下を満たすアルゴリズム（</a:t>
                </a:r>
                <a:r>
                  <a:rPr kumimoji="1" lang="en-US" altLang="ja-JP" sz="2400" dirty="0"/>
                  <a:t>Fair-Bias</a:t>
                </a:r>
                <a:r>
                  <a:rPr kumimoji="1" lang="ja-JP" altLang="en-US" sz="2400" dirty="0"/>
                  <a:t>）を提案：</a:t>
                </a:r>
                <a:endParaRPr kumimoji="1" lang="en-US" altLang="ja-JP" sz="2400" dirty="0"/>
              </a:p>
              <a:p>
                <a:r>
                  <a:rPr lang="ja-JP" altLang="en-US" sz="2400" dirty="0"/>
                  <a:t>一般の距離空間に対して </a:t>
                </a:r>
                <a14:m>
                  <m:oMath xmlns:m="http://schemas.openxmlformats.org/officeDocument/2006/math">
                    <m:r>
                      <a:rPr lang="en-US" altLang="ja-JP" sz="2400" b="0" i="1" smtClean="0">
                        <a:latin typeface="Cambria Math" panose="02040503050406030204" pitchFamily="18" charset="0"/>
                      </a:rPr>
                      <m:t>𝑂</m:t>
                    </m:r>
                    <m:d>
                      <m:dPr>
                        <m:ctrlPr>
                          <a:rPr lang="en-US" altLang="ja-JP" sz="2400" b="0" i="1" smtClean="0">
                            <a:latin typeface="Cambria Math" panose="02040503050406030204" pitchFamily="18" charset="0"/>
                          </a:rPr>
                        </m:ctrlPr>
                      </m:dPr>
                      <m:e>
                        <m:sSup>
                          <m:sSupPr>
                            <m:ctrlPr>
                              <a:rPr lang="en-US" altLang="ja-JP" sz="2400" b="0" i="1" smtClean="0">
                                <a:latin typeface="Cambria Math" panose="02040503050406030204" pitchFamily="18" charset="0"/>
                              </a:rPr>
                            </m:ctrlPr>
                          </m:sSupPr>
                          <m:e>
                            <m:d>
                              <m:dPr>
                                <m:ctrlPr>
                                  <a:rPr lang="en-US" altLang="ja-JP" sz="2400" b="0" i="1" smtClean="0">
                                    <a:latin typeface="Cambria Math" panose="02040503050406030204" pitchFamily="18" charset="0"/>
                                  </a:rPr>
                                </m:ctrlPr>
                              </m:dPr>
                              <m:e>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e>
                            </m:d>
                          </m:e>
                          <m:sup>
                            <m:r>
                              <a:rPr lang="en-US" altLang="ja-JP" sz="2400" b="0" i="1" smtClean="0">
                                <a:latin typeface="Cambria Math" panose="02040503050406030204" pitchFamily="18" charset="0"/>
                              </a:rPr>
                              <m:t>2</m:t>
                            </m:r>
                          </m:sup>
                        </m:sSup>
                      </m:e>
                    </m:d>
                  </m:oMath>
                </a14:m>
                <a:r>
                  <a:rPr kumimoji="1" lang="en-US" altLang="ja-JP" sz="2400" dirty="0"/>
                  <a:t>-</a:t>
                </a:r>
                <a:r>
                  <a:rPr kumimoji="1" lang="ja-JP" altLang="en-US" sz="2400" dirty="0"/>
                  <a:t>競合的</a:t>
                </a:r>
                <a:endParaRPr kumimoji="1" lang="en-US" altLang="ja-JP" sz="2400" dirty="0"/>
              </a:p>
              <a:p>
                <a:r>
                  <a:rPr lang="ja-JP" altLang="en-US" sz="2400" dirty="0"/>
                  <a:t>木に対して </a:t>
                </a:r>
                <a:r>
                  <a:rPr lang="en-US" altLang="ja-JP" sz="2400" dirty="0"/>
                  <a:t>9-</a:t>
                </a:r>
                <a:r>
                  <a:rPr lang="ja-JP" altLang="en-US" sz="2400" dirty="0"/>
                  <a:t>競合的</a:t>
                </a:r>
                <a:endParaRPr lang="en-US" altLang="ja-JP" sz="2400" dirty="0"/>
              </a:p>
              <a:p>
                <a:pPr marL="0" indent="0">
                  <a:buNone/>
                </a:pPr>
                <a:endParaRPr kumimoji="1" lang="en-US" altLang="ja-JP" sz="800" dirty="0"/>
              </a:p>
              <a:p>
                <a:pPr marL="0" indent="0">
                  <a:buNone/>
                </a:pPr>
                <a:r>
                  <a:rPr lang="ja-JP" altLang="en-US" sz="2400" dirty="0"/>
                  <a:t>定数競合比ができると予想されていて近年注目されている</a:t>
                </a:r>
                <a:endParaRPr lang="en-US" altLang="ja-JP" sz="2400" dirty="0"/>
              </a:p>
              <a:p>
                <a:r>
                  <a:rPr kumimoji="1" lang="en-US" altLang="ja-JP" sz="2400" dirty="0"/>
                  <a:t>[Yang and Yu, 2025] </a:t>
                </a:r>
                <a:r>
                  <a:rPr kumimoji="1" lang="ja-JP" altLang="en-US" sz="2400" dirty="0"/>
                  <a:t>は </a:t>
                </a:r>
                <a:r>
                  <a:rPr kumimoji="1" lang="en-US" altLang="ja-JP" sz="2400" dirty="0"/>
                  <a:t>3 </a:t>
                </a:r>
                <a:r>
                  <a:rPr kumimoji="1" lang="ja-JP" altLang="en-US" sz="2400" dirty="0"/>
                  <a:t>次元以上のユークリッド空間で定数競合比を達成</a:t>
                </a:r>
                <a:endParaRPr kumimoji="1" lang="en-US" altLang="ja-JP" sz="2400" dirty="0"/>
              </a:p>
              <a:p>
                <a:pPr marL="0" indent="0">
                  <a:buNone/>
                </a:pPr>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C630C47D-4F52-65C4-CBF7-495D8690A3FC}"/>
                  </a:ext>
                </a:extLst>
              </p:cNvPr>
              <p:cNvSpPr>
                <a:spLocks noGrp="1" noRot="1" noChangeAspect="1" noMove="1" noResize="1" noEditPoints="1" noAdjustHandles="1" noChangeArrowheads="1" noChangeShapeType="1" noTextEdit="1"/>
              </p:cNvSpPr>
              <p:nvPr>
                <p:ph idx="1"/>
              </p:nvPr>
            </p:nvSpPr>
            <p:spPr>
              <a:blipFill>
                <a:blip r:embed="rId2"/>
                <a:stretch>
                  <a:fillRect l="-928" t="-224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21D4CC7A-749D-6B03-BACB-B22562DF01A8}"/>
              </a:ext>
            </a:extLst>
          </p:cNvPr>
          <p:cNvSpPr>
            <a:spLocks noGrp="1"/>
          </p:cNvSpPr>
          <p:nvPr>
            <p:ph type="sldNum" sz="quarter" idx="12"/>
          </p:nvPr>
        </p:nvSpPr>
        <p:spPr/>
        <p:txBody>
          <a:bodyPr/>
          <a:lstStyle/>
          <a:p>
            <a:fld id="{4B077F3A-4098-4199-8925-77865D1E3500}" type="slidenum">
              <a:rPr kumimoji="1" lang="ja-JP" altLang="en-US" smtClean="0"/>
              <a:t>69</a:t>
            </a:fld>
            <a:endParaRPr kumimoji="1" lang="ja-JP" altLang="en-US"/>
          </a:p>
        </p:txBody>
      </p:sp>
    </p:spTree>
    <p:extLst>
      <p:ext uri="{BB962C8B-B14F-4D97-AF65-F5344CB8AC3E}">
        <p14:creationId xmlns:p14="http://schemas.microsoft.com/office/powerpoint/2010/main" val="23693573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AF62D4-3C6C-402F-4A78-3AFE569F7C05}"/>
              </a:ext>
            </a:extLst>
          </p:cNvPr>
          <p:cNvSpPr>
            <a:spLocks noGrp="1"/>
          </p:cNvSpPr>
          <p:nvPr>
            <p:ph type="title"/>
          </p:nvPr>
        </p:nvSpPr>
        <p:spPr/>
        <p:txBody>
          <a:bodyPr/>
          <a:lstStyle/>
          <a:p>
            <a:r>
              <a:rPr lang="ja-JP" altLang="en-US" dirty="0"/>
              <a:t>ランダム到着モデル</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2DEE4A2-F8BA-EC52-E75A-91437898E25A}"/>
                  </a:ext>
                </a:extLst>
              </p:cNvPr>
              <p:cNvSpPr>
                <a:spLocks noGrp="1"/>
              </p:cNvSpPr>
              <p:nvPr>
                <p:ph idx="1"/>
              </p:nvPr>
            </p:nvSpPr>
            <p:spPr/>
            <p:txBody>
              <a:bodyPr>
                <a:normAutofit/>
              </a:bodyPr>
              <a:lstStyle/>
              <a:p>
                <a:pPr marL="0" indent="0">
                  <a:buNone/>
                </a:pPr>
                <a:r>
                  <a:rPr kumimoji="1" lang="ja-JP" altLang="en-US" sz="2400" dirty="0"/>
                  <a:t>リクエスト到着場所の集合はアルゴリズムを見て意地悪に決めることができるが，到着順は一様ランダムにしか出せない</a:t>
                </a:r>
                <a:endParaRPr kumimoji="1" lang="en-US" altLang="ja-JP" sz="2400" dirty="0"/>
              </a:p>
              <a:p>
                <a:pPr marL="0" indent="0">
                  <a:buNone/>
                </a:pPr>
                <a:endParaRPr kumimoji="1" lang="en-US" altLang="ja-JP" sz="800" dirty="0"/>
              </a:p>
              <a:p>
                <a:pPr marL="0" indent="0">
                  <a:buNone/>
                </a:pPr>
                <a:r>
                  <a:rPr lang="ja-JP" altLang="en-US" sz="2400" b="1" dirty="0"/>
                  <a:t>動機：</a:t>
                </a:r>
                <a:r>
                  <a:rPr lang="ja-JP" altLang="en-US" sz="2400" dirty="0"/>
                  <a:t>リクエストが未知の確率分布に従うモデルを扱いたいが扱いにくい．</a:t>
                </a:r>
                <a:r>
                  <a:rPr lang="en-US" altLang="ja-JP" sz="2400" dirty="0"/>
                  <a:t> </a:t>
                </a:r>
                <a:r>
                  <a:rPr lang="ja-JP" altLang="en-US" sz="2400" dirty="0"/>
                  <a:t>それより強いが理論上扱いやすいモデルとして有名．</a:t>
                </a:r>
                <a:endParaRPr lang="en-US" altLang="ja-JP" sz="2400" dirty="0"/>
              </a:p>
              <a:p>
                <a:pPr marL="0" indent="0">
                  <a:buNone/>
                </a:pPr>
                <a:endParaRPr kumimoji="1" lang="en-US" altLang="ja-JP" sz="800" dirty="0"/>
              </a:p>
              <a:p>
                <a:pPr marL="0" indent="0">
                  <a:buNone/>
                </a:pPr>
                <a:r>
                  <a:rPr lang="en-US" altLang="ja-JP" sz="2400" dirty="0"/>
                  <a:t>[Raghvendra, 2016]</a:t>
                </a:r>
                <a:r>
                  <a:rPr lang="ja-JP" altLang="en-US" sz="2400" dirty="0"/>
                  <a:t> は以下を示し，決定的アルゴリズムの競合比を確定</a:t>
                </a:r>
                <a:endParaRPr lang="en-US" altLang="ja-JP" sz="2400" dirty="0"/>
              </a:p>
              <a:p>
                <a:r>
                  <a:rPr lang="en-US" altLang="ja-JP" sz="2400" dirty="0"/>
                  <a:t>RM </a:t>
                </a:r>
                <a:r>
                  <a:rPr lang="ja-JP" altLang="en-US" sz="2400" dirty="0"/>
                  <a:t>アルゴリズムが </a:t>
                </a:r>
                <a14:m>
                  <m:oMath xmlns:m="http://schemas.openxmlformats.org/officeDocument/2006/math">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2</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𝐻</m:t>
                            </m:r>
                          </m:e>
                          <m:sub>
                            <m:r>
                              <a:rPr lang="en-US" altLang="ja-JP" sz="2400" b="0" i="1" smtClean="0">
                                <a:latin typeface="Cambria Math" panose="02040503050406030204" pitchFamily="18" charset="0"/>
                              </a:rPr>
                              <m:t>𝑛</m:t>
                            </m:r>
                          </m:sub>
                        </m:sSub>
                        <m:r>
                          <a:rPr lang="en-US" altLang="ja-JP" sz="2400" b="0" i="1" smtClean="0">
                            <a:latin typeface="Cambria Math" panose="02040503050406030204" pitchFamily="18" charset="0"/>
                          </a:rPr>
                          <m:t>−1+</m:t>
                        </m:r>
                        <m:r>
                          <a:rPr lang="en-US" altLang="ja-JP" sz="2400" b="0" i="1" smtClean="0">
                            <a:latin typeface="Cambria Math" panose="02040503050406030204" pitchFamily="18" charset="0"/>
                          </a:rPr>
                          <m:t>𝑜</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1</m:t>
                            </m:r>
                          </m:e>
                        </m:d>
                      </m:e>
                    </m:d>
                  </m:oMath>
                </a14:m>
                <a:r>
                  <a:rPr kumimoji="1" lang="en-US" altLang="ja-JP" sz="2400" dirty="0"/>
                  <a:t>-</a:t>
                </a:r>
                <a:r>
                  <a:rPr kumimoji="1" lang="ja-JP" altLang="en-US" sz="2400" dirty="0"/>
                  <a:t>競合的であること</a:t>
                </a:r>
                <a:endParaRPr kumimoji="1" lang="en-US" altLang="ja-JP" sz="2400" dirty="0"/>
              </a:p>
              <a:p>
                <a:r>
                  <a:rPr lang="ja-JP" altLang="en-US" sz="2400" dirty="0"/>
                  <a:t>任意の決定的アルゴリズムの競合比が </a:t>
                </a:r>
                <a14:m>
                  <m:oMath xmlns:m="http://schemas.openxmlformats.org/officeDocument/2006/math">
                    <m:r>
                      <a:rPr lang="en-US" altLang="ja-JP" sz="2400" b="0" i="1" smtClean="0">
                        <a:latin typeface="Cambria Math" panose="02040503050406030204" pitchFamily="18" charset="0"/>
                      </a:rPr>
                      <m:t>2</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𝐻</m:t>
                        </m:r>
                      </m:e>
                      <m:sub>
                        <m:r>
                          <a:rPr lang="en-US" altLang="ja-JP" sz="2400" b="0" i="1" smtClean="0">
                            <a:latin typeface="Cambria Math" panose="02040503050406030204" pitchFamily="18" charset="0"/>
                          </a:rPr>
                          <m:t>𝑛</m:t>
                        </m:r>
                      </m:sub>
                    </m:sSub>
                    <m:r>
                      <a:rPr lang="en-US" altLang="ja-JP" sz="2400" b="0" i="1" smtClean="0">
                        <a:latin typeface="Cambria Math" panose="02040503050406030204" pitchFamily="18" charset="0"/>
                      </a:rPr>
                      <m:t>−1−</m:t>
                    </m:r>
                    <m:r>
                      <a:rPr lang="en-US" altLang="ja-JP" sz="2400" b="0" i="1" smtClean="0">
                        <a:latin typeface="Cambria Math" panose="02040503050406030204" pitchFamily="18" charset="0"/>
                      </a:rPr>
                      <m:t>𝑜</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1</m:t>
                        </m:r>
                      </m:e>
                    </m:d>
                  </m:oMath>
                </a14:m>
                <a:r>
                  <a:rPr kumimoji="1" lang="ja-JP" altLang="en-US" sz="2400" dirty="0"/>
                  <a:t> 以上であること</a:t>
                </a:r>
                <a:endParaRPr kumimoji="1" lang="en-US" altLang="ja-JP" sz="2400" dirty="0"/>
              </a:p>
              <a:p>
                <a:pPr marL="0" indent="0">
                  <a:buNone/>
                </a:pPr>
                <a:endParaRPr lang="en-US" altLang="ja-JP" sz="2400" dirty="0"/>
              </a:p>
              <a:p>
                <a:pPr marL="0" indent="0">
                  <a:buNone/>
                </a:pPr>
                <a:r>
                  <a:rPr kumimoji="1" lang="en-US" altLang="ja-JP" sz="2400" b="1" dirty="0"/>
                  <a:t>RM </a:t>
                </a:r>
                <a:r>
                  <a:rPr kumimoji="1" lang="ja-JP" altLang="en-US" sz="2400" b="1" dirty="0"/>
                  <a:t>アルゴリズムは通常の設定 </a:t>
                </a:r>
                <a:r>
                  <a:rPr kumimoji="1" lang="en-US" altLang="ja-JP" sz="2400" b="1" dirty="0"/>
                  <a:t>+ </a:t>
                </a:r>
                <a:r>
                  <a:rPr kumimoji="1" lang="ja-JP" altLang="en-US" sz="2400" b="1" dirty="0"/>
                  <a:t>ランダム到着モデルの双方で最適！</a:t>
                </a:r>
              </a:p>
            </p:txBody>
          </p:sp>
        </mc:Choice>
        <mc:Fallback xmlns="">
          <p:sp>
            <p:nvSpPr>
              <p:cNvPr id="3" name="コンテンツ プレースホルダー 2">
                <a:extLst>
                  <a:ext uri="{FF2B5EF4-FFF2-40B4-BE49-F238E27FC236}">
                    <a16:creationId xmlns:a16="http://schemas.microsoft.com/office/drawing/2014/main" id="{B2DEE4A2-F8BA-EC52-E75A-91437898E25A}"/>
                  </a:ext>
                </a:extLst>
              </p:cNvPr>
              <p:cNvSpPr>
                <a:spLocks noGrp="1" noRot="1" noChangeAspect="1" noMove="1" noResize="1" noEditPoints="1" noAdjustHandles="1" noChangeArrowheads="1" noChangeShapeType="1" noTextEdit="1"/>
              </p:cNvSpPr>
              <p:nvPr>
                <p:ph idx="1"/>
              </p:nvPr>
            </p:nvSpPr>
            <p:spPr>
              <a:blipFill>
                <a:blip r:embed="rId2"/>
                <a:stretch>
                  <a:fillRect l="-928" t="-1681" r="-1159" b="-32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7B948DD7-C36C-DA42-C1FA-C91F1652CD1A}"/>
              </a:ext>
            </a:extLst>
          </p:cNvPr>
          <p:cNvSpPr>
            <a:spLocks noGrp="1"/>
          </p:cNvSpPr>
          <p:nvPr>
            <p:ph type="sldNum" sz="quarter" idx="12"/>
          </p:nvPr>
        </p:nvSpPr>
        <p:spPr/>
        <p:txBody>
          <a:bodyPr/>
          <a:lstStyle/>
          <a:p>
            <a:fld id="{4B077F3A-4098-4199-8925-77865D1E3500}" type="slidenum">
              <a:rPr kumimoji="1" lang="ja-JP" altLang="en-US" smtClean="0"/>
              <a:t>70</a:t>
            </a:fld>
            <a:endParaRPr kumimoji="1" lang="ja-JP" altLang="en-US"/>
          </a:p>
        </p:txBody>
      </p:sp>
    </p:spTree>
    <p:extLst>
      <p:ext uri="{BB962C8B-B14F-4D97-AF65-F5344CB8AC3E}">
        <p14:creationId xmlns:p14="http://schemas.microsoft.com/office/powerpoint/2010/main" val="5946605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A87F94-B1BD-DD69-B89C-36CB43FD5462}"/>
              </a:ext>
            </a:extLst>
          </p:cNvPr>
          <p:cNvSpPr>
            <a:spLocks noGrp="1"/>
          </p:cNvSpPr>
          <p:nvPr>
            <p:ph type="title"/>
          </p:nvPr>
        </p:nvSpPr>
        <p:spPr/>
        <p:txBody>
          <a:bodyPr/>
          <a:lstStyle/>
          <a:p>
            <a:r>
              <a:rPr kumimoji="1" lang="ja-JP" altLang="en-US" dirty="0"/>
              <a:t>予測付きモデル</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9988209-35C6-DC8E-C40C-D43ACFC8A6A3}"/>
                  </a:ext>
                </a:extLst>
              </p:cNvPr>
              <p:cNvSpPr>
                <a:spLocks noGrp="1"/>
              </p:cNvSpPr>
              <p:nvPr>
                <p:ph idx="1"/>
              </p:nvPr>
            </p:nvSpPr>
            <p:spPr/>
            <p:txBody>
              <a:bodyPr/>
              <a:lstStyle/>
              <a:p>
                <a:pPr marL="0" indent="0">
                  <a:buNone/>
                </a:pPr>
                <a:r>
                  <a:rPr kumimoji="1" lang="ja-JP" altLang="en-US" sz="2400" dirty="0"/>
                  <a:t>最適割り当て </a:t>
                </a:r>
                <a14:m>
                  <m:oMath xmlns:m="http://schemas.openxmlformats.org/officeDocument/2006/math">
                    <m:r>
                      <a:rPr kumimoji="1" lang="en-US" altLang="ja-JP" sz="2400" b="0" i="1" smtClean="0">
                        <a:latin typeface="Cambria Math" panose="02040503050406030204" pitchFamily="18" charset="0"/>
                      </a:rPr>
                      <m:t>𝑂𝑃𝑇</m:t>
                    </m:r>
                  </m:oMath>
                </a14:m>
                <a:r>
                  <a:rPr kumimoji="1" lang="ja-JP" altLang="en-US" sz="2400" dirty="0"/>
                  <a:t> に関する「予測」を途中で利用可能なモデル</a:t>
                </a:r>
                <a:endParaRPr kumimoji="1" lang="en-US" altLang="ja-JP" sz="2400" dirty="0"/>
              </a:p>
              <a:p>
                <a:pPr marL="0" indent="0">
                  <a:buNone/>
                </a:pPr>
                <a:r>
                  <a:rPr kumimoji="1" lang="ja-JP" altLang="en-US" sz="2400" dirty="0"/>
                  <a:t>一貫性と頑健性を両立する予測の活用方法を探す</a:t>
                </a:r>
                <a:endParaRPr kumimoji="1" lang="en-US" altLang="ja-JP" sz="2400" dirty="0"/>
              </a:p>
              <a:p>
                <a:pPr marL="0" indent="0">
                  <a:buNone/>
                </a:pPr>
                <a:endParaRPr kumimoji="1" lang="en-US" altLang="ja-JP" sz="2400" dirty="0"/>
              </a:p>
              <a:p>
                <a:pPr marL="0" indent="0">
                  <a:buNone/>
                </a:pPr>
                <a:r>
                  <a:rPr kumimoji="1" lang="ja-JP" altLang="en-US" sz="2400" b="1" dirty="0"/>
                  <a:t>一貫性（</a:t>
                </a:r>
                <a:r>
                  <a:rPr kumimoji="1" lang="en-US" altLang="ja-JP" sz="2400" b="1" dirty="0"/>
                  <a:t>consistency</a:t>
                </a:r>
                <a:r>
                  <a:rPr kumimoji="1" lang="ja-JP" altLang="en-US" sz="2400" b="1" dirty="0"/>
                  <a:t>）</a:t>
                </a:r>
                <a:r>
                  <a:rPr lang="ja-JP" altLang="en-US" sz="2000" dirty="0"/>
                  <a:t>予測が完全に合っているなら定数競合比</a:t>
                </a:r>
                <a:endParaRPr lang="en-US" altLang="ja-JP" sz="2000" dirty="0"/>
              </a:p>
              <a:p>
                <a:pPr marL="0" indent="0">
                  <a:buNone/>
                </a:pPr>
                <a:r>
                  <a:rPr kumimoji="1" lang="ja-JP" altLang="en-US" sz="2400" b="1" dirty="0"/>
                  <a:t>頑健性（</a:t>
                </a:r>
                <a:r>
                  <a:rPr kumimoji="1" lang="en-US" altLang="ja-JP" sz="2400" b="1" dirty="0"/>
                  <a:t>robustness</a:t>
                </a:r>
                <a:r>
                  <a:rPr kumimoji="1" lang="ja-JP" altLang="en-US" sz="2400" b="1" dirty="0"/>
                  <a:t>）</a:t>
                </a:r>
                <a:r>
                  <a:rPr kumimoji="1" lang="ja-JP" altLang="en-US" sz="2400" dirty="0"/>
                  <a:t> </a:t>
                </a:r>
                <a:r>
                  <a:rPr kumimoji="1" lang="ja-JP" altLang="en-US" sz="2000" dirty="0"/>
                  <a:t>予測が的外れなときでも既存の競合比と同じオーダー</a:t>
                </a:r>
                <a:endParaRPr lang="en-US" altLang="ja-JP" sz="2000" dirty="0"/>
              </a:p>
              <a:p>
                <a:pPr marL="0" indent="0">
                  <a:buNone/>
                </a:pPr>
                <a:endParaRPr lang="en-US" altLang="ja-JP" sz="2400" dirty="0"/>
              </a:p>
              <a:p>
                <a:pPr marL="0" indent="0">
                  <a:buNone/>
                </a:pPr>
                <a:r>
                  <a:rPr kumimoji="1" lang="ja-JP" altLang="en-US" sz="2400" dirty="0"/>
                  <a:t>機械学習・</a:t>
                </a:r>
                <a:r>
                  <a:rPr kumimoji="1" lang="en-US" altLang="ja-JP" sz="2400" dirty="0"/>
                  <a:t>AI</a:t>
                </a:r>
                <a:r>
                  <a:rPr kumimoji="1" lang="ja-JP" altLang="en-US" sz="2400" dirty="0"/>
                  <a:t>の流行を背景として近年活発に研究されている</a:t>
                </a:r>
                <a:endParaRPr kumimoji="1" lang="en-US" altLang="ja-JP" sz="2400" dirty="0"/>
              </a:p>
              <a:p>
                <a:pPr marL="0" indent="0">
                  <a:buNone/>
                </a:pPr>
                <a:r>
                  <a:rPr lang="en-US" altLang="ja-JP" sz="2400" dirty="0"/>
                  <a:t>OMM </a:t>
                </a:r>
                <a:r>
                  <a:rPr lang="ja-JP" altLang="en-US" sz="2400" dirty="0"/>
                  <a:t>へ適用する例も登場してきている</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D9988209-35C6-DC8E-C40C-D43ACFC8A6A3}"/>
                  </a:ext>
                </a:extLst>
              </p:cNvPr>
              <p:cNvSpPr>
                <a:spLocks noGrp="1" noRot="1" noChangeAspect="1" noMove="1" noResize="1" noEditPoints="1" noAdjustHandles="1" noChangeArrowheads="1" noChangeShapeType="1" noTextEdit="1"/>
              </p:cNvSpPr>
              <p:nvPr>
                <p:ph idx="1"/>
              </p:nvPr>
            </p:nvSpPr>
            <p:spPr>
              <a:blipFill>
                <a:blip r:embed="rId2"/>
                <a:stretch>
                  <a:fillRect l="-928" t="-154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CA47DBF8-122D-38CE-1156-76A048E218F5}"/>
              </a:ext>
            </a:extLst>
          </p:cNvPr>
          <p:cNvSpPr>
            <a:spLocks noGrp="1"/>
          </p:cNvSpPr>
          <p:nvPr>
            <p:ph type="sldNum" sz="quarter" idx="12"/>
          </p:nvPr>
        </p:nvSpPr>
        <p:spPr/>
        <p:txBody>
          <a:bodyPr/>
          <a:lstStyle/>
          <a:p>
            <a:fld id="{4B077F3A-4098-4199-8925-77865D1E3500}" type="slidenum">
              <a:rPr kumimoji="1" lang="ja-JP" altLang="en-US" smtClean="0"/>
              <a:t>71</a:t>
            </a:fld>
            <a:endParaRPr kumimoji="1" lang="ja-JP" altLang="en-US"/>
          </a:p>
        </p:txBody>
      </p:sp>
    </p:spTree>
    <p:extLst>
      <p:ext uri="{BB962C8B-B14F-4D97-AF65-F5344CB8AC3E}">
        <p14:creationId xmlns:p14="http://schemas.microsoft.com/office/powerpoint/2010/main" val="3126604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40E156-AB51-3F86-C6BB-366F43FCAFF1}"/>
              </a:ext>
            </a:extLst>
          </p:cNvPr>
          <p:cNvSpPr>
            <a:spLocks noGrp="1"/>
          </p:cNvSpPr>
          <p:nvPr>
            <p:ph type="title"/>
          </p:nvPr>
        </p:nvSpPr>
        <p:spPr/>
        <p:txBody>
          <a:bodyPr/>
          <a:lstStyle/>
          <a:p>
            <a:r>
              <a:rPr kumimoji="1" lang="en-US" altLang="ja-JP" dirty="0"/>
              <a:t>OMM </a:t>
            </a:r>
            <a:r>
              <a:rPr kumimoji="1" lang="ja-JP" altLang="en-US" dirty="0"/>
              <a:t>への適用例と課題</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93F798A-08E3-4C10-88ED-3865BC83F9CB}"/>
                  </a:ext>
                </a:extLst>
              </p:cNvPr>
              <p:cNvSpPr>
                <a:spLocks noGrp="1"/>
              </p:cNvSpPr>
              <p:nvPr>
                <p:ph idx="1"/>
              </p:nvPr>
            </p:nvSpPr>
            <p:spPr>
              <a:xfrm>
                <a:off x="838200" y="1825625"/>
                <a:ext cx="10515600" cy="3162011"/>
              </a:xfrm>
            </p:spPr>
            <p:txBody>
              <a:bodyPr>
                <a:normAutofit/>
              </a:bodyPr>
              <a:lstStyle/>
              <a:p>
                <a:pPr marL="0" indent="0">
                  <a:buNone/>
                </a:pPr>
                <a:r>
                  <a:rPr kumimoji="1" lang="en-US" altLang="ja-JP" sz="2400" dirty="0"/>
                  <a:t>[Antoniadis et al., 2023] </a:t>
                </a:r>
                <a:endParaRPr lang="en-US" altLang="ja-JP" sz="2400" dirty="0"/>
              </a:p>
              <a:p>
                <a:pPr marL="0" indent="0">
                  <a:buNone/>
                </a:pPr>
                <a:r>
                  <a:rPr kumimoji="1" lang="ja-JP" altLang="en-US" sz="2000" b="1" dirty="0"/>
                  <a:t>予測　：</a:t>
                </a:r>
                <a:r>
                  <a:rPr kumimoji="1" lang="ja-JP" altLang="en-US" sz="2000" dirty="0"/>
                  <a:t>リクエスト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a14:m>
                <a:r>
                  <a:rPr kumimoji="1" lang="ja-JP" altLang="en-US" sz="2000" dirty="0"/>
                  <a:t> を受け取ったときに，</a:t>
                </a:r>
                <a14:m>
                  <m:oMath xmlns:m="http://schemas.openxmlformats.org/officeDocument/2006/math">
                    <m:r>
                      <a:rPr kumimoji="1" lang="en-US" altLang="ja-JP" sz="2000" b="0" i="1" smtClean="0">
                        <a:latin typeface="Cambria Math" panose="02040503050406030204" pitchFamily="18" charset="0"/>
                      </a:rPr>
                      <m:t>𝑂𝑃𝑇</m:t>
                    </m:r>
                  </m:oMath>
                </a14:m>
                <a:r>
                  <a:rPr kumimoji="1" lang="ja-JP" altLang="en-US" sz="2000" dirty="0"/>
                  <a:t> における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1</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𝑟</m:t>
                        </m:r>
                      </m:e>
                      <m:sub>
                        <m:r>
                          <a:rPr kumimoji="1" lang="en-US" altLang="ja-JP" sz="2000" b="0" i="1" smtClean="0">
                            <a:latin typeface="Cambria Math" panose="02040503050406030204" pitchFamily="18" charset="0"/>
                          </a:rPr>
                          <m:t>𝑖</m:t>
                        </m:r>
                      </m:sub>
                    </m:sSub>
                  </m:oMath>
                </a14:m>
                <a:r>
                  <a:rPr kumimoji="1" lang="ja-JP" altLang="en-US" sz="2000" dirty="0"/>
                  <a:t> の割当先の予測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𝑃</m:t>
                        </m:r>
                      </m:e>
                      <m:sub>
                        <m:r>
                          <a:rPr kumimoji="1" lang="en-US" altLang="ja-JP" sz="2000" b="0" i="1" smtClean="0">
                            <a:latin typeface="Cambria Math" panose="02040503050406030204" pitchFamily="18" charset="0"/>
                          </a:rPr>
                          <m:t>𝑖</m:t>
                        </m:r>
                      </m:sub>
                    </m:sSub>
                  </m:oMath>
                </a14:m>
                <a:r>
                  <a:rPr kumimoji="1" lang="ja-JP" altLang="en-US" sz="2000" dirty="0"/>
                  <a:t> </a:t>
                </a:r>
                <a:endParaRPr kumimoji="1" lang="en-US" altLang="ja-JP" sz="2000" dirty="0"/>
              </a:p>
              <a:p>
                <a:pPr marL="0" indent="0">
                  <a:buNone/>
                </a:pPr>
                <a:r>
                  <a:rPr kumimoji="1" lang="ja-JP" altLang="en-US" sz="2000" b="1" dirty="0"/>
                  <a:t>競合比：</a:t>
                </a:r>
                <a14:m>
                  <m:oMath xmlns:m="http://schemas.openxmlformats.org/officeDocument/2006/math">
                    <m:r>
                      <a:rPr kumimoji="1" lang="en-US" altLang="ja-JP" sz="2000" b="0" i="1" smtClean="0">
                        <a:latin typeface="Cambria Math" panose="02040503050406030204" pitchFamily="18" charset="0"/>
                      </a:rPr>
                      <m:t>𝑂</m:t>
                    </m:r>
                    <m:d>
                      <m:dPr>
                        <m:ctrlPr>
                          <a:rPr kumimoji="1" lang="en-US" altLang="ja-JP" sz="2000" b="0" i="1" smtClean="0">
                            <a:latin typeface="Cambria Math" panose="02040503050406030204" pitchFamily="18" charset="0"/>
                          </a:rPr>
                        </m:ctrlPr>
                      </m:dPr>
                      <m:e>
                        <m:r>
                          <m:rPr>
                            <m:sty m:val="p"/>
                          </m:rPr>
                          <a:rPr kumimoji="1" lang="en-US" altLang="ja-JP" sz="2000" b="0" i="1" smtClean="0">
                            <a:latin typeface="Cambria Math" panose="02040503050406030204" pitchFamily="18" charset="0"/>
                          </a:rPr>
                          <m:t>min</m:t>
                        </m:r>
                        <m:d>
                          <m:dPr>
                            <m:begChr m:val="{"/>
                            <m:endChr m:val="}"/>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𝛼</m:t>
                            </m:r>
                            <m:r>
                              <a:rPr kumimoji="1" lang="en-US" altLang="ja-JP" sz="2000" b="0" i="1" smtClean="0">
                                <a:latin typeface="Cambria Math" panose="02040503050406030204" pitchFamily="18" charset="0"/>
                              </a:rPr>
                              <m:t>,1+</m:t>
                            </m:r>
                            <m:f>
                              <m:fPr>
                                <m:ctrlPr>
                                  <a:rPr kumimoji="1" lang="en-US" altLang="ja-JP" sz="2000" b="0" i="1" smtClean="0">
                                    <a:latin typeface="Cambria Math" panose="02040503050406030204" pitchFamily="18" charset="0"/>
                                  </a:rPr>
                                </m:ctrlPr>
                              </m:fPr>
                              <m:num>
                                <m:r>
                                  <a:rPr kumimoji="1" lang="en-US" altLang="ja-JP" sz="2000" b="0" i="1" smtClean="0">
                                    <a:latin typeface="Cambria Math" panose="02040503050406030204" pitchFamily="18" charset="0"/>
                                  </a:rPr>
                                  <m:t>𝜂</m:t>
                                </m:r>
                              </m:num>
                              <m:den>
                                <m:r>
                                  <a:rPr kumimoji="1" lang="en-US" altLang="ja-JP" sz="2000" b="0" i="1" smtClean="0">
                                    <a:latin typeface="Cambria Math" panose="02040503050406030204" pitchFamily="18" charset="0"/>
                                  </a:rPr>
                                  <m:t>𝑂𝑃𝑇</m:t>
                                </m:r>
                              </m:den>
                            </m:f>
                          </m:e>
                        </m:d>
                      </m:e>
                    </m:d>
                  </m:oMath>
                </a14:m>
                <a:endParaRPr kumimoji="1" lang="en-US" altLang="ja-JP" sz="2000" dirty="0"/>
              </a:p>
              <a:p>
                <a:pPr marL="0" indent="0">
                  <a:buNone/>
                </a:pPr>
                <a:endParaRPr lang="en-US" altLang="ja-JP" sz="800" dirty="0"/>
              </a:p>
              <a:p>
                <a:pPr marL="0" indent="0">
                  <a:buNone/>
                </a:pPr>
                <a:r>
                  <a:rPr kumimoji="1" lang="en-US" altLang="ja-JP" sz="2400" dirty="0"/>
                  <a:t>[Yang and Yu, 2025]</a:t>
                </a:r>
              </a:p>
              <a:p>
                <a:pPr marL="0" indent="0">
                  <a:buNone/>
                </a:pPr>
                <a:r>
                  <a:rPr lang="ja-JP" altLang="en-US" sz="2000" b="1" dirty="0"/>
                  <a:t>予測　：</a:t>
                </a:r>
                <a:r>
                  <a:rPr lang="ja-JP" altLang="en-US" sz="2000" dirty="0"/>
                  <a:t>全リクエストの到着場所の予測 </a:t>
                </a:r>
                <a14:m>
                  <m:oMath xmlns:m="http://schemas.openxmlformats.org/officeDocument/2006/math">
                    <m:r>
                      <a:rPr lang="en-US" altLang="ja-JP" sz="2000" b="0" i="1" smtClean="0">
                        <a:latin typeface="Cambria Math" panose="02040503050406030204" pitchFamily="18" charset="0"/>
                      </a:rPr>
                      <m:t>𝑅</m:t>
                    </m:r>
                    <m:r>
                      <a:rPr lang="en-US" altLang="ja-JP" sz="2000" b="0" i="1" smtClean="0">
                        <a:latin typeface="Cambria Math" panose="02040503050406030204" pitchFamily="18" charset="0"/>
                      </a:rPr>
                      <m:t>′</m:t>
                    </m:r>
                  </m:oMath>
                </a14:m>
                <a:r>
                  <a:rPr kumimoji="1" lang="ja-JP" altLang="en-US" sz="2000" dirty="0"/>
                  <a:t> を最初</a:t>
                </a:r>
                <a:r>
                  <a:rPr lang="ja-JP" altLang="en-US" sz="2000" dirty="0"/>
                  <a:t>に得る</a:t>
                </a:r>
                <a:endParaRPr kumimoji="1" lang="en-US" altLang="ja-JP" sz="2000" dirty="0"/>
              </a:p>
              <a:p>
                <a:pPr marL="0" indent="0">
                  <a:buNone/>
                </a:pPr>
                <a:r>
                  <a:rPr lang="ja-JP" altLang="en-US" sz="2000" b="1" dirty="0"/>
                  <a:t>競合比：</a:t>
                </a:r>
                <a14:m>
                  <m:oMath xmlns:m="http://schemas.openxmlformats.org/officeDocument/2006/math">
                    <m:r>
                      <a:rPr lang="en-US" altLang="ja-JP" sz="2000" i="1">
                        <a:latin typeface="Cambria Math" panose="02040503050406030204" pitchFamily="18" charset="0"/>
                      </a:rPr>
                      <m:t>𝑂</m:t>
                    </m:r>
                    <m:d>
                      <m:dPr>
                        <m:ctrlPr>
                          <a:rPr lang="en-US" altLang="ja-JP" sz="2000" i="1">
                            <a:latin typeface="Cambria Math" panose="02040503050406030204" pitchFamily="18" charset="0"/>
                          </a:rPr>
                        </m:ctrlPr>
                      </m:dPr>
                      <m:e>
                        <m:r>
                          <m:rPr>
                            <m:sty m:val="p"/>
                          </m:rPr>
                          <a:rPr lang="en-US" altLang="ja-JP" sz="2000" i="1">
                            <a:latin typeface="Cambria Math" panose="02040503050406030204" pitchFamily="18" charset="0"/>
                          </a:rPr>
                          <m:t>min</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𝛼</m:t>
                            </m:r>
                            <m:r>
                              <a:rPr lang="en-US" altLang="ja-JP" sz="2000" i="1">
                                <a:latin typeface="Cambria Math" panose="02040503050406030204" pitchFamily="18" charset="0"/>
                              </a:rPr>
                              <m:t>,1+</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𝜂</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𝛼</m:t>
                                </m:r>
                                <m:r>
                                  <a:rPr lang="en-US" altLang="ja-JP" sz="2000" b="0" i="1" smtClean="0">
                                    <a:latin typeface="Cambria Math" panose="02040503050406030204" pitchFamily="18" charset="0"/>
                                  </a:rPr>
                                  <m:t>+1)</m:t>
                                </m:r>
                              </m:num>
                              <m:den>
                                <m:r>
                                  <a:rPr lang="en-US" altLang="ja-JP" sz="2000" i="1">
                                    <a:latin typeface="Cambria Math" panose="02040503050406030204" pitchFamily="18" charset="0"/>
                                  </a:rPr>
                                  <m:t>𝑂𝑃𝑇</m:t>
                                </m:r>
                              </m:den>
                            </m:f>
                          </m:e>
                        </m:d>
                      </m:e>
                    </m:d>
                  </m:oMath>
                </a14:m>
                <a:endParaRPr kumimoji="1" lang="en-US" altLang="ja-JP" sz="2000" dirty="0"/>
              </a:p>
              <a:p>
                <a:pPr marL="0" indent="0">
                  <a:buNone/>
                </a:pPr>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593F798A-08E3-4C10-88ED-3865BC83F9CB}"/>
                  </a:ext>
                </a:extLst>
              </p:cNvPr>
              <p:cNvSpPr>
                <a:spLocks noGrp="1" noRot="1" noChangeAspect="1" noMove="1" noResize="1" noEditPoints="1" noAdjustHandles="1" noChangeArrowheads="1" noChangeShapeType="1" noTextEdit="1"/>
              </p:cNvSpPr>
              <p:nvPr>
                <p:ph idx="1"/>
              </p:nvPr>
            </p:nvSpPr>
            <p:spPr>
              <a:xfrm>
                <a:off x="838200" y="1825625"/>
                <a:ext cx="10515600" cy="3162011"/>
              </a:xfrm>
              <a:blipFill>
                <a:blip r:embed="rId2"/>
                <a:stretch>
                  <a:fillRect l="-928" t="-2697"/>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581A4861-D6EE-B4DB-98F6-54F33B33380C}"/>
              </a:ext>
            </a:extLst>
          </p:cNvPr>
          <p:cNvSpPr>
            <a:spLocks noGrp="1"/>
          </p:cNvSpPr>
          <p:nvPr>
            <p:ph type="sldNum" sz="quarter" idx="12"/>
          </p:nvPr>
        </p:nvSpPr>
        <p:spPr/>
        <p:txBody>
          <a:bodyPr/>
          <a:lstStyle/>
          <a:p>
            <a:fld id="{4B077F3A-4098-4199-8925-77865D1E3500}" type="slidenum">
              <a:rPr kumimoji="1" lang="ja-JP" altLang="en-US" smtClean="0"/>
              <a:t>72</a:t>
            </a:fld>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703C0C82-88D6-3942-F58E-A9FF5E2F544B}"/>
                  </a:ext>
                </a:extLst>
              </p:cNvPr>
              <p:cNvSpPr txBox="1"/>
              <p:nvPr/>
            </p:nvSpPr>
            <p:spPr>
              <a:xfrm>
                <a:off x="6024416" y="1490633"/>
                <a:ext cx="5631873" cy="400110"/>
              </a:xfrm>
              <a:prstGeom prst="rect">
                <a:avLst/>
              </a:prstGeom>
              <a:noFill/>
            </p:spPr>
            <p:txBody>
              <a:bodyPr wrap="square" rtlCol="0">
                <a:spAutoFit/>
              </a:bodyPr>
              <a:lstStyle/>
              <a:p>
                <a14:m>
                  <m:oMath xmlns:m="http://schemas.openxmlformats.org/officeDocument/2006/math">
                    <m:r>
                      <a:rPr kumimoji="1" lang="en-US" altLang="ja-JP" sz="2000" b="0" i="1" smtClean="0">
                        <a:latin typeface="Cambria Math" panose="02040503050406030204" pitchFamily="18" charset="0"/>
                      </a:rPr>
                      <m:t>𝜂</m:t>
                    </m:r>
                  </m:oMath>
                </a14:m>
                <a:r>
                  <a:rPr kumimoji="1" lang="en-US" altLang="ja-JP" sz="2000" dirty="0"/>
                  <a:t>: </a:t>
                </a:r>
                <a:r>
                  <a:rPr kumimoji="1" lang="ja-JP" altLang="en-US" sz="2000" dirty="0"/>
                  <a:t>予測誤差（</a:t>
                </a:r>
                <a:r>
                  <a:rPr kumimoji="1" lang="en-US" altLang="ja-JP" sz="2000" dirty="0"/>
                  <a:t>0</a:t>
                </a:r>
                <a:r>
                  <a:rPr lang="ja-JP" altLang="en-US" sz="2000" dirty="0"/>
                  <a:t>のときに完全に正しい予測</a:t>
                </a:r>
                <a:r>
                  <a:rPr kumimoji="1" lang="ja-JP" altLang="en-US" sz="2000" dirty="0"/>
                  <a:t>）</a:t>
                </a:r>
              </a:p>
            </p:txBody>
          </p:sp>
        </mc:Choice>
        <mc:Fallback xmlns="">
          <p:sp>
            <p:nvSpPr>
              <p:cNvPr id="5" name="テキスト ボックス 4">
                <a:extLst>
                  <a:ext uri="{FF2B5EF4-FFF2-40B4-BE49-F238E27FC236}">
                    <a16:creationId xmlns:a16="http://schemas.microsoft.com/office/drawing/2014/main" id="{703C0C82-88D6-3942-F58E-A9FF5E2F544B}"/>
                  </a:ext>
                </a:extLst>
              </p:cNvPr>
              <p:cNvSpPr txBox="1">
                <a:spLocks noRot="1" noChangeAspect="1" noMove="1" noResize="1" noEditPoints="1" noAdjustHandles="1" noChangeArrowheads="1" noChangeShapeType="1" noTextEdit="1"/>
              </p:cNvSpPr>
              <p:nvPr/>
            </p:nvSpPr>
            <p:spPr>
              <a:xfrm>
                <a:off x="6024416" y="1490633"/>
                <a:ext cx="5631873" cy="400110"/>
              </a:xfrm>
              <a:prstGeom prst="rect">
                <a:avLst/>
              </a:prstGeom>
              <a:blipFill>
                <a:blip r:embed="rId3"/>
                <a:stretch>
                  <a:fillRect t="-13846" b="-2769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F289FDDE-5CD4-4EB0-4E04-94598BDF17EE}"/>
                  </a:ext>
                </a:extLst>
              </p:cNvPr>
              <p:cNvSpPr txBox="1"/>
              <p:nvPr/>
            </p:nvSpPr>
            <p:spPr>
              <a:xfrm>
                <a:off x="838200" y="4987636"/>
                <a:ext cx="10515600" cy="1325619"/>
              </a:xfrm>
              <a:prstGeom prst="rect">
                <a:avLst/>
              </a:prstGeom>
              <a:noFill/>
            </p:spPr>
            <p:txBody>
              <a:bodyPr wrap="square" rtlCol="0">
                <a:spAutoFit/>
              </a:bodyPr>
              <a:lstStyle/>
              <a:p>
                <a:r>
                  <a:rPr kumimoji="1" lang="ja-JP" altLang="en-US" sz="2400" b="1" dirty="0"/>
                  <a:t>今後の課題</a:t>
                </a:r>
                <a:endParaRPr kumimoji="1" lang="en-US" altLang="ja-JP" sz="2400" b="1" dirty="0"/>
              </a:p>
              <a:p>
                <a:pPr marL="285750" indent="-285750">
                  <a:buFont typeface="Arial" panose="020B0604020202020204" pitchFamily="34" charset="0"/>
                  <a:buChar char="•"/>
                </a:pPr>
                <a:r>
                  <a:rPr lang="ja-JP" altLang="en-US" sz="2400" dirty="0"/>
                  <a:t>更なる実用的な予測モデルとそれにふさわしい誤差 </a:t>
                </a:r>
                <a14:m>
                  <m:oMath xmlns:m="http://schemas.openxmlformats.org/officeDocument/2006/math">
                    <m:r>
                      <a:rPr lang="en-US" altLang="ja-JP" sz="2400" b="0" i="1" smtClean="0">
                        <a:latin typeface="Cambria Math" panose="02040503050406030204" pitchFamily="18" charset="0"/>
                      </a:rPr>
                      <m:t>𝜂</m:t>
                    </m:r>
                  </m:oMath>
                </a14:m>
                <a:r>
                  <a:rPr kumimoji="1" lang="ja-JP" altLang="en-US" sz="2400" dirty="0"/>
                  <a:t> の定義を与える</a:t>
                </a:r>
                <a:endParaRPr kumimoji="1" lang="en-US" altLang="ja-JP" sz="2400" dirty="0"/>
              </a:p>
              <a:p>
                <a:pPr marL="285750" indent="-285750">
                  <a:buFont typeface="Arial" panose="020B0604020202020204" pitchFamily="34" charset="0"/>
                  <a:buChar char="•"/>
                </a:pPr>
                <a14:m>
                  <m:oMath xmlns:m="http://schemas.openxmlformats.org/officeDocument/2006/math">
                    <m:f>
                      <m:fPr>
                        <m:ctrlPr>
                          <a:rPr lang="en-US" altLang="ja-JP" sz="2400" i="1">
                            <a:latin typeface="Cambria Math" panose="02040503050406030204" pitchFamily="18" charset="0"/>
                          </a:rPr>
                        </m:ctrlPr>
                      </m:fPr>
                      <m:num>
                        <m:r>
                          <a:rPr lang="en-US" altLang="ja-JP" sz="2400" i="1">
                            <a:latin typeface="Cambria Math" panose="02040503050406030204" pitchFamily="18" charset="0"/>
                          </a:rPr>
                          <m:t>𝜂</m:t>
                        </m:r>
                      </m:num>
                      <m:den>
                        <m:r>
                          <a:rPr lang="en-US" altLang="ja-JP" sz="2400" i="1">
                            <a:latin typeface="Cambria Math" panose="02040503050406030204" pitchFamily="18" charset="0"/>
                          </a:rPr>
                          <m:t>𝑂𝑃𝑇</m:t>
                        </m:r>
                      </m:den>
                    </m:f>
                  </m:oMath>
                </a14:m>
                <a:r>
                  <a:rPr kumimoji="1" lang="ja-JP" altLang="en-US" sz="2400" dirty="0"/>
                  <a:t> への線形依存が改善できるか？（他の問題では改善される例がある）</a:t>
                </a:r>
              </a:p>
            </p:txBody>
          </p:sp>
        </mc:Choice>
        <mc:Fallback xmlns="">
          <p:sp>
            <p:nvSpPr>
              <p:cNvPr id="6" name="テキスト ボックス 5">
                <a:extLst>
                  <a:ext uri="{FF2B5EF4-FFF2-40B4-BE49-F238E27FC236}">
                    <a16:creationId xmlns:a16="http://schemas.microsoft.com/office/drawing/2014/main" id="{F289FDDE-5CD4-4EB0-4E04-94598BDF17EE}"/>
                  </a:ext>
                </a:extLst>
              </p:cNvPr>
              <p:cNvSpPr txBox="1">
                <a:spLocks noRot="1" noChangeAspect="1" noMove="1" noResize="1" noEditPoints="1" noAdjustHandles="1" noChangeArrowheads="1" noChangeShapeType="1" noTextEdit="1"/>
              </p:cNvSpPr>
              <p:nvPr/>
            </p:nvSpPr>
            <p:spPr>
              <a:xfrm>
                <a:off x="838200" y="4987636"/>
                <a:ext cx="10515600" cy="1325619"/>
              </a:xfrm>
              <a:prstGeom prst="rect">
                <a:avLst/>
              </a:prstGeom>
              <a:blipFill>
                <a:blip r:embed="rId4"/>
                <a:stretch>
                  <a:fillRect l="-928" t="-2752" r="-58" b="-596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E8C24E60-F464-BC24-5BA4-493D3AE21065}"/>
                  </a:ext>
                </a:extLst>
              </p:cNvPr>
              <p:cNvSpPr txBox="1"/>
              <p:nvPr/>
            </p:nvSpPr>
            <p:spPr>
              <a:xfrm>
                <a:off x="5334000" y="4683422"/>
                <a:ext cx="6100618" cy="369332"/>
              </a:xfrm>
              <a:prstGeom prst="rect">
                <a:avLst/>
              </a:prstGeom>
              <a:noFill/>
            </p:spPr>
            <p:txBody>
              <a:bodyPr wrap="square" rtlCol="0">
                <a:spAutoFit/>
              </a:bodyPr>
              <a:lstStyle/>
              <a:p>
                <a14:m>
                  <m:oMath xmlns:m="http://schemas.openxmlformats.org/officeDocument/2006/math">
                    <m:r>
                      <a:rPr kumimoji="1" lang="en-US" altLang="ja-JP" b="0" i="1" smtClean="0">
                        <a:latin typeface="Cambria Math" panose="02040503050406030204" pitchFamily="18" charset="0"/>
                      </a:rPr>
                      <m:t>𝛼</m:t>
                    </m:r>
                  </m:oMath>
                </a14:m>
                <a:r>
                  <a:rPr kumimoji="1" lang="ja-JP" altLang="en-US" dirty="0"/>
                  <a:t> は既存の </a:t>
                </a:r>
                <a:r>
                  <a:rPr kumimoji="1" lang="en-US" altLang="ja-JP" dirty="0"/>
                  <a:t>OMM </a:t>
                </a:r>
                <a:r>
                  <a:rPr kumimoji="1" lang="ja-JP" altLang="en-US" dirty="0"/>
                  <a:t>に対するアルゴリズムが達成する競合比</a:t>
                </a:r>
              </a:p>
            </p:txBody>
          </p:sp>
        </mc:Choice>
        <mc:Fallback xmlns="">
          <p:sp>
            <p:nvSpPr>
              <p:cNvPr id="7" name="テキスト ボックス 6">
                <a:extLst>
                  <a:ext uri="{FF2B5EF4-FFF2-40B4-BE49-F238E27FC236}">
                    <a16:creationId xmlns:a16="http://schemas.microsoft.com/office/drawing/2014/main" id="{E8C24E60-F464-BC24-5BA4-493D3AE21065}"/>
                  </a:ext>
                </a:extLst>
              </p:cNvPr>
              <p:cNvSpPr txBox="1">
                <a:spLocks noRot="1" noChangeAspect="1" noMove="1" noResize="1" noEditPoints="1" noAdjustHandles="1" noChangeArrowheads="1" noChangeShapeType="1" noTextEdit="1"/>
              </p:cNvSpPr>
              <p:nvPr/>
            </p:nvSpPr>
            <p:spPr>
              <a:xfrm>
                <a:off x="5334000" y="4683422"/>
                <a:ext cx="6100618" cy="369332"/>
              </a:xfrm>
              <a:prstGeom prst="rect">
                <a:avLst/>
              </a:prstGeom>
              <a:blipFill>
                <a:blip r:embed="rId5"/>
                <a:stretch>
                  <a:fillRect t="-11475" r="-400" b="-2786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462985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52F6D5-A8AA-4A42-FC7B-EE33C2667CF9}"/>
              </a:ext>
            </a:extLst>
          </p:cNvPr>
          <p:cNvSpPr>
            <a:spLocks noGrp="1"/>
          </p:cNvSpPr>
          <p:nvPr>
            <p:ph type="title"/>
          </p:nvPr>
        </p:nvSpPr>
        <p:spPr/>
        <p:txBody>
          <a:bodyPr/>
          <a:lstStyle/>
          <a:p>
            <a:r>
              <a:rPr kumimoji="1" lang="ja-JP" altLang="en-US" dirty="0"/>
              <a:t>まとめ</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1649058-DD16-6E21-AC7B-090DF69C28B7}"/>
                  </a:ext>
                </a:extLst>
              </p:cNvPr>
              <p:cNvSpPr>
                <a:spLocks noGrp="1"/>
              </p:cNvSpPr>
              <p:nvPr>
                <p:ph idx="1"/>
              </p:nvPr>
            </p:nvSpPr>
            <p:spPr/>
            <p:txBody>
              <a:bodyPr>
                <a:normAutofit/>
              </a:bodyPr>
              <a:lstStyle/>
              <a:p>
                <a:r>
                  <a:rPr kumimoji="1" lang="en-US" altLang="ja-JP" sz="2400" dirty="0"/>
                  <a:t>OMM </a:t>
                </a:r>
                <a:r>
                  <a:rPr kumimoji="1" lang="ja-JP" altLang="en-US" sz="2400" dirty="0"/>
                  <a:t>は患者の割り当てを抽象化した重要な問題</a:t>
                </a:r>
                <a:endParaRPr kumimoji="1" lang="en-US" altLang="ja-JP" sz="2400" dirty="0"/>
              </a:p>
              <a:p>
                <a:r>
                  <a:rPr kumimoji="1" lang="en-US" altLang="ja-JP" sz="2400" dirty="0"/>
                  <a:t>OMM </a:t>
                </a:r>
                <a:r>
                  <a:rPr lang="ja-JP" altLang="en-US" sz="2400" dirty="0"/>
                  <a:t>は</a:t>
                </a:r>
                <a:r>
                  <a:rPr kumimoji="1" lang="ja-JP" altLang="en-US" sz="2400" dirty="0"/>
                  <a:t>未解決問題がたくさんある研究しがいのあるテーマ</a:t>
                </a:r>
                <a:endParaRPr kumimoji="1" lang="en-US" altLang="ja-JP" sz="2400" dirty="0"/>
              </a:p>
              <a:p>
                <a:r>
                  <a:rPr kumimoji="1" lang="ja-JP" altLang="en-US" sz="2400" dirty="0"/>
                  <a:t>近年は様々な新しいモデルが提案されている</a:t>
                </a:r>
                <a:endParaRPr kumimoji="1" lang="en-US" altLang="ja-JP" sz="2400" dirty="0"/>
              </a:p>
              <a:p>
                <a:pPr marL="0" indent="0">
                  <a:buNone/>
                </a:pPr>
                <a:endParaRPr kumimoji="1" lang="en-US" altLang="ja-JP" sz="2400" dirty="0"/>
              </a:p>
              <a:p>
                <a:pPr marL="0" indent="0">
                  <a:buNone/>
                </a:pPr>
                <a:r>
                  <a:rPr lang="ja-JP" altLang="en-US" sz="2400" b="1" dirty="0"/>
                  <a:t>重要な未解決問題</a:t>
                </a:r>
                <a:endParaRPr kumimoji="1" lang="en-US" altLang="ja-JP" sz="2400" b="1" dirty="0"/>
              </a:p>
              <a:p>
                <a:r>
                  <a:rPr kumimoji="1" lang="ja-JP" altLang="en-US" sz="2400" dirty="0"/>
                  <a:t>乱択アルゴリズムの競合比の上下界改善 </a:t>
                </a:r>
                <a14:m>
                  <m:oMath xmlns:m="http://schemas.openxmlformats.org/officeDocument/2006/math">
                    <m:r>
                      <a:rPr kumimoji="1" lang="en-US" altLang="ja-JP" sz="2400" b="0" i="1" smtClean="0">
                        <a:latin typeface="Cambria Math" panose="02040503050406030204" pitchFamily="18" charset="0"/>
                      </a:rPr>
                      <m:t>𝑂</m:t>
                    </m:r>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m:rPr>
                            <m:sty m:val="p"/>
                          </m:rPr>
                          <a:rPr kumimoji="1" lang="en-US" altLang="ja-JP" sz="2400" b="0" i="0" smtClean="0">
                            <a:latin typeface="Cambria Math" panose="02040503050406030204" pitchFamily="18" charset="0"/>
                          </a:rPr>
                          <m:t>log</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m:t>
                    </m:r>
                  </m:oMath>
                </a14:m>
                <a:r>
                  <a:rPr kumimoji="1" lang="ja-JP" altLang="en-US" sz="2400" dirty="0"/>
                  <a:t> </a:t>
                </a:r>
                <a:r>
                  <a:rPr kumimoji="1" lang="en-US" altLang="ja-JP" sz="2400" dirty="0"/>
                  <a:t>vs </a:t>
                </a:r>
                <a14:m>
                  <m:oMath xmlns:m="http://schemas.openxmlformats.org/officeDocument/2006/math">
                    <m:r>
                      <m:rPr>
                        <m:sty m:val="p"/>
                      </m:rPr>
                      <a:rPr kumimoji="1" lang="en-US" altLang="ja-JP" sz="2400" b="0" i="0" smtClean="0">
                        <a:latin typeface="Cambria Math" panose="02040503050406030204" pitchFamily="18" charset="0"/>
                      </a:rPr>
                      <m:t>Ω</m:t>
                    </m:r>
                    <m:d>
                      <m:dPr>
                        <m:ctrlPr>
                          <a:rPr kumimoji="1" lang="en-US" altLang="ja-JP" sz="2400" b="0" i="1" smtClean="0">
                            <a:latin typeface="Cambria Math" panose="02040503050406030204" pitchFamily="18" charset="0"/>
                          </a:rPr>
                        </m:ctrlPr>
                      </m:dPr>
                      <m:e>
                        <m:r>
                          <m:rPr>
                            <m:sty m:val="p"/>
                          </m:rPr>
                          <a:rPr kumimoji="1" lang="en-US" altLang="ja-JP" sz="2400" b="0" i="1" smtClean="0">
                            <a:latin typeface="Cambria Math" panose="02040503050406030204" pitchFamily="18" charset="0"/>
                          </a:rPr>
                          <m:t>log</m:t>
                        </m:r>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𝑛</m:t>
                        </m:r>
                      </m:e>
                    </m:d>
                  </m:oMath>
                </a14:m>
                <a:endParaRPr kumimoji="1" lang="en-US" altLang="ja-JP" sz="2400" dirty="0"/>
              </a:p>
              <a:p>
                <a:r>
                  <a:rPr lang="ja-JP" altLang="en-US" sz="2400" dirty="0"/>
                  <a:t>直線上の </a:t>
                </a:r>
                <a:r>
                  <a:rPr lang="en-US" altLang="ja-JP" sz="2400" dirty="0"/>
                  <a:t>OMM </a:t>
                </a:r>
                <a:r>
                  <a:rPr lang="ja-JP" altLang="en-US" sz="2400" dirty="0"/>
                  <a:t>における競合比の上下界改善 </a:t>
                </a:r>
                <a14:m>
                  <m:oMath xmlns:m="http://schemas.openxmlformats.org/officeDocument/2006/math">
                    <m:r>
                      <a:rPr lang="en-US" altLang="ja-JP" sz="2400" b="0" i="1" smtClean="0">
                        <a:latin typeface="Cambria Math" panose="02040503050406030204" pitchFamily="18" charset="0"/>
                      </a:rPr>
                      <m:t>𝑂</m:t>
                    </m:r>
                    <m:d>
                      <m:dPr>
                        <m:ctrlPr>
                          <a:rPr lang="en-US" altLang="ja-JP" sz="2400" b="0" i="1" smtClean="0">
                            <a:latin typeface="Cambria Math" panose="02040503050406030204" pitchFamily="18" charset="0"/>
                          </a:rPr>
                        </m:ctrlPr>
                      </m:dPr>
                      <m:e>
                        <m:r>
                          <m:rPr>
                            <m:sty m:val="p"/>
                          </m:rPr>
                          <a:rPr lang="en-US" altLang="ja-JP" sz="2400" b="0" i="1" smtClean="0">
                            <a:latin typeface="Cambria Math" panose="02040503050406030204" pitchFamily="18" charset="0"/>
                          </a:rPr>
                          <m:t>log</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𝑛</m:t>
                        </m:r>
                      </m:e>
                    </m:d>
                  </m:oMath>
                </a14:m>
                <a:r>
                  <a:rPr kumimoji="1" lang="ja-JP" altLang="en-US" sz="2400" dirty="0"/>
                  <a:t> </a:t>
                </a:r>
                <a:r>
                  <a:rPr kumimoji="1" lang="en-US" altLang="ja-JP" sz="2400" dirty="0"/>
                  <a:t>vs </a:t>
                </a:r>
                <a14:m>
                  <m:oMath xmlns:m="http://schemas.openxmlformats.org/officeDocument/2006/math">
                    <m:r>
                      <m:rPr>
                        <m:sty m:val="p"/>
                      </m:rPr>
                      <a:rPr lang="en-US" altLang="ja-JP" sz="2400">
                        <a:latin typeface="Cambria Math" panose="02040503050406030204" pitchFamily="18" charset="0"/>
                      </a:rPr>
                      <m:t>Ω</m:t>
                    </m:r>
                    <m:d>
                      <m:dPr>
                        <m:ctrlPr>
                          <a:rPr lang="en-US" altLang="ja-JP" sz="2400" i="1">
                            <a:latin typeface="Cambria Math" panose="02040503050406030204" pitchFamily="18" charset="0"/>
                          </a:rPr>
                        </m:ctrlPr>
                      </m:dPr>
                      <m:e>
                        <m:rad>
                          <m:radPr>
                            <m:degHide m:val="on"/>
                            <m:ctrlPr>
                              <a:rPr lang="en-US" altLang="ja-JP" sz="2400" i="1">
                                <a:latin typeface="Cambria Math" panose="02040503050406030204" pitchFamily="18" charset="0"/>
                              </a:rPr>
                            </m:ctrlPr>
                          </m:radPr>
                          <m:deg/>
                          <m:e>
                            <m:r>
                              <m:rPr>
                                <m:sty m:val="p"/>
                              </m:rPr>
                              <a:rPr lang="en-US" altLang="ja-JP" sz="2400" i="1">
                                <a:latin typeface="Cambria Math" panose="02040503050406030204" pitchFamily="18" charset="0"/>
                              </a:rPr>
                              <m:t>log</m:t>
                            </m:r>
                            <m:r>
                              <a:rPr lang="en-US" altLang="ja-JP" sz="2400" i="1">
                                <a:latin typeface="Cambria Math" panose="02040503050406030204" pitchFamily="18" charset="0"/>
                              </a:rPr>
                              <m:t> </m:t>
                            </m:r>
                            <m:r>
                              <a:rPr lang="en-US" altLang="ja-JP" sz="2400" i="1">
                                <a:latin typeface="Cambria Math" panose="02040503050406030204" pitchFamily="18" charset="0"/>
                              </a:rPr>
                              <m:t>𝑛</m:t>
                            </m:r>
                          </m:e>
                        </m:rad>
                      </m:e>
                    </m:d>
                  </m:oMath>
                </a14:m>
                <a:endParaRPr kumimoji="1" lang="en-US" altLang="ja-JP" sz="2400" dirty="0"/>
              </a:p>
              <a:p>
                <a:r>
                  <a:rPr kumimoji="1" lang="ja-JP" altLang="en-US" sz="2400" dirty="0"/>
                  <a:t>確率的 </a:t>
                </a:r>
                <a:r>
                  <a:rPr kumimoji="1" lang="en-US" altLang="ja-JP" sz="2400" dirty="0"/>
                  <a:t>OMM </a:t>
                </a:r>
                <a:r>
                  <a:rPr kumimoji="1" lang="ja-JP" altLang="en-US" sz="2400" dirty="0"/>
                  <a:t>における競合比の上下界改善 </a:t>
                </a:r>
                <a14:m>
                  <m:oMath xmlns:m="http://schemas.openxmlformats.org/officeDocument/2006/math">
                    <m:r>
                      <a:rPr lang="en-US" altLang="ja-JP" sz="2400" i="1">
                        <a:latin typeface="Cambria Math" panose="02040503050406030204" pitchFamily="18" charset="0"/>
                      </a:rPr>
                      <m:t>𝑂</m:t>
                    </m:r>
                    <m:d>
                      <m:dPr>
                        <m:ctrlPr>
                          <a:rPr lang="en-US" altLang="ja-JP" sz="2400" i="1">
                            <a:latin typeface="Cambria Math" panose="02040503050406030204" pitchFamily="18" charset="0"/>
                          </a:rPr>
                        </m:ctrlPr>
                      </m:dPr>
                      <m:e>
                        <m:sSup>
                          <m:sSupPr>
                            <m:ctrlPr>
                              <a:rPr lang="en-US" altLang="ja-JP" sz="2400" i="1">
                                <a:latin typeface="Cambria Math" panose="02040503050406030204" pitchFamily="18" charset="0"/>
                              </a:rPr>
                            </m:ctrlPr>
                          </m:sSupPr>
                          <m:e>
                            <m:d>
                              <m:dPr>
                                <m:ctrlPr>
                                  <a:rPr lang="en-US" altLang="ja-JP" sz="2400" i="1">
                                    <a:latin typeface="Cambria Math" panose="02040503050406030204" pitchFamily="18" charset="0"/>
                                  </a:rPr>
                                </m:ctrlPr>
                              </m:dPr>
                              <m:e>
                                <m:r>
                                  <m:rPr>
                                    <m:sty m:val="p"/>
                                  </m:rPr>
                                  <a:rPr lang="en-US" altLang="ja-JP" sz="2400" i="1">
                                    <a:latin typeface="Cambria Math" panose="02040503050406030204" pitchFamily="18" charset="0"/>
                                  </a:rPr>
                                  <m:t>log</m:t>
                                </m:r>
                                <m:r>
                                  <a:rPr lang="en-US" altLang="ja-JP" sz="2400" i="1">
                                    <a:latin typeface="Cambria Math" panose="02040503050406030204" pitchFamily="18" charset="0"/>
                                  </a:rPr>
                                  <m:t> </m:t>
                                </m:r>
                                <m:r>
                                  <m:rPr>
                                    <m:sty m:val="p"/>
                                  </m:rPr>
                                  <a:rPr lang="en-US" altLang="ja-JP" sz="2400" i="1">
                                    <a:latin typeface="Cambria Math" panose="02040503050406030204" pitchFamily="18" charset="0"/>
                                  </a:rPr>
                                  <m:t>log</m:t>
                                </m:r>
                                <m:r>
                                  <a:rPr lang="en-US" altLang="ja-JP" sz="2400" i="1">
                                    <a:latin typeface="Cambria Math" panose="02040503050406030204" pitchFamily="18" charset="0"/>
                                  </a:rPr>
                                  <m:t> </m:t>
                                </m:r>
                                <m:r>
                                  <m:rPr>
                                    <m:sty m:val="p"/>
                                  </m:rPr>
                                  <a:rPr lang="en-US" altLang="ja-JP" sz="2400" i="1">
                                    <a:latin typeface="Cambria Math" panose="02040503050406030204" pitchFamily="18" charset="0"/>
                                  </a:rPr>
                                  <m:t>log</m:t>
                                </m:r>
                                <m:r>
                                  <a:rPr lang="en-US" altLang="ja-JP" sz="2400" i="1">
                                    <a:latin typeface="Cambria Math" panose="02040503050406030204" pitchFamily="18" charset="0"/>
                                  </a:rPr>
                                  <m:t> </m:t>
                                </m:r>
                                <m:r>
                                  <a:rPr lang="en-US" altLang="ja-JP" sz="2400" i="1">
                                    <a:latin typeface="Cambria Math" panose="02040503050406030204" pitchFamily="18" charset="0"/>
                                  </a:rPr>
                                  <m:t>𝑛</m:t>
                                </m:r>
                              </m:e>
                            </m:d>
                          </m:e>
                          <m:sup>
                            <m:r>
                              <a:rPr lang="en-US" altLang="ja-JP" sz="2400" i="1">
                                <a:latin typeface="Cambria Math" panose="02040503050406030204" pitchFamily="18" charset="0"/>
                              </a:rPr>
                              <m:t>2</m:t>
                            </m:r>
                          </m:sup>
                        </m:sSup>
                      </m:e>
                    </m:d>
                  </m:oMath>
                </a14:m>
                <a:r>
                  <a:rPr kumimoji="1" lang="ja-JP" altLang="en-US" sz="2400" dirty="0"/>
                  <a:t> </a:t>
                </a:r>
                <a:r>
                  <a:rPr kumimoji="1" lang="en-US" altLang="ja-JP" sz="2400" dirty="0"/>
                  <a:t>vs </a:t>
                </a:r>
                <a:r>
                  <a:rPr kumimoji="1" lang="ja-JP" altLang="en-US" sz="2400" dirty="0"/>
                  <a:t>定数</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F1649058-DD16-6E21-AC7B-090DF69C28B7}"/>
                  </a:ext>
                </a:extLst>
              </p:cNvPr>
              <p:cNvSpPr>
                <a:spLocks noGrp="1" noRot="1" noChangeAspect="1" noMove="1" noResize="1" noEditPoints="1" noAdjustHandles="1" noChangeArrowheads="1" noChangeShapeType="1" noTextEdit="1"/>
              </p:cNvSpPr>
              <p:nvPr>
                <p:ph idx="1"/>
              </p:nvPr>
            </p:nvSpPr>
            <p:spPr>
              <a:blipFill>
                <a:blip r:embed="rId2"/>
                <a:stretch>
                  <a:fillRect l="-928" t="-224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3514FAE2-71DE-0C51-992B-B0AE4B8F551A}"/>
              </a:ext>
            </a:extLst>
          </p:cNvPr>
          <p:cNvSpPr>
            <a:spLocks noGrp="1"/>
          </p:cNvSpPr>
          <p:nvPr>
            <p:ph type="sldNum" sz="quarter" idx="12"/>
          </p:nvPr>
        </p:nvSpPr>
        <p:spPr/>
        <p:txBody>
          <a:bodyPr/>
          <a:lstStyle/>
          <a:p>
            <a:fld id="{4B077F3A-4098-4199-8925-77865D1E3500}" type="slidenum">
              <a:rPr kumimoji="1" lang="ja-JP" altLang="en-US" smtClean="0"/>
              <a:t>73</a:t>
            </a:fld>
            <a:endParaRPr kumimoji="1" lang="ja-JP" altLang="en-US"/>
          </a:p>
        </p:txBody>
      </p:sp>
    </p:spTree>
    <p:extLst>
      <p:ext uri="{BB962C8B-B14F-4D97-AF65-F5344CB8AC3E}">
        <p14:creationId xmlns:p14="http://schemas.microsoft.com/office/powerpoint/2010/main" val="24918171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B15DDA-DCDC-5074-7536-63C47D470829}"/>
              </a:ext>
            </a:extLst>
          </p:cNvPr>
          <p:cNvSpPr>
            <a:spLocks noGrp="1"/>
          </p:cNvSpPr>
          <p:nvPr>
            <p:ph type="title"/>
          </p:nvPr>
        </p:nvSpPr>
        <p:spPr/>
        <p:txBody>
          <a:bodyPr/>
          <a:lstStyle/>
          <a:p>
            <a:r>
              <a:rPr lang="ja-JP" altLang="en-US" dirty="0"/>
              <a:t>その他のテーマ</a:t>
            </a:r>
            <a:endParaRPr kumimoji="1" lang="ja-JP" altLang="en-US" dirty="0"/>
          </a:p>
        </p:txBody>
      </p:sp>
      <p:sp>
        <p:nvSpPr>
          <p:cNvPr id="4" name="スライド番号プレースホルダー 3">
            <a:extLst>
              <a:ext uri="{FF2B5EF4-FFF2-40B4-BE49-F238E27FC236}">
                <a16:creationId xmlns:a16="http://schemas.microsoft.com/office/drawing/2014/main" id="{1B3657D6-0C2B-9C29-F061-B82F0C21F181}"/>
              </a:ext>
            </a:extLst>
          </p:cNvPr>
          <p:cNvSpPr>
            <a:spLocks noGrp="1"/>
          </p:cNvSpPr>
          <p:nvPr>
            <p:ph type="sldNum" sz="quarter" idx="12"/>
          </p:nvPr>
        </p:nvSpPr>
        <p:spPr/>
        <p:txBody>
          <a:bodyPr/>
          <a:lstStyle/>
          <a:p>
            <a:fld id="{4B077F3A-4098-4199-8925-77865D1E3500}" type="slidenum">
              <a:rPr kumimoji="1" lang="ja-JP" altLang="en-US" smtClean="0"/>
              <a:t>74</a:t>
            </a:fld>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83929DD2-58E9-80EC-92AC-1F808DF026CB}"/>
                  </a:ext>
                </a:extLst>
              </p:cNvPr>
              <p:cNvSpPr txBox="1"/>
              <p:nvPr/>
            </p:nvSpPr>
            <p:spPr>
              <a:xfrm>
                <a:off x="838200" y="1690688"/>
                <a:ext cx="10515600" cy="1384995"/>
              </a:xfrm>
              <a:prstGeom prst="rect">
                <a:avLst/>
              </a:prstGeom>
              <a:noFill/>
            </p:spPr>
            <p:txBody>
              <a:bodyPr wrap="square" rtlCol="0">
                <a:spAutoFit/>
              </a:bodyPr>
              <a:lstStyle/>
              <a:p>
                <a:r>
                  <a:rPr lang="ja-JP" altLang="en-US" sz="2400" b="1" dirty="0"/>
                  <a:t>償還付き</a:t>
                </a:r>
                <a:r>
                  <a:rPr lang="en-US" altLang="ja-JP" sz="2400" b="1" dirty="0"/>
                  <a:t>OMM (OMM with Recourse)</a:t>
                </a:r>
                <a:r>
                  <a:rPr lang="en-US" altLang="ja-JP" sz="2400" dirty="0"/>
                  <a:t> </a:t>
                </a:r>
                <a:r>
                  <a:rPr lang="en-US" altLang="ja-JP" dirty="0"/>
                  <a:t>[Gupta et al., 2019] [Megow and Nölke, 2025]</a:t>
                </a:r>
              </a:p>
              <a:p>
                <a:r>
                  <a:rPr lang="ja-JP" altLang="en-US" sz="2000" dirty="0"/>
                  <a:t>リクエストの付け替えを許し，付け替え回数と競合比の関係を研究</a:t>
                </a:r>
                <a:endParaRPr lang="en-US" altLang="ja-JP" sz="2000" dirty="0"/>
              </a:p>
              <a:p>
                <a:pPr marL="285750" indent="-285750">
                  <a:buFont typeface="Arial" panose="020B0604020202020204" pitchFamily="34" charset="0"/>
                  <a:buChar char="•"/>
                </a:pPr>
                <a:r>
                  <a:rPr lang="en-US" altLang="ja-JP" sz="2000" dirty="0"/>
                  <a:t>Permutation </a:t>
                </a:r>
                <a:r>
                  <a:rPr lang="ja-JP" altLang="en-US" sz="2000" dirty="0"/>
                  <a:t>を修正すると，</a:t>
                </a:r>
                <a14:m>
                  <m:oMath xmlns:m="http://schemas.openxmlformats.org/officeDocument/2006/math">
                    <m:r>
                      <a:rPr lang="en-US" altLang="ja-JP" sz="2000" b="0" i="1" smtClean="0">
                        <a:latin typeface="Cambria Math" panose="02040503050406030204" pitchFamily="18" charset="0"/>
                      </a:rPr>
                      <m:t>𝑂</m:t>
                    </m:r>
                    <m:r>
                      <a:rPr lang="en-US" altLang="ja-JP" sz="2000" b="0" i="1" smtClean="0">
                        <a:latin typeface="Cambria Math" panose="02040503050406030204" pitchFamily="18" charset="0"/>
                      </a:rPr>
                      <m:t>(</m:t>
                    </m:r>
                    <m:r>
                      <m:rPr>
                        <m:sty m:val="p"/>
                      </m:rPr>
                      <a:rPr lang="en-US" altLang="ja-JP" sz="2000" b="0" i="1" smtClean="0">
                        <a:latin typeface="Cambria Math" panose="02040503050406030204" pitchFamily="18" charset="0"/>
                      </a:rPr>
                      <m:t>log</m:t>
                    </m:r>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𝑛</m:t>
                    </m:r>
                    <m:r>
                      <a:rPr lang="en-US" altLang="ja-JP" sz="2000" b="0" i="1" smtClean="0">
                        <a:latin typeface="Cambria Math" panose="02040503050406030204" pitchFamily="18" charset="0"/>
                      </a:rPr>
                      <m:t>)</m:t>
                    </m:r>
                  </m:oMath>
                </a14:m>
                <a:r>
                  <a:rPr lang="ja-JP" altLang="en-US" sz="2000" dirty="0"/>
                  <a:t> 回の付け替えで </a:t>
                </a:r>
                <a14:m>
                  <m:oMath xmlns:m="http://schemas.openxmlformats.org/officeDocument/2006/math">
                    <m:r>
                      <a:rPr lang="en-US" altLang="ja-JP" sz="2000" b="0" i="1" smtClean="0">
                        <a:latin typeface="Cambria Math" panose="02040503050406030204" pitchFamily="18" charset="0"/>
                      </a:rPr>
                      <m:t>𝑂</m:t>
                    </m:r>
                    <m:d>
                      <m:dPr>
                        <m:ctrlPr>
                          <a:rPr lang="en-US" altLang="ja-JP" sz="2000" b="0" i="1" smtClean="0">
                            <a:latin typeface="Cambria Math" panose="02040503050406030204" pitchFamily="18" charset="0"/>
                          </a:rPr>
                        </m:ctrlPr>
                      </m:dPr>
                      <m:e>
                        <m:r>
                          <m:rPr>
                            <m:sty m:val="p"/>
                          </m:rPr>
                          <a:rPr lang="en-US" altLang="ja-JP" sz="2000" b="0" i="1" smtClean="0">
                            <a:latin typeface="Cambria Math" panose="02040503050406030204" pitchFamily="18" charset="0"/>
                          </a:rPr>
                          <m:t>log</m:t>
                        </m:r>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𝑛</m:t>
                        </m:r>
                      </m:e>
                    </m:d>
                  </m:oMath>
                </a14:m>
                <a:r>
                  <a:rPr lang="en-US" altLang="ja-JP" sz="2000" dirty="0"/>
                  <a:t>-</a:t>
                </a:r>
                <a:r>
                  <a:rPr lang="ja-JP" altLang="en-US" sz="2000" dirty="0"/>
                  <a:t>競合的とできる</a:t>
                </a:r>
                <a:endParaRPr lang="en-US" altLang="ja-JP" sz="2000" dirty="0"/>
              </a:p>
              <a:p>
                <a:pPr marL="285750" indent="-285750">
                  <a:buFont typeface="Arial" panose="020B0604020202020204" pitchFamily="34" charset="0"/>
                  <a:buChar char="•"/>
                </a:pPr>
                <a:r>
                  <a:rPr lang="ja-JP" altLang="en-US" sz="2000" dirty="0"/>
                  <a:t>直線上の場合，</a:t>
                </a:r>
                <a14:m>
                  <m:oMath xmlns:m="http://schemas.openxmlformats.org/officeDocument/2006/math">
                    <m:r>
                      <a:rPr lang="en-US" altLang="ja-JP" sz="2000" i="1">
                        <a:latin typeface="Cambria Math" panose="02040503050406030204" pitchFamily="18" charset="0"/>
                      </a:rPr>
                      <m:t>𝑂</m:t>
                    </m:r>
                    <m:r>
                      <a:rPr lang="en-US" altLang="ja-JP" sz="2000" i="1">
                        <a:latin typeface="Cambria Math" panose="02040503050406030204" pitchFamily="18" charset="0"/>
                      </a:rPr>
                      <m:t>(</m:t>
                    </m:r>
                    <m:r>
                      <m:rPr>
                        <m:sty m:val="p"/>
                      </m:rPr>
                      <a:rPr lang="en-US" altLang="ja-JP" sz="2000" i="1">
                        <a:latin typeface="Cambria Math" panose="02040503050406030204" pitchFamily="18" charset="0"/>
                      </a:rPr>
                      <m:t>log</m:t>
                    </m:r>
                    <m:r>
                      <a:rPr lang="en-US" altLang="ja-JP" sz="2000" i="1">
                        <a:latin typeface="Cambria Math" panose="02040503050406030204" pitchFamily="18" charset="0"/>
                      </a:rPr>
                      <m:t> </m:t>
                    </m:r>
                    <m:r>
                      <a:rPr lang="en-US" altLang="ja-JP" sz="2000" i="1">
                        <a:latin typeface="Cambria Math" panose="02040503050406030204" pitchFamily="18" charset="0"/>
                      </a:rPr>
                      <m:t>𝑛</m:t>
                    </m:r>
                    <m:r>
                      <a:rPr lang="en-US" altLang="ja-JP" sz="2000" i="1">
                        <a:latin typeface="Cambria Math" panose="02040503050406030204" pitchFamily="18" charset="0"/>
                      </a:rPr>
                      <m:t>)</m:t>
                    </m:r>
                  </m:oMath>
                </a14:m>
                <a:r>
                  <a:rPr lang="ja-JP" altLang="en-US" sz="2000" dirty="0"/>
                  <a:t> 回の付け替えで </a:t>
                </a:r>
                <a14:m>
                  <m:oMath xmlns:m="http://schemas.openxmlformats.org/officeDocument/2006/math">
                    <m:r>
                      <a:rPr lang="en-US" altLang="ja-JP" sz="2000" i="1">
                        <a:latin typeface="Cambria Math" panose="02040503050406030204" pitchFamily="18" charset="0"/>
                      </a:rPr>
                      <m:t>𝑂</m:t>
                    </m:r>
                    <m:d>
                      <m:dPr>
                        <m:ctrlPr>
                          <a:rPr lang="en-US" altLang="ja-JP" sz="2000" i="1">
                            <a:latin typeface="Cambria Math" panose="02040503050406030204" pitchFamily="18" charset="0"/>
                          </a:rPr>
                        </m:ctrlPr>
                      </m:dPr>
                      <m:e>
                        <m:r>
                          <a:rPr lang="en-US" altLang="ja-JP" sz="2000" b="0" i="1" smtClean="0">
                            <a:latin typeface="Cambria Math" panose="02040503050406030204" pitchFamily="18" charset="0"/>
                          </a:rPr>
                          <m:t>1</m:t>
                        </m:r>
                      </m:e>
                    </m:d>
                  </m:oMath>
                </a14:m>
                <a:r>
                  <a:rPr lang="en-US" altLang="ja-JP" sz="2000" dirty="0"/>
                  <a:t>-</a:t>
                </a:r>
                <a:r>
                  <a:rPr lang="ja-JP" altLang="en-US" sz="2000" dirty="0"/>
                  <a:t>競合的とできる</a:t>
                </a:r>
              </a:p>
            </p:txBody>
          </p:sp>
        </mc:Choice>
        <mc:Fallback xmlns="">
          <p:sp>
            <p:nvSpPr>
              <p:cNvPr id="5" name="テキスト ボックス 4">
                <a:extLst>
                  <a:ext uri="{FF2B5EF4-FFF2-40B4-BE49-F238E27FC236}">
                    <a16:creationId xmlns:a16="http://schemas.microsoft.com/office/drawing/2014/main" id="{83929DD2-58E9-80EC-92AC-1F808DF026CB}"/>
                  </a:ext>
                </a:extLst>
              </p:cNvPr>
              <p:cNvSpPr txBox="1">
                <a:spLocks noRot="1" noChangeAspect="1" noMove="1" noResize="1" noEditPoints="1" noAdjustHandles="1" noChangeArrowheads="1" noChangeShapeType="1" noTextEdit="1"/>
              </p:cNvSpPr>
              <p:nvPr/>
            </p:nvSpPr>
            <p:spPr>
              <a:xfrm>
                <a:off x="838200" y="1690688"/>
                <a:ext cx="10515600" cy="1384995"/>
              </a:xfrm>
              <a:prstGeom prst="rect">
                <a:avLst/>
              </a:prstGeom>
              <a:blipFill>
                <a:blip r:embed="rId2"/>
                <a:stretch>
                  <a:fillRect l="-928" t="-4825" b="-6579"/>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2E8082D5-F471-046E-7A89-F8EA06969981}"/>
              </a:ext>
            </a:extLst>
          </p:cNvPr>
          <p:cNvSpPr txBox="1"/>
          <p:nvPr/>
        </p:nvSpPr>
        <p:spPr>
          <a:xfrm>
            <a:off x="838200" y="5024103"/>
            <a:ext cx="10515600" cy="1077218"/>
          </a:xfrm>
          <a:prstGeom prst="rect">
            <a:avLst/>
          </a:prstGeom>
          <a:noFill/>
        </p:spPr>
        <p:txBody>
          <a:bodyPr wrap="square" rtlCol="0">
            <a:spAutoFit/>
          </a:bodyPr>
          <a:lstStyle/>
          <a:p>
            <a:r>
              <a:rPr lang="ja-JP" altLang="en-US" sz="2400" b="1" dirty="0"/>
              <a:t>遅延付きオンラインマッチング</a:t>
            </a:r>
            <a:r>
              <a:rPr lang="ja-JP" altLang="en-US" sz="2400" dirty="0"/>
              <a:t> </a:t>
            </a:r>
            <a:r>
              <a:rPr lang="en-US" altLang="ja-JP" dirty="0"/>
              <a:t>[Emek et al., 2016]</a:t>
            </a:r>
          </a:p>
          <a:p>
            <a:r>
              <a:rPr lang="ja-JP" altLang="en-US" sz="2000" dirty="0"/>
              <a:t>リクエスト同士のマッチングを求める．すぐにマッチ相手を決定する必要はないが，マッチ相手が決まるまでの時間がコストとして加算される．</a:t>
            </a:r>
            <a:endParaRPr lang="en-US" altLang="ja-JP" sz="2000"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3902D56E-1B4F-65D6-FB2E-0A3005E10760}"/>
                  </a:ext>
                </a:extLst>
              </p:cNvPr>
              <p:cNvSpPr txBox="1"/>
              <p:nvPr/>
            </p:nvSpPr>
            <p:spPr>
              <a:xfrm>
                <a:off x="838200" y="3281432"/>
                <a:ext cx="10439400" cy="1077218"/>
              </a:xfrm>
              <a:prstGeom prst="rect">
                <a:avLst/>
              </a:prstGeom>
              <a:noFill/>
            </p:spPr>
            <p:txBody>
              <a:bodyPr wrap="square" rtlCol="0">
                <a:spAutoFit/>
              </a:bodyPr>
              <a:lstStyle/>
              <a:p>
                <a:r>
                  <a:rPr lang="ja-JP" altLang="en-US" sz="2400" b="1" dirty="0"/>
                  <a:t>オンラインボトルネックマッチング</a:t>
                </a:r>
                <a:r>
                  <a:rPr lang="ja-JP" altLang="en-US" sz="2000" dirty="0"/>
                  <a:t> </a:t>
                </a:r>
                <a:r>
                  <a:rPr lang="en-US" altLang="ja-JP" sz="1600" dirty="0"/>
                  <a:t>[Anthony and Chung, 2014]</a:t>
                </a:r>
              </a:p>
              <a:p>
                <a:r>
                  <a:rPr lang="ja-JP" altLang="en-US" sz="2000" dirty="0"/>
                  <a:t>リクエストとサーバ間の総和ではなく最大距離を最小化する</a:t>
                </a:r>
                <a:endParaRPr lang="en-US" altLang="ja-JP" sz="2000" dirty="0"/>
              </a:p>
              <a:p>
                <a:pPr marL="342900" indent="-342900">
                  <a:buFont typeface="Arial" panose="020B0604020202020204" pitchFamily="34" charset="0"/>
                  <a:buChar char="•"/>
                </a:pPr>
                <a:r>
                  <a:rPr lang="ja-JP" altLang="en-US" sz="2000" dirty="0"/>
                  <a:t>決定的アルゴリズムはやはり </a:t>
                </a:r>
                <a:r>
                  <a:rPr lang="en-US" altLang="ja-JP" sz="2000" dirty="0"/>
                  <a:t>Permutation </a:t>
                </a:r>
                <a:r>
                  <a:rPr lang="ja-JP" altLang="en-US" sz="2000" dirty="0"/>
                  <a:t>が（ほぼ）最善で競合比 </a:t>
                </a:r>
                <a14:m>
                  <m:oMath xmlns:m="http://schemas.openxmlformats.org/officeDocument/2006/math">
                    <m:r>
                      <a:rPr lang="en-US" altLang="ja-JP" sz="2000" b="0" i="1" smtClean="0">
                        <a:latin typeface="Cambria Math" panose="02040503050406030204" pitchFamily="18" charset="0"/>
                      </a:rPr>
                      <m:t>𝑂</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𝑛</m:t>
                        </m:r>
                      </m:e>
                    </m:d>
                  </m:oMath>
                </a14:m>
                <a:endParaRPr lang="ja-JP" altLang="en-US" sz="2000" dirty="0"/>
              </a:p>
            </p:txBody>
          </p:sp>
        </mc:Choice>
        <mc:Fallback xmlns="">
          <p:sp>
            <p:nvSpPr>
              <p:cNvPr id="9" name="テキスト ボックス 8">
                <a:extLst>
                  <a:ext uri="{FF2B5EF4-FFF2-40B4-BE49-F238E27FC236}">
                    <a16:creationId xmlns:a16="http://schemas.microsoft.com/office/drawing/2014/main" id="{3902D56E-1B4F-65D6-FB2E-0A3005E10760}"/>
                  </a:ext>
                </a:extLst>
              </p:cNvPr>
              <p:cNvSpPr txBox="1">
                <a:spLocks noRot="1" noChangeAspect="1" noMove="1" noResize="1" noEditPoints="1" noAdjustHandles="1" noChangeArrowheads="1" noChangeShapeType="1" noTextEdit="1"/>
              </p:cNvSpPr>
              <p:nvPr/>
            </p:nvSpPr>
            <p:spPr>
              <a:xfrm>
                <a:off x="838200" y="3281432"/>
                <a:ext cx="10439400" cy="1077218"/>
              </a:xfrm>
              <a:prstGeom prst="rect">
                <a:avLst/>
              </a:prstGeom>
              <a:blipFill>
                <a:blip r:embed="rId3"/>
                <a:stretch>
                  <a:fillRect l="-935" t="-4520" b="-9040"/>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E131A536-2CAC-04CB-F56D-630FF0BB2D61}"/>
              </a:ext>
            </a:extLst>
          </p:cNvPr>
          <p:cNvSpPr txBox="1"/>
          <p:nvPr/>
        </p:nvSpPr>
        <p:spPr>
          <a:xfrm>
            <a:off x="6313715" y="4695029"/>
            <a:ext cx="5279571" cy="369332"/>
          </a:xfrm>
          <a:prstGeom prst="rect">
            <a:avLst/>
          </a:prstGeom>
          <a:noFill/>
        </p:spPr>
        <p:txBody>
          <a:bodyPr wrap="square" rtlCol="0">
            <a:spAutoFit/>
          </a:bodyPr>
          <a:lstStyle/>
          <a:p>
            <a:r>
              <a:rPr lang="en-US" altLang="ja-JP" dirty="0"/>
              <a:t>Minimum-cost Perfect Matching with Delays: MPMD</a:t>
            </a:r>
            <a:endParaRPr kumimoji="1" lang="ja-JP" altLang="en-US" dirty="0"/>
          </a:p>
        </p:txBody>
      </p:sp>
      <p:sp>
        <p:nvSpPr>
          <p:cNvPr id="11" name="テキスト ボックス 10">
            <a:extLst>
              <a:ext uri="{FF2B5EF4-FFF2-40B4-BE49-F238E27FC236}">
                <a16:creationId xmlns:a16="http://schemas.microsoft.com/office/drawing/2014/main" id="{E269878A-F355-CA3E-5A27-9869103EFE38}"/>
              </a:ext>
            </a:extLst>
          </p:cNvPr>
          <p:cNvSpPr txBox="1"/>
          <p:nvPr/>
        </p:nvSpPr>
        <p:spPr>
          <a:xfrm>
            <a:off x="838200" y="4490861"/>
            <a:ext cx="6923316" cy="400110"/>
          </a:xfrm>
          <a:prstGeom prst="rect">
            <a:avLst/>
          </a:prstGeom>
          <a:noFill/>
        </p:spPr>
        <p:txBody>
          <a:bodyPr wrap="square" rtlCol="0">
            <a:spAutoFit/>
          </a:bodyPr>
          <a:lstStyle/>
          <a:p>
            <a:r>
              <a:rPr kumimoji="1" lang="ja-JP" altLang="en-US" sz="2000" dirty="0"/>
              <a:t>少し関連度が低いがよく研究されているもの</a:t>
            </a:r>
          </a:p>
        </p:txBody>
      </p:sp>
    </p:spTree>
    <p:extLst>
      <p:ext uri="{BB962C8B-B14F-4D97-AF65-F5344CB8AC3E}">
        <p14:creationId xmlns:p14="http://schemas.microsoft.com/office/powerpoint/2010/main" val="42861865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C3FDFB-6C33-B610-EF7E-4339CF353C60}"/>
              </a:ext>
            </a:extLst>
          </p:cNvPr>
          <p:cNvSpPr>
            <a:spLocks noGrp="1"/>
          </p:cNvSpPr>
          <p:nvPr>
            <p:ph type="title"/>
          </p:nvPr>
        </p:nvSpPr>
        <p:spPr/>
        <p:txBody>
          <a:bodyPr/>
          <a:lstStyle/>
          <a:p>
            <a:r>
              <a:rPr kumimoji="1" lang="ja-JP" altLang="en-US" dirty="0"/>
              <a:t>文献リスト１</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6C3CF97-2BE2-41D9-5389-872FE1D89B16}"/>
                  </a:ext>
                </a:extLst>
              </p:cNvPr>
              <p:cNvSpPr>
                <a:spLocks noGrp="1"/>
              </p:cNvSpPr>
              <p:nvPr>
                <p:ph idx="1"/>
              </p:nvPr>
            </p:nvSpPr>
            <p:spPr/>
            <p:txBody>
              <a:bodyPr>
                <a:normAutofit lnSpcReduction="10000"/>
              </a:bodyPr>
              <a:lstStyle/>
              <a:p>
                <a:r>
                  <a:rPr lang="en-US" altLang="ja-JP" sz="1600" dirty="0"/>
                  <a:t>Antonios Antoniadis, Neal Barcelo, Michael Nugent, Kirk </a:t>
                </a:r>
                <a:r>
                  <a:rPr lang="en-US" altLang="ja-JP" sz="1600" dirty="0" err="1"/>
                  <a:t>Pruhs</a:t>
                </a:r>
                <a:r>
                  <a:rPr lang="en-US" altLang="ja-JP" sz="1600" dirty="0"/>
                  <a:t>, and Michele </a:t>
                </a:r>
                <a:r>
                  <a:rPr lang="en-US" altLang="ja-JP" sz="1600" dirty="0" err="1"/>
                  <a:t>Scquizzato</a:t>
                </a:r>
                <a:r>
                  <a:rPr lang="en-US" altLang="ja-JP" sz="1600" dirty="0"/>
                  <a:t>. A </a:t>
                </a:r>
                <a14:m>
                  <m:oMath xmlns:m="http://schemas.openxmlformats.org/officeDocument/2006/math">
                    <m:r>
                      <a:rPr lang="en-US" altLang="ja-JP" sz="1600" b="0" i="1" smtClean="0">
                        <a:latin typeface="Cambria Math" panose="02040503050406030204" pitchFamily="18" charset="0"/>
                      </a:rPr>
                      <m:t>𝑜</m:t>
                    </m:r>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𝑛</m:t>
                    </m:r>
                    <m:r>
                      <a:rPr lang="en-US" altLang="ja-JP" sz="1600" b="0" i="1" smtClean="0">
                        <a:latin typeface="Cambria Math" panose="02040503050406030204" pitchFamily="18" charset="0"/>
                      </a:rPr>
                      <m:t>)</m:t>
                    </m:r>
                  </m:oMath>
                </a14:m>
                <a:r>
                  <a:rPr lang="en-US" altLang="ja-JP" sz="1600" dirty="0"/>
                  <a:t>-competitive deterministic algorithm for online matching on a line. WAOA 2014.</a:t>
                </a:r>
              </a:p>
              <a:p>
                <a:r>
                  <a:rPr lang="en-US" altLang="ja-JP" sz="1600" dirty="0"/>
                  <a:t>Barbara M. Anthony and Christine Chung. Online bottleneck matching. </a:t>
                </a:r>
                <a:r>
                  <a:rPr lang="en-US" altLang="ja-JP" sz="1600" i="1" dirty="0"/>
                  <a:t>Journal of Combinatorial Optimization</a:t>
                </a:r>
                <a:r>
                  <a:rPr lang="en-US" altLang="ja-JP" sz="1600" dirty="0"/>
                  <a:t> 27.1 (2014): 100-114. </a:t>
                </a:r>
              </a:p>
              <a:p>
                <a:r>
                  <a:rPr lang="en-US" altLang="ja-JP" sz="1600" dirty="0"/>
                  <a:t>Antonios Antoniadis, Christian Coester, Marek Eliáš, Adam Polak, and Bertrand Simon. Online metric algorithms with untrusted predictions. </a:t>
                </a:r>
                <a:r>
                  <a:rPr lang="en-US" altLang="ja-JP" sz="1600" i="1" dirty="0"/>
                  <a:t>ACM transactions on algorithms</a:t>
                </a:r>
                <a:r>
                  <a:rPr lang="en-US" altLang="ja-JP" sz="1600" dirty="0"/>
                  <a:t> 19.2 (2023): 1-34.</a:t>
                </a:r>
              </a:p>
              <a:p>
                <a:r>
                  <a:rPr lang="en-US" altLang="ja-JP" sz="1600" dirty="0"/>
                  <a:t>Antonios Antoniadis, Carsten Fischer, and Andreas </a:t>
                </a:r>
                <a:r>
                  <a:rPr lang="en-US" altLang="ja-JP" sz="1600" dirty="0" err="1"/>
                  <a:t>Tönnis</a:t>
                </a:r>
                <a:r>
                  <a:rPr lang="en-US" altLang="ja-JP" sz="1600" dirty="0"/>
                  <a:t>. A collection of lower bounds for online matching on the line. LATIN 2018.</a:t>
                </a:r>
              </a:p>
              <a:p>
                <a:r>
                  <a:rPr lang="en-US" altLang="ja-JP" sz="1600" dirty="0"/>
                  <a:t>Nikhil Bansal, Niv Buchbinder, Anupam Gupta, and Joseph Naor. An </a:t>
                </a:r>
                <a14:m>
                  <m:oMath xmlns:m="http://schemas.openxmlformats.org/officeDocument/2006/math">
                    <m:r>
                      <a:rPr lang="en-US" altLang="ja-JP" sz="1600" b="0" i="1" smtClean="0">
                        <a:latin typeface="Cambria Math" panose="02040503050406030204" pitchFamily="18" charset="0"/>
                      </a:rPr>
                      <m:t>𝑂</m:t>
                    </m:r>
                    <m:d>
                      <m:dPr>
                        <m:ctrlPr>
                          <a:rPr lang="en-US" altLang="ja-JP" sz="1600" b="0" i="1" smtClean="0">
                            <a:latin typeface="Cambria Math" panose="02040503050406030204" pitchFamily="18" charset="0"/>
                          </a:rPr>
                        </m:ctrlPr>
                      </m:dPr>
                      <m:e>
                        <m:sSup>
                          <m:sSupPr>
                            <m:ctrlPr>
                              <a:rPr lang="en-US" altLang="ja-JP" sz="1600" b="0" i="1" smtClean="0">
                                <a:latin typeface="Cambria Math" panose="02040503050406030204" pitchFamily="18" charset="0"/>
                              </a:rPr>
                            </m:ctrlPr>
                          </m:sSupPr>
                          <m:e>
                            <m:r>
                              <m:rPr>
                                <m:sty m:val="p"/>
                              </m:rPr>
                              <a:rPr lang="en-US" altLang="ja-JP" sz="1600" b="0" i="0" smtClean="0">
                                <a:latin typeface="Cambria Math" panose="02040503050406030204" pitchFamily="18" charset="0"/>
                              </a:rPr>
                              <m:t>log</m:t>
                            </m:r>
                          </m:e>
                          <m:sup>
                            <m:r>
                              <a:rPr lang="en-US" altLang="ja-JP" sz="1600" b="0" i="1" smtClean="0">
                                <a:latin typeface="Cambria Math" panose="02040503050406030204" pitchFamily="18" charset="0"/>
                              </a:rPr>
                              <m:t>2</m:t>
                            </m:r>
                          </m:sup>
                        </m:sSup>
                        <m:r>
                          <a:rPr lang="en-US" altLang="ja-JP" sz="1600" b="0" i="1" smtClean="0">
                            <a:latin typeface="Cambria Math" panose="02040503050406030204" pitchFamily="18" charset="0"/>
                          </a:rPr>
                          <m:t> </m:t>
                        </m:r>
                        <m:r>
                          <a:rPr lang="en-US" altLang="ja-JP" sz="1600" b="0" i="1" smtClean="0">
                            <a:latin typeface="Cambria Math" panose="02040503050406030204" pitchFamily="18" charset="0"/>
                          </a:rPr>
                          <m:t>𝑘</m:t>
                        </m:r>
                      </m:e>
                    </m:d>
                  </m:oMath>
                </a14:m>
                <a:r>
                  <a:rPr lang="en-US" altLang="ja-JP" sz="1600" dirty="0"/>
                  <a:t>-competitive algorithm for metric bipartite matching. ESA 2007.</a:t>
                </a:r>
              </a:p>
              <a:p>
                <a:r>
                  <a:rPr lang="en-US" altLang="ja-JP" sz="1600" dirty="0"/>
                  <a:t>Christine Chung, Kirk </a:t>
                </a:r>
                <a:r>
                  <a:rPr lang="en-US" altLang="ja-JP" sz="1600" dirty="0" err="1"/>
                  <a:t>Pruhs</a:t>
                </a:r>
                <a:r>
                  <a:rPr lang="en-US" altLang="ja-JP" sz="1600" dirty="0"/>
                  <a:t>, and </a:t>
                </a:r>
                <a:r>
                  <a:rPr lang="en-US" altLang="ja-JP" sz="1600" dirty="0" err="1"/>
                  <a:t>Patchrawat</a:t>
                </a:r>
                <a:r>
                  <a:rPr lang="en-US" altLang="ja-JP" sz="1600" dirty="0"/>
                  <a:t> </a:t>
                </a:r>
                <a:r>
                  <a:rPr lang="en-US" altLang="ja-JP" sz="1600" dirty="0" err="1"/>
                  <a:t>Uthaisombut</a:t>
                </a:r>
                <a:r>
                  <a:rPr lang="en-US" altLang="ja-JP" sz="1600" dirty="0"/>
                  <a:t>. The online transportation problem: On the exponential boost of one extra server. LATIN 2008.</a:t>
                </a:r>
              </a:p>
              <a:p>
                <a:r>
                  <a:rPr lang="en-US" altLang="ja-JP" sz="1600" dirty="0"/>
                  <a:t>Yuval Emek, Shay </a:t>
                </a:r>
                <a:r>
                  <a:rPr lang="en-US" altLang="ja-JP" sz="1600" dirty="0" err="1"/>
                  <a:t>Kutten</a:t>
                </a:r>
                <a:r>
                  <a:rPr lang="en-US" altLang="ja-JP" sz="1600" dirty="0"/>
                  <a:t>, and Roger </a:t>
                </a:r>
                <a:r>
                  <a:rPr lang="en-US" altLang="ja-JP" sz="1600" dirty="0" err="1"/>
                  <a:t>Wattenhofer</a:t>
                </a:r>
                <a:r>
                  <a:rPr lang="en-US" altLang="ja-JP" sz="1600" dirty="0"/>
                  <a:t>. Online matching: haste makes waste! STOC 2016.</a:t>
                </a:r>
              </a:p>
              <a:p>
                <a:r>
                  <a:rPr lang="en-US" altLang="ja-JP" sz="1600" dirty="0"/>
                  <a:t>Anupam Gupta, Guru </a:t>
                </a:r>
                <a:r>
                  <a:rPr lang="en-US" altLang="ja-JP" sz="1600" dirty="0" err="1"/>
                  <a:t>Guruganesh</a:t>
                </a:r>
                <a:r>
                  <a:rPr lang="en-US" altLang="ja-JP" sz="1600" dirty="0"/>
                  <a:t>, </a:t>
                </a:r>
                <a:r>
                  <a:rPr lang="en-US" altLang="ja-JP" sz="1600" dirty="0" err="1"/>
                  <a:t>Binghui</a:t>
                </a:r>
                <a:r>
                  <a:rPr lang="en-US" altLang="ja-JP" sz="1600" dirty="0"/>
                  <a:t> Peng, and David </a:t>
                </a:r>
                <a:r>
                  <a:rPr lang="en-US" altLang="ja-JP" sz="1600" dirty="0" err="1"/>
                  <a:t>Wajc</a:t>
                </a:r>
                <a:r>
                  <a:rPr lang="en-US" altLang="ja-JP" sz="1600" dirty="0"/>
                  <a:t>. Stochastic online metric matching. ICALP 2019.</a:t>
                </a:r>
              </a:p>
              <a:p>
                <a:r>
                  <a:rPr lang="en-US" altLang="ja-JP" sz="1600" dirty="0"/>
                  <a:t>Varun Gupta, Ravishankar Krishnaswamy, Sai Sandeep. Permutation Strikes Back: The Power of Recourse in Online Metric Matching. APPROX/RANDOM 2020.</a:t>
                </a:r>
              </a:p>
            </p:txBody>
          </p:sp>
        </mc:Choice>
        <mc:Fallback xmlns="">
          <p:sp>
            <p:nvSpPr>
              <p:cNvPr id="3" name="コンテンツ プレースホルダー 2">
                <a:extLst>
                  <a:ext uri="{FF2B5EF4-FFF2-40B4-BE49-F238E27FC236}">
                    <a16:creationId xmlns:a16="http://schemas.microsoft.com/office/drawing/2014/main" id="{46C3CF97-2BE2-41D9-5389-872FE1D89B16}"/>
                  </a:ext>
                </a:extLst>
              </p:cNvPr>
              <p:cNvSpPr>
                <a:spLocks noGrp="1" noRot="1" noChangeAspect="1" noMove="1" noResize="1" noEditPoints="1" noAdjustHandles="1" noChangeArrowheads="1" noChangeShapeType="1" noTextEdit="1"/>
              </p:cNvSpPr>
              <p:nvPr>
                <p:ph idx="1"/>
              </p:nvPr>
            </p:nvSpPr>
            <p:spPr>
              <a:blipFill>
                <a:blip r:embed="rId2"/>
                <a:stretch>
                  <a:fillRect l="-232" t="-1401" r="-580"/>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2BFA174E-E86F-95C9-B78A-5C40248E57E5}"/>
              </a:ext>
            </a:extLst>
          </p:cNvPr>
          <p:cNvSpPr>
            <a:spLocks noGrp="1"/>
          </p:cNvSpPr>
          <p:nvPr>
            <p:ph type="sldNum" sz="quarter" idx="12"/>
          </p:nvPr>
        </p:nvSpPr>
        <p:spPr/>
        <p:txBody>
          <a:bodyPr/>
          <a:lstStyle/>
          <a:p>
            <a:fld id="{4B077F3A-4098-4199-8925-77865D1E3500}" type="slidenum">
              <a:rPr kumimoji="1" lang="ja-JP" altLang="en-US" smtClean="0"/>
              <a:t>75</a:t>
            </a:fld>
            <a:endParaRPr kumimoji="1" lang="ja-JP" altLang="en-US"/>
          </a:p>
        </p:txBody>
      </p:sp>
    </p:spTree>
    <p:extLst>
      <p:ext uri="{BB962C8B-B14F-4D97-AF65-F5344CB8AC3E}">
        <p14:creationId xmlns:p14="http://schemas.microsoft.com/office/powerpoint/2010/main" val="32894928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28D7F-4BE8-7A57-94B4-0C184583A8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58F111-14FC-0355-88B7-076FDF45006D}"/>
              </a:ext>
            </a:extLst>
          </p:cNvPr>
          <p:cNvSpPr>
            <a:spLocks noGrp="1"/>
          </p:cNvSpPr>
          <p:nvPr>
            <p:ph type="title"/>
          </p:nvPr>
        </p:nvSpPr>
        <p:spPr/>
        <p:txBody>
          <a:bodyPr/>
          <a:lstStyle/>
          <a:p>
            <a:r>
              <a:rPr kumimoji="1" lang="ja-JP" altLang="en-US" dirty="0"/>
              <a:t>文献リスト２</a:t>
            </a:r>
          </a:p>
        </p:txBody>
      </p:sp>
      <p:sp>
        <p:nvSpPr>
          <p:cNvPr id="3" name="コンテンツ プレースホルダー 2">
            <a:extLst>
              <a:ext uri="{FF2B5EF4-FFF2-40B4-BE49-F238E27FC236}">
                <a16:creationId xmlns:a16="http://schemas.microsoft.com/office/drawing/2014/main" id="{ECC61E53-2A67-76BE-4BF3-EAFEA0E076F5}"/>
              </a:ext>
            </a:extLst>
          </p:cNvPr>
          <p:cNvSpPr>
            <a:spLocks noGrp="1"/>
          </p:cNvSpPr>
          <p:nvPr>
            <p:ph idx="1"/>
          </p:nvPr>
        </p:nvSpPr>
        <p:spPr/>
        <p:txBody>
          <a:bodyPr>
            <a:normAutofit/>
          </a:bodyPr>
          <a:lstStyle/>
          <a:p>
            <a:r>
              <a:rPr lang="en-US" altLang="ja-JP" sz="1600" dirty="0"/>
              <a:t>Anupam Gupta and Kevin Lewi. The online metric matching problem for doubling metrics. ICALP 2012.</a:t>
            </a:r>
          </a:p>
          <a:p>
            <a:r>
              <a:rPr lang="en-US" altLang="ja-JP" sz="1600" dirty="0"/>
              <a:t>Tsubasa Harada and Toshiya Itoh. A Nearly Optimal Deterministic Algorithm for Online Transportation Problem. ICALP 2025.</a:t>
            </a:r>
          </a:p>
          <a:p>
            <a:r>
              <a:rPr lang="en-US" altLang="ja-JP" sz="1600" dirty="0"/>
              <a:t>Bala Kalyanasundaram and Kirk </a:t>
            </a:r>
            <a:r>
              <a:rPr lang="en-US" altLang="ja-JP" sz="1600" dirty="0" err="1"/>
              <a:t>Pruhs</a:t>
            </a:r>
            <a:r>
              <a:rPr lang="en-US" altLang="ja-JP" sz="1600" dirty="0"/>
              <a:t>. Online weighted matching. J. Algorithms, 14(3):478488, 1993.</a:t>
            </a:r>
          </a:p>
          <a:p>
            <a:r>
              <a:rPr lang="en-US" altLang="ja-JP" sz="1600" dirty="0"/>
              <a:t>Bala Kalyanasundaram and Kirk </a:t>
            </a:r>
            <a:r>
              <a:rPr lang="en-US" altLang="ja-JP" sz="1600" dirty="0" err="1"/>
              <a:t>Pruhs</a:t>
            </a:r>
            <a:r>
              <a:rPr lang="en-US" altLang="ja-JP" sz="1600" dirty="0"/>
              <a:t>. On-line network optimization problems. Developments from a June 1996 seminar on Online algorithms: the state of the art, pages 268–280, 1998.</a:t>
            </a:r>
          </a:p>
          <a:p>
            <a:r>
              <a:rPr lang="en-US" altLang="ja-JP" sz="1600" dirty="0"/>
              <a:t>Bala Kalyanasundaram and Kirk </a:t>
            </a:r>
            <a:r>
              <a:rPr lang="en-US" altLang="ja-JP" sz="1600" dirty="0" err="1"/>
              <a:t>Pruhs</a:t>
            </a:r>
            <a:r>
              <a:rPr lang="en-US" altLang="ja-JP" sz="1600" dirty="0"/>
              <a:t>. On-line network optimization problems. Developments from a June 1996 seminar on Online algorithms: the state of the art, pages 268–280, 1998.</a:t>
            </a:r>
          </a:p>
          <a:p>
            <a:r>
              <a:rPr lang="en-US" altLang="ja-JP" sz="1600" dirty="0"/>
              <a:t>Bala Kalyanasundaram, Kirk </a:t>
            </a:r>
            <a:r>
              <a:rPr lang="en-US" altLang="ja-JP" sz="1600" dirty="0" err="1"/>
              <a:t>Pruhs</a:t>
            </a:r>
            <a:r>
              <a:rPr lang="en-US" altLang="ja-JP" sz="1600" dirty="0"/>
              <a:t>, and Clifford Stein. A randomized algorithm for online metric b-matching. Oper. Res. Lett., 51(6):591–594, 2023.</a:t>
            </a:r>
          </a:p>
          <a:p>
            <a:r>
              <a:rPr lang="en-US" altLang="ja-JP" sz="1600" dirty="0"/>
              <a:t>Samir </a:t>
            </a:r>
            <a:r>
              <a:rPr lang="en-US" altLang="ja-JP" sz="1600" dirty="0" err="1"/>
              <a:t>Khuller</a:t>
            </a:r>
            <a:r>
              <a:rPr lang="en-US" altLang="ja-JP" sz="1600" dirty="0"/>
              <a:t>, Stephen G. Mitchell, and Vijay V. Vazirani. On-line algorithms for weighted bipartite matching and stable marriages. Theor. </a:t>
            </a:r>
            <a:r>
              <a:rPr lang="en-US" altLang="ja-JP" sz="1600" dirty="0" err="1"/>
              <a:t>Comput</a:t>
            </a:r>
            <a:r>
              <a:rPr lang="en-US" altLang="ja-JP" sz="1600" dirty="0"/>
              <a:t>. Sci., 127(2):255–267, 1994.</a:t>
            </a:r>
          </a:p>
          <a:p>
            <a:r>
              <a:rPr lang="en-US" altLang="ja-JP" sz="1600" dirty="0"/>
              <a:t>Nicole Megow and Lukas Nölke. Online Metric Matching on the Line with Recourse. </a:t>
            </a:r>
            <a:r>
              <a:rPr lang="en-US" altLang="ja-JP" sz="1600" i="1" dirty="0" err="1"/>
              <a:t>Algorithmica</a:t>
            </a:r>
            <a:r>
              <a:rPr lang="en-US" altLang="ja-JP" sz="1600" dirty="0"/>
              <a:t> 87, 813–841 (2025). </a:t>
            </a:r>
          </a:p>
        </p:txBody>
      </p:sp>
      <p:sp>
        <p:nvSpPr>
          <p:cNvPr id="4" name="スライド番号プレースホルダー 3">
            <a:extLst>
              <a:ext uri="{FF2B5EF4-FFF2-40B4-BE49-F238E27FC236}">
                <a16:creationId xmlns:a16="http://schemas.microsoft.com/office/drawing/2014/main" id="{8E32B927-2CB7-04C1-7591-11ACFD145E4F}"/>
              </a:ext>
            </a:extLst>
          </p:cNvPr>
          <p:cNvSpPr>
            <a:spLocks noGrp="1"/>
          </p:cNvSpPr>
          <p:nvPr>
            <p:ph type="sldNum" sz="quarter" idx="12"/>
          </p:nvPr>
        </p:nvSpPr>
        <p:spPr/>
        <p:txBody>
          <a:bodyPr/>
          <a:lstStyle/>
          <a:p>
            <a:fld id="{4B077F3A-4098-4199-8925-77865D1E3500}" type="slidenum">
              <a:rPr kumimoji="1" lang="ja-JP" altLang="en-US" smtClean="0"/>
              <a:t>76</a:t>
            </a:fld>
            <a:endParaRPr kumimoji="1" lang="ja-JP" altLang="en-US"/>
          </a:p>
        </p:txBody>
      </p:sp>
    </p:spTree>
    <p:extLst>
      <p:ext uri="{BB962C8B-B14F-4D97-AF65-F5344CB8AC3E}">
        <p14:creationId xmlns:p14="http://schemas.microsoft.com/office/powerpoint/2010/main" val="6979506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37D94C-3DAA-45FE-5A71-B16AA68C9AD6}"/>
              </a:ext>
            </a:extLst>
          </p:cNvPr>
          <p:cNvSpPr>
            <a:spLocks noGrp="1"/>
          </p:cNvSpPr>
          <p:nvPr>
            <p:ph type="title"/>
          </p:nvPr>
        </p:nvSpPr>
        <p:spPr/>
        <p:txBody>
          <a:bodyPr/>
          <a:lstStyle/>
          <a:p>
            <a:r>
              <a:rPr kumimoji="1" lang="ja-JP" altLang="en-US" dirty="0"/>
              <a:t>文献リスト３</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603AE0A-406F-CD21-27E0-89B24ADBE0D1}"/>
                  </a:ext>
                </a:extLst>
              </p:cNvPr>
              <p:cNvSpPr>
                <a:spLocks noGrp="1"/>
              </p:cNvSpPr>
              <p:nvPr>
                <p:ph idx="1"/>
              </p:nvPr>
            </p:nvSpPr>
            <p:spPr/>
            <p:txBody>
              <a:bodyPr>
                <a:normAutofit/>
              </a:bodyPr>
              <a:lstStyle/>
              <a:p>
                <a:r>
                  <a:rPr lang="en-US" altLang="ja-JP" sz="1600" dirty="0"/>
                  <a:t>Adam</a:t>
                </a:r>
                <a:r>
                  <a:rPr lang="ja-JP" altLang="en-US" sz="1600" dirty="0"/>
                  <a:t> </a:t>
                </a:r>
                <a:r>
                  <a:rPr lang="en-US" altLang="ja-JP" sz="1600" dirty="0"/>
                  <a:t>Meyerson, Akash Nanavati, and Laura J. Poplawski. Randomized online algorithms for minimum metric bipartite matching. SODA 2006.</a:t>
                </a:r>
              </a:p>
              <a:p>
                <a:r>
                  <a:rPr lang="en-US" altLang="ja-JP" sz="1600" dirty="0" err="1"/>
                  <a:t>Krati</a:t>
                </a:r>
                <a:r>
                  <a:rPr lang="en-US" altLang="ja-JP" sz="1600" dirty="0"/>
                  <a:t> Nayyar and Sharath Raghvendra. An input sensitive online algorithm for the metric bipartite matching problem. FOCS 2017.</a:t>
                </a:r>
              </a:p>
              <a:p>
                <a:r>
                  <a:rPr lang="en-US" altLang="ja-JP" sz="1600" dirty="0"/>
                  <a:t>Enoch </a:t>
                </a:r>
                <a:r>
                  <a:rPr lang="en-US" altLang="ja-JP" sz="1600" dirty="0" err="1"/>
                  <a:t>Peserico</a:t>
                </a:r>
                <a:r>
                  <a:rPr lang="en-US" altLang="ja-JP" sz="1600" dirty="0"/>
                  <a:t> and Michele </a:t>
                </a:r>
                <a:r>
                  <a:rPr lang="en-US" altLang="ja-JP" sz="1600" dirty="0" err="1"/>
                  <a:t>Scquizzato</a:t>
                </a:r>
                <a:r>
                  <a:rPr lang="en-US" altLang="ja-JP" sz="1600" dirty="0"/>
                  <a:t>. Matching on the line admits no </a:t>
                </a:r>
                <a14:m>
                  <m:oMath xmlns:m="http://schemas.openxmlformats.org/officeDocument/2006/math">
                    <m:r>
                      <a:rPr lang="en-US" altLang="ja-JP" sz="1600" i="1">
                        <a:latin typeface="Cambria Math" panose="02040503050406030204" pitchFamily="18" charset="0"/>
                      </a:rPr>
                      <m:t>𝑜</m:t>
                    </m:r>
                    <m:r>
                      <a:rPr lang="en-US" altLang="ja-JP" sz="1600" i="1">
                        <a:latin typeface="Cambria Math" panose="02040503050406030204" pitchFamily="18" charset="0"/>
                      </a:rPr>
                      <m:t>(</m:t>
                    </m:r>
                    <m:rad>
                      <m:radPr>
                        <m:degHide m:val="on"/>
                        <m:ctrlPr>
                          <a:rPr lang="en-US" altLang="ja-JP" sz="1600" i="1">
                            <a:latin typeface="Cambria Math" panose="02040503050406030204" pitchFamily="18" charset="0"/>
                          </a:rPr>
                        </m:ctrlPr>
                      </m:radPr>
                      <m:deg/>
                      <m:e>
                        <m:r>
                          <m:rPr>
                            <m:sty m:val="p"/>
                          </m:rPr>
                          <a:rPr lang="en-US" altLang="ja-JP" sz="1600" i="1">
                            <a:latin typeface="Cambria Math" panose="02040503050406030204" pitchFamily="18" charset="0"/>
                          </a:rPr>
                          <m:t>log</m:t>
                        </m:r>
                        <m:r>
                          <a:rPr lang="en-US" altLang="ja-JP" sz="1600" i="1">
                            <a:latin typeface="Cambria Math" panose="02040503050406030204" pitchFamily="18" charset="0"/>
                          </a:rPr>
                          <m:t> </m:t>
                        </m:r>
                        <m:r>
                          <a:rPr lang="en-US" altLang="ja-JP" sz="1600" i="1">
                            <a:latin typeface="Cambria Math" panose="02040503050406030204" pitchFamily="18" charset="0"/>
                          </a:rPr>
                          <m:t>𝑛</m:t>
                        </m:r>
                      </m:e>
                    </m:rad>
                    <m:r>
                      <a:rPr lang="en-US" altLang="ja-JP" sz="1600" i="1">
                        <a:latin typeface="Cambria Math" panose="02040503050406030204" pitchFamily="18" charset="0"/>
                      </a:rPr>
                      <m:t>)</m:t>
                    </m:r>
                  </m:oMath>
                </a14:m>
                <a:r>
                  <a:rPr lang="en-US" altLang="ja-JP" sz="1600" dirty="0"/>
                  <a:t>-competitive algorithm. ACM Trans. Algorithms, 19(3):28:1–28:4, 2023.</a:t>
                </a:r>
              </a:p>
              <a:p>
                <a:r>
                  <a:rPr lang="en-US" altLang="ja-JP" sz="1600" dirty="0"/>
                  <a:t>Sharath Raghvendra. A robust and optimal online algorithm for minimum metric bipartite matching. APPROX/RANDOM 2016.</a:t>
                </a:r>
              </a:p>
              <a:p>
                <a:r>
                  <a:rPr lang="en-US" altLang="ja-JP" sz="1600" dirty="0"/>
                  <a:t>Sharath Raghvendra. Optimal analysis of an online algorithm for the bipartite matching problem on a line. </a:t>
                </a:r>
                <a:r>
                  <a:rPr lang="en-US" altLang="ja-JP" sz="1600" dirty="0" err="1"/>
                  <a:t>SoCG</a:t>
                </a:r>
                <a:r>
                  <a:rPr lang="en-US" altLang="ja-JP" sz="1600" dirty="0"/>
                  <a:t> 2018.</a:t>
                </a:r>
              </a:p>
              <a:p>
                <a:r>
                  <a:rPr lang="en-US" altLang="ja-JP" sz="1600" dirty="0"/>
                  <a:t>Mingwei Yang and Sophie H. Yu. Online metric matching: Beyond the worst case. </a:t>
                </a:r>
                <a:r>
                  <a:rPr lang="en-US" altLang="ja-JP" sz="1600" i="1" dirty="0"/>
                  <a:t>Operations Research</a:t>
                </a:r>
                <a:r>
                  <a:rPr lang="en-US" altLang="ja-JP" sz="1600" dirty="0"/>
                  <a:t> 74.1 (2026): 130-140.</a:t>
                </a:r>
              </a:p>
            </p:txBody>
          </p:sp>
        </mc:Choice>
        <mc:Fallback xmlns="">
          <p:sp>
            <p:nvSpPr>
              <p:cNvPr id="3" name="コンテンツ プレースホルダー 2">
                <a:extLst>
                  <a:ext uri="{FF2B5EF4-FFF2-40B4-BE49-F238E27FC236}">
                    <a16:creationId xmlns:a16="http://schemas.microsoft.com/office/drawing/2014/main" id="{9603AE0A-406F-CD21-27E0-89B24ADBE0D1}"/>
                  </a:ext>
                </a:extLst>
              </p:cNvPr>
              <p:cNvSpPr>
                <a:spLocks noGrp="1" noRot="1" noChangeAspect="1" noMove="1" noResize="1" noEditPoints="1" noAdjustHandles="1" noChangeArrowheads="1" noChangeShapeType="1" noTextEdit="1"/>
              </p:cNvSpPr>
              <p:nvPr>
                <p:ph idx="1"/>
              </p:nvPr>
            </p:nvSpPr>
            <p:spPr>
              <a:blipFill>
                <a:blip r:embed="rId2"/>
                <a:stretch>
                  <a:fillRect l="-232" t="-980" r="-174"/>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586CD9DB-7289-BC6E-F2D0-DA4E16CB17F6}"/>
              </a:ext>
            </a:extLst>
          </p:cNvPr>
          <p:cNvSpPr>
            <a:spLocks noGrp="1"/>
          </p:cNvSpPr>
          <p:nvPr>
            <p:ph type="sldNum" sz="quarter" idx="12"/>
          </p:nvPr>
        </p:nvSpPr>
        <p:spPr/>
        <p:txBody>
          <a:bodyPr/>
          <a:lstStyle/>
          <a:p>
            <a:fld id="{4B077F3A-4098-4199-8925-77865D1E3500}" type="slidenum">
              <a:rPr kumimoji="1" lang="ja-JP" altLang="en-US" smtClean="0"/>
              <a:t>77</a:t>
            </a:fld>
            <a:endParaRPr kumimoji="1" lang="ja-JP" altLang="en-US"/>
          </a:p>
        </p:txBody>
      </p:sp>
    </p:spTree>
    <p:extLst>
      <p:ext uri="{BB962C8B-B14F-4D97-AF65-F5344CB8AC3E}">
        <p14:creationId xmlns:p14="http://schemas.microsoft.com/office/powerpoint/2010/main" val="109299595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2476</TotalTime>
  <Words>7073</Words>
  <Application>Microsoft Office PowerPoint</Application>
  <PresentationFormat>ワイド画面</PresentationFormat>
  <Paragraphs>941</Paragraphs>
  <Slides>77</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77</vt:i4>
      </vt:variant>
    </vt:vector>
  </HeadingPairs>
  <TitlesOfParts>
    <vt:vector size="83" baseType="lpstr">
      <vt:lpstr>游ゴシック</vt:lpstr>
      <vt:lpstr>Arial</vt:lpstr>
      <vt:lpstr>Calibri</vt:lpstr>
      <vt:lpstr>Cambria Math</vt:lpstr>
      <vt:lpstr>Wingdings</vt:lpstr>
      <vt:lpstr>Office テーマ</vt:lpstr>
      <vt:lpstr>オンラインメトリックマッチング とその拡張</vt:lpstr>
      <vt:lpstr>オンラインメトリックマッチング</vt:lpstr>
      <vt:lpstr>例１：逐次的な割り当て</vt:lpstr>
      <vt:lpstr>例２：最善の割り当て（結果論）</vt:lpstr>
      <vt:lpstr>問題設定</vt:lpstr>
      <vt:lpstr>競合比～小さいほど望ましい評価指標～</vt:lpstr>
      <vt:lpstr>本日の内容</vt:lpstr>
      <vt:lpstr>最初の結果</vt:lpstr>
      <vt:lpstr>貪欲法（GREEDY）</vt:lpstr>
      <vt:lpstr>競合比下界の証明</vt:lpstr>
      <vt:lpstr>Permutation アルゴリズム</vt:lpstr>
      <vt:lpstr>Permutation の割り当て１</vt:lpstr>
      <vt:lpstr>Permutation の割り当て２</vt:lpstr>
      <vt:lpstr>Permutation の割り当て３</vt:lpstr>
      <vt:lpstr>Permutation の割り当て４</vt:lpstr>
      <vt:lpstr>Permutation の競合比解析１</vt:lpstr>
      <vt:lpstr>Permutation の競合比解析２</vt:lpstr>
      <vt:lpstr>決定的アルゴリズムの競合比下界</vt:lpstr>
      <vt:lpstr>OMMの拡張</vt:lpstr>
      <vt:lpstr>OMMの拡張</vt:lpstr>
      <vt:lpstr>オンライン輸送問題（容量付きOMM）</vt:lpstr>
      <vt:lpstr>先行研究と課題</vt:lpstr>
      <vt:lpstr>研究成果</vt:lpstr>
      <vt:lpstr>アルゴリズム設計の流れ</vt:lpstr>
      <vt:lpstr>重み無し木に対するアルゴリズム１</vt:lpstr>
      <vt:lpstr>重み無し木に対するアルゴリズム２</vt:lpstr>
      <vt:lpstr>重み無し木に対するアルゴリズム３</vt:lpstr>
      <vt:lpstr>2の冪乗の重み付き木に拡張</vt:lpstr>
      <vt:lpstr>一般の距離空間への拡張</vt:lpstr>
      <vt:lpstr>まとめ</vt:lpstr>
      <vt:lpstr>以下補足</vt:lpstr>
      <vt:lpstr>Permutation の準備：増加道法</vt:lpstr>
      <vt:lpstr>増加道法のイメージ１</vt:lpstr>
      <vt:lpstr>増加道法のイメージ２</vt:lpstr>
      <vt:lpstr>増加道法のイメージ３</vt:lpstr>
      <vt:lpstr>増加道法のイメージ３</vt:lpstr>
      <vt:lpstr>最適性の説明１</vt:lpstr>
      <vt:lpstr>最適性の説明１</vt:lpstr>
      <vt:lpstr>最適性の説明１</vt:lpstr>
      <vt:lpstr>最適性の説明１</vt:lpstr>
      <vt:lpstr>最適性の説明２</vt:lpstr>
      <vt:lpstr>最適性の説明２</vt:lpstr>
      <vt:lpstr>最適性の説明２</vt:lpstr>
      <vt:lpstr>Permutation アルゴリズム</vt:lpstr>
      <vt:lpstr>Robust-Matching アルゴリズム（RM）</vt:lpstr>
      <vt:lpstr>RM のパラメータの直感的意味</vt:lpstr>
      <vt:lpstr>決定的アルゴリズムの結論と課題</vt:lpstr>
      <vt:lpstr>乱択化</vt:lpstr>
      <vt:lpstr>乱択アルゴリズムの競合比</vt:lpstr>
      <vt:lpstr>扱う範囲</vt:lpstr>
      <vt:lpstr>競合比下界</vt:lpstr>
      <vt:lpstr>一様距離空間上の競合比上界１</vt:lpstr>
      <vt:lpstr>一様距離空間上の競合比上界２</vt:lpstr>
      <vt:lpstr>一様距離空間上の競合比上界３</vt:lpstr>
      <vt:lpstr>距離空間の制限</vt:lpstr>
      <vt:lpstr>k-HST (Hierarchically well-Separated Tree)</vt:lpstr>
      <vt:lpstr>距離空間のHSTへの埋め込み</vt:lpstr>
      <vt:lpstr>問題の単純化</vt:lpstr>
      <vt:lpstr>乱択アルゴリズムまとめ</vt:lpstr>
      <vt:lpstr>Robust-Matching アルゴリズム（RM）</vt:lpstr>
      <vt:lpstr>RM のパラメータの直感的意味</vt:lpstr>
      <vt:lpstr>Robust-Matching 再訪１</vt:lpstr>
      <vt:lpstr>Robust-Matching 再訪２</vt:lpstr>
      <vt:lpstr>オンライン輸送問題（その他の研究）</vt:lpstr>
      <vt:lpstr>直線上のOMM１</vt:lpstr>
      <vt:lpstr>直線上のOMM２</vt:lpstr>
      <vt:lpstr>Doubling 距離空間における OMM１</vt:lpstr>
      <vt:lpstr>Doubling 距離空間における OMM２</vt:lpstr>
      <vt:lpstr>確率的 OMM（Stochastic OMM）</vt:lpstr>
      <vt:lpstr>ランダム到着モデル</vt:lpstr>
      <vt:lpstr>予測付きモデル</vt:lpstr>
      <vt:lpstr>OMM への適用例と課題</vt:lpstr>
      <vt:lpstr>まとめ</vt:lpstr>
      <vt:lpstr>その他のテーマ</vt:lpstr>
      <vt:lpstr>文献リスト１</vt:lpstr>
      <vt:lpstr>文献リスト２</vt:lpstr>
      <vt:lpstr>文献リスト３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Tsubasa Harada</dc:creator>
  <cp:lastModifiedBy>Tsubasa Harada</cp:lastModifiedBy>
  <cp:revision>149</cp:revision>
  <dcterms:created xsi:type="dcterms:W3CDTF">2026-01-18T18:55:20Z</dcterms:created>
  <dcterms:modified xsi:type="dcterms:W3CDTF">2026-08-15T12:46:39Z</dcterms:modified>
</cp:coreProperties>
</file>